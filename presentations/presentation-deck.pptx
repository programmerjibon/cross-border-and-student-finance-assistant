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charts/chart3.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4.xml" ContentType="application/vnd.openxmlformats-officedocument.drawingml.chart+xml"/>
  <Override PartName="/ppt/notesSlides/notesSlide8.xml" ContentType="application/vnd.openxmlformats-officedocument.presentationml.notesSlide+xml"/>
  <Override PartName="/ppt/charts/chart5.xml" ContentType="application/vnd.openxmlformats-officedocument.drawingml.chart+xml"/>
  <Override PartName="/ppt/notesSlides/notesSlide9.xml" ContentType="application/vnd.openxmlformats-officedocument.presentationml.notesSlide+xml"/>
  <Override PartName="/ppt/charts/chart6.xml" ContentType="application/vnd.openxmlformats-officedocument.drawingml.chart+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65" r:id="rId3"/>
    <p:sldId id="257" r:id="rId4"/>
    <p:sldId id="258" r:id="rId5"/>
    <p:sldId id="259" r:id="rId6"/>
    <p:sldId id="260" r:id="rId7"/>
    <p:sldId id="261" r:id="rId8"/>
    <p:sldId id="262" r:id="rId9"/>
    <p:sldId id="263" r:id="rId10"/>
    <p:sldId id="26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3" d="100"/>
          <a:sy n="63" d="100"/>
        </p:scale>
        <p:origin x="780" y="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pt idx="0">
                  <c:v>Funding</c:v>
                </c:pt>
              </c:strCache>
            </c:strRef>
          </c:tx>
          <c:spPr>
            <a:solidFill>
              <a:srgbClr val="63E6BE"/>
            </a:solidFill>
            <a:ln>
              <a:noFill/>
            </a:ln>
          </c:spPr>
          <c:dPt>
            <c:idx val="0"/>
            <c:bubble3D val="0"/>
            <c:extLst>
              <c:ext xmlns:c16="http://schemas.microsoft.com/office/drawing/2014/chart" uri="{C3380CC4-5D6E-409C-BE32-E72D297353CC}">
                <c16:uniqueId val="{00000001-175C-496A-88C5-E0D185F6BAF4}"/>
              </c:ext>
            </c:extLst>
          </c:dPt>
          <c:dPt>
            <c:idx val="1"/>
            <c:bubble3D val="0"/>
            <c:spPr>
              <a:solidFill>
                <a:srgbClr val="FF8896"/>
              </a:solidFill>
              <a:ln>
                <a:noFill/>
              </a:ln>
            </c:spPr>
            <c:extLst>
              <c:ext xmlns:c16="http://schemas.microsoft.com/office/drawing/2014/chart" uri="{C3380CC4-5D6E-409C-BE32-E72D297353CC}">
                <c16:uniqueId val="{00000003-175C-496A-88C5-E0D185F6BAF4}"/>
              </c:ext>
            </c:extLst>
          </c:dPt>
          <c:cat>
            <c:strRef>
              <c:f>Sheet1!$A$2:$A$3</c:f>
              <c:strCache>
                <c:ptCount val="2"/>
                <c:pt idx="0">
                  <c:v>Funded</c:v>
                </c:pt>
                <c:pt idx="1">
                  <c:v>Shortfall</c:v>
                </c:pt>
              </c:strCache>
            </c:strRef>
          </c:cat>
          <c:val>
            <c:numRef>
              <c:f>Sheet1!$B$2:$B$3</c:f>
              <c:numCache>
                <c:formatCode>General</c:formatCode>
                <c:ptCount val="2"/>
                <c:pt idx="0">
                  <c:v>33250</c:v>
                </c:pt>
                <c:pt idx="1">
                  <c:v>6750</c:v>
                </c:pt>
              </c:numCache>
            </c:numRef>
          </c:val>
          <c:extLst>
            <c:ext xmlns:c16="http://schemas.microsoft.com/office/drawing/2014/chart" uri="{C3380CC4-5D6E-409C-BE32-E72D297353CC}">
              <c16:uniqueId val="{00000004-175C-496A-88C5-E0D185F6BAF4}"/>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spPr>
    <a:noFill/>
    <a:ln>
      <a:noFill/>
    </a:ln>
  </c:spPr>
  <c:txPr>
    <a:bodyPr/>
    <a:lstStyle/>
    <a:p>
      <a:pPr>
        <a:defRPr sz="1100">
          <a:solidFill>
            <a:srgbClr val="A2B4CA"/>
          </a:solidFill>
          <a:latin typeface="Apto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Projected funds</c:v>
                </c:pt>
              </c:strCache>
            </c:strRef>
          </c:tx>
          <c:spPr>
            <a:ln w="38100">
              <a:solidFill>
                <a:srgbClr val="63E6BE"/>
              </a:solidFill>
            </a:ln>
          </c:spPr>
          <c:marker>
            <c:symbol val="none"/>
          </c:marker>
          <c:cat>
            <c:strRef>
              <c:f>Sheet1!$A$2:$A$4</c:f>
              <c:strCache>
                <c:ptCount val="3"/>
                <c:pt idx="0">
                  <c:v>Now</c:v>
                </c:pt>
                <c:pt idx="1">
                  <c:v>Month 1</c:v>
                </c:pt>
                <c:pt idx="2">
                  <c:v>Tuition due</c:v>
                </c:pt>
              </c:strCache>
            </c:strRef>
          </c:cat>
          <c:val>
            <c:numRef>
              <c:f>Sheet1!$B$2:$B$4</c:f>
              <c:numCache>
                <c:formatCode>General</c:formatCode>
                <c:ptCount val="3"/>
                <c:pt idx="0">
                  <c:v>27500</c:v>
                </c:pt>
                <c:pt idx="1">
                  <c:v>30375</c:v>
                </c:pt>
                <c:pt idx="2">
                  <c:v>33250</c:v>
                </c:pt>
              </c:numCache>
            </c:numRef>
          </c:val>
          <c:smooth val="0"/>
          <c:extLst>
            <c:ext xmlns:c16="http://schemas.microsoft.com/office/drawing/2014/chart" uri="{C3380CC4-5D6E-409C-BE32-E72D297353CC}">
              <c16:uniqueId val="{00000000-120E-4D1A-A0E1-E910A6F614F6}"/>
            </c:ext>
          </c:extLst>
        </c:ser>
        <c:ser>
          <c:idx val="1"/>
          <c:order val="1"/>
          <c:tx>
            <c:strRef>
              <c:f>Sheet1!$C$1</c:f>
              <c:strCache>
                <c:ptCount val="1"/>
                <c:pt idx="0">
                  <c:v>Tuition required</c:v>
                </c:pt>
              </c:strCache>
            </c:strRef>
          </c:tx>
          <c:spPr>
            <a:ln w="38100">
              <a:solidFill>
                <a:srgbClr val="F3C969"/>
              </a:solidFill>
            </a:ln>
          </c:spPr>
          <c:marker>
            <c:symbol val="none"/>
          </c:marker>
          <c:cat>
            <c:strRef>
              <c:f>Sheet1!$A$2:$A$4</c:f>
              <c:strCache>
                <c:ptCount val="3"/>
                <c:pt idx="0">
                  <c:v>Now</c:v>
                </c:pt>
                <c:pt idx="1">
                  <c:v>Month 1</c:v>
                </c:pt>
                <c:pt idx="2">
                  <c:v>Tuition due</c:v>
                </c:pt>
              </c:strCache>
            </c:strRef>
          </c:cat>
          <c:val>
            <c:numRef>
              <c:f>Sheet1!$C$2:$C$4</c:f>
              <c:numCache>
                <c:formatCode>General</c:formatCode>
                <c:ptCount val="3"/>
                <c:pt idx="0">
                  <c:v>40000</c:v>
                </c:pt>
                <c:pt idx="1">
                  <c:v>40000</c:v>
                </c:pt>
                <c:pt idx="2">
                  <c:v>40000</c:v>
                </c:pt>
              </c:numCache>
            </c:numRef>
          </c:val>
          <c:smooth val="0"/>
          <c:extLst>
            <c:ext xmlns:c16="http://schemas.microsoft.com/office/drawing/2014/chart" uri="{C3380CC4-5D6E-409C-BE32-E72D297353CC}">
              <c16:uniqueId val="{00000001-120E-4D1A-A0E1-E910A6F614F6}"/>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nextTo"/>
        <c:spPr>
          <a:ln>
            <a:noFill/>
          </a:ln>
        </c:spPr>
        <c:txPr>
          <a:bodyPr/>
          <a:lstStyle/>
          <a:p>
            <a:pPr>
              <a:defRPr sz="1100">
                <a:solidFill>
                  <a:srgbClr val="A2B4CA"/>
                </a:solidFill>
              </a:defRPr>
            </a:pPr>
            <a:endParaRPr lang="en-US"/>
          </a:p>
        </c:txPr>
        <c:crossAx val="2140495176"/>
        <c:crosses val="autoZero"/>
        <c:auto val="1"/>
        <c:lblAlgn val="ctr"/>
        <c:lblOffset val="100"/>
        <c:noMultiLvlLbl val="0"/>
      </c:catAx>
      <c:valAx>
        <c:axId val="2140495176"/>
        <c:scaling>
          <c:orientation val="minMax"/>
          <c:max val="45000"/>
          <c:min val="0"/>
        </c:scaling>
        <c:delete val="0"/>
        <c:axPos val="l"/>
        <c:majorGridlines>
          <c:spPr>
            <a:ln>
              <a:solidFill>
                <a:srgbClr val="263951"/>
              </a:solidFill>
            </a:ln>
          </c:spPr>
        </c:majorGridlines>
        <c:numFmt formatCode="General" sourceLinked="1"/>
        <c:majorTickMark val="out"/>
        <c:minorTickMark val="none"/>
        <c:tickLblPos val="nextTo"/>
        <c:spPr>
          <a:ln>
            <a:noFill/>
          </a:ln>
        </c:spPr>
        <c:txPr>
          <a:bodyPr/>
          <a:lstStyle/>
          <a:p>
            <a:pPr>
              <a:defRPr sz="1000">
                <a:solidFill>
                  <a:srgbClr val="A2B4CA"/>
                </a:solidFill>
              </a:defRPr>
            </a:pPr>
            <a:endParaRPr lang="en-US"/>
          </a:p>
        </c:txPr>
        <c:crossAx val="2118791784"/>
        <c:crosses val="autoZero"/>
        <c:crossBetween val="between"/>
      </c:valAx>
    </c:plotArea>
    <c:legend>
      <c:legendPos val="b"/>
      <c:layout/>
      <c:overlay val="0"/>
      <c:txPr>
        <a:bodyPr/>
        <a:lstStyle/>
        <a:p>
          <a:pPr>
            <a:defRPr sz="1000">
              <a:solidFill>
                <a:srgbClr val="A2B4CA"/>
              </a:solidFill>
            </a:defRPr>
          </a:pPr>
          <a:endParaRPr lang="en-US"/>
        </a:p>
      </c:txPr>
    </c:legend>
    <c:plotVisOnly val="1"/>
    <c:dispBlanksAs val="gap"/>
    <c:showDLblsOverMax val="0"/>
  </c:chart>
  <c:spPr>
    <a:noFill/>
    <a:ln>
      <a:noFill/>
    </a:ln>
  </c:spPr>
  <c:txPr>
    <a:bodyPr/>
    <a:lstStyle/>
    <a:p>
      <a:pPr>
        <a:defRPr sz="1100">
          <a:solidFill>
            <a:srgbClr val="A2B4CA"/>
          </a:solidFill>
          <a:latin typeface="Aptos"/>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Extra sender cost in BDT</c:v>
                </c:pt>
              </c:strCache>
            </c:strRef>
          </c:tx>
          <c:spPr>
            <a:solidFill>
              <a:srgbClr val="63E6BE"/>
            </a:solidFill>
            <a:ln>
              <a:noFill/>
            </a:ln>
          </c:spPr>
          <c:invertIfNegative val="1"/>
          <c:dPt>
            <c:idx val="0"/>
            <c:invertIfNegative val="1"/>
            <c:bubble3D val="0"/>
            <c:extLst>
              <c:ext xmlns:c16="http://schemas.microsoft.com/office/drawing/2014/chart" uri="{C3380CC4-5D6E-409C-BE32-E72D297353CC}">
                <c16:uniqueId val="{00000001-9B9F-4849-8039-2156EFE5E1C2}"/>
              </c:ext>
            </c:extLst>
          </c:dPt>
          <c:dPt>
            <c:idx val="1"/>
            <c:invertIfNegative val="1"/>
            <c:bubble3D val="0"/>
            <c:spPr>
              <a:solidFill>
                <a:srgbClr val="6BB9FF"/>
              </a:solidFill>
              <a:ln>
                <a:noFill/>
              </a:ln>
            </c:spPr>
            <c:extLst>
              <c:ext xmlns:c16="http://schemas.microsoft.com/office/drawing/2014/chart" uri="{C3380CC4-5D6E-409C-BE32-E72D297353CC}">
                <c16:uniqueId val="{00000003-9B9F-4849-8039-2156EFE5E1C2}"/>
              </c:ext>
            </c:extLst>
          </c:dPt>
          <c:dPt>
            <c:idx val="2"/>
            <c:invertIfNegative val="1"/>
            <c:bubble3D val="0"/>
            <c:spPr>
              <a:solidFill>
                <a:srgbClr val="B4A3FF"/>
              </a:solidFill>
              <a:ln>
                <a:noFill/>
              </a:ln>
            </c:spPr>
            <c:extLst>
              <c:ext xmlns:c16="http://schemas.microsoft.com/office/drawing/2014/chart" uri="{C3380CC4-5D6E-409C-BE32-E72D297353CC}">
                <c16:uniqueId val="{00000005-9B9F-4849-8039-2156EFE5E1C2}"/>
              </c:ext>
            </c:extLst>
          </c:dPt>
          <c:dPt>
            <c:idx val="3"/>
            <c:invertIfNegative val="1"/>
            <c:bubble3D val="0"/>
            <c:spPr>
              <a:solidFill>
                <a:srgbClr val="F3C969"/>
              </a:solidFill>
              <a:ln>
                <a:noFill/>
              </a:ln>
            </c:spPr>
            <c:extLst>
              <c:ext xmlns:c16="http://schemas.microsoft.com/office/drawing/2014/chart" uri="{C3380CC4-5D6E-409C-BE32-E72D297353CC}">
                <c16:uniqueId val="{00000007-9B9F-4849-8039-2156EFE5E1C2}"/>
              </c:ext>
            </c:extLst>
          </c:dPt>
          <c:dLbls>
            <c:numFmt formatCode="#,##0" sourceLinked="0"/>
            <c:spPr>
              <a:noFill/>
              <a:ln>
                <a:noFill/>
              </a:ln>
              <a:effectLst/>
            </c:spPr>
            <c:txPr>
              <a:bodyPr/>
              <a:lstStyle/>
              <a:p>
                <a:pPr>
                  <a:defRPr sz="1100">
                    <a:solidFill>
                      <a:srgbClr val="EDF5FF"/>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StudentTransfer</c:v>
                </c:pt>
                <c:pt idx="1">
                  <c:v>GlobeSend</c:v>
                </c:pt>
                <c:pt idx="2">
                  <c:v>FastRemit</c:v>
                </c:pt>
                <c:pt idx="3">
                  <c:v>SwiftBank</c:v>
                </c:pt>
              </c:strCache>
            </c:strRef>
          </c:cat>
          <c:val>
            <c:numRef>
              <c:f>Sheet1!$B$2:$B$5</c:f>
              <c:numCache>
                <c:formatCode>General</c:formatCode>
                <c:ptCount val="4"/>
                <c:pt idx="0">
                  <c:v>0</c:v>
                </c:pt>
                <c:pt idx="1">
                  <c:v>362.1</c:v>
                </c:pt>
                <c:pt idx="2">
                  <c:v>893.85</c:v>
                </c:pt>
                <c:pt idx="3">
                  <c:v>2913.91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8-9B9F-4849-8039-2156EFE5E1C2}"/>
            </c:ext>
          </c:extLst>
        </c:ser>
        <c:dLbls>
          <c:dLblPos val="outEnd"/>
          <c:showLegendKey val="0"/>
          <c:showVal val="1"/>
          <c:showCatName val="0"/>
          <c:showSerName val="0"/>
          <c:showPercent val="0"/>
          <c:showBubbleSize val="0"/>
        </c:dLbls>
        <c:gapWidth val="65"/>
        <c:axId val="-2068027336"/>
        <c:axId val="-2113994440"/>
      </c:barChart>
      <c:catAx>
        <c:axId val="-2068027336"/>
        <c:scaling>
          <c:orientation val="minMax"/>
        </c:scaling>
        <c:delete val="0"/>
        <c:axPos val="l"/>
        <c:numFmt formatCode="General" sourceLinked="0"/>
        <c:majorTickMark val="out"/>
        <c:minorTickMark val="none"/>
        <c:tickLblPos val="nextTo"/>
        <c:spPr>
          <a:ln>
            <a:noFill/>
          </a:ln>
        </c:spPr>
        <c:txPr>
          <a:bodyPr/>
          <a:lstStyle/>
          <a:p>
            <a:pPr>
              <a:defRPr sz="1100">
                <a:solidFill>
                  <a:srgbClr val="A2B4CA"/>
                </a:solidFill>
              </a:defRPr>
            </a:pPr>
            <a:endParaRPr lang="en-US"/>
          </a:p>
        </c:txPr>
        <c:crossAx val="-2113994440"/>
        <c:crosses val="autoZero"/>
        <c:auto val="1"/>
        <c:lblAlgn val="ctr"/>
        <c:lblOffset val="100"/>
        <c:noMultiLvlLbl val="0"/>
      </c:catAx>
      <c:valAx>
        <c:axId val="-2113994440"/>
        <c:scaling>
          <c:orientation val="minMax"/>
          <c:max val="3500"/>
          <c:min val="0"/>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spPr>
    <a:noFill/>
    <a:ln>
      <a:noFill/>
    </a:ln>
  </c:spPr>
  <c:txPr>
    <a:bodyPr/>
    <a:lstStyle/>
    <a:p>
      <a:pPr>
        <a:defRPr sz="1100">
          <a:solidFill>
            <a:srgbClr val="A2B4CA"/>
          </a:solidFill>
          <a:latin typeface="Apto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Budget</c:v>
                </c:pt>
              </c:strCache>
            </c:strRef>
          </c:tx>
          <c:spPr>
            <a:solidFill>
              <a:srgbClr val="6BB9FF"/>
            </a:solidFill>
            <a:ln>
              <a:noFill/>
            </a:ln>
          </c:spPr>
          <c:invertIfNegative val="1"/>
          <c:cat>
            <c:strRef>
              <c:f>Sheet1!$A$2:$A$4</c:f>
              <c:strCache>
                <c:ptCount val="3"/>
                <c:pt idx="0">
                  <c:v>Housing</c:v>
                </c:pt>
                <c:pt idx="1">
                  <c:v>Food</c:v>
                </c:pt>
                <c:pt idx="2">
                  <c:v>Transport</c:v>
                </c:pt>
              </c:strCache>
            </c:strRef>
          </c:cat>
          <c:val>
            <c:numRef>
              <c:f>Sheet1!$B$2:$B$4</c:f>
              <c:numCache>
                <c:formatCode>General</c:formatCode>
                <c:ptCount val="3"/>
                <c:pt idx="0">
                  <c:v>1400</c:v>
                </c:pt>
                <c:pt idx="1">
                  <c:v>500</c:v>
                </c:pt>
                <c:pt idx="2">
                  <c:v>200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81FE-4F28-9C86-05F6B60EC23B}"/>
            </c:ext>
          </c:extLst>
        </c:ser>
        <c:ser>
          <c:idx val="1"/>
          <c:order val="1"/>
          <c:tx>
            <c:strRef>
              <c:f>Sheet1!$C$1</c:f>
              <c:strCache>
                <c:ptCount val="1"/>
                <c:pt idx="0">
                  <c:v>Spent</c:v>
                </c:pt>
              </c:strCache>
            </c:strRef>
          </c:tx>
          <c:spPr>
            <a:solidFill>
              <a:srgbClr val="63E6BE"/>
            </a:solidFill>
            <a:ln>
              <a:noFill/>
            </a:ln>
          </c:spPr>
          <c:invertIfNegative val="1"/>
          <c:cat>
            <c:strRef>
              <c:f>Sheet1!$A$2:$A$4</c:f>
              <c:strCache>
                <c:ptCount val="3"/>
                <c:pt idx="0">
                  <c:v>Housing</c:v>
                </c:pt>
                <c:pt idx="1">
                  <c:v>Food</c:v>
                </c:pt>
                <c:pt idx="2">
                  <c:v>Transport</c:v>
                </c:pt>
              </c:strCache>
            </c:strRef>
          </c:cat>
          <c:val>
            <c:numRef>
              <c:f>Sheet1!$C$2:$C$4</c:f>
              <c:numCache>
                <c:formatCode>General</c:formatCode>
                <c:ptCount val="3"/>
                <c:pt idx="0">
                  <c:v>1500</c:v>
                </c:pt>
                <c:pt idx="1">
                  <c:v>450</c:v>
                </c:pt>
                <c:pt idx="2">
                  <c:v>175</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81FE-4F28-9C86-05F6B60EC23B}"/>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spPr>
          <a:ln>
            <a:noFill/>
          </a:ln>
        </c:spPr>
        <c:txPr>
          <a:bodyPr/>
          <a:lstStyle/>
          <a:p>
            <a:pPr>
              <a:defRPr sz="1100">
                <a:solidFill>
                  <a:srgbClr val="A2B4CA"/>
                </a:solidFill>
              </a:defRPr>
            </a:pPr>
            <a:endParaRPr lang="en-US"/>
          </a:p>
        </c:txPr>
        <c:crossAx val="-2113994440"/>
        <c:crosses val="autoZero"/>
        <c:auto val="1"/>
        <c:lblAlgn val="ctr"/>
        <c:lblOffset val="100"/>
        <c:noMultiLvlLbl val="0"/>
      </c:catAx>
      <c:valAx>
        <c:axId val="-2113994440"/>
        <c:scaling>
          <c:orientation val="minMax"/>
          <c:max val="1800"/>
          <c:min val="0"/>
        </c:scaling>
        <c:delete val="0"/>
        <c:axPos val="l"/>
        <c:majorGridlines>
          <c:spPr>
            <a:ln>
              <a:solidFill>
                <a:srgbClr val="263951"/>
              </a:solidFill>
            </a:ln>
          </c:spPr>
        </c:majorGridlines>
        <c:numFmt formatCode="General" sourceLinked="1"/>
        <c:majorTickMark val="out"/>
        <c:minorTickMark val="none"/>
        <c:tickLblPos val="nextTo"/>
        <c:spPr>
          <a:ln>
            <a:noFill/>
          </a:ln>
        </c:spPr>
        <c:txPr>
          <a:bodyPr/>
          <a:lstStyle/>
          <a:p>
            <a:pPr>
              <a:defRPr sz="1000">
                <a:solidFill>
                  <a:srgbClr val="A2B4CA"/>
                </a:solidFill>
              </a:defRPr>
            </a:pPr>
            <a:endParaRPr lang="en-US"/>
          </a:p>
        </c:txPr>
        <c:crossAx val="-2068027336"/>
        <c:crosses val="autoZero"/>
        <c:crossBetween val="between"/>
      </c:valAx>
    </c:plotArea>
    <c:legend>
      <c:legendPos val="b"/>
      <c:layout/>
      <c:overlay val="0"/>
      <c:txPr>
        <a:bodyPr/>
        <a:lstStyle/>
        <a:p>
          <a:pPr>
            <a:defRPr sz="1000">
              <a:solidFill>
                <a:srgbClr val="A2B4CA"/>
              </a:solidFill>
            </a:defRPr>
          </a:pPr>
          <a:endParaRPr lang="en-US"/>
        </a:p>
      </c:txPr>
    </c:legend>
    <c:plotVisOnly val="1"/>
    <c:dispBlanksAs val="gap"/>
    <c:showDLblsOverMax val="1"/>
  </c:chart>
  <c:spPr>
    <a:noFill/>
    <a:ln>
      <a:noFill/>
    </a:ln>
  </c:spPr>
  <c:txPr>
    <a:bodyPr/>
    <a:lstStyle/>
    <a:p>
      <a:pPr>
        <a:defRPr sz="1100">
          <a:solidFill>
            <a:srgbClr val="A2B4CA"/>
          </a:solidFill>
          <a:latin typeface="Aptos"/>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CNY</c:v>
                </c:pt>
              </c:strCache>
            </c:strRef>
          </c:tx>
          <c:spPr>
            <a:solidFill>
              <a:srgbClr val="F3C969"/>
            </a:solidFill>
            <a:ln>
              <a:noFill/>
            </a:ln>
          </c:spPr>
          <c:invertIfNegative val="1"/>
          <c:dPt>
            <c:idx val="0"/>
            <c:invertIfNegative val="1"/>
            <c:bubble3D val="0"/>
            <c:extLst>
              <c:ext xmlns:c16="http://schemas.microsoft.com/office/drawing/2014/chart" uri="{C3380CC4-5D6E-409C-BE32-E72D297353CC}">
                <c16:uniqueId val="{00000001-16D0-4AC8-A898-8E6A6BFDF63F}"/>
              </c:ext>
            </c:extLst>
          </c:dPt>
          <c:dPt>
            <c:idx val="1"/>
            <c:invertIfNegative val="1"/>
            <c:bubble3D val="0"/>
            <c:spPr>
              <a:solidFill>
                <a:srgbClr val="6BB9FF"/>
              </a:solidFill>
              <a:ln>
                <a:noFill/>
              </a:ln>
            </c:spPr>
            <c:extLst>
              <c:ext xmlns:c16="http://schemas.microsoft.com/office/drawing/2014/chart" uri="{C3380CC4-5D6E-409C-BE32-E72D297353CC}">
                <c16:uniqueId val="{00000003-16D0-4AC8-A898-8E6A6BFDF63F}"/>
              </c:ext>
            </c:extLst>
          </c:dPt>
          <c:dPt>
            <c:idx val="2"/>
            <c:invertIfNegative val="1"/>
            <c:bubble3D val="0"/>
            <c:spPr>
              <a:solidFill>
                <a:srgbClr val="63E6BE"/>
              </a:solidFill>
              <a:ln>
                <a:noFill/>
              </a:ln>
            </c:spPr>
            <c:extLst>
              <c:ext xmlns:c16="http://schemas.microsoft.com/office/drawing/2014/chart" uri="{C3380CC4-5D6E-409C-BE32-E72D297353CC}">
                <c16:uniqueId val="{00000005-16D0-4AC8-A898-8E6A6BFDF63F}"/>
              </c:ext>
            </c:extLst>
          </c:dPt>
          <c:dLbls>
            <c:numFmt formatCode="#,##0" sourceLinked="0"/>
            <c:spPr>
              <a:noFill/>
              <a:ln>
                <a:noFill/>
              </a:ln>
              <a:effectLst/>
            </c:spPr>
            <c:txPr>
              <a:bodyPr/>
              <a:lstStyle/>
              <a:p>
                <a:pPr>
                  <a:defRPr sz="1100">
                    <a:solidFill>
                      <a:srgbClr val="EDF5FF"/>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Sheet1!$A$2:$A$4</c:f>
              <c:strCache>
                <c:ptCount val="3"/>
                <c:pt idx="0">
                  <c:v>Approval threshold</c:v>
                </c:pt>
                <c:pt idx="1">
                  <c:v>Student request</c:v>
                </c:pt>
                <c:pt idx="2">
                  <c:v>Hard transfer cap</c:v>
                </c:pt>
              </c:strCache>
            </c:strRef>
          </c:cat>
          <c:val>
            <c:numRef>
              <c:f>Sheet1!$B$2:$B$4</c:f>
              <c:numCache>
                <c:formatCode>General</c:formatCode>
                <c:ptCount val="3"/>
                <c:pt idx="0">
                  <c:v>5000</c:v>
                </c:pt>
                <c:pt idx="1">
                  <c:v>6750</c:v>
                </c:pt>
                <c:pt idx="2">
                  <c:v>10000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6-16D0-4AC8-A898-8E6A6BFDF63F}"/>
            </c:ext>
          </c:extLst>
        </c:ser>
        <c:dLbls>
          <c:dLblPos val="outEnd"/>
          <c:showLegendKey val="0"/>
          <c:showVal val="1"/>
          <c:showCatName val="0"/>
          <c:showSerName val="0"/>
          <c:showPercent val="0"/>
          <c:showBubbleSize val="0"/>
        </c:dLbls>
        <c:gapWidth val="65"/>
        <c:axId val="-2068027336"/>
        <c:axId val="-2113994440"/>
      </c:barChart>
      <c:catAx>
        <c:axId val="-2068027336"/>
        <c:scaling>
          <c:orientation val="minMax"/>
        </c:scaling>
        <c:delete val="0"/>
        <c:axPos val="l"/>
        <c:numFmt formatCode="General" sourceLinked="0"/>
        <c:majorTickMark val="out"/>
        <c:minorTickMark val="none"/>
        <c:tickLblPos val="nextTo"/>
        <c:spPr>
          <a:ln>
            <a:noFill/>
          </a:ln>
        </c:spPr>
        <c:txPr>
          <a:bodyPr/>
          <a:lstStyle/>
          <a:p>
            <a:pPr>
              <a:defRPr sz="1100">
                <a:solidFill>
                  <a:srgbClr val="A2B4CA"/>
                </a:solidFill>
              </a:defRPr>
            </a:pPr>
            <a:endParaRPr lang="en-US"/>
          </a:p>
        </c:txPr>
        <c:crossAx val="-2113994440"/>
        <c:crosses val="autoZero"/>
        <c:auto val="1"/>
        <c:lblAlgn val="ctr"/>
        <c:lblOffset val="100"/>
        <c:noMultiLvlLbl val="0"/>
      </c:catAx>
      <c:valAx>
        <c:axId val="-2113994440"/>
        <c:scaling>
          <c:orientation val="minMax"/>
          <c:max val="12000"/>
          <c:min val="0"/>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spPr>
    <a:noFill/>
    <a:ln>
      <a:noFill/>
    </a:ln>
  </c:spPr>
  <c:txPr>
    <a:bodyPr/>
    <a:lstStyle/>
    <a:p>
      <a:pPr>
        <a:defRPr sz="1100">
          <a:solidFill>
            <a:srgbClr val="A2B4CA"/>
          </a:solidFill>
          <a:latin typeface="Aptos"/>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Requests</c:v>
                </c:pt>
              </c:strCache>
            </c:strRef>
          </c:tx>
          <c:spPr>
            <a:solidFill>
              <a:srgbClr val="F3C969"/>
            </a:solidFill>
            <a:ln>
              <a:noFill/>
            </a:ln>
          </c:spPr>
          <c:invertIfNegative val="1"/>
          <c:dPt>
            <c:idx val="0"/>
            <c:invertIfNegative val="1"/>
            <c:bubble3D val="0"/>
            <c:extLst>
              <c:ext xmlns:c16="http://schemas.microsoft.com/office/drawing/2014/chart" uri="{C3380CC4-5D6E-409C-BE32-E72D297353CC}">
                <c16:uniqueId val="{00000001-9B57-4708-B747-A0BEA44C2D77}"/>
              </c:ext>
            </c:extLst>
          </c:dPt>
          <c:dPt>
            <c:idx val="1"/>
            <c:invertIfNegative val="1"/>
            <c:bubble3D val="0"/>
            <c:spPr>
              <a:solidFill>
                <a:srgbClr val="6BB9FF"/>
              </a:solidFill>
              <a:ln>
                <a:noFill/>
              </a:ln>
            </c:spPr>
            <c:extLst>
              <c:ext xmlns:c16="http://schemas.microsoft.com/office/drawing/2014/chart" uri="{C3380CC4-5D6E-409C-BE32-E72D297353CC}">
                <c16:uniqueId val="{00000003-9B57-4708-B747-A0BEA44C2D77}"/>
              </c:ext>
            </c:extLst>
          </c:dPt>
          <c:dPt>
            <c:idx val="2"/>
            <c:invertIfNegative val="1"/>
            <c:bubble3D val="0"/>
            <c:spPr>
              <a:solidFill>
                <a:srgbClr val="63E6BE"/>
              </a:solidFill>
              <a:ln>
                <a:noFill/>
              </a:ln>
            </c:spPr>
            <c:extLst>
              <c:ext xmlns:c16="http://schemas.microsoft.com/office/drawing/2014/chart" uri="{C3380CC4-5D6E-409C-BE32-E72D297353CC}">
                <c16:uniqueId val="{00000005-9B57-4708-B747-A0BEA44C2D77}"/>
              </c:ext>
            </c:extLst>
          </c:dPt>
          <c:cat>
            <c:strRef>
              <c:f>Sheet1!$A$2:$A$4</c:f>
              <c:strCache>
                <c:ptCount val="3"/>
                <c:pt idx="0">
                  <c:v>Queued</c:v>
                </c:pt>
                <c:pt idx="1">
                  <c:v>Processing</c:v>
                </c:pt>
                <c:pt idx="2">
                  <c:v>Completed</c:v>
                </c:pt>
              </c:strCache>
            </c:strRef>
          </c:cat>
          <c:val>
            <c:numRef>
              <c:f>Sheet1!$B$2:$B$4</c:f>
              <c:numCache>
                <c:formatCode>General</c:formatCode>
                <c:ptCount val="3"/>
                <c:pt idx="0">
                  <c:v>6</c:v>
                </c:pt>
                <c:pt idx="1">
                  <c:v>2</c:v>
                </c:pt>
                <c:pt idx="2">
                  <c:v>12</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6-9B57-4708-B747-A0BEA44C2D77}"/>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spPr>
          <a:ln>
            <a:noFill/>
          </a:ln>
        </c:spPr>
        <c:txPr>
          <a:bodyPr/>
          <a:lstStyle/>
          <a:p>
            <a:pPr>
              <a:defRPr sz="1100">
                <a:solidFill>
                  <a:srgbClr val="A2B4CA"/>
                </a:solidFill>
              </a:defRPr>
            </a:pPr>
            <a:endParaRPr lang="en-US"/>
          </a:p>
        </c:txPr>
        <c:crossAx val="-2113994440"/>
        <c:crosses val="autoZero"/>
        <c:auto val="1"/>
        <c:lblAlgn val="ctr"/>
        <c:lblOffset val="100"/>
        <c:noMultiLvlLbl val="0"/>
      </c:catAx>
      <c:valAx>
        <c:axId val="-2113994440"/>
        <c:scaling>
          <c:orientation val="minMax"/>
          <c:max val="15"/>
          <c:min val="0"/>
        </c:scaling>
        <c:delete val="0"/>
        <c:axPos val="l"/>
        <c:majorGridlines>
          <c:spPr>
            <a:ln>
              <a:solidFill>
                <a:srgbClr val="263951"/>
              </a:solidFill>
            </a:ln>
          </c:spPr>
        </c:majorGridlines>
        <c:numFmt formatCode="General" sourceLinked="1"/>
        <c:majorTickMark val="out"/>
        <c:minorTickMark val="none"/>
        <c:tickLblPos val="nextTo"/>
        <c:spPr>
          <a:ln>
            <a:noFill/>
          </a:ln>
        </c:spPr>
        <c:txPr>
          <a:bodyPr/>
          <a:lstStyle/>
          <a:p>
            <a:pPr>
              <a:defRPr sz="1000">
                <a:solidFill>
                  <a:srgbClr val="A2B4CA"/>
                </a:solidFill>
              </a:defRPr>
            </a:pPr>
            <a:endParaRPr lang="en-US"/>
          </a:p>
        </c:txPr>
        <c:crossAx val="-2068027336"/>
        <c:crosses val="autoZero"/>
        <c:crossBetween val="between"/>
      </c:valAx>
    </c:plotArea>
    <c:plotVisOnly val="1"/>
    <c:dispBlanksAs val="gap"/>
    <c:showDLblsOverMax val="1"/>
  </c:chart>
  <c:spPr>
    <a:noFill/>
    <a:ln>
      <a:noFill/>
    </a:ln>
  </c:spPr>
  <c:txPr>
    <a:bodyPr/>
    <a:lstStyle/>
    <a:p>
      <a:pPr>
        <a:defRPr sz="1100">
          <a:solidFill>
            <a:srgbClr val="A2B4CA"/>
          </a:solidFill>
          <a:latin typeface="Apto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2191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Dark cover: wallet-to-university movement and growing funding bars. Only product name and one sentence appear as textual content.</a:t>
            </a:r>
          </a:p>
          <a:p>
            <a:endParaRPr/>
          </a:p>
          <a:p>
            <a:r>
              <a:t>Introduce FinBridge AI as a student and family finance project. It combines planning, simulated remittances and a tool-based AI copilot. All payment flows are sandbox simulations; no real money is moved.</a:t>
            </a:r>
          </a:p>
          <a:p>
            <a:endParaRPr/>
          </a:p>
          <a:p>
            <a:r>
              <a:t>Repository evidence: README.md; public/brand/mark.svg</a:t>
            </a:r>
          </a:p>
          <a:p>
            <a:endParaRPr/>
          </a:p>
          <a:p>
            <a:r>
              <a:t>This dark visual edition uses explicit example data and staged workflow animations. The story is an illustrative scenario, not an interviewed person. All payments and quotes are sandbox simulations. Captures labeled Actual demo UI show the local demo interface. Native charts and numeric labels remain editable.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editable circular demo portraits with placeholder names and suggested roles. The user requested demo details to replace manually. These are not verified repository contributor identities. Use Change Picture, and crop replacement photos to oval. The delivery diagram connects AI/backend work to frontend/UX work.</a:t>
            </a:r>
          </a:p>
          <a:p>
            <a:endParaRPr/>
          </a:p>
          <a:p>
            <a:r>
              <a:t>These are demo avatars and suggested role placeholders, explicitly requested by the user. They do not identify actual repository contributors and must not be presented as verified authorship. To replace a portrait, select the circular picture and use Change Picture. The PNG contains a circular portrait with transparent corners; apply Crop to Shape &gt; Oval to any replacement photo. All name and role fields are normal editable PowerPoint text boxes.</a:t>
            </a:r>
          </a:p>
          <a:p>
            <a:endParaRPr/>
          </a:p>
          <a:p>
            <a:r>
              <a:t>Repository evidence: User instruction: keep developer details demo for manual replacement; README.md project identity</a:t>
            </a:r>
          </a:p>
          <a:p>
            <a:endParaRPr/>
          </a:p>
          <a:p>
            <a:r>
              <a:t>This dark visual edition uses explicit example data and staged workflow animations. The story is an illustrative scenario, not an interviewed person. All payments and quotes are sandbox simulations. Captures labeled Actual demo UI show the local demo interface. Native charts and numeric labels remain editable.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Example is proportional to the tuition-gap unit test: available CNY 27,500 + two months of CNY 5,000 income - two months of CNY 2,125 living costs = CNY 33,250. Tuition CNY 40,000 leaves CNY 6,750 gap and CNY 3,375 per-month additional target. The readiness figure is 83.125%, displayed as 83%. Formula: src/lib/money.ts fundingGap; tests/finance.test.ts. No real-person outcome is claimed.</a:t>
            </a:r>
          </a:p>
          <a:p>
            <a:endParaRPr/>
          </a:p>
          <a:p>
            <a:r>
              <a:t>Frame the problem using the workflows implemented in this repository rather than unsourced market statistics. The project targets international students, parents and educational sponsors.</a:t>
            </a:r>
          </a:p>
          <a:p>
            <a:endParaRPr/>
          </a:p>
          <a:p>
            <a:r>
              <a:t>Repository evidence: README.md; src/services/tuition.service.ts; src/services/remittance.service.ts; src/services/parent-controls.service.ts</a:t>
            </a:r>
          </a:p>
          <a:p>
            <a:endParaRPr/>
          </a:p>
          <a:p>
            <a:r>
              <a:t>This dark visual edition uses explicit example data and staged workflow animations. The story is an illustrative scenario, not an interviewed person. All payments and quotes are sandbox simulations. Captures labeled Actual demo UI show the local demo interface. Native charts and numeric labels remain editable.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real-world struggle scenario, explicitly illustrative rather than a documented case study. The chart uses the same inputs and exact formula as slide 2. Funding is CNY 27,500 initially, CNY 30,375 after one month and CNY 33,250 after two. The tuition line remains CNY 40,000. Student expenses, a parent funding from Bangladesh and a fixed tuition deadline motivate the app modules. No invented prevalence or survey statistics are used. Sources: README.md; src/lib/money.ts; src/services/tuition.service.ts; src/services/remittance.service.ts; src/actions/parent.actions.ts.</a:t>
            </a:r>
          </a:p>
          <a:p>
            <a:endParaRPr/>
          </a:p>
          <a:p>
            <a:endParaRPr/>
          </a:p>
          <a:p>
            <a:endParaRPr/>
          </a:p>
          <a:p>
            <a:r>
              <a:t>This dark visual edition uses explicit example data and staged workflow animations. The story is an illustrative scenario, not an interviewed person. All payments and quotes are sandbox simulations. Captures labeled Actual demo UI show the local demo interface. Native charts and numeric labels remain editable.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Provider comparison is computed with the actual repository formula, seeded provider fees and seeded rates CNY 5.21 / BDT 88.5. Target receipt is CNY 6,750. Principal = receipt / (targetRate/sourceRate * (1-spread)), rounded to cents; total = principal + principal*percentage_fee + fixed_fee. Providers and seed settings from scripts/generate-demo.mjs. These are sandbox seed values, not current market quotes. Bars show additional sender cost relative to the lowest demo quote; zero means no extra cost versus that baseline. Full exact values are in presentation/dark-assets/chart-data.json. Native workflow nodes show the product solution.</a:t>
            </a:r>
          </a:p>
          <a:p>
            <a:endParaRPr/>
          </a:p>
          <a:p>
            <a:r>
              <a:t>The same payment backend is reused by student, parent and AI workflows. Shared experience includes onboarding, preferred currency, language, time zone, notifications, theme, search, subscriptions, saved demo cards and personal model settings. The platform is a sandbox with manual external settlement.</a:t>
            </a:r>
          </a:p>
          <a:p>
            <a:endParaRPr/>
          </a:p>
          <a:p>
            <a:r>
              <a:t>Repository evidence: src/actions/dashboard.actions.ts; src/components/layout/shell.tsx; src/actions/preferences.actions.ts; src/services/payment.service.ts; IMPLEMENTATION_STATUS.md</a:t>
            </a:r>
          </a:p>
          <a:p>
            <a:endParaRPr/>
          </a:p>
          <a:p>
            <a:r>
              <a:t>This dark visual edition uses explicit example data and staged workflow animations. The story is an illustrative scenario, not an interviewed person. All payments and quotes are sandbox simulations. Captures labeled Actual demo UI show the local demo interface. Native charts and numeric labels remain editable.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Combined implementation slide retains AI emphasis while making room for the real-world-struggles slide. The animated tool run is an illustrative reproduction of implemented tool and review behavior, not a recording of a live provider call. Exact tool names appear in src/ai/tools/index.ts and src/ai/action-catalog.ts. Confirmed non-financial proposals dispatch through src/actions/agent-workflow.actions.ts; money requests reuse src/services/payment.service.ts. Stack: Next.js/React/TypeScript, Zod, MySQL, Decimal.js. Chat can read authorized application context, compare providers, propose budgets and funding plans, draft payments, navigate and ask follow-ups. Financial execution requires confirmation. Tool logs and action state persist.</a:t>
            </a:r>
          </a:p>
          <a:p>
            <a:endParaRPr/>
          </a:p>
          <a:p>
            <a:r>
              <a:t>Primary AI capabilities: getStudentProfile, getAccounts, analyseTransactions, calculateTuitionGap, compareRemittance, getFxRates, generateBudgetSuggestion, analyseFinancialHealth, getCreditGuidance, getWorkspaceData, assessPaymentRisk, draftPayment, beneficiary tools, requestAction and respond. The role-checked catalog also supports account, transaction, budget, tuition, alert, credit, family, preference, report and subscription tasks. Financial execution requires explicit UI confirmation. Some approved low-impact tools may create drafts, beneficiaries or alerts; do not claim the model is universally read-only. The chart is a deliberately simplified illustrative plan, not a live account or measured result.</a:t>
            </a:r>
          </a:p>
          <a:p>
            <a:endParaRPr/>
          </a:p>
          <a:p>
            <a:r>
              <a:t>Repository evidence: src/ai/tools/index.ts; src/ai/action-catalog.ts; src/ai/mock-provider.ts; src/ai/gemini-provider.ts; src/ai/openai-provider.ts</a:t>
            </a:r>
          </a:p>
          <a:p>
            <a:endParaRPr/>
          </a:p>
          <a:p>
            <a:r>
              <a:t>This dark visual edition uses explicit example data and staged workflow animations. The story is an illustrative scenario, not an interviewed person. All payments and quotes are sandbox simulations. Captures labeled Actual demo UI show the local demo interface. Native charts and numeric labels remain editable.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native chart is illustrative, using monthly expenses CNY 1,500 housing + 450 food + 175 transport = 2,125. The shopping card is an actual screenshot from the local demo, separate from the illustrative scenario; its amounts are not part of the story dataset. Shared account preferences include language, theme, country, currency, timezone and notification choices. Monthly/annual sandbox subscriptions, cancellation/history, CSV limits/preview/atomic rollback, photo/password settings, data export and closure remain implemented. All original capability detail is retained below.</a:t>
            </a:r>
          </a:p>
          <a:p>
            <a:endParaRPr/>
          </a:p>
          <a:p>
            <a:r>
              <a:t>Student feature inventory: account creation/rename/archive; separate cash and payment wallet semantics; manual categorized transactions and confidence display; pagination/filtering; CSV file and row limits, mapping and preview; budget creation/edit, mixed-currency normalization and AI suggestions; tuition paid and scholarship tracking, monthly funding plans and readiness; educational credit profile and country-specific checklist; FX charts/provider comparisons, locked quotes and reviewed legacy sandbox execution; unified internal/card/manual/external payment requests and beneficiary approvals; saved card management; payment statuses, cancellation, receipts, ledger and audit activity; AI providers, personal keys, selection and tests; family invitation acceptance; automatic alerts and user reminders; subscription quotas, monthly/annual sandbox checkout, change history and cancellation; support reports; profile photo/name/email, password reset/change, locale/country/currency/time zone/theme/notifications; data export and account closure. The mini bars are illustrative visual cues.</a:t>
            </a:r>
          </a:p>
          <a:p>
            <a:endParaRPr/>
          </a:p>
          <a:p>
            <a:r>
              <a:t>Repository evidence: src/actions/; src/components/accounts/; src/components/tuition/; src/components/budget/; src/components/payments/; src/components/layout/utility-pages.tsx; src/components/settings/platform-panels.tsx</a:t>
            </a:r>
          </a:p>
          <a:p>
            <a:endParaRPr/>
          </a:p>
          <a:p>
            <a:r>
              <a:t>This dark visual edition uses explicit example data and staged workflow animations. The story is an illustrative scenario, not an interviewed person. All payments and quotes are sandbox simulations. Captures labeled Actual demo UI show the local demo interface. Native charts and numeric labels remain editable.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Illustrative threshold CNY 5,000, request CNY 6,750 and per-transfer cap CNY 10,000. The request exceeds the approval threshold but stays below the hard cap, so it needs parent review rather than automatic rejection (other policy checks still apply). The animation is a state demonstration, not a real transfer. Parent authorization is explicit; the model cannot approve by itself. The strongest applicable parent policy wins, and parents cannot relax platform risk limits.</a:t>
            </a:r>
          </a:p>
          <a:p>
            <a:endParaRPr/>
          </a:p>
          <a:p>
            <a:r>
              <a:t>Parent functions include linking and revocation, configurable visibility, parent-owned financial accounts and wallet transfers, transaction recording and CSV imports under role ownership, approval decisions and history, beneficiary decisions, controls for tuition/conversion, caps and thresholds, non-beneficiary policy and category limits. Strictest applicable parent policy wins and can only tighten administrator ceilings. Parent AI actions are restricted by the role catalog; the model does not approve by itself. Parent access to automatic alerts respects visibility. Parent subscriptions, cards, models and preferences share the customer workflow. Illustrative bars show nested policy constraints, not measured amounts.</a:t>
            </a:r>
          </a:p>
          <a:p>
            <a:endParaRPr/>
          </a:p>
          <a:p>
            <a:r>
              <a:t>Repository evidence: src/actions/parent.actions.ts; src/services/parent-controls.service.ts; src/services/payment.service.ts; src/ai/action-catalog.ts; src/components/family/family-page.tsx; src/services/automatic-alerts.service.ts</a:t>
            </a:r>
          </a:p>
          <a:p>
            <a:endParaRPr/>
          </a:p>
          <a:p>
            <a:r>
              <a:t>This dark visual edition uses explicit example data and staged workflow animations. The story is an illustrative scenario, not an interviewed person. All payments and quotes are sandbox simulations. Captures labeled Actual demo UI show the local demo interface. Native charts and numeric labels remain editable.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Queue counts 6, 2 and 12 are illustrative snapshot values, not production metrics. Animated card shows manual queue progression with a reference and receipt, with no actual transfer execution. Admin uses role-restricted settlement service, provider/catalog/risk/plan controls and evidence inspection. Moderator delegations and team publishing remain in the feature list. Source code and original detailed inventory follow.</a:t>
            </a:r>
          </a:p>
          <a:p>
            <a:endParaRPr/>
          </a:p>
          <a:p>
            <a:r>
              <a:t>Administrator features verified against admin.actions.ts, platform.actions.ts, payment.actions.ts, admin-page.tsx and financial-config.tsx. Moderator delegations cover reports, team, agent, models, users, finance and catalog; access is individually checked. Team editing includes publishing, designation and CEO designation, profile photo and limited moderator self-edit. Settlement actions are role restricted. Financial controls include risk caps, provider and route settings and country-specific credit education. Reporting and evidence are application artifacts, not independent compliance certification.</a:t>
            </a:r>
          </a:p>
          <a:p>
            <a:endParaRPr/>
          </a:p>
          <a:p>
            <a:r>
              <a:t>Repository evidence: src/actions/admin.actions.ts; src/actions/platform.actions.ts; src/actions/payment.actions.ts; src/components/admin/; src/lib/admin-permissions.ts; src/components/layout/evidence-page.tsx</a:t>
            </a:r>
          </a:p>
          <a:p>
            <a:endParaRPr/>
          </a:p>
          <a:p>
            <a:r>
              <a:t>This dark visual edition uses explicit example data and staged workflow animations. The story is an illustrative scenario, not an interviewed person. All payments and quotes are sandbox simulations. Captures labeled Actual demo UI show the local demo interface. Native charts and numeric labels remain editable.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animation demonstrates the existing permission matrix: a parent may see balances and tuition while transaction descriptions remain hidden. It does not imply a specific demo account has these permissions. Encrypted-key handling is for AI API keys, not a claim that all financial data is encrypted. User closure revokes access but is not an erasure promise. Fields sent through AI tools may reach the configured provider. Controls are implemented; no independent certification is claimed.</a:t>
            </a:r>
          </a:p>
          <a:p>
            <a:endParaRPr/>
          </a:p>
          <a:p>
            <a:r>
              <a:t>Security claims are code-level controls, not a certification. session.ts uses HS256, 8-hour JWT expiry, httpOnly, SameSite lax and production secure cookies; auth.ts verifies session_version. Passwords use bcrypt. secrets.ts encrypts AI keys using AES-256-GCM. Parent permissions govern disclosure. Avatar validation in current src/lib/avatar.ts accepts PNG/JPEG/WebP data URLs, checks signatures and enforces 300,000 bytes; README describes a different limit, so the slide deliberately makes no size claim. Profile export is capped per table and is not an exhaustive privacy portability certification. Account closure changes status and revokes sessions/links; it is not an erasure promise. AI adapters send selected conversational/tool context to the configured provider. No claim is made that all financial data is encrypted at rest. Legacy sandbox transfer uses locked quotes and single-use execution tokens. Unified payment path uses idempotency, transactional locking and policy checks. No fresh audit was run for this deck.</a:t>
            </a:r>
          </a:p>
          <a:p>
            <a:endParaRPr/>
          </a:p>
          <a:p>
            <a:r>
              <a:t>Repository evidence: src/lib/session.ts; src/lib/auth.ts; src/lib/secrets.ts; src/lib/avatar.ts; src/lib/permissions.ts; src/lib/risk-engine.ts; src/actions/user.actions.ts; src/services/sandbox-payment.service.ts; src/services/payment.service.ts; src/ai/</a:t>
            </a:r>
          </a:p>
          <a:p>
            <a:endParaRPr/>
          </a:p>
          <a:p>
            <a:r>
              <a:t>This dark visual edition uses explicit example data and staged workflow animations. The story is an illustrative scenario, not an interviewed person. All payments and quotes are sandbox simulations. Captures labeled Actual demo UI show the local demo interface. Native charts and numeric labels remain editable.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10/20/2026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10/20/2026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gif"/></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6.gif"/></Relationships>
</file>

<file path=ppt/slides/_rels/slide9.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chart" Target="../charts/chart6.xml"/></Relationships>
</file>

<file path=ppt/slides/_rels/slide10.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2" name="reveal_01"/>
          <p:cNvSpPr txBox="1"/>
          <p:nvPr/>
        </p:nvSpPr>
        <p:spPr>
          <a:xfrm>
            <a:off x="594360" y="1920240"/>
            <a:ext cx="5669280" cy="914400"/>
          </a:xfrm>
          <a:prstGeom prst="rect">
            <a:avLst/>
          </a:prstGeom>
          <a:noFill/>
        </p:spPr>
        <p:txBody>
          <a:bodyPr wrap="square" lIns="0" tIns="0" rIns="0" bIns="0">
            <a:spAutoFit/>
          </a:bodyPr>
          <a:lstStyle/>
          <a:p>
            <a:pPr>
              <a:spcAft>
                <a:spcPts val="300"/>
              </a:spcAft>
              <a:defRPr sz="4800" b="1">
                <a:solidFill>
                  <a:srgbClr val="EDF5FF"/>
                </a:solidFill>
                <a:latin typeface="Aptos"/>
              </a:defRPr>
            </a:pPr>
            <a:r>
              <a:t>FinBridge AI</a:t>
            </a:r>
          </a:p>
        </p:txBody>
      </p:sp>
      <p:sp>
        <p:nvSpPr>
          <p:cNvPr id="3" name="reveal_02"/>
          <p:cNvSpPr txBox="1"/>
          <p:nvPr/>
        </p:nvSpPr>
        <p:spPr>
          <a:xfrm>
            <a:off x="630936" y="3081528"/>
            <a:ext cx="4937760" cy="1508760"/>
          </a:xfrm>
          <a:prstGeom prst="rect">
            <a:avLst/>
          </a:prstGeom>
          <a:noFill/>
        </p:spPr>
        <p:txBody>
          <a:bodyPr wrap="square" lIns="0" tIns="0" rIns="0" bIns="0">
            <a:spAutoFit/>
          </a:bodyPr>
          <a:lstStyle/>
          <a:p>
            <a:pPr>
              <a:spcAft>
                <a:spcPts val="300"/>
              </a:spcAft>
              <a:defRPr sz="2300" b="0">
                <a:solidFill>
                  <a:srgbClr val="A2B4CA"/>
                </a:solidFill>
                <a:latin typeface="Aptos"/>
              </a:defRPr>
            </a:pPr>
            <a:r>
              <a:t>An AI financial copilot helping students and families plan tuition, manage money and navigate cross-border funding.</a:t>
            </a:r>
          </a:p>
        </p:txBody>
      </p:sp>
      <p:pic>
        <p:nvPicPr>
          <p:cNvPr id="4" name="reveal_03" descr="cover.gif"/>
          <p:cNvPicPr>
            <a:picLocks noChangeAspect="1"/>
          </p:cNvPicPr>
          <p:nvPr/>
        </p:nvPicPr>
        <p:blipFill>
          <a:blip r:embed="rId3"/>
          <a:stretch>
            <a:fillRect/>
          </a:stretch>
        </p:blipFill>
        <p:spPr>
          <a:xfrm>
            <a:off x="5833872" y="1371600"/>
            <a:ext cx="5989320" cy="3538728"/>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childTnLst>
                          </p:cTn>
                        </p:par>
                        <p:par>
                          <p:cTn id="8" fill="hold">
                            <p:stCondLst>
                              <p:cond delay="6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600"/>
                                        <p:tgtEl>
                                          <p:spTgt spid="3"/>
                                        </p:tgtEl>
                                      </p:cBhvr>
                                    </p:animEffect>
                                  </p:childTnLst>
                                </p:cTn>
                              </p:par>
                            </p:childTnLst>
                          </p:cTn>
                        </p:par>
                        <p:par>
                          <p:cTn id="12" fill="hold">
                            <p:stCondLst>
                              <p:cond delay="1200"/>
                            </p:stCondLst>
                            <p:childTnLst>
                              <p:par>
                                <p:cTn id="13" presetID="10" presetClass="entr" presetSubtype="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6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2" name="TextBox 1"/>
          <p:cNvSpPr txBox="1"/>
          <p:nvPr/>
        </p:nvSpPr>
        <p:spPr>
          <a:xfrm>
            <a:off x="502920" y="203200"/>
            <a:ext cx="10058400" cy="228600"/>
          </a:xfrm>
          <a:prstGeom prst="rect">
            <a:avLst/>
          </a:prstGeom>
          <a:noFill/>
        </p:spPr>
        <p:txBody>
          <a:bodyPr wrap="square" lIns="0" tIns="0" rIns="0" bIns="0">
            <a:spAutoFit/>
          </a:bodyPr>
          <a:lstStyle/>
          <a:p>
            <a:pPr>
              <a:spcAft>
                <a:spcPts val="300"/>
              </a:spcAft>
              <a:defRPr sz="1000" b="1">
                <a:solidFill>
                  <a:srgbClr val="63E6BE"/>
                </a:solidFill>
                <a:latin typeface="Aptos"/>
              </a:defRPr>
            </a:pPr>
            <a:r>
              <a:rPr dirty="0"/>
              <a:t>DEVELOPER INTRODUCTION</a:t>
            </a:r>
          </a:p>
        </p:txBody>
      </p:sp>
      <p:sp>
        <p:nvSpPr>
          <p:cNvPr id="3" name="reveal_01"/>
          <p:cNvSpPr txBox="1"/>
          <p:nvPr/>
        </p:nvSpPr>
        <p:spPr>
          <a:xfrm>
            <a:off x="502920" y="768096"/>
            <a:ext cx="11155680" cy="612648"/>
          </a:xfrm>
          <a:prstGeom prst="rect">
            <a:avLst/>
          </a:prstGeom>
          <a:noFill/>
        </p:spPr>
        <p:txBody>
          <a:bodyPr wrap="square" lIns="0" tIns="0" rIns="0" bIns="0">
            <a:spAutoFit/>
          </a:bodyPr>
          <a:lstStyle/>
          <a:p>
            <a:pPr>
              <a:spcAft>
                <a:spcPts val="300"/>
              </a:spcAft>
              <a:defRPr sz="3100" b="1">
                <a:solidFill>
                  <a:srgbClr val="EDF5FF"/>
                </a:solidFill>
                <a:latin typeface="Aptos"/>
              </a:defRPr>
            </a:pPr>
            <a:r>
              <a:t>The team behind FinBridge AI</a:t>
            </a:r>
          </a:p>
        </p:txBody>
      </p:sp>
      <p:sp>
        <p:nvSpPr>
          <p:cNvPr id="4" name="TextBox 3"/>
          <p:cNvSpPr txBox="1"/>
          <p:nvPr/>
        </p:nvSpPr>
        <p:spPr>
          <a:xfrm>
            <a:off x="502920" y="6510528"/>
            <a:ext cx="3657600" cy="182880"/>
          </a:xfrm>
          <a:prstGeom prst="rect">
            <a:avLst/>
          </a:prstGeom>
          <a:noFill/>
        </p:spPr>
        <p:txBody>
          <a:bodyPr wrap="square" lIns="0" tIns="0" rIns="0" bIns="0">
            <a:spAutoFit/>
          </a:bodyPr>
          <a:lstStyle/>
          <a:p>
            <a:pPr>
              <a:spcAft>
                <a:spcPts val="300"/>
              </a:spcAft>
              <a:defRPr sz="900" b="0">
                <a:solidFill>
                  <a:srgbClr val="A2B4CA"/>
                </a:solidFill>
                <a:latin typeface="Aptos"/>
              </a:defRPr>
            </a:pPr>
            <a:r>
              <a:t>FINBRIDGE AI</a:t>
            </a:r>
          </a:p>
        </p:txBody>
      </p:sp>
      <p:sp>
        <p:nvSpPr>
          <p:cNvPr id="5" name="TextBox 4"/>
          <p:cNvSpPr txBox="1"/>
          <p:nvPr/>
        </p:nvSpPr>
        <p:spPr>
          <a:xfrm>
            <a:off x="10607040" y="6473952"/>
            <a:ext cx="1078992" cy="228600"/>
          </a:xfrm>
          <a:prstGeom prst="rect">
            <a:avLst/>
          </a:prstGeom>
          <a:noFill/>
        </p:spPr>
        <p:txBody>
          <a:bodyPr wrap="square" lIns="0" tIns="0" rIns="0" bIns="0">
            <a:spAutoFit/>
          </a:bodyPr>
          <a:lstStyle/>
          <a:p>
            <a:pPr algn="r">
              <a:spcAft>
                <a:spcPts val="300"/>
              </a:spcAft>
              <a:defRPr sz="1000" b="0">
                <a:solidFill>
                  <a:srgbClr val="A2B4CA"/>
                </a:solidFill>
                <a:latin typeface="Aptos"/>
              </a:defRPr>
            </a:pPr>
            <a:r>
              <a:t>10 / 10</a:t>
            </a:r>
          </a:p>
        </p:txBody>
      </p:sp>
      <p:sp>
        <p:nvSpPr>
          <p:cNvPr id="7" name="reveal_04"/>
          <p:cNvSpPr txBox="1"/>
          <p:nvPr/>
        </p:nvSpPr>
        <p:spPr>
          <a:xfrm>
            <a:off x="932688" y="4187952"/>
            <a:ext cx="3291840" cy="484632"/>
          </a:xfrm>
          <a:prstGeom prst="rect">
            <a:avLst/>
          </a:prstGeom>
          <a:noFill/>
        </p:spPr>
        <p:txBody>
          <a:bodyPr wrap="square" lIns="0" tIns="0" rIns="0" bIns="0">
            <a:spAutoFit/>
          </a:bodyPr>
          <a:lstStyle/>
          <a:p>
            <a:pPr algn="ctr">
              <a:spcAft>
                <a:spcPts val="300"/>
              </a:spcAft>
              <a:defRPr sz="2800" b="1">
                <a:solidFill>
                  <a:srgbClr val="EDF5FF"/>
                </a:solidFill>
                <a:latin typeface="Aptos"/>
              </a:defRPr>
            </a:pPr>
            <a:r>
              <a:t>Developer 1</a:t>
            </a:r>
          </a:p>
        </p:txBody>
      </p:sp>
      <p:sp>
        <p:nvSpPr>
          <p:cNvPr id="8" name="reveal_04"/>
          <p:cNvSpPr txBox="1"/>
          <p:nvPr/>
        </p:nvSpPr>
        <p:spPr>
          <a:xfrm>
            <a:off x="932688" y="4828032"/>
            <a:ext cx="3291840" cy="329184"/>
          </a:xfrm>
          <a:prstGeom prst="rect">
            <a:avLst/>
          </a:prstGeom>
          <a:noFill/>
        </p:spPr>
        <p:txBody>
          <a:bodyPr wrap="square" lIns="0" tIns="0" rIns="0" bIns="0">
            <a:spAutoFit/>
          </a:bodyPr>
          <a:lstStyle/>
          <a:p>
            <a:pPr algn="ctr">
              <a:spcAft>
                <a:spcPts val="300"/>
              </a:spcAft>
              <a:defRPr sz="1700" b="0">
                <a:solidFill>
                  <a:srgbClr val="63E6BE"/>
                </a:solidFill>
                <a:latin typeface="Aptos"/>
              </a:defRPr>
            </a:pPr>
            <a:r>
              <a:t>AI &amp; Backend</a:t>
            </a:r>
          </a:p>
        </p:txBody>
      </p:sp>
      <p:sp>
        <p:nvSpPr>
          <p:cNvPr id="10" name="reveal_05"/>
          <p:cNvSpPr txBox="1"/>
          <p:nvPr/>
        </p:nvSpPr>
        <p:spPr>
          <a:xfrm>
            <a:off x="7516368" y="4187952"/>
            <a:ext cx="3291840" cy="484632"/>
          </a:xfrm>
          <a:prstGeom prst="rect">
            <a:avLst/>
          </a:prstGeom>
          <a:noFill/>
        </p:spPr>
        <p:txBody>
          <a:bodyPr wrap="square" lIns="0" tIns="0" rIns="0" bIns="0">
            <a:spAutoFit/>
          </a:bodyPr>
          <a:lstStyle/>
          <a:p>
            <a:pPr algn="ctr">
              <a:spcAft>
                <a:spcPts val="300"/>
              </a:spcAft>
              <a:defRPr sz="2800" b="1">
                <a:solidFill>
                  <a:srgbClr val="EDF5FF"/>
                </a:solidFill>
                <a:latin typeface="Aptos"/>
              </a:defRPr>
            </a:pPr>
            <a:r>
              <a:t>Developer 2</a:t>
            </a:r>
          </a:p>
        </p:txBody>
      </p:sp>
      <p:sp>
        <p:nvSpPr>
          <p:cNvPr id="11" name="reveal_05"/>
          <p:cNvSpPr txBox="1"/>
          <p:nvPr/>
        </p:nvSpPr>
        <p:spPr>
          <a:xfrm>
            <a:off x="7516368" y="4828032"/>
            <a:ext cx="3291840" cy="329184"/>
          </a:xfrm>
          <a:prstGeom prst="rect">
            <a:avLst/>
          </a:prstGeom>
          <a:noFill/>
        </p:spPr>
        <p:txBody>
          <a:bodyPr wrap="square" lIns="0" tIns="0" rIns="0" bIns="0">
            <a:spAutoFit/>
          </a:bodyPr>
          <a:lstStyle/>
          <a:p>
            <a:pPr algn="ctr">
              <a:spcAft>
                <a:spcPts val="300"/>
              </a:spcAft>
              <a:defRPr sz="1700" b="0">
                <a:solidFill>
                  <a:srgbClr val="63E6BE"/>
                </a:solidFill>
                <a:latin typeface="Aptos"/>
              </a:defRPr>
            </a:pPr>
            <a:r>
              <a:t>Frontend &amp; UX</a:t>
            </a:r>
          </a:p>
        </p:txBody>
      </p:sp>
      <p:pic>
        <p:nvPicPr>
          <p:cNvPr id="12" name="reveal_05" descr="team.gif"/>
          <p:cNvPicPr>
            <a:picLocks noChangeAspect="1"/>
          </p:cNvPicPr>
          <p:nvPr/>
        </p:nvPicPr>
        <p:blipFill>
          <a:blip r:embed="rId3"/>
          <a:stretch>
            <a:fillRect/>
          </a:stretch>
        </p:blipFill>
        <p:spPr>
          <a:xfrm>
            <a:off x="4553712" y="2761488"/>
            <a:ext cx="3044952" cy="1801368"/>
          </a:xfrm>
          <a:prstGeom prst="rect">
            <a:avLst/>
          </a:prstGeom>
        </p:spPr>
      </p:pic>
      <p:sp>
        <p:nvSpPr>
          <p:cNvPr id="13" name="TextBox 12"/>
          <p:cNvSpPr txBox="1"/>
          <p:nvPr/>
        </p:nvSpPr>
        <p:spPr>
          <a:xfrm>
            <a:off x="658368" y="5980176"/>
            <a:ext cx="10881360" cy="274320"/>
          </a:xfrm>
          <a:prstGeom prst="rect">
            <a:avLst/>
          </a:prstGeom>
          <a:noFill/>
        </p:spPr>
        <p:txBody>
          <a:bodyPr wrap="square" lIns="0" tIns="0" rIns="0" bIns="0">
            <a:spAutoFit/>
          </a:bodyPr>
          <a:lstStyle/>
          <a:p>
            <a:pPr algn="ctr">
              <a:spcAft>
                <a:spcPts val="300"/>
              </a:spcAft>
              <a:defRPr sz="1200" b="0">
                <a:solidFill>
                  <a:srgbClr val="A2B4CA"/>
                </a:solidFill>
                <a:latin typeface="Aptos"/>
              </a:defRPr>
            </a:pPr>
            <a:r>
              <a:t>Demo portraits, names and roles — replace with your team.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childTnLst>
                          </p:cTn>
                        </p:par>
                        <p:par>
                          <p:cTn id="8" fill="hold">
                            <p:stCondLst>
                              <p:cond delay="6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6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600"/>
                                        <p:tgtEl>
                                          <p:spTgt spid="7"/>
                                        </p:tgtEl>
                                      </p:cBhvr>
                                    </p:animEffect>
                                  </p:childTnLst>
                                </p:cTn>
                              </p:par>
                            </p:childTnLst>
                          </p:cTn>
                        </p:par>
                        <p:par>
                          <p:cTn id="15" fill="hold">
                            <p:stCondLst>
                              <p:cond delay="1200"/>
                            </p:stCondLst>
                            <p:childTnLst>
                              <p:par>
                                <p:cTn id="16" presetID="10" presetClass="entr" presetSubtype="0" fill="hold" nodeType="after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60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600"/>
                                        <p:tgtEl>
                                          <p:spTgt spid="1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6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8" grpId="0"/>
      <p:bldP spid="10" grpId="0"/>
      <p:bldP spid="11"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3" name="reveal_01"/>
          <p:cNvSpPr txBox="1"/>
          <p:nvPr/>
        </p:nvSpPr>
        <p:spPr>
          <a:xfrm>
            <a:off x="502920" y="768096"/>
            <a:ext cx="11155680" cy="884858"/>
          </a:xfrm>
          <a:prstGeom prst="rect">
            <a:avLst/>
          </a:prstGeom>
          <a:noFill/>
        </p:spPr>
        <p:txBody>
          <a:bodyPr wrap="square" lIns="0" tIns="0" rIns="0" bIns="0">
            <a:spAutoFit/>
          </a:bodyPr>
          <a:lstStyle/>
          <a:p>
            <a:pPr>
              <a:spcAft>
                <a:spcPts val="300"/>
              </a:spcAft>
              <a:defRPr sz="3100" b="1">
                <a:solidFill>
                  <a:srgbClr val="EDF5FF"/>
                </a:solidFill>
                <a:latin typeface="Aptos"/>
              </a:defRPr>
            </a:pPr>
            <a:r>
              <a:rPr lang="en-US" dirty="0"/>
              <a:t>PROBLEM </a:t>
            </a:r>
            <a:r>
              <a:rPr lang="en-US" dirty="0" smtClean="0"/>
              <a:t>STATEMENT</a:t>
            </a:r>
          </a:p>
          <a:p>
            <a:pPr>
              <a:spcAft>
                <a:spcPts val="300"/>
              </a:spcAft>
              <a:defRPr sz="3100" b="1">
                <a:solidFill>
                  <a:srgbClr val="EDF5FF"/>
                </a:solidFill>
                <a:latin typeface="Aptos"/>
              </a:defRPr>
            </a:pPr>
            <a:r>
              <a:rPr sz="2400" dirty="0" smtClean="0"/>
              <a:t>A bank balance is not tuition readiness.</a:t>
            </a:r>
            <a:endParaRPr sz="2400" dirty="0"/>
          </a:p>
        </p:txBody>
      </p:sp>
      <p:sp>
        <p:nvSpPr>
          <p:cNvPr id="4" name="TextBox 3"/>
          <p:cNvSpPr txBox="1"/>
          <p:nvPr/>
        </p:nvSpPr>
        <p:spPr>
          <a:xfrm>
            <a:off x="530352" y="6313965"/>
            <a:ext cx="10972800" cy="411480"/>
          </a:xfrm>
          <a:prstGeom prst="rect">
            <a:avLst/>
          </a:prstGeom>
          <a:noFill/>
        </p:spPr>
        <p:txBody>
          <a:bodyPr wrap="square" lIns="0" tIns="0" rIns="0" bIns="0">
            <a:spAutoFit/>
          </a:bodyPr>
          <a:lstStyle/>
          <a:p>
            <a:pPr>
              <a:spcAft>
                <a:spcPts val="300"/>
              </a:spcAft>
              <a:defRPr sz="1300" b="0">
                <a:solidFill>
                  <a:srgbClr val="A2B4CA"/>
                </a:solidFill>
                <a:latin typeface="Aptos"/>
              </a:defRPr>
            </a:pPr>
            <a:r>
              <a:rPr dirty="0"/>
              <a:t>Living costs, future income and transfer fees all change what a student can actually afford.</a:t>
            </a:r>
          </a:p>
        </p:txBody>
      </p:sp>
      <p:sp>
        <p:nvSpPr>
          <p:cNvPr id="7" name="Rounded Rectangle 6"/>
          <p:cNvSpPr/>
          <p:nvPr/>
        </p:nvSpPr>
        <p:spPr>
          <a:xfrm>
            <a:off x="502920" y="1920240"/>
            <a:ext cx="7315200" cy="4224528"/>
          </a:xfrm>
          <a:prstGeom prst="roundRect">
            <a:avLst>
              <a:gd name="adj" fmla="val 10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121408"/>
            <a:ext cx="6858000" cy="246888"/>
          </a:xfrm>
          <a:prstGeom prst="rect">
            <a:avLst/>
          </a:prstGeom>
          <a:noFill/>
        </p:spPr>
        <p:txBody>
          <a:bodyPr wrap="square" lIns="0" tIns="0" rIns="0" bIns="0">
            <a:spAutoFit/>
          </a:bodyPr>
          <a:lstStyle/>
          <a:p>
            <a:pPr>
              <a:spcAft>
                <a:spcPts val="300"/>
              </a:spcAft>
              <a:defRPr sz="1200" b="1">
                <a:solidFill>
                  <a:srgbClr val="63E6BE"/>
                </a:solidFill>
                <a:latin typeface="Aptos"/>
              </a:defRPr>
            </a:pPr>
            <a:r>
              <a:t>TUITION FUNDING BRIDGE</a:t>
            </a:r>
          </a:p>
        </p:txBody>
      </p:sp>
      <p:cxnSp>
        <p:nvCxnSpPr>
          <p:cNvPr id="9" name="Connector 8"/>
          <p:cNvCxnSpPr/>
          <p:nvPr/>
        </p:nvCxnSpPr>
        <p:spPr>
          <a:xfrm>
            <a:off x="1371600" y="5440680"/>
            <a:ext cx="6108192" cy="0"/>
          </a:xfrm>
          <a:prstGeom prst="line">
            <a:avLst/>
          </a:prstGeom>
          <a:ln w="7620">
            <a:solidFill>
              <a:srgbClr val="263951"/>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77240" y="5349240"/>
            <a:ext cx="457200" cy="182880"/>
          </a:xfrm>
          <a:prstGeom prst="rect">
            <a:avLst/>
          </a:prstGeom>
          <a:noFill/>
        </p:spPr>
        <p:txBody>
          <a:bodyPr wrap="square" lIns="0" tIns="0" rIns="0" bIns="0">
            <a:spAutoFit/>
          </a:bodyPr>
          <a:lstStyle/>
          <a:p>
            <a:pPr>
              <a:spcAft>
                <a:spcPts val="300"/>
              </a:spcAft>
              <a:defRPr sz="1000" b="0">
                <a:solidFill>
                  <a:srgbClr val="A2B4CA"/>
                </a:solidFill>
                <a:latin typeface="Aptos"/>
              </a:defRPr>
            </a:pPr>
            <a:r>
              <a:t>0k</a:t>
            </a:r>
          </a:p>
        </p:txBody>
      </p:sp>
      <p:cxnSp>
        <p:nvCxnSpPr>
          <p:cNvPr id="11" name="Connector 10"/>
          <p:cNvCxnSpPr/>
          <p:nvPr/>
        </p:nvCxnSpPr>
        <p:spPr>
          <a:xfrm>
            <a:off x="1371600" y="4789170"/>
            <a:ext cx="6108192" cy="0"/>
          </a:xfrm>
          <a:prstGeom prst="line">
            <a:avLst/>
          </a:prstGeom>
          <a:ln w="7620">
            <a:solidFill>
              <a:srgbClr val="263951"/>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77240" y="4697730"/>
            <a:ext cx="457200" cy="182880"/>
          </a:xfrm>
          <a:prstGeom prst="rect">
            <a:avLst/>
          </a:prstGeom>
          <a:noFill/>
        </p:spPr>
        <p:txBody>
          <a:bodyPr wrap="square" lIns="0" tIns="0" rIns="0" bIns="0">
            <a:spAutoFit/>
          </a:bodyPr>
          <a:lstStyle/>
          <a:p>
            <a:pPr>
              <a:spcAft>
                <a:spcPts val="300"/>
              </a:spcAft>
              <a:defRPr sz="1000" b="0">
                <a:solidFill>
                  <a:srgbClr val="A2B4CA"/>
                </a:solidFill>
                <a:latin typeface="Aptos"/>
              </a:defRPr>
            </a:pPr>
            <a:r>
              <a:t>10k</a:t>
            </a:r>
          </a:p>
        </p:txBody>
      </p:sp>
      <p:cxnSp>
        <p:nvCxnSpPr>
          <p:cNvPr id="13" name="Connector 12"/>
          <p:cNvCxnSpPr/>
          <p:nvPr/>
        </p:nvCxnSpPr>
        <p:spPr>
          <a:xfrm>
            <a:off x="1371600" y="4137660"/>
            <a:ext cx="6108192" cy="0"/>
          </a:xfrm>
          <a:prstGeom prst="line">
            <a:avLst/>
          </a:prstGeom>
          <a:ln w="7620">
            <a:solidFill>
              <a:srgbClr val="263951"/>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77240" y="4046220"/>
            <a:ext cx="457200" cy="182880"/>
          </a:xfrm>
          <a:prstGeom prst="rect">
            <a:avLst/>
          </a:prstGeom>
          <a:noFill/>
        </p:spPr>
        <p:txBody>
          <a:bodyPr wrap="square" lIns="0" tIns="0" rIns="0" bIns="0">
            <a:spAutoFit/>
          </a:bodyPr>
          <a:lstStyle/>
          <a:p>
            <a:pPr>
              <a:spcAft>
                <a:spcPts val="300"/>
              </a:spcAft>
              <a:defRPr sz="1000" b="0">
                <a:solidFill>
                  <a:srgbClr val="A2B4CA"/>
                </a:solidFill>
                <a:latin typeface="Aptos"/>
              </a:defRPr>
            </a:pPr>
            <a:r>
              <a:t>20k</a:t>
            </a:r>
          </a:p>
        </p:txBody>
      </p:sp>
      <p:cxnSp>
        <p:nvCxnSpPr>
          <p:cNvPr id="15" name="Connector 14"/>
          <p:cNvCxnSpPr/>
          <p:nvPr/>
        </p:nvCxnSpPr>
        <p:spPr>
          <a:xfrm>
            <a:off x="1371600" y="3486150"/>
            <a:ext cx="6108192" cy="0"/>
          </a:xfrm>
          <a:prstGeom prst="line">
            <a:avLst/>
          </a:prstGeom>
          <a:ln w="7620">
            <a:solidFill>
              <a:srgbClr val="263951"/>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77240" y="3394710"/>
            <a:ext cx="457200" cy="182880"/>
          </a:xfrm>
          <a:prstGeom prst="rect">
            <a:avLst/>
          </a:prstGeom>
          <a:noFill/>
        </p:spPr>
        <p:txBody>
          <a:bodyPr wrap="square" lIns="0" tIns="0" rIns="0" bIns="0">
            <a:spAutoFit/>
          </a:bodyPr>
          <a:lstStyle/>
          <a:p>
            <a:pPr>
              <a:spcAft>
                <a:spcPts val="300"/>
              </a:spcAft>
              <a:defRPr sz="1000" b="0">
                <a:solidFill>
                  <a:srgbClr val="A2B4CA"/>
                </a:solidFill>
                <a:latin typeface="Aptos"/>
              </a:defRPr>
            </a:pPr>
            <a:r>
              <a:t>30k</a:t>
            </a:r>
          </a:p>
        </p:txBody>
      </p:sp>
      <p:cxnSp>
        <p:nvCxnSpPr>
          <p:cNvPr id="17" name="Connector 16"/>
          <p:cNvCxnSpPr/>
          <p:nvPr/>
        </p:nvCxnSpPr>
        <p:spPr>
          <a:xfrm>
            <a:off x="1371600" y="2834640"/>
            <a:ext cx="6108192" cy="0"/>
          </a:xfrm>
          <a:prstGeom prst="line">
            <a:avLst/>
          </a:prstGeom>
          <a:ln w="7620">
            <a:solidFill>
              <a:srgbClr val="263951"/>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77240" y="2743200"/>
            <a:ext cx="457200" cy="182880"/>
          </a:xfrm>
          <a:prstGeom prst="rect">
            <a:avLst/>
          </a:prstGeom>
          <a:noFill/>
        </p:spPr>
        <p:txBody>
          <a:bodyPr wrap="square" lIns="0" tIns="0" rIns="0" bIns="0">
            <a:spAutoFit/>
          </a:bodyPr>
          <a:lstStyle/>
          <a:p>
            <a:pPr>
              <a:spcAft>
                <a:spcPts val="300"/>
              </a:spcAft>
              <a:defRPr sz="1000" b="0">
                <a:solidFill>
                  <a:srgbClr val="A2B4CA"/>
                </a:solidFill>
                <a:latin typeface="Aptos"/>
              </a:defRPr>
            </a:pPr>
            <a:r>
              <a:t>40k</a:t>
            </a:r>
          </a:p>
        </p:txBody>
      </p:sp>
      <p:grpSp>
        <p:nvGrpSpPr>
          <p:cNvPr id="45" name="Group 44"/>
          <p:cNvGrpSpPr/>
          <p:nvPr/>
        </p:nvGrpSpPr>
        <p:grpSpPr>
          <a:xfrm>
            <a:off x="1335024" y="3374707"/>
            <a:ext cx="1060704" cy="2065972"/>
            <a:chOff x="1335024" y="3374707"/>
            <a:chExt cx="1060704" cy="2065972"/>
          </a:xfrm>
        </p:grpSpPr>
        <p:sp>
          <p:nvSpPr>
            <p:cNvPr id="19" name="wipe_03"/>
            <p:cNvSpPr/>
            <p:nvPr/>
          </p:nvSpPr>
          <p:spPr>
            <a:xfrm>
              <a:off x="1536192" y="3649027"/>
              <a:ext cx="640080" cy="1791652"/>
            </a:xfrm>
            <a:prstGeom prst="roundRect">
              <a:avLst>
                <a:gd name="adj" fmla="val 2000"/>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veal_03"/>
            <p:cNvSpPr txBox="1"/>
            <p:nvPr/>
          </p:nvSpPr>
          <p:spPr>
            <a:xfrm>
              <a:off x="1335024" y="3374707"/>
              <a:ext cx="1060704" cy="228600"/>
            </a:xfrm>
            <a:prstGeom prst="rect">
              <a:avLst/>
            </a:prstGeom>
            <a:noFill/>
          </p:spPr>
          <p:txBody>
            <a:bodyPr wrap="square" lIns="0" tIns="0" rIns="0" bIns="0">
              <a:spAutoFit/>
            </a:bodyPr>
            <a:lstStyle/>
            <a:p>
              <a:pPr algn="ctr">
                <a:spcAft>
                  <a:spcPts val="300"/>
                </a:spcAft>
                <a:defRPr sz="1200" b="1">
                  <a:solidFill>
                    <a:srgbClr val="6BB9FF"/>
                  </a:solidFill>
                  <a:latin typeface="Aptos"/>
                </a:defRPr>
              </a:pPr>
              <a:r>
                <a:rPr dirty="0"/>
                <a:t>27,500</a:t>
              </a:r>
            </a:p>
          </p:txBody>
        </p:sp>
      </p:grpSp>
      <p:sp>
        <p:nvSpPr>
          <p:cNvPr id="21" name="TextBox 20"/>
          <p:cNvSpPr txBox="1"/>
          <p:nvPr/>
        </p:nvSpPr>
        <p:spPr>
          <a:xfrm>
            <a:off x="1298448" y="5605272"/>
            <a:ext cx="1143000" cy="265176"/>
          </a:xfrm>
          <a:prstGeom prst="rect">
            <a:avLst/>
          </a:prstGeom>
          <a:noFill/>
        </p:spPr>
        <p:txBody>
          <a:bodyPr wrap="square" lIns="0" tIns="0" rIns="0" bIns="0">
            <a:spAutoFit/>
          </a:bodyPr>
          <a:lstStyle/>
          <a:p>
            <a:pPr algn="ctr">
              <a:spcAft>
                <a:spcPts val="300"/>
              </a:spcAft>
              <a:defRPr sz="1100" b="0">
                <a:solidFill>
                  <a:srgbClr val="A2B4CA"/>
                </a:solidFill>
                <a:latin typeface="Aptos"/>
              </a:defRPr>
            </a:pPr>
            <a:r>
              <a:t>Now</a:t>
            </a:r>
          </a:p>
        </p:txBody>
      </p:sp>
      <p:grpSp>
        <p:nvGrpSpPr>
          <p:cNvPr id="41" name="Group 40"/>
          <p:cNvGrpSpPr/>
          <p:nvPr/>
        </p:nvGrpSpPr>
        <p:grpSpPr>
          <a:xfrm>
            <a:off x="2564892" y="4510151"/>
            <a:ext cx="1060704" cy="925830"/>
            <a:chOff x="2514599" y="2723197"/>
            <a:chExt cx="1060704" cy="925830"/>
          </a:xfrm>
        </p:grpSpPr>
        <p:sp>
          <p:nvSpPr>
            <p:cNvPr id="22" name="wipe_04"/>
            <p:cNvSpPr/>
            <p:nvPr/>
          </p:nvSpPr>
          <p:spPr>
            <a:xfrm>
              <a:off x="2715768" y="2997517"/>
              <a:ext cx="640080" cy="651510"/>
            </a:xfrm>
            <a:prstGeom prst="roundRect">
              <a:avLst>
                <a:gd name="adj" fmla="val 2000"/>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veal_04"/>
            <p:cNvSpPr txBox="1"/>
            <p:nvPr/>
          </p:nvSpPr>
          <p:spPr>
            <a:xfrm>
              <a:off x="2514599" y="2723197"/>
              <a:ext cx="1060704" cy="228600"/>
            </a:xfrm>
            <a:prstGeom prst="rect">
              <a:avLst/>
            </a:prstGeom>
            <a:noFill/>
          </p:spPr>
          <p:txBody>
            <a:bodyPr wrap="square" lIns="0" tIns="0" rIns="0" bIns="0">
              <a:spAutoFit/>
            </a:bodyPr>
            <a:lstStyle/>
            <a:p>
              <a:pPr algn="ctr">
                <a:spcAft>
                  <a:spcPts val="300"/>
                </a:spcAft>
                <a:defRPr sz="1200" b="1">
                  <a:solidFill>
                    <a:srgbClr val="63E6BE"/>
                  </a:solidFill>
                  <a:latin typeface="Aptos"/>
                </a:defRPr>
              </a:pPr>
              <a:r>
                <a:t>10,000</a:t>
              </a:r>
            </a:p>
          </p:txBody>
        </p:sp>
      </p:grpSp>
      <p:sp>
        <p:nvSpPr>
          <p:cNvPr id="24" name="TextBox 23"/>
          <p:cNvSpPr txBox="1"/>
          <p:nvPr/>
        </p:nvSpPr>
        <p:spPr>
          <a:xfrm>
            <a:off x="2478024" y="5605272"/>
            <a:ext cx="1143000" cy="265176"/>
          </a:xfrm>
          <a:prstGeom prst="rect">
            <a:avLst/>
          </a:prstGeom>
          <a:noFill/>
        </p:spPr>
        <p:txBody>
          <a:bodyPr wrap="square" lIns="0" tIns="0" rIns="0" bIns="0">
            <a:spAutoFit/>
          </a:bodyPr>
          <a:lstStyle/>
          <a:p>
            <a:pPr algn="ctr">
              <a:spcAft>
                <a:spcPts val="300"/>
              </a:spcAft>
              <a:defRPr sz="1100" b="0">
                <a:solidFill>
                  <a:srgbClr val="A2B4CA"/>
                </a:solidFill>
                <a:latin typeface="Aptos"/>
              </a:defRPr>
            </a:pPr>
            <a:r>
              <a:t>+ Income</a:t>
            </a:r>
          </a:p>
        </p:txBody>
      </p:sp>
      <p:grpSp>
        <p:nvGrpSpPr>
          <p:cNvPr id="42" name="Group 41"/>
          <p:cNvGrpSpPr/>
          <p:nvPr/>
        </p:nvGrpSpPr>
        <p:grpSpPr>
          <a:xfrm>
            <a:off x="3734309" y="4879786"/>
            <a:ext cx="1060704" cy="551211"/>
            <a:chOff x="3694176" y="2723197"/>
            <a:chExt cx="1060704" cy="551211"/>
          </a:xfrm>
        </p:grpSpPr>
        <p:sp>
          <p:nvSpPr>
            <p:cNvPr id="25" name="wipe_05"/>
            <p:cNvSpPr/>
            <p:nvPr/>
          </p:nvSpPr>
          <p:spPr>
            <a:xfrm>
              <a:off x="3895344" y="2997517"/>
              <a:ext cx="640080" cy="276891"/>
            </a:xfrm>
            <a:prstGeom prst="roundRect">
              <a:avLst>
                <a:gd name="adj" fmla="val 2000"/>
              </a:avLst>
            </a:prstGeom>
            <a:solidFill>
              <a:srgbClr val="FF8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veal_05"/>
            <p:cNvSpPr txBox="1"/>
            <p:nvPr/>
          </p:nvSpPr>
          <p:spPr>
            <a:xfrm>
              <a:off x="3694176" y="2723197"/>
              <a:ext cx="1060704" cy="228600"/>
            </a:xfrm>
            <a:prstGeom prst="rect">
              <a:avLst/>
            </a:prstGeom>
            <a:noFill/>
          </p:spPr>
          <p:txBody>
            <a:bodyPr wrap="square" lIns="0" tIns="0" rIns="0" bIns="0">
              <a:spAutoFit/>
            </a:bodyPr>
            <a:lstStyle/>
            <a:p>
              <a:pPr algn="ctr">
                <a:spcAft>
                  <a:spcPts val="300"/>
                </a:spcAft>
                <a:defRPr sz="1200" b="1">
                  <a:solidFill>
                    <a:srgbClr val="FF8896"/>
                  </a:solidFill>
                  <a:latin typeface="Aptos"/>
                </a:defRPr>
              </a:pPr>
              <a:r>
                <a:t>4,250</a:t>
              </a:r>
            </a:p>
          </p:txBody>
        </p:sp>
      </p:grpSp>
      <p:sp>
        <p:nvSpPr>
          <p:cNvPr id="27" name="TextBox 26"/>
          <p:cNvSpPr txBox="1"/>
          <p:nvPr/>
        </p:nvSpPr>
        <p:spPr>
          <a:xfrm>
            <a:off x="3657600" y="5605272"/>
            <a:ext cx="1143000" cy="265176"/>
          </a:xfrm>
          <a:prstGeom prst="rect">
            <a:avLst/>
          </a:prstGeom>
          <a:noFill/>
        </p:spPr>
        <p:txBody>
          <a:bodyPr wrap="square" lIns="0" tIns="0" rIns="0" bIns="0">
            <a:spAutoFit/>
          </a:bodyPr>
          <a:lstStyle/>
          <a:p>
            <a:pPr algn="ctr">
              <a:spcAft>
                <a:spcPts val="300"/>
              </a:spcAft>
              <a:defRPr sz="1100" b="0">
                <a:solidFill>
                  <a:srgbClr val="A2B4CA"/>
                </a:solidFill>
                <a:latin typeface="Aptos"/>
              </a:defRPr>
            </a:pPr>
            <a:r>
              <a:t>− Living</a:t>
            </a:r>
          </a:p>
        </p:txBody>
      </p:sp>
      <p:grpSp>
        <p:nvGrpSpPr>
          <p:cNvPr id="43" name="Group 42"/>
          <p:cNvGrpSpPr/>
          <p:nvPr/>
        </p:nvGrpSpPr>
        <p:grpSpPr>
          <a:xfrm>
            <a:off x="4873752" y="3000089"/>
            <a:ext cx="1060704" cy="2440590"/>
            <a:chOff x="4873752" y="3000089"/>
            <a:chExt cx="1060704" cy="2440590"/>
          </a:xfrm>
        </p:grpSpPr>
        <p:sp>
          <p:nvSpPr>
            <p:cNvPr id="28" name="wipe_06"/>
            <p:cNvSpPr/>
            <p:nvPr/>
          </p:nvSpPr>
          <p:spPr>
            <a:xfrm>
              <a:off x="5074920" y="3274409"/>
              <a:ext cx="640080" cy="2166270"/>
            </a:xfrm>
            <a:prstGeom prst="roundRect">
              <a:avLst>
                <a:gd name="adj" fmla="val 2000"/>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veal_06"/>
            <p:cNvSpPr txBox="1"/>
            <p:nvPr/>
          </p:nvSpPr>
          <p:spPr>
            <a:xfrm>
              <a:off x="4873752" y="3000089"/>
              <a:ext cx="1060704" cy="228600"/>
            </a:xfrm>
            <a:prstGeom prst="rect">
              <a:avLst/>
            </a:prstGeom>
            <a:noFill/>
          </p:spPr>
          <p:txBody>
            <a:bodyPr wrap="square" lIns="0" tIns="0" rIns="0" bIns="0">
              <a:spAutoFit/>
            </a:bodyPr>
            <a:lstStyle/>
            <a:p>
              <a:pPr algn="ctr">
                <a:spcAft>
                  <a:spcPts val="300"/>
                </a:spcAft>
                <a:defRPr sz="1200" b="1">
                  <a:solidFill>
                    <a:srgbClr val="6BB9FF"/>
                  </a:solidFill>
                  <a:latin typeface="Aptos"/>
                </a:defRPr>
              </a:pPr>
              <a:r>
                <a:t>33,250</a:t>
              </a:r>
            </a:p>
          </p:txBody>
        </p:sp>
      </p:grpSp>
      <p:sp>
        <p:nvSpPr>
          <p:cNvPr id="30" name="TextBox 29"/>
          <p:cNvSpPr txBox="1"/>
          <p:nvPr/>
        </p:nvSpPr>
        <p:spPr>
          <a:xfrm>
            <a:off x="4837176" y="5605272"/>
            <a:ext cx="1143000" cy="265176"/>
          </a:xfrm>
          <a:prstGeom prst="rect">
            <a:avLst/>
          </a:prstGeom>
          <a:noFill/>
        </p:spPr>
        <p:txBody>
          <a:bodyPr wrap="square" lIns="0" tIns="0" rIns="0" bIns="0">
            <a:spAutoFit/>
          </a:bodyPr>
          <a:lstStyle/>
          <a:p>
            <a:pPr algn="ctr">
              <a:spcAft>
                <a:spcPts val="300"/>
              </a:spcAft>
              <a:defRPr sz="1100" b="0">
                <a:solidFill>
                  <a:srgbClr val="A2B4CA"/>
                </a:solidFill>
                <a:latin typeface="Aptos"/>
              </a:defRPr>
            </a:pPr>
            <a:r>
              <a:t>Projected</a:t>
            </a:r>
          </a:p>
        </p:txBody>
      </p:sp>
      <p:grpSp>
        <p:nvGrpSpPr>
          <p:cNvPr id="44" name="Group 43"/>
          <p:cNvGrpSpPr/>
          <p:nvPr/>
        </p:nvGrpSpPr>
        <p:grpSpPr>
          <a:xfrm>
            <a:off x="6053328" y="2560320"/>
            <a:ext cx="1060704" cy="2880360"/>
            <a:chOff x="6053328" y="2560320"/>
            <a:chExt cx="1060704" cy="2880360"/>
          </a:xfrm>
        </p:grpSpPr>
        <p:sp>
          <p:nvSpPr>
            <p:cNvPr id="31" name="wipe_07"/>
            <p:cNvSpPr/>
            <p:nvPr/>
          </p:nvSpPr>
          <p:spPr>
            <a:xfrm>
              <a:off x="6254496" y="2834640"/>
              <a:ext cx="640080" cy="2606040"/>
            </a:xfrm>
            <a:prstGeom prst="roundRect">
              <a:avLst>
                <a:gd name="adj" fmla="val 2000"/>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veal_07"/>
            <p:cNvSpPr txBox="1"/>
            <p:nvPr/>
          </p:nvSpPr>
          <p:spPr>
            <a:xfrm>
              <a:off x="6053328" y="2560320"/>
              <a:ext cx="1060704" cy="228600"/>
            </a:xfrm>
            <a:prstGeom prst="rect">
              <a:avLst/>
            </a:prstGeom>
            <a:noFill/>
          </p:spPr>
          <p:txBody>
            <a:bodyPr wrap="square" lIns="0" tIns="0" rIns="0" bIns="0">
              <a:spAutoFit/>
            </a:bodyPr>
            <a:lstStyle/>
            <a:p>
              <a:pPr algn="ctr">
                <a:spcAft>
                  <a:spcPts val="300"/>
                </a:spcAft>
                <a:defRPr sz="1200" b="1">
                  <a:solidFill>
                    <a:srgbClr val="F3C969"/>
                  </a:solidFill>
                  <a:latin typeface="Aptos"/>
                </a:defRPr>
              </a:pPr>
              <a:r>
                <a:rPr dirty="0"/>
                <a:t>40,000</a:t>
              </a:r>
            </a:p>
          </p:txBody>
        </p:sp>
      </p:grpSp>
      <p:sp>
        <p:nvSpPr>
          <p:cNvPr id="33" name="TextBox 32"/>
          <p:cNvSpPr txBox="1"/>
          <p:nvPr/>
        </p:nvSpPr>
        <p:spPr>
          <a:xfrm>
            <a:off x="6016752" y="5605272"/>
            <a:ext cx="1143000" cy="265176"/>
          </a:xfrm>
          <a:prstGeom prst="rect">
            <a:avLst/>
          </a:prstGeom>
          <a:noFill/>
        </p:spPr>
        <p:txBody>
          <a:bodyPr wrap="square" lIns="0" tIns="0" rIns="0" bIns="0">
            <a:spAutoFit/>
          </a:bodyPr>
          <a:lstStyle/>
          <a:p>
            <a:pPr algn="ctr">
              <a:spcAft>
                <a:spcPts val="300"/>
              </a:spcAft>
              <a:defRPr sz="1100" b="0">
                <a:solidFill>
                  <a:srgbClr val="A2B4CA"/>
                </a:solidFill>
                <a:latin typeface="Aptos"/>
              </a:defRPr>
            </a:pPr>
            <a:r>
              <a:t>Tuition</a:t>
            </a:r>
          </a:p>
        </p:txBody>
      </p:sp>
      <p:sp>
        <p:nvSpPr>
          <p:cNvPr id="34" name="TextBox 33"/>
          <p:cNvSpPr txBox="1"/>
          <p:nvPr/>
        </p:nvSpPr>
        <p:spPr>
          <a:xfrm>
            <a:off x="768096" y="5916168"/>
            <a:ext cx="6675120" cy="201168"/>
          </a:xfrm>
          <a:prstGeom prst="rect">
            <a:avLst/>
          </a:prstGeom>
          <a:noFill/>
        </p:spPr>
        <p:txBody>
          <a:bodyPr wrap="square" lIns="0" tIns="0" rIns="0" bIns="0">
            <a:spAutoFit/>
          </a:bodyPr>
          <a:lstStyle/>
          <a:p>
            <a:pPr>
              <a:spcAft>
                <a:spcPts val="300"/>
              </a:spcAft>
              <a:defRPr sz="1000" b="0">
                <a:solidFill>
                  <a:srgbClr val="A2B4CA"/>
                </a:solidFill>
                <a:latin typeface="Aptos"/>
              </a:defRPr>
            </a:pPr>
            <a:r>
              <a:t>CNY · two-month example · scholarship = 0</a:t>
            </a:r>
          </a:p>
        </p:txBody>
      </p:sp>
      <p:sp>
        <p:nvSpPr>
          <p:cNvPr id="35" name="Rounded Rectangle 34"/>
          <p:cNvSpPr/>
          <p:nvPr/>
        </p:nvSpPr>
        <p:spPr>
          <a:xfrm>
            <a:off x="8046720" y="1920240"/>
            <a:ext cx="3639312" cy="4224528"/>
          </a:xfrm>
          <a:prstGeom prst="roundRect">
            <a:avLst>
              <a:gd name="adj" fmla="val 10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36" name="chart_03"/>
          <p:cNvGraphicFramePr>
            <a:graphicFrameLocks noGrp="1"/>
          </p:cNvGraphicFramePr>
          <p:nvPr/>
        </p:nvGraphicFramePr>
        <p:xfrm>
          <a:off x="8321040" y="2313432"/>
          <a:ext cx="3072384" cy="2560320"/>
        </p:xfrm>
        <a:graphic>
          <a:graphicData uri="http://schemas.openxmlformats.org/drawingml/2006/chart">
            <c:chart xmlns:c="http://schemas.openxmlformats.org/drawingml/2006/chart" xmlns:r="http://schemas.openxmlformats.org/officeDocument/2006/relationships" r:id="rId3"/>
          </a:graphicData>
        </a:graphic>
      </p:graphicFrame>
      <p:sp>
        <p:nvSpPr>
          <p:cNvPr id="37" name="TextBox 36"/>
          <p:cNvSpPr txBox="1"/>
          <p:nvPr/>
        </p:nvSpPr>
        <p:spPr>
          <a:xfrm>
            <a:off x="9034272" y="3200400"/>
            <a:ext cx="1645920" cy="548640"/>
          </a:xfrm>
          <a:prstGeom prst="rect">
            <a:avLst/>
          </a:prstGeom>
          <a:noFill/>
        </p:spPr>
        <p:txBody>
          <a:bodyPr wrap="square" lIns="0" tIns="0" rIns="0" bIns="0">
            <a:spAutoFit/>
          </a:bodyPr>
          <a:lstStyle/>
          <a:p>
            <a:pPr algn="ctr">
              <a:spcAft>
                <a:spcPts val="300"/>
              </a:spcAft>
              <a:defRPr sz="3500" b="1">
                <a:solidFill>
                  <a:srgbClr val="EDF5FF"/>
                </a:solidFill>
                <a:latin typeface="Aptos"/>
              </a:defRPr>
            </a:pPr>
            <a:r>
              <a:t>83%</a:t>
            </a:r>
          </a:p>
        </p:txBody>
      </p:sp>
      <p:sp>
        <p:nvSpPr>
          <p:cNvPr id="38" name="TextBox 37"/>
          <p:cNvSpPr txBox="1"/>
          <p:nvPr/>
        </p:nvSpPr>
        <p:spPr>
          <a:xfrm>
            <a:off x="9208008" y="3776472"/>
            <a:ext cx="1280160" cy="256032"/>
          </a:xfrm>
          <a:prstGeom prst="rect">
            <a:avLst/>
          </a:prstGeom>
          <a:noFill/>
        </p:spPr>
        <p:txBody>
          <a:bodyPr wrap="square" lIns="0" tIns="0" rIns="0" bIns="0">
            <a:spAutoFit/>
          </a:bodyPr>
          <a:lstStyle/>
          <a:p>
            <a:pPr algn="ctr">
              <a:spcAft>
                <a:spcPts val="300"/>
              </a:spcAft>
              <a:defRPr sz="1300" b="0">
                <a:solidFill>
                  <a:srgbClr val="A2B4CA"/>
                </a:solidFill>
                <a:latin typeface="Aptos"/>
              </a:defRPr>
            </a:pPr>
            <a:r>
              <a:t>funded</a:t>
            </a:r>
          </a:p>
        </p:txBody>
      </p:sp>
      <p:sp>
        <p:nvSpPr>
          <p:cNvPr id="39" name="TextBox 38"/>
          <p:cNvSpPr txBox="1"/>
          <p:nvPr/>
        </p:nvSpPr>
        <p:spPr>
          <a:xfrm>
            <a:off x="8375904" y="5074920"/>
            <a:ext cx="2926080" cy="228600"/>
          </a:xfrm>
          <a:prstGeom prst="rect">
            <a:avLst/>
          </a:prstGeom>
          <a:noFill/>
        </p:spPr>
        <p:txBody>
          <a:bodyPr wrap="square" lIns="0" tIns="0" rIns="0" bIns="0">
            <a:spAutoFit/>
          </a:bodyPr>
          <a:lstStyle/>
          <a:p>
            <a:pPr>
              <a:spcAft>
                <a:spcPts val="300"/>
              </a:spcAft>
              <a:defRPr sz="1100" b="0">
                <a:solidFill>
                  <a:srgbClr val="A2B4CA"/>
                </a:solidFill>
                <a:latin typeface="Aptos"/>
              </a:defRPr>
            </a:pPr>
            <a:r>
              <a:rPr dirty="0"/>
              <a:t>UNFUNDED TUITION</a:t>
            </a:r>
          </a:p>
        </p:txBody>
      </p:sp>
      <p:sp>
        <p:nvSpPr>
          <p:cNvPr id="40" name="reveal_06"/>
          <p:cNvSpPr txBox="1"/>
          <p:nvPr/>
        </p:nvSpPr>
        <p:spPr>
          <a:xfrm>
            <a:off x="8375904" y="5422392"/>
            <a:ext cx="2926080" cy="502920"/>
          </a:xfrm>
          <a:prstGeom prst="rect">
            <a:avLst/>
          </a:prstGeom>
          <a:noFill/>
        </p:spPr>
        <p:txBody>
          <a:bodyPr wrap="square" lIns="0" tIns="0" rIns="0" bIns="0">
            <a:spAutoFit/>
          </a:bodyPr>
          <a:lstStyle/>
          <a:p>
            <a:pPr>
              <a:spcAft>
                <a:spcPts val="300"/>
              </a:spcAft>
              <a:defRPr sz="2900" b="1">
                <a:solidFill>
                  <a:srgbClr val="FF8896"/>
                </a:solidFill>
                <a:latin typeface="Aptos"/>
              </a:defRPr>
            </a:pPr>
            <a:r>
              <a:t>CNY 6,750</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wheel(1)">
                                      <p:cBhvr>
                                        <p:cTn id="10" dur="2000"/>
                                        <p:tgtEl>
                                          <p:spTgt spid="36"/>
                                        </p:tgtEl>
                                      </p:cBhvr>
                                    </p:animEffect>
                                  </p:childTnLst>
                                </p:cTn>
                              </p:par>
                            </p:childTnLst>
                          </p:cTn>
                        </p:par>
                        <p:par>
                          <p:cTn id="11" fill="hold">
                            <p:stCondLst>
                              <p:cond delay="2000"/>
                            </p:stCondLst>
                            <p:childTnLst>
                              <p:par>
                                <p:cTn id="12" presetID="10" presetClass="entr" presetSubtype="0" fill="hold" grpId="0" nodeType="afterEffect">
                                  <p:stCondLst>
                                    <p:cond delay="0"/>
                                  </p:stCondLst>
                                  <p:childTnLst>
                                    <p:set>
                                      <p:cBhvr>
                                        <p:cTn id="13" dur="1" fill="hold">
                                          <p:stCondLst>
                                            <p:cond delay="0"/>
                                          </p:stCondLst>
                                        </p:cTn>
                                        <p:tgtEl>
                                          <p:spTgt spid="40"/>
                                        </p:tgtEl>
                                        <p:attrNameLst>
                                          <p:attrName>style.visibility</p:attrName>
                                        </p:attrNameLst>
                                      </p:cBhvr>
                                      <p:to>
                                        <p:strVal val="visible"/>
                                      </p:to>
                                    </p:set>
                                    <p:animEffect transition="in" filter="fade">
                                      <p:cBhvr>
                                        <p:cTn id="14" dur="600"/>
                                        <p:tgtEl>
                                          <p:spTgt spid="40"/>
                                        </p:tgtEl>
                                      </p:cBhvr>
                                    </p:animEffect>
                                  </p:childTnLst>
                                </p:cTn>
                              </p:par>
                              <p:par>
                                <p:cTn id="15" presetID="22" presetClass="entr" presetSubtype="4" fill="hold" nodeType="with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wipe(down)">
                                      <p:cBhvr>
                                        <p:cTn id="17" dur="500"/>
                                        <p:tgtEl>
                                          <p:spTgt spid="45"/>
                                        </p:tgtEl>
                                      </p:cBhvr>
                                    </p:animEffect>
                                  </p:childTnLst>
                                </p:cTn>
                              </p:par>
                              <p:par>
                                <p:cTn id="18" presetID="22" presetClass="entr" presetSubtype="4" fill="hold" nodeType="withEffect">
                                  <p:stCondLst>
                                    <p:cond delay="0"/>
                                  </p:stCondLst>
                                  <p:childTnLst>
                                    <p:set>
                                      <p:cBhvr>
                                        <p:cTn id="19" dur="1" fill="hold">
                                          <p:stCondLst>
                                            <p:cond delay="0"/>
                                          </p:stCondLst>
                                        </p:cTn>
                                        <p:tgtEl>
                                          <p:spTgt spid="43"/>
                                        </p:tgtEl>
                                        <p:attrNameLst>
                                          <p:attrName>style.visibility</p:attrName>
                                        </p:attrNameLst>
                                      </p:cBhvr>
                                      <p:to>
                                        <p:strVal val="visible"/>
                                      </p:to>
                                    </p:set>
                                    <p:animEffect transition="in" filter="wipe(down)">
                                      <p:cBhvr>
                                        <p:cTn id="20" dur="500"/>
                                        <p:tgtEl>
                                          <p:spTgt spid="43"/>
                                        </p:tgtEl>
                                      </p:cBhvr>
                                    </p:animEffect>
                                  </p:childTnLst>
                                </p:cTn>
                              </p:par>
                              <p:par>
                                <p:cTn id="21" presetID="22" presetClass="entr" presetSubtype="4" fill="hold" nodeType="withEffect">
                                  <p:stCondLst>
                                    <p:cond delay="0"/>
                                  </p:stCondLst>
                                  <p:childTnLst>
                                    <p:set>
                                      <p:cBhvr>
                                        <p:cTn id="22" dur="1" fill="hold">
                                          <p:stCondLst>
                                            <p:cond delay="0"/>
                                          </p:stCondLst>
                                        </p:cTn>
                                        <p:tgtEl>
                                          <p:spTgt spid="44"/>
                                        </p:tgtEl>
                                        <p:attrNameLst>
                                          <p:attrName>style.visibility</p:attrName>
                                        </p:attrNameLst>
                                      </p:cBhvr>
                                      <p:to>
                                        <p:strVal val="visible"/>
                                      </p:to>
                                    </p:set>
                                    <p:animEffect transition="in" filter="wipe(down)">
                                      <p:cBhvr>
                                        <p:cTn id="23" dur="500"/>
                                        <p:tgtEl>
                                          <p:spTgt spid="44"/>
                                        </p:tgtEl>
                                      </p:cBhvr>
                                    </p:animEffect>
                                  </p:childTnLst>
                                </p:cTn>
                              </p:par>
                              <p:par>
                                <p:cTn id="24" presetID="22" presetClass="entr" presetSubtype="4" fill="hold" nodeType="withEffect">
                                  <p:stCondLst>
                                    <p:cond delay="0"/>
                                  </p:stCondLst>
                                  <p:childTnLst>
                                    <p:set>
                                      <p:cBhvr>
                                        <p:cTn id="25" dur="1" fill="hold">
                                          <p:stCondLst>
                                            <p:cond delay="0"/>
                                          </p:stCondLst>
                                        </p:cTn>
                                        <p:tgtEl>
                                          <p:spTgt spid="41"/>
                                        </p:tgtEl>
                                        <p:attrNameLst>
                                          <p:attrName>style.visibility</p:attrName>
                                        </p:attrNameLst>
                                      </p:cBhvr>
                                      <p:to>
                                        <p:strVal val="visible"/>
                                      </p:to>
                                    </p:set>
                                    <p:animEffect transition="in" filter="wipe(down)">
                                      <p:cBhvr>
                                        <p:cTn id="26" dur="500"/>
                                        <p:tgtEl>
                                          <p:spTgt spid="41"/>
                                        </p:tgtEl>
                                      </p:cBhvr>
                                    </p:animEffect>
                                  </p:childTnLst>
                                </p:cTn>
                              </p:par>
                              <p:par>
                                <p:cTn id="27" presetID="22" presetClass="entr" presetSubtype="4" fill="hold" nodeType="withEffect">
                                  <p:stCondLst>
                                    <p:cond delay="0"/>
                                  </p:stCondLst>
                                  <p:childTnLst>
                                    <p:set>
                                      <p:cBhvr>
                                        <p:cTn id="28" dur="1" fill="hold">
                                          <p:stCondLst>
                                            <p:cond delay="0"/>
                                          </p:stCondLst>
                                        </p:cTn>
                                        <p:tgtEl>
                                          <p:spTgt spid="42"/>
                                        </p:tgtEl>
                                        <p:attrNameLst>
                                          <p:attrName>style.visibility</p:attrName>
                                        </p:attrNameLst>
                                      </p:cBhvr>
                                      <p:to>
                                        <p:strVal val="visible"/>
                                      </p:to>
                                    </p:set>
                                    <p:animEffect transition="in" filter="wipe(down)">
                                      <p:cBhvr>
                                        <p:cTn id="29"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Graphic spid="36" grpId="0">
        <p:bldAsOne/>
      </p:bldGraphic>
      <p:bldP spid="40"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0058400" cy="228600"/>
          </a:xfrm>
          <a:prstGeom prst="rect">
            <a:avLst/>
          </a:prstGeom>
          <a:noFill/>
        </p:spPr>
        <p:txBody>
          <a:bodyPr wrap="square" lIns="0" tIns="0" rIns="0" bIns="0">
            <a:spAutoFit/>
          </a:bodyPr>
          <a:lstStyle/>
          <a:p>
            <a:pPr>
              <a:spcAft>
                <a:spcPts val="300"/>
              </a:spcAft>
              <a:defRPr sz="1000" b="1">
                <a:solidFill>
                  <a:srgbClr val="63E6BE"/>
                </a:solidFill>
                <a:latin typeface="Aptos"/>
              </a:defRPr>
            </a:pPr>
            <a:r>
              <a:t>REAL-WORLD STRUGGLES</a:t>
            </a:r>
          </a:p>
        </p:txBody>
      </p:sp>
      <p:sp>
        <p:nvSpPr>
          <p:cNvPr id="3" name="reveal_01"/>
          <p:cNvSpPr txBox="1"/>
          <p:nvPr/>
        </p:nvSpPr>
        <p:spPr>
          <a:xfrm>
            <a:off x="502920" y="768096"/>
            <a:ext cx="11155680" cy="612648"/>
          </a:xfrm>
          <a:prstGeom prst="rect">
            <a:avLst/>
          </a:prstGeom>
          <a:noFill/>
        </p:spPr>
        <p:txBody>
          <a:bodyPr wrap="square" lIns="0" tIns="0" rIns="0" bIns="0">
            <a:spAutoFit/>
          </a:bodyPr>
          <a:lstStyle/>
          <a:p>
            <a:pPr>
              <a:spcAft>
                <a:spcPts val="300"/>
              </a:spcAft>
              <a:defRPr sz="3100" b="1">
                <a:solidFill>
                  <a:srgbClr val="EDF5FF"/>
                </a:solidFill>
                <a:latin typeface="Aptos"/>
              </a:defRPr>
            </a:pPr>
            <a:r>
              <a:t>Real-world struggles: one deadline, two countries.</a:t>
            </a:r>
          </a:p>
        </p:txBody>
      </p:sp>
      <p:sp>
        <p:nvSpPr>
          <p:cNvPr id="4" name="TextBox 3"/>
          <p:cNvSpPr txBox="1"/>
          <p:nvPr/>
        </p:nvSpPr>
        <p:spPr>
          <a:xfrm>
            <a:off x="521207" y="1389888"/>
            <a:ext cx="10972800" cy="411480"/>
          </a:xfrm>
          <a:prstGeom prst="rect">
            <a:avLst/>
          </a:prstGeom>
          <a:noFill/>
        </p:spPr>
        <p:txBody>
          <a:bodyPr wrap="square" lIns="0" tIns="0" rIns="0" bIns="0">
            <a:spAutoFit/>
          </a:bodyPr>
          <a:lstStyle/>
          <a:p>
            <a:pPr>
              <a:spcAft>
                <a:spcPts val="300"/>
              </a:spcAft>
              <a:defRPr sz="1300" b="0">
                <a:solidFill>
                  <a:srgbClr val="A2B4CA"/>
                </a:solidFill>
                <a:latin typeface="Aptos"/>
              </a:defRPr>
            </a:pPr>
            <a:r>
              <a:t>Illustrative scenario: a Bangladeshi student in China must keep paying living costs while preparing tuition.</a:t>
            </a:r>
          </a:p>
        </p:txBody>
      </p:sp>
      <p:sp>
        <p:nvSpPr>
          <p:cNvPr id="5" name="TextBox 4"/>
          <p:cNvSpPr txBox="1"/>
          <p:nvPr/>
        </p:nvSpPr>
        <p:spPr>
          <a:xfrm>
            <a:off x="502920" y="6510528"/>
            <a:ext cx="3657600" cy="182880"/>
          </a:xfrm>
          <a:prstGeom prst="rect">
            <a:avLst/>
          </a:prstGeom>
          <a:noFill/>
        </p:spPr>
        <p:txBody>
          <a:bodyPr wrap="square" lIns="0" tIns="0" rIns="0" bIns="0">
            <a:spAutoFit/>
          </a:bodyPr>
          <a:lstStyle/>
          <a:p>
            <a:pPr>
              <a:spcAft>
                <a:spcPts val="300"/>
              </a:spcAft>
              <a:defRPr sz="900" b="0">
                <a:solidFill>
                  <a:srgbClr val="A2B4CA"/>
                </a:solidFill>
                <a:latin typeface="Aptos"/>
              </a:defRPr>
            </a:pPr>
            <a:r>
              <a:t>FINBRIDGE AI</a:t>
            </a:r>
          </a:p>
        </p:txBody>
      </p:sp>
      <p:sp>
        <p:nvSpPr>
          <p:cNvPr id="6" name="TextBox 5"/>
          <p:cNvSpPr txBox="1"/>
          <p:nvPr/>
        </p:nvSpPr>
        <p:spPr>
          <a:xfrm>
            <a:off x="10607040" y="6473952"/>
            <a:ext cx="1078992" cy="228600"/>
          </a:xfrm>
          <a:prstGeom prst="rect">
            <a:avLst/>
          </a:prstGeom>
          <a:noFill/>
        </p:spPr>
        <p:txBody>
          <a:bodyPr wrap="square" lIns="0" tIns="0" rIns="0" bIns="0">
            <a:spAutoFit/>
          </a:bodyPr>
          <a:lstStyle/>
          <a:p>
            <a:pPr algn="r">
              <a:spcAft>
                <a:spcPts val="300"/>
              </a:spcAft>
              <a:defRPr sz="1000" b="0">
                <a:solidFill>
                  <a:srgbClr val="A2B4CA"/>
                </a:solidFill>
                <a:latin typeface="Aptos"/>
              </a:defRPr>
            </a:pPr>
            <a:r>
              <a:t>03 / 10</a:t>
            </a:r>
          </a:p>
        </p:txBody>
      </p:sp>
      <p:sp>
        <p:nvSpPr>
          <p:cNvPr id="7" name="Rounded Rectangle 6"/>
          <p:cNvSpPr/>
          <p:nvPr/>
        </p:nvSpPr>
        <p:spPr>
          <a:xfrm>
            <a:off x="502920" y="1920240"/>
            <a:ext cx="6675120" cy="3493008"/>
          </a:xfrm>
          <a:prstGeom prst="roundRect">
            <a:avLst>
              <a:gd name="adj" fmla="val 10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121408"/>
            <a:ext cx="6126480" cy="246888"/>
          </a:xfrm>
          <a:prstGeom prst="rect">
            <a:avLst/>
          </a:prstGeom>
          <a:noFill/>
        </p:spPr>
        <p:txBody>
          <a:bodyPr wrap="square" lIns="0" tIns="0" rIns="0" bIns="0">
            <a:spAutoFit/>
          </a:bodyPr>
          <a:lstStyle/>
          <a:p>
            <a:pPr>
              <a:spcAft>
                <a:spcPts val="300"/>
              </a:spcAft>
              <a:defRPr sz="1200" b="1">
                <a:solidFill>
                  <a:srgbClr val="63E6BE"/>
                </a:solidFill>
                <a:latin typeface="Aptos"/>
              </a:defRPr>
            </a:pPr>
            <a:r>
              <a:t>FUNDING RUNWAY · CNY</a:t>
            </a:r>
          </a:p>
        </p:txBody>
      </p:sp>
      <p:graphicFrame>
        <p:nvGraphicFramePr>
          <p:cNvPr id="9" name="chart_03"/>
          <p:cNvGraphicFramePr>
            <a:graphicFrameLocks noGrp="1"/>
          </p:cNvGraphicFramePr>
          <p:nvPr/>
        </p:nvGraphicFramePr>
        <p:xfrm>
          <a:off x="713232" y="2587752"/>
          <a:ext cx="6217920" cy="2505456"/>
        </p:xfrm>
        <a:graphic>
          <a:graphicData uri="http://schemas.openxmlformats.org/drawingml/2006/chart">
            <c:chart xmlns:c="http://schemas.openxmlformats.org/drawingml/2006/chart" xmlns:r="http://schemas.openxmlformats.org/officeDocument/2006/relationships" r:id="rId3"/>
          </a:graphicData>
        </a:graphic>
      </p:graphicFrame>
      <p:pic>
        <p:nvPicPr>
          <p:cNvPr id="10" name="reveal_04" descr="struggles.gif"/>
          <p:cNvPicPr>
            <a:picLocks noChangeAspect="1"/>
          </p:cNvPicPr>
          <p:nvPr/>
        </p:nvPicPr>
        <p:blipFill>
          <a:blip r:embed="rId4"/>
          <a:stretch>
            <a:fillRect/>
          </a:stretch>
        </p:blipFill>
        <p:spPr>
          <a:xfrm>
            <a:off x="7388352" y="1920240"/>
            <a:ext cx="4297680" cy="2542032"/>
          </a:xfrm>
          <a:prstGeom prst="rect">
            <a:avLst/>
          </a:prstGeom>
        </p:spPr>
      </p:pic>
      <p:sp>
        <p:nvSpPr>
          <p:cNvPr id="11" name="Rounded Rectangle 10"/>
          <p:cNvSpPr/>
          <p:nvPr/>
        </p:nvSpPr>
        <p:spPr>
          <a:xfrm>
            <a:off x="7388352" y="4681728"/>
            <a:ext cx="4297680" cy="731520"/>
          </a:xfrm>
          <a:prstGeom prst="roundRect">
            <a:avLst>
              <a:gd name="adj" fmla="val 10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80375" y="4828032"/>
            <a:ext cx="2103120" cy="228600"/>
          </a:xfrm>
          <a:prstGeom prst="rect">
            <a:avLst/>
          </a:prstGeom>
          <a:noFill/>
        </p:spPr>
        <p:txBody>
          <a:bodyPr wrap="square" lIns="0" tIns="0" rIns="0" bIns="0">
            <a:spAutoFit/>
          </a:bodyPr>
          <a:lstStyle/>
          <a:p>
            <a:pPr>
              <a:spcAft>
                <a:spcPts val="300"/>
              </a:spcAft>
              <a:defRPr sz="1200" b="0">
                <a:solidFill>
                  <a:srgbClr val="A2B4CA"/>
                </a:solidFill>
                <a:latin typeface="Aptos"/>
              </a:defRPr>
            </a:pPr>
            <a:r>
              <a:t>Extra savings needed</a:t>
            </a:r>
          </a:p>
        </p:txBody>
      </p:sp>
      <p:sp>
        <p:nvSpPr>
          <p:cNvPr id="13" name="reveal_05"/>
          <p:cNvSpPr txBox="1"/>
          <p:nvPr/>
        </p:nvSpPr>
        <p:spPr>
          <a:xfrm>
            <a:off x="9592056" y="4828032"/>
            <a:ext cx="1874519" cy="320040"/>
          </a:xfrm>
          <a:prstGeom prst="rect">
            <a:avLst/>
          </a:prstGeom>
          <a:noFill/>
        </p:spPr>
        <p:txBody>
          <a:bodyPr wrap="square" lIns="0" tIns="0" rIns="0" bIns="0">
            <a:spAutoFit/>
          </a:bodyPr>
          <a:lstStyle/>
          <a:p>
            <a:pPr>
              <a:spcAft>
                <a:spcPts val="300"/>
              </a:spcAft>
              <a:defRPr sz="2000" b="1">
                <a:solidFill>
                  <a:srgbClr val="63E6BE"/>
                </a:solidFill>
                <a:latin typeface="Aptos"/>
              </a:defRPr>
            </a:pPr>
            <a:r>
              <a:t>3,375 / mo</a:t>
            </a:r>
          </a:p>
        </p:txBody>
      </p:sp>
      <p:sp>
        <p:nvSpPr>
          <p:cNvPr id="14" name="reveal_05"/>
          <p:cNvSpPr/>
          <p:nvPr/>
        </p:nvSpPr>
        <p:spPr>
          <a:xfrm>
            <a:off x="548640" y="5605272"/>
            <a:ext cx="358444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veal_05"/>
          <p:cNvSpPr txBox="1"/>
          <p:nvPr/>
        </p:nvSpPr>
        <p:spPr>
          <a:xfrm>
            <a:off x="658368" y="5724144"/>
            <a:ext cx="3364991" cy="246888"/>
          </a:xfrm>
          <a:prstGeom prst="rect">
            <a:avLst/>
          </a:prstGeom>
          <a:noFill/>
        </p:spPr>
        <p:txBody>
          <a:bodyPr wrap="square" lIns="0" tIns="0" rIns="0" bIns="0">
            <a:spAutoFit/>
          </a:bodyPr>
          <a:lstStyle/>
          <a:p>
            <a:pPr algn="ctr">
              <a:spcAft>
                <a:spcPts val="300"/>
              </a:spcAft>
              <a:defRPr sz="1600" b="1">
                <a:solidFill>
                  <a:srgbClr val="6BB9FF"/>
                </a:solidFill>
                <a:latin typeface="Aptos"/>
              </a:defRPr>
            </a:pPr>
            <a:r>
              <a:t>Rent continues</a:t>
            </a:r>
          </a:p>
        </p:txBody>
      </p:sp>
      <p:sp>
        <p:nvSpPr>
          <p:cNvPr id="16" name="reveal_05"/>
          <p:cNvSpPr txBox="1"/>
          <p:nvPr/>
        </p:nvSpPr>
        <p:spPr>
          <a:xfrm>
            <a:off x="640080" y="6071616"/>
            <a:ext cx="340156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CNY 2,125 / month</a:t>
            </a:r>
          </a:p>
        </p:txBody>
      </p:sp>
      <p:sp>
        <p:nvSpPr>
          <p:cNvPr id="17" name="reveal_06"/>
          <p:cNvSpPr/>
          <p:nvPr/>
        </p:nvSpPr>
        <p:spPr>
          <a:xfrm>
            <a:off x="4334255" y="5605272"/>
            <a:ext cx="358444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veal_06"/>
          <p:cNvSpPr txBox="1"/>
          <p:nvPr/>
        </p:nvSpPr>
        <p:spPr>
          <a:xfrm>
            <a:off x="4443983" y="5724144"/>
            <a:ext cx="3364991" cy="246888"/>
          </a:xfrm>
          <a:prstGeom prst="rect">
            <a:avLst/>
          </a:prstGeom>
          <a:noFill/>
        </p:spPr>
        <p:txBody>
          <a:bodyPr wrap="square" lIns="0" tIns="0" rIns="0" bIns="0">
            <a:spAutoFit/>
          </a:bodyPr>
          <a:lstStyle/>
          <a:p>
            <a:pPr algn="ctr">
              <a:spcAft>
                <a:spcPts val="300"/>
              </a:spcAft>
              <a:defRPr sz="1600" b="1">
                <a:solidFill>
                  <a:srgbClr val="F3C969"/>
                </a:solidFill>
                <a:latin typeface="Aptos"/>
              </a:defRPr>
            </a:pPr>
            <a:r>
              <a:t>Family funds in BDT</a:t>
            </a:r>
          </a:p>
        </p:txBody>
      </p:sp>
      <p:sp>
        <p:nvSpPr>
          <p:cNvPr id="19" name="reveal_06"/>
          <p:cNvSpPr txBox="1"/>
          <p:nvPr/>
        </p:nvSpPr>
        <p:spPr>
          <a:xfrm>
            <a:off x="4425695" y="6071616"/>
            <a:ext cx="340156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Compare total FX cost</a:t>
            </a:r>
          </a:p>
        </p:txBody>
      </p:sp>
      <p:sp>
        <p:nvSpPr>
          <p:cNvPr id="20" name="reveal_07"/>
          <p:cNvSpPr/>
          <p:nvPr/>
        </p:nvSpPr>
        <p:spPr>
          <a:xfrm>
            <a:off x="8119871" y="5605272"/>
            <a:ext cx="358444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veal_07"/>
          <p:cNvSpPr txBox="1"/>
          <p:nvPr/>
        </p:nvSpPr>
        <p:spPr>
          <a:xfrm>
            <a:off x="8229599" y="5724144"/>
            <a:ext cx="3364991" cy="246888"/>
          </a:xfrm>
          <a:prstGeom prst="rect">
            <a:avLst/>
          </a:prstGeom>
          <a:noFill/>
        </p:spPr>
        <p:txBody>
          <a:bodyPr wrap="square" lIns="0" tIns="0" rIns="0" bIns="0">
            <a:spAutoFit/>
          </a:bodyPr>
          <a:lstStyle/>
          <a:p>
            <a:pPr algn="ctr">
              <a:spcAft>
                <a:spcPts val="300"/>
              </a:spcAft>
              <a:defRPr sz="1600" b="1">
                <a:solidFill>
                  <a:srgbClr val="FF8896"/>
                </a:solidFill>
                <a:latin typeface="Aptos"/>
              </a:defRPr>
            </a:pPr>
            <a:r>
              <a:t>Tuition approaches</a:t>
            </a:r>
          </a:p>
        </p:txBody>
      </p:sp>
      <p:sp>
        <p:nvSpPr>
          <p:cNvPr id="22" name="reveal_07"/>
          <p:cNvSpPr txBox="1"/>
          <p:nvPr/>
        </p:nvSpPr>
        <p:spPr>
          <a:xfrm>
            <a:off x="8211311" y="6071616"/>
            <a:ext cx="340156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Close the CNY 6,750 gap</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childTnLst>
                          </p:cTn>
                        </p:par>
                        <p:par>
                          <p:cTn id="8" fill="hold">
                            <p:stCondLst>
                              <p:cond delay="600"/>
                            </p:stCondLst>
                            <p:childTnLst>
                              <p:par>
                                <p:cTn id="9" presetID="22" presetClass="entr" presetSubtype="2"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right)">
                                      <p:cBhvr>
                                        <p:cTn id="11" dur="600"/>
                                        <p:tgtEl>
                                          <p:spTgt spid="9"/>
                                        </p:tgtEl>
                                      </p:cBhvr>
                                    </p:animEffect>
                                  </p:childTnLst>
                                </p:cTn>
                              </p:par>
                            </p:childTnLst>
                          </p:cTn>
                        </p:par>
                        <p:par>
                          <p:cTn id="12" fill="hold">
                            <p:stCondLst>
                              <p:cond delay="1200"/>
                            </p:stCondLst>
                            <p:childTnLst>
                              <p:par>
                                <p:cTn id="13" presetID="10" presetClass="entr" presetSubtype="0"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600"/>
                                        <p:tgtEl>
                                          <p:spTgt spid="10"/>
                                        </p:tgtEl>
                                      </p:cBhvr>
                                    </p:animEffect>
                                  </p:childTnLst>
                                </p:cTn>
                              </p:par>
                            </p:childTnLst>
                          </p:cTn>
                        </p:par>
                        <p:par>
                          <p:cTn id="16" fill="hold">
                            <p:stCondLst>
                              <p:cond delay="1800"/>
                            </p:stCondLst>
                            <p:childTnLst>
                              <p:par>
                                <p:cTn id="17" presetID="10" presetClass="entr" presetSubtype="0" fill="hold" grpId="0" nodeType="after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6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600"/>
                                        <p:tgtEl>
                                          <p:spTgt spid="1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60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600"/>
                                        <p:tgtEl>
                                          <p:spTgt spid="14"/>
                                        </p:tgtEl>
                                      </p:cBhvr>
                                    </p:animEffect>
                                  </p:childTnLst>
                                </p:cTn>
                              </p:par>
                            </p:childTnLst>
                          </p:cTn>
                        </p:par>
                        <p:par>
                          <p:cTn id="29" fill="hold">
                            <p:stCondLst>
                              <p:cond delay="2400"/>
                            </p:stCondLst>
                            <p:childTnLst>
                              <p:par>
                                <p:cTn id="30" presetID="10" presetClass="entr" presetSubtype="0" fill="hold" grpId="0" nodeType="after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600"/>
                                        <p:tgtEl>
                                          <p:spTgt spid="1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600"/>
                                        <p:tgtEl>
                                          <p:spTgt spid="1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600"/>
                                        <p:tgtEl>
                                          <p:spTgt spid="17"/>
                                        </p:tgtEl>
                                      </p:cBhvr>
                                    </p:animEffect>
                                  </p:childTnLst>
                                </p:cTn>
                              </p:par>
                            </p:childTnLst>
                          </p:cTn>
                        </p:par>
                        <p:par>
                          <p:cTn id="39" fill="hold">
                            <p:stCondLst>
                              <p:cond delay="3000"/>
                            </p:stCondLst>
                            <p:childTnLst>
                              <p:par>
                                <p:cTn id="40" presetID="10" presetClass="entr" presetSubtype="0" fill="hold" grpId="0" nodeType="after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600"/>
                                        <p:tgtEl>
                                          <p:spTgt spid="22"/>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600"/>
                                        <p:tgtEl>
                                          <p:spTgt spid="21"/>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6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Graphic spid="9" grpId="0">
        <p:bldAsOne/>
      </p:bldGraphic>
      <p:bldP spid="13" grpId="0"/>
      <p:bldP spid="14" grpId="0" animBg="1"/>
      <p:bldP spid="15" grpId="0"/>
      <p:bldP spid="16" grpId="0"/>
      <p:bldP spid="17" grpId="0" animBg="1"/>
      <p:bldP spid="18" grpId="0"/>
      <p:bldP spid="19" grpId="0"/>
      <p:bldP spid="20" grpId="0" animBg="1"/>
      <p:bldP spid="21" grpId="0"/>
      <p:bldP spid="2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0058400" cy="228600"/>
          </a:xfrm>
          <a:prstGeom prst="rect">
            <a:avLst/>
          </a:prstGeom>
          <a:noFill/>
        </p:spPr>
        <p:txBody>
          <a:bodyPr wrap="square" lIns="0" tIns="0" rIns="0" bIns="0">
            <a:spAutoFit/>
          </a:bodyPr>
          <a:lstStyle/>
          <a:p>
            <a:pPr>
              <a:spcAft>
                <a:spcPts val="300"/>
              </a:spcAft>
              <a:defRPr sz="1000" b="1">
                <a:solidFill>
                  <a:srgbClr val="63E6BE"/>
                </a:solidFill>
                <a:latin typeface="Aptos"/>
              </a:defRPr>
            </a:pPr>
            <a:r>
              <a:t>OUR SOLUTION</a:t>
            </a:r>
          </a:p>
        </p:txBody>
      </p:sp>
      <p:sp>
        <p:nvSpPr>
          <p:cNvPr id="3" name="reveal_01"/>
          <p:cNvSpPr txBox="1"/>
          <p:nvPr/>
        </p:nvSpPr>
        <p:spPr>
          <a:xfrm>
            <a:off x="502920" y="768096"/>
            <a:ext cx="11155680" cy="612648"/>
          </a:xfrm>
          <a:prstGeom prst="rect">
            <a:avLst/>
          </a:prstGeom>
          <a:noFill/>
        </p:spPr>
        <p:txBody>
          <a:bodyPr wrap="square" lIns="0" tIns="0" rIns="0" bIns="0">
            <a:spAutoFit/>
          </a:bodyPr>
          <a:lstStyle/>
          <a:p>
            <a:pPr>
              <a:spcAft>
                <a:spcPts val="300"/>
              </a:spcAft>
              <a:defRPr sz="3100" b="1">
                <a:solidFill>
                  <a:srgbClr val="EDF5FF"/>
                </a:solidFill>
                <a:latin typeface="Aptos"/>
              </a:defRPr>
            </a:pPr>
            <a:r>
              <a:t>See the gap. Compare the cost. Coordinate the funding.</a:t>
            </a:r>
          </a:p>
        </p:txBody>
      </p:sp>
      <p:sp>
        <p:nvSpPr>
          <p:cNvPr id="4" name="TextBox 3"/>
          <p:cNvSpPr txBox="1"/>
          <p:nvPr/>
        </p:nvSpPr>
        <p:spPr>
          <a:xfrm>
            <a:off x="521207" y="1389888"/>
            <a:ext cx="10972800" cy="411480"/>
          </a:xfrm>
          <a:prstGeom prst="rect">
            <a:avLst/>
          </a:prstGeom>
          <a:noFill/>
        </p:spPr>
        <p:txBody>
          <a:bodyPr wrap="square" lIns="0" tIns="0" rIns="0" bIns="0">
            <a:spAutoFit/>
          </a:bodyPr>
          <a:lstStyle/>
          <a:p>
            <a:pPr>
              <a:spcAft>
                <a:spcPts val="300"/>
              </a:spcAft>
              <a:defRPr sz="1300" b="0">
                <a:solidFill>
                  <a:srgbClr val="A2B4CA"/>
                </a:solidFill>
                <a:latin typeface="Aptos"/>
              </a:defRPr>
            </a:pPr>
            <a:r>
              <a:t>One workspace links tuition planning, cross-border comparison, parent approval and payment evidence.</a:t>
            </a:r>
          </a:p>
        </p:txBody>
      </p:sp>
      <p:sp>
        <p:nvSpPr>
          <p:cNvPr id="5" name="TextBox 4"/>
          <p:cNvSpPr txBox="1"/>
          <p:nvPr/>
        </p:nvSpPr>
        <p:spPr>
          <a:xfrm>
            <a:off x="502920" y="6510528"/>
            <a:ext cx="3657600" cy="182880"/>
          </a:xfrm>
          <a:prstGeom prst="rect">
            <a:avLst/>
          </a:prstGeom>
          <a:noFill/>
        </p:spPr>
        <p:txBody>
          <a:bodyPr wrap="square" lIns="0" tIns="0" rIns="0" bIns="0">
            <a:spAutoFit/>
          </a:bodyPr>
          <a:lstStyle/>
          <a:p>
            <a:pPr>
              <a:spcAft>
                <a:spcPts val="300"/>
              </a:spcAft>
              <a:defRPr sz="900" b="0">
                <a:solidFill>
                  <a:srgbClr val="A2B4CA"/>
                </a:solidFill>
                <a:latin typeface="Aptos"/>
              </a:defRPr>
            </a:pPr>
            <a:r>
              <a:rPr dirty="0"/>
              <a:t>FINBRIDGE AI</a:t>
            </a:r>
          </a:p>
        </p:txBody>
      </p:sp>
      <p:sp>
        <p:nvSpPr>
          <p:cNvPr id="6" name="TextBox 5"/>
          <p:cNvSpPr txBox="1"/>
          <p:nvPr/>
        </p:nvSpPr>
        <p:spPr>
          <a:xfrm>
            <a:off x="10607040" y="6473952"/>
            <a:ext cx="1078992" cy="228600"/>
          </a:xfrm>
          <a:prstGeom prst="rect">
            <a:avLst/>
          </a:prstGeom>
          <a:noFill/>
        </p:spPr>
        <p:txBody>
          <a:bodyPr wrap="square" lIns="0" tIns="0" rIns="0" bIns="0">
            <a:spAutoFit/>
          </a:bodyPr>
          <a:lstStyle/>
          <a:p>
            <a:pPr algn="r">
              <a:spcAft>
                <a:spcPts val="300"/>
              </a:spcAft>
              <a:defRPr sz="1000" b="0">
                <a:solidFill>
                  <a:srgbClr val="A2B4CA"/>
                </a:solidFill>
                <a:latin typeface="Aptos"/>
              </a:defRPr>
            </a:pPr>
            <a:r>
              <a:t>04 / 10</a:t>
            </a:r>
          </a:p>
        </p:txBody>
      </p:sp>
      <p:sp>
        <p:nvSpPr>
          <p:cNvPr id="7" name="Rounded Rectangle 6"/>
          <p:cNvSpPr/>
          <p:nvPr/>
        </p:nvSpPr>
        <p:spPr>
          <a:xfrm>
            <a:off x="502920" y="1920240"/>
            <a:ext cx="6675120" cy="3675887"/>
          </a:xfrm>
          <a:prstGeom prst="roundRect">
            <a:avLst>
              <a:gd name="adj" fmla="val 10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148840"/>
            <a:ext cx="6126480" cy="274320"/>
          </a:xfrm>
          <a:prstGeom prst="rect">
            <a:avLst/>
          </a:prstGeom>
          <a:noFill/>
        </p:spPr>
        <p:txBody>
          <a:bodyPr wrap="square" lIns="0" tIns="0" rIns="0" bIns="0">
            <a:spAutoFit/>
          </a:bodyPr>
          <a:lstStyle/>
          <a:p>
            <a:pPr>
              <a:spcAft>
                <a:spcPts val="300"/>
              </a:spcAft>
              <a:defRPr sz="1400" b="1">
                <a:solidFill>
                  <a:srgbClr val="63E6BE"/>
                </a:solidFill>
                <a:latin typeface="Aptos"/>
              </a:defRPr>
            </a:pPr>
            <a:r>
              <a:t>SEND BDT → RECEIVE CNY 6,750</a:t>
            </a:r>
          </a:p>
        </p:txBody>
      </p:sp>
      <p:sp>
        <p:nvSpPr>
          <p:cNvPr id="9" name="TextBox 8"/>
          <p:cNvSpPr txBox="1"/>
          <p:nvPr/>
        </p:nvSpPr>
        <p:spPr>
          <a:xfrm>
            <a:off x="758952" y="2624328"/>
            <a:ext cx="6126480" cy="274320"/>
          </a:xfrm>
          <a:prstGeom prst="rect">
            <a:avLst/>
          </a:prstGeom>
          <a:noFill/>
        </p:spPr>
        <p:txBody>
          <a:bodyPr wrap="square" lIns="0" tIns="0" rIns="0" bIns="0">
            <a:spAutoFit/>
          </a:bodyPr>
          <a:lstStyle/>
          <a:p>
            <a:pPr>
              <a:spcAft>
                <a:spcPts val="300"/>
              </a:spcAft>
              <a:defRPr sz="1200" b="0">
                <a:solidFill>
                  <a:srgbClr val="A2B4CA"/>
                </a:solidFill>
                <a:latin typeface="Aptos"/>
              </a:defRPr>
            </a:pPr>
            <a:r>
              <a:t>Extra sender cost vs lowest quote | BDT</a:t>
            </a:r>
          </a:p>
        </p:txBody>
      </p:sp>
      <p:graphicFrame>
        <p:nvGraphicFramePr>
          <p:cNvPr id="10" name="chart_03"/>
          <p:cNvGraphicFramePr>
            <a:graphicFrameLocks noGrp="1"/>
          </p:cNvGraphicFramePr>
          <p:nvPr/>
        </p:nvGraphicFramePr>
        <p:xfrm>
          <a:off x="658368" y="2953512"/>
          <a:ext cx="6336792" cy="2185416"/>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p:cNvSpPr txBox="1"/>
          <p:nvPr/>
        </p:nvSpPr>
        <p:spPr>
          <a:xfrm>
            <a:off x="758952" y="5413248"/>
            <a:ext cx="6126480" cy="237744"/>
          </a:xfrm>
          <a:prstGeom prst="rect">
            <a:avLst/>
          </a:prstGeom>
          <a:noFill/>
        </p:spPr>
        <p:txBody>
          <a:bodyPr wrap="square" lIns="0" tIns="0" rIns="0" bIns="0">
            <a:spAutoFit/>
          </a:bodyPr>
          <a:lstStyle/>
          <a:p>
            <a:pPr>
              <a:spcAft>
                <a:spcPts val="300"/>
              </a:spcAft>
              <a:defRPr sz="1000" b="0">
                <a:solidFill>
                  <a:srgbClr val="A2B4CA"/>
                </a:solidFill>
                <a:latin typeface="Aptos"/>
              </a:defRPr>
            </a:pPr>
            <a:r>
              <a:t>Extra cost vs lowest quote | sandbox seed rates | fees + spread included</a:t>
            </a:r>
          </a:p>
        </p:txBody>
      </p:sp>
      <p:sp>
        <p:nvSpPr>
          <p:cNvPr id="12" name="Rounded Rectangle 11"/>
          <p:cNvSpPr/>
          <p:nvPr/>
        </p:nvSpPr>
        <p:spPr>
          <a:xfrm>
            <a:off x="7388352" y="1920240"/>
            <a:ext cx="4297680" cy="3675887"/>
          </a:xfrm>
          <a:prstGeom prst="roundRect">
            <a:avLst>
              <a:gd name="adj" fmla="val 10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662672" y="2194560"/>
            <a:ext cx="3566160" cy="228600"/>
          </a:xfrm>
          <a:prstGeom prst="rect">
            <a:avLst/>
          </a:prstGeom>
          <a:noFill/>
        </p:spPr>
        <p:txBody>
          <a:bodyPr wrap="square" lIns="0" tIns="0" rIns="0" bIns="0">
            <a:spAutoFit/>
          </a:bodyPr>
          <a:lstStyle/>
          <a:p>
            <a:pPr>
              <a:spcAft>
                <a:spcPts val="300"/>
              </a:spcAft>
              <a:defRPr sz="1100" b="0">
                <a:solidFill>
                  <a:srgbClr val="A2B4CA"/>
                </a:solidFill>
                <a:latin typeface="Aptos"/>
              </a:defRPr>
            </a:pPr>
            <a:r>
              <a:t>FUNDING GAP</a:t>
            </a:r>
          </a:p>
        </p:txBody>
      </p:sp>
      <p:sp>
        <p:nvSpPr>
          <p:cNvPr id="14" name="reveal_03"/>
          <p:cNvSpPr txBox="1"/>
          <p:nvPr/>
        </p:nvSpPr>
        <p:spPr>
          <a:xfrm>
            <a:off x="7662672" y="2542032"/>
            <a:ext cx="3566160" cy="502920"/>
          </a:xfrm>
          <a:prstGeom prst="rect">
            <a:avLst/>
          </a:prstGeom>
          <a:noFill/>
        </p:spPr>
        <p:txBody>
          <a:bodyPr wrap="square" lIns="0" tIns="0" rIns="0" bIns="0">
            <a:spAutoFit/>
          </a:bodyPr>
          <a:lstStyle/>
          <a:p>
            <a:pPr>
              <a:spcAft>
                <a:spcPts val="300"/>
              </a:spcAft>
              <a:defRPr sz="2900" b="1">
                <a:solidFill>
                  <a:srgbClr val="FF8896"/>
                </a:solidFill>
                <a:latin typeface="Aptos"/>
              </a:defRPr>
            </a:pPr>
            <a:r>
              <a:t>CNY 6,750</a:t>
            </a:r>
          </a:p>
        </p:txBody>
      </p:sp>
      <p:sp>
        <p:nvSpPr>
          <p:cNvPr id="15" name="TextBox 14"/>
          <p:cNvSpPr txBox="1"/>
          <p:nvPr/>
        </p:nvSpPr>
        <p:spPr>
          <a:xfrm>
            <a:off x="7662672" y="3310128"/>
            <a:ext cx="3566160" cy="228600"/>
          </a:xfrm>
          <a:prstGeom prst="rect">
            <a:avLst/>
          </a:prstGeom>
          <a:noFill/>
        </p:spPr>
        <p:txBody>
          <a:bodyPr wrap="square" lIns="0" tIns="0" rIns="0" bIns="0">
            <a:spAutoFit/>
          </a:bodyPr>
          <a:lstStyle/>
          <a:p>
            <a:pPr>
              <a:spcAft>
                <a:spcPts val="300"/>
              </a:spcAft>
              <a:defRPr sz="1100" b="0">
                <a:solidFill>
                  <a:srgbClr val="A2B4CA"/>
                </a:solidFill>
                <a:latin typeface="Aptos"/>
              </a:defRPr>
            </a:pPr>
            <a:r>
              <a:t>LOWEST DEMO QUOTE</a:t>
            </a:r>
          </a:p>
        </p:txBody>
      </p:sp>
      <p:sp>
        <p:nvSpPr>
          <p:cNvPr id="16" name="reveal_04"/>
          <p:cNvSpPr txBox="1"/>
          <p:nvPr/>
        </p:nvSpPr>
        <p:spPr>
          <a:xfrm>
            <a:off x="7662672" y="3657600"/>
            <a:ext cx="3566160" cy="502920"/>
          </a:xfrm>
          <a:prstGeom prst="rect">
            <a:avLst/>
          </a:prstGeom>
          <a:noFill/>
        </p:spPr>
        <p:txBody>
          <a:bodyPr wrap="square" lIns="0" tIns="0" rIns="0" bIns="0">
            <a:spAutoFit/>
          </a:bodyPr>
          <a:lstStyle/>
          <a:p>
            <a:pPr>
              <a:spcAft>
                <a:spcPts val="300"/>
              </a:spcAft>
              <a:defRPr sz="2900" b="1">
                <a:solidFill>
                  <a:srgbClr val="63E6BE"/>
                </a:solidFill>
                <a:latin typeface="Aptos"/>
              </a:defRPr>
            </a:pPr>
            <a:r>
              <a:t>BDT 115,434</a:t>
            </a:r>
          </a:p>
        </p:txBody>
      </p:sp>
      <p:sp>
        <p:nvSpPr>
          <p:cNvPr id="17" name="TextBox 16"/>
          <p:cNvSpPr txBox="1"/>
          <p:nvPr/>
        </p:nvSpPr>
        <p:spPr>
          <a:xfrm>
            <a:off x="7662672" y="4425696"/>
            <a:ext cx="3566160" cy="228600"/>
          </a:xfrm>
          <a:prstGeom prst="rect">
            <a:avLst/>
          </a:prstGeom>
          <a:noFill/>
        </p:spPr>
        <p:txBody>
          <a:bodyPr wrap="square" lIns="0" tIns="0" rIns="0" bIns="0">
            <a:spAutoFit/>
          </a:bodyPr>
          <a:lstStyle/>
          <a:p>
            <a:pPr>
              <a:spcAft>
                <a:spcPts val="300"/>
              </a:spcAft>
              <a:defRPr sz="1100" b="0">
                <a:solidFill>
                  <a:srgbClr val="A2B4CA"/>
                </a:solidFill>
                <a:latin typeface="Aptos"/>
              </a:defRPr>
            </a:pPr>
            <a:r>
              <a:t>QUOTE DIFFERENCE</a:t>
            </a:r>
          </a:p>
        </p:txBody>
      </p:sp>
      <p:sp>
        <p:nvSpPr>
          <p:cNvPr id="18" name="reveal_05"/>
          <p:cNvSpPr txBox="1"/>
          <p:nvPr/>
        </p:nvSpPr>
        <p:spPr>
          <a:xfrm>
            <a:off x="7662672" y="4773168"/>
            <a:ext cx="3566160" cy="502920"/>
          </a:xfrm>
          <a:prstGeom prst="rect">
            <a:avLst/>
          </a:prstGeom>
          <a:noFill/>
        </p:spPr>
        <p:txBody>
          <a:bodyPr wrap="square" lIns="0" tIns="0" rIns="0" bIns="0">
            <a:spAutoFit/>
          </a:bodyPr>
          <a:lstStyle/>
          <a:p>
            <a:pPr>
              <a:spcAft>
                <a:spcPts val="300"/>
              </a:spcAft>
              <a:defRPr sz="2900" b="1">
                <a:solidFill>
                  <a:srgbClr val="F3C969"/>
                </a:solidFill>
                <a:latin typeface="Aptos"/>
              </a:defRPr>
            </a:pPr>
            <a:r>
              <a:t>BDT 2,914</a:t>
            </a:r>
          </a:p>
        </p:txBody>
      </p:sp>
      <p:sp>
        <p:nvSpPr>
          <p:cNvPr id="19" name="reveal_04"/>
          <p:cNvSpPr/>
          <p:nvPr/>
        </p:nvSpPr>
        <p:spPr>
          <a:xfrm>
            <a:off x="548640" y="5650992"/>
            <a:ext cx="262432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veal_04"/>
          <p:cNvSpPr txBox="1"/>
          <p:nvPr/>
        </p:nvSpPr>
        <p:spPr>
          <a:xfrm>
            <a:off x="658368" y="5769864"/>
            <a:ext cx="2404872" cy="246888"/>
          </a:xfrm>
          <a:prstGeom prst="rect">
            <a:avLst/>
          </a:prstGeom>
          <a:noFill/>
        </p:spPr>
        <p:txBody>
          <a:bodyPr wrap="square" lIns="0" tIns="0" rIns="0" bIns="0">
            <a:spAutoFit/>
          </a:bodyPr>
          <a:lstStyle/>
          <a:p>
            <a:pPr algn="ctr">
              <a:spcAft>
                <a:spcPts val="300"/>
              </a:spcAft>
              <a:defRPr sz="1600" b="1">
                <a:solidFill>
                  <a:srgbClr val="63E6BE"/>
                </a:solidFill>
                <a:latin typeface="Aptos"/>
              </a:defRPr>
            </a:pPr>
            <a:r>
              <a:t>Plan</a:t>
            </a:r>
          </a:p>
        </p:txBody>
      </p:sp>
      <p:sp>
        <p:nvSpPr>
          <p:cNvPr id="21" name="reveal_04"/>
          <p:cNvSpPr txBox="1"/>
          <p:nvPr/>
        </p:nvSpPr>
        <p:spPr>
          <a:xfrm>
            <a:off x="640080" y="6117336"/>
            <a:ext cx="244144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Tuition + budget</a:t>
            </a:r>
          </a:p>
        </p:txBody>
      </p:sp>
      <p:sp>
        <p:nvSpPr>
          <p:cNvPr id="22" name="TextBox 21"/>
          <p:cNvSpPr txBox="1"/>
          <p:nvPr/>
        </p:nvSpPr>
        <p:spPr>
          <a:xfrm>
            <a:off x="3182112" y="5861304"/>
            <a:ext cx="219456" cy="283464"/>
          </a:xfrm>
          <a:prstGeom prst="rect">
            <a:avLst/>
          </a:prstGeom>
          <a:noFill/>
        </p:spPr>
        <p:txBody>
          <a:bodyPr wrap="square" lIns="0" tIns="0" rIns="0" bIns="0">
            <a:spAutoFit/>
          </a:bodyPr>
          <a:lstStyle/>
          <a:p>
            <a:pPr>
              <a:spcAft>
                <a:spcPts val="300"/>
              </a:spcAft>
              <a:defRPr sz="1800" b="0">
                <a:solidFill>
                  <a:srgbClr val="63E6BE"/>
                </a:solidFill>
                <a:latin typeface="Aptos"/>
              </a:defRPr>
            </a:pPr>
            <a:r>
              <a:t>→</a:t>
            </a:r>
          </a:p>
        </p:txBody>
      </p:sp>
      <p:sp>
        <p:nvSpPr>
          <p:cNvPr id="23" name="reveal_05"/>
          <p:cNvSpPr/>
          <p:nvPr/>
        </p:nvSpPr>
        <p:spPr>
          <a:xfrm>
            <a:off x="3383280" y="5650992"/>
            <a:ext cx="262432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veal_05"/>
          <p:cNvSpPr txBox="1"/>
          <p:nvPr/>
        </p:nvSpPr>
        <p:spPr>
          <a:xfrm>
            <a:off x="3493008" y="5769864"/>
            <a:ext cx="2404872" cy="246888"/>
          </a:xfrm>
          <a:prstGeom prst="rect">
            <a:avLst/>
          </a:prstGeom>
          <a:noFill/>
        </p:spPr>
        <p:txBody>
          <a:bodyPr wrap="square" lIns="0" tIns="0" rIns="0" bIns="0">
            <a:spAutoFit/>
          </a:bodyPr>
          <a:lstStyle/>
          <a:p>
            <a:pPr algn="ctr">
              <a:spcAft>
                <a:spcPts val="300"/>
              </a:spcAft>
              <a:defRPr sz="1600" b="1">
                <a:solidFill>
                  <a:srgbClr val="63E6BE"/>
                </a:solidFill>
                <a:latin typeface="Aptos"/>
              </a:defRPr>
            </a:pPr>
            <a:r>
              <a:t>Compare</a:t>
            </a:r>
          </a:p>
        </p:txBody>
      </p:sp>
      <p:sp>
        <p:nvSpPr>
          <p:cNvPr id="25" name="reveal_05"/>
          <p:cNvSpPr txBox="1"/>
          <p:nvPr/>
        </p:nvSpPr>
        <p:spPr>
          <a:xfrm>
            <a:off x="3474720" y="6117336"/>
            <a:ext cx="244144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Fees + FX</a:t>
            </a:r>
          </a:p>
        </p:txBody>
      </p:sp>
      <p:sp>
        <p:nvSpPr>
          <p:cNvPr id="26" name="TextBox 25"/>
          <p:cNvSpPr txBox="1"/>
          <p:nvPr/>
        </p:nvSpPr>
        <p:spPr>
          <a:xfrm>
            <a:off x="6016752" y="5861304"/>
            <a:ext cx="219456" cy="283464"/>
          </a:xfrm>
          <a:prstGeom prst="rect">
            <a:avLst/>
          </a:prstGeom>
          <a:noFill/>
        </p:spPr>
        <p:txBody>
          <a:bodyPr wrap="square" lIns="0" tIns="0" rIns="0" bIns="0">
            <a:spAutoFit/>
          </a:bodyPr>
          <a:lstStyle/>
          <a:p>
            <a:pPr>
              <a:spcAft>
                <a:spcPts val="300"/>
              </a:spcAft>
              <a:defRPr sz="1800" b="0">
                <a:solidFill>
                  <a:srgbClr val="63E6BE"/>
                </a:solidFill>
                <a:latin typeface="Aptos"/>
              </a:defRPr>
            </a:pPr>
            <a:r>
              <a:t>→</a:t>
            </a:r>
          </a:p>
        </p:txBody>
      </p:sp>
      <p:sp>
        <p:nvSpPr>
          <p:cNvPr id="27" name="reveal_06"/>
          <p:cNvSpPr/>
          <p:nvPr/>
        </p:nvSpPr>
        <p:spPr>
          <a:xfrm>
            <a:off x="6217920" y="5650992"/>
            <a:ext cx="262432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veal_06"/>
          <p:cNvSpPr txBox="1"/>
          <p:nvPr/>
        </p:nvSpPr>
        <p:spPr>
          <a:xfrm>
            <a:off x="6327648" y="5769864"/>
            <a:ext cx="2404872" cy="246888"/>
          </a:xfrm>
          <a:prstGeom prst="rect">
            <a:avLst/>
          </a:prstGeom>
          <a:noFill/>
        </p:spPr>
        <p:txBody>
          <a:bodyPr wrap="square" lIns="0" tIns="0" rIns="0" bIns="0">
            <a:spAutoFit/>
          </a:bodyPr>
          <a:lstStyle/>
          <a:p>
            <a:pPr algn="ctr">
              <a:spcAft>
                <a:spcPts val="300"/>
              </a:spcAft>
              <a:defRPr sz="1600" b="1">
                <a:solidFill>
                  <a:srgbClr val="63E6BE"/>
                </a:solidFill>
                <a:latin typeface="Aptos"/>
              </a:defRPr>
            </a:pPr>
            <a:r>
              <a:t>Approve</a:t>
            </a:r>
          </a:p>
        </p:txBody>
      </p:sp>
      <p:sp>
        <p:nvSpPr>
          <p:cNvPr id="29" name="reveal_06"/>
          <p:cNvSpPr txBox="1"/>
          <p:nvPr/>
        </p:nvSpPr>
        <p:spPr>
          <a:xfrm>
            <a:off x="6309359" y="6117336"/>
            <a:ext cx="244144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User + parent</a:t>
            </a:r>
          </a:p>
        </p:txBody>
      </p:sp>
      <p:sp>
        <p:nvSpPr>
          <p:cNvPr id="30" name="TextBox 29"/>
          <p:cNvSpPr txBox="1"/>
          <p:nvPr/>
        </p:nvSpPr>
        <p:spPr>
          <a:xfrm>
            <a:off x="8851392" y="5861304"/>
            <a:ext cx="219456" cy="283464"/>
          </a:xfrm>
          <a:prstGeom prst="rect">
            <a:avLst/>
          </a:prstGeom>
          <a:noFill/>
        </p:spPr>
        <p:txBody>
          <a:bodyPr wrap="square" lIns="0" tIns="0" rIns="0" bIns="0">
            <a:spAutoFit/>
          </a:bodyPr>
          <a:lstStyle/>
          <a:p>
            <a:pPr>
              <a:spcAft>
                <a:spcPts val="300"/>
              </a:spcAft>
              <a:defRPr sz="1800" b="0">
                <a:solidFill>
                  <a:srgbClr val="63E6BE"/>
                </a:solidFill>
                <a:latin typeface="Aptos"/>
              </a:defRPr>
            </a:pPr>
            <a:r>
              <a:t>→</a:t>
            </a:r>
          </a:p>
        </p:txBody>
      </p:sp>
      <p:sp>
        <p:nvSpPr>
          <p:cNvPr id="31" name="reveal_07"/>
          <p:cNvSpPr/>
          <p:nvPr/>
        </p:nvSpPr>
        <p:spPr>
          <a:xfrm>
            <a:off x="9052560" y="5650992"/>
            <a:ext cx="262432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veal_07"/>
          <p:cNvSpPr txBox="1"/>
          <p:nvPr/>
        </p:nvSpPr>
        <p:spPr>
          <a:xfrm>
            <a:off x="9162288" y="5769864"/>
            <a:ext cx="2404872" cy="246888"/>
          </a:xfrm>
          <a:prstGeom prst="rect">
            <a:avLst/>
          </a:prstGeom>
          <a:noFill/>
        </p:spPr>
        <p:txBody>
          <a:bodyPr wrap="square" lIns="0" tIns="0" rIns="0" bIns="0">
            <a:spAutoFit/>
          </a:bodyPr>
          <a:lstStyle/>
          <a:p>
            <a:pPr algn="ctr">
              <a:spcAft>
                <a:spcPts val="300"/>
              </a:spcAft>
              <a:defRPr sz="1600" b="1">
                <a:solidFill>
                  <a:srgbClr val="63E6BE"/>
                </a:solidFill>
                <a:latin typeface="Aptos"/>
              </a:defRPr>
            </a:pPr>
            <a:r>
              <a:t>Record</a:t>
            </a:r>
          </a:p>
        </p:txBody>
      </p:sp>
      <p:sp>
        <p:nvSpPr>
          <p:cNvPr id="33" name="reveal_07"/>
          <p:cNvSpPr txBox="1"/>
          <p:nvPr/>
        </p:nvSpPr>
        <p:spPr>
          <a:xfrm>
            <a:off x="9144000" y="6117336"/>
            <a:ext cx="244144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Receipt + ledger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childTnLst>
                          </p:cTn>
                        </p:par>
                        <p:par>
                          <p:cTn id="8" fill="hold">
                            <p:stCondLst>
                              <p:cond delay="600"/>
                            </p:stCondLst>
                            <p:childTnLst>
                              <p:par>
                                <p:cTn id="9" presetID="10" presetClass="entr" presetSubtype="0"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600"/>
                                        <p:tgtEl>
                                          <p:spTgt spid="14"/>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left)">
                                      <p:cBhvr>
                                        <p:cTn id="14" dur="600"/>
                                        <p:tgtEl>
                                          <p:spTgt spid="10"/>
                                        </p:tgtEl>
                                      </p:cBhvr>
                                    </p:animEffect>
                                  </p:childTnLst>
                                </p:cTn>
                              </p:par>
                            </p:childTnLst>
                          </p:cTn>
                        </p:par>
                        <p:par>
                          <p:cTn id="15" fill="hold">
                            <p:stCondLst>
                              <p:cond delay="1200"/>
                            </p:stCondLst>
                            <p:childTnLst>
                              <p:par>
                                <p:cTn id="16" presetID="10" presetClass="entr" presetSubtype="0" fill="hold" grpId="0" nodeType="after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600"/>
                                        <p:tgtEl>
                                          <p:spTgt spid="2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600"/>
                                        <p:tgtEl>
                                          <p:spTgt spid="2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600"/>
                                        <p:tgtEl>
                                          <p:spTgt spid="1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600"/>
                                        <p:tgtEl>
                                          <p:spTgt spid="16"/>
                                        </p:tgtEl>
                                      </p:cBhvr>
                                    </p:animEffect>
                                  </p:childTnLst>
                                </p:cTn>
                              </p:par>
                            </p:childTnLst>
                          </p:cTn>
                        </p:par>
                        <p:par>
                          <p:cTn id="28" fill="hold">
                            <p:stCondLst>
                              <p:cond delay="1800"/>
                            </p:stCondLst>
                            <p:childTnLst>
                              <p:par>
                                <p:cTn id="29" presetID="10" presetClass="entr" presetSubtype="0" fill="hold" grpId="0" nodeType="after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600"/>
                                        <p:tgtEl>
                                          <p:spTgt spid="2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600"/>
                                        <p:tgtEl>
                                          <p:spTgt spid="2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600"/>
                                        <p:tgtEl>
                                          <p:spTgt spid="1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600"/>
                                        <p:tgtEl>
                                          <p:spTgt spid="23"/>
                                        </p:tgtEl>
                                      </p:cBhvr>
                                    </p:animEffect>
                                  </p:childTnLst>
                                </p:cTn>
                              </p:par>
                            </p:childTnLst>
                          </p:cTn>
                        </p:par>
                        <p:par>
                          <p:cTn id="41" fill="hold">
                            <p:stCondLst>
                              <p:cond delay="2400"/>
                            </p:stCondLst>
                            <p:childTnLst>
                              <p:par>
                                <p:cTn id="42" presetID="10" presetClass="entr" presetSubtype="0" fill="hold" grpId="0" nodeType="afterEffect">
                                  <p:stCondLst>
                                    <p:cond delay="0"/>
                                  </p:stCondLst>
                                  <p:childTnLst>
                                    <p:set>
                                      <p:cBhvr>
                                        <p:cTn id="43" dur="1" fill="hold">
                                          <p:stCondLst>
                                            <p:cond delay="0"/>
                                          </p:stCondLst>
                                        </p:cTn>
                                        <p:tgtEl>
                                          <p:spTgt spid="29"/>
                                        </p:tgtEl>
                                        <p:attrNameLst>
                                          <p:attrName>style.visibility</p:attrName>
                                        </p:attrNameLst>
                                      </p:cBhvr>
                                      <p:to>
                                        <p:strVal val="visible"/>
                                      </p:to>
                                    </p:set>
                                    <p:animEffect transition="in" filter="fade">
                                      <p:cBhvr>
                                        <p:cTn id="44" dur="600"/>
                                        <p:tgtEl>
                                          <p:spTgt spid="2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fade">
                                      <p:cBhvr>
                                        <p:cTn id="47" dur="600"/>
                                        <p:tgtEl>
                                          <p:spTgt spid="2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7"/>
                                        </p:tgtEl>
                                        <p:attrNameLst>
                                          <p:attrName>style.visibility</p:attrName>
                                        </p:attrNameLst>
                                      </p:cBhvr>
                                      <p:to>
                                        <p:strVal val="visible"/>
                                      </p:to>
                                    </p:set>
                                    <p:animEffect transition="in" filter="fade">
                                      <p:cBhvr>
                                        <p:cTn id="50" dur="600"/>
                                        <p:tgtEl>
                                          <p:spTgt spid="27"/>
                                        </p:tgtEl>
                                      </p:cBhvr>
                                    </p:animEffect>
                                  </p:childTnLst>
                                </p:cTn>
                              </p:par>
                            </p:childTnLst>
                          </p:cTn>
                        </p:par>
                        <p:par>
                          <p:cTn id="51" fill="hold">
                            <p:stCondLst>
                              <p:cond delay="3000"/>
                            </p:stCondLst>
                            <p:childTnLst>
                              <p:par>
                                <p:cTn id="52" presetID="10" presetClass="entr" presetSubtype="0" fill="hold" grpId="0" nodeType="after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fade">
                                      <p:cBhvr>
                                        <p:cTn id="54" dur="600"/>
                                        <p:tgtEl>
                                          <p:spTgt spid="3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fade">
                                      <p:cBhvr>
                                        <p:cTn id="57" dur="600"/>
                                        <p:tgtEl>
                                          <p:spTgt spid="3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6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Graphic spid="10" grpId="0">
        <p:bldAsOne/>
      </p:bldGraphic>
      <p:bldP spid="14" grpId="0"/>
      <p:bldP spid="16" grpId="0"/>
      <p:bldP spid="18" grpId="0"/>
      <p:bldP spid="19" grpId="0" animBg="1"/>
      <p:bldP spid="20" grpId="0"/>
      <p:bldP spid="21" grpId="0"/>
      <p:bldP spid="23" grpId="0" animBg="1"/>
      <p:bldP spid="24" grpId="0"/>
      <p:bldP spid="25" grpId="0"/>
      <p:bldP spid="27" grpId="0" animBg="1"/>
      <p:bldP spid="28" grpId="0"/>
      <p:bldP spid="29" grpId="0"/>
      <p:bldP spid="31" grpId="0" animBg="1"/>
      <p:bldP spid="32" grpId="0"/>
      <p:bldP spid="33"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0058400" cy="228600"/>
          </a:xfrm>
          <a:prstGeom prst="rect">
            <a:avLst/>
          </a:prstGeom>
          <a:noFill/>
        </p:spPr>
        <p:txBody>
          <a:bodyPr wrap="square" lIns="0" tIns="0" rIns="0" bIns="0">
            <a:spAutoFit/>
          </a:bodyPr>
          <a:lstStyle/>
          <a:p>
            <a:pPr>
              <a:spcAft>
                <a:spcPts val="300"/>
              </a:spcAft>
              <a:defRPr sz="1000" b="1">
                <a:solidFill>
                  <a:srgbClr val="63E6BE"/>
                </a:solidFill>
                <a:latin typeface="Aptos"/>
              </a:defRPr>
            </a:pPr>
            <a:r>
              <a:t>OUR IMPLEMENTATION / AI FIRST</a:t>
            </a:r>
          </a:p>
        </p:txBody>
      </p:sp>
      <p:sp>
        <p:nvSpPr>
          <p:cNvPr id="3" name="reveal_01"/>
          <p:cNvSpPr txBox="1"/>
          <p:nvPr/>
        </p:nvSpPr>
        <p:spPr>
          <a:xfrm>
            <a:off x="502920" y="768096"/>
            <a:ext cx="11155680" cy="612648"/>
          </a:xfrm>
          <a:prstGeom prst="rect">
            <a:avLst/>
          </a:prstGeom>
          <a:noFill/>
        </p:spPr>
        <p:txBody>
          <a:bodyPr wrap="square" lIns="0" tIns="0" rIns="0" bIns="0">
            <a:spAutoFit/>
          </a:bodyPr>
          <a:lstStyle/>
          <a:p>
            <a:pPr>
              <a:spcAft>
                <a:spcPts val="300"/>
              </a:spcAft>
              <a:defRPr sz="3100" b="1">
                <a:solidFill>
                  <a:srgbClr val="EDF5FF"/>
                </a:solidFill>
                <a:latin typeface="Aptos"/>
              </a:defRPr>
            </a:pPr>
            <a:r>
              <a:t>The AI turns financial questions into reviewed actions.</a:t>
            </a:r>
          </a:p>
        </p:txBody>
      </p:sp>
      <p:sp>
        <p:nvSpPr>
          <p:cNvPr id="4" name="TextBox 3"/>
          <p:cNvSpPr txBox="1"/>
          <p:nvPr/>
        </p:nvSpPr>
        <p:spPr>
          <a:xfrm>
            <a:off x="521207" y="1389888"/>
            <a:ext cx="10972800" cy="411480"/>
          </a:xfrm>
          <a:prstGeom prst="rect">
            <a:avLst/>
          </a:prstGeom>
          <a:noFill/>
        </p:spPr>
        <p:txBody>
          <a:bodyPr wrap="square" lIns="0" tIns="0" rIns="0" bIns="0">
            <a:spAutoFit/>
          </a:bodyPr>
          <a:lstStyle/>
          <a:p>
            <a:pPr>
              <a:spcAft>
                <a:spcPts val="300"/>
              </a:spcAft>
              <a:defRPr sz="1300" b="0">
                <a:solidFill>
                  <a:srgbClr val="A2B4CA"/>
                </a:solidFill>
                <a:latin typeface="Aptos"/>
              </a:defRPr>
            </a:pPr>
            <a:r>
              <a:t>Application-owned tools ground the answer; confirmation and server checks control execution.</a:t>
            </a:r>
          </a:p>
        </p:txBody>
      </p:sp>
      <p:sp>
        <p:nvSpPr>
          <p:cNvPr id="5" name="TextBox 4"/>
          <p:cNvSpPr txBox="1"/>
          <p:nvPr/>
        </p:nvSpPr>
        <p:spPr>
          <a:xfrm>
            <a:off x="502920" y="6510528"/>
            <a:ext cx="3657600" cy="182880"/>
          </a:xfrm>
          <a:prstGeom prst="rect">
            <a:avLst/>
          </a:prstGeom>
          <a:noFill/>
        </p:spPr>
        <p:txBody>
          <a:bodyPr wrap="square" lIns="0" tIns="0" rIns="0" bIns="0">
            <a:spAutoFit/>
          </a:bodyPr>
          <a:lstStyle/>
          <a:p>
            <a:pPr>
              <a:spcAft>
                <a:spcPts val="300"/>
              </a:spcAft>
              <a:defRPr sz="900" b="0">
                <a:solidFill>
                  <a:srgbClr val="A2B4CA"/>
                </a:solidFill>
                <a:latin typeface="Aptos"/>
              </a:defRPr>
            </a:pPr>
            <a:r>
              <a:t>FINBRIDGE AI</a:t>
            </a:r>
          </a:p>
        </p:txBody>
      </p:sp>
      <p:sp>
        <p:nvSpPr>
          <p:cNvPr id="6" name="TextBox 5"/>
          <p:cNvSpPr txBox="1"/>
          <p:nvPr/>
        </p:nvSpPr>
        <p:spPr>
          <a:xfrm>
            <a:off x="10607040" y="6473952"/>
            <a:ext cx="1078992" cy="228600"/>
          </a:xfrm>
          <a:prstGeom prst="rect">
            <a:avLst/>
          </a:prstGeom>
          <a:noFill/>
        </p:spPr>
        <p:txBody>
          <a:bodyPr wrap="square" lIns="0" tIns="0" rIns="0" bIns="0">
            <a:spAutoFit/>
          </a:bodyPr>
          <a:lstStyle/>
          <a:p>
            <a:pPr algn="r">
              <a:spcAft>
                <a:spcPts val="300"/>
              </a:spcAft>
              <a:defRPr sz="1000" b="0">
                <a:solidFill>
                  <a:srgbClr val="A2B4CA"/>
                </a:solidFill>
                <a:latin typeface="Aptos"/>
              </a:defRPr>
            </a:pPr>
            <a:r>
              <a:t>05 / 10</a:t>
            </a:r>
          </a:p>
        </p:txBody>
      </p:sp>
      <p:pic>
        <p:nvPicPr>
          <p:cNvPr id="7" name="reveal_02" descr="ai.gif"/>
          <p:cNvPicPr>
            <a:picLocks noChangeAspect="1"/>
          </p:cNvPicPr>
          <p:nvPr/>
        </p:nvPicPr>
        <p:blipFill>
          <a:blip r:embed="rId3"/>
          <a:stretch>
            <a:fillRect/>
          </a:stretch>
        </p:blipFill>
        <p:spPr>
          <a:xfrm>
            <a:off x="502920" y="1920240"/>
            <a:ext cx="5998464" cy="3547872"/>
          </a:xfrm>
          <a:prstGeom prst="rect">
            <a:avLst/>
          </a:prstGeom>
        </p:spPr>
      </p:pic>
      <p:sp>
        <p:nvSpPr>
          <p:cNvPr id="8" name="Rounded Rectangle 7"/>
          <p:cNvSpPr/>
          <p:nvPr/>
        </p:nvSpPr>
        <p:spPr>
          <a:xfrm>
            <a:off x="6729984" y="1920240"/>
            <a:ext cx="4956048" cy="3547872"/>
          </a:xfrm>
          <a:prstGeom prst="roundRect">
            <a:avLst>
              <a:gd name="adj" fmla="val 10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958584" y="2148840"/>
            <a:ext cx="4480560" cy="256032"/>
          </a:xfrm>
          <a:prstGeom prst="rect">
            <a:avLst/>
          </a:prstGeom>
          <a:noFill/>
        </p:spPr>
        <p:txBody>
          <a:bodyPr wrap="square" lIns="0" tIns="0" rIns="0" bIns="0">
            <a:spAutoFit/>
          </a:bodyPr>
          <a:lstStyle/>
          <a:p>
            <a:pPr>
              <a:spcAft>
                <a:spcPts val="300"/>
              </a:spcAft>
              <a:defRPr sz="1200" b="1">
                <a:solidFill>
                  <a:srgbClr val="63E6BE"/>
                </a:solidFill>
                <a:latin typeface="Aptos"/>
              </a:defRPr>
            </a:pPr>
            <a:r>
              <a:t>APPLICATION TOOL GRAPH</a:t>
            </a:r>
          </a:p>
        </p:txBody>
      </p:sp>
      <p:sp>
        <p:nvSpPr>
          <p:cNvPr id="10" name="Oval 9"/>
          <p:cNvSpPr/>
          <p:nvPr/>
        </p:nvSpPr>
        <p:spPr>
          <a:xfrm>
            <a:off x="6995160" y="2743200"/>
            <a:ext cx="128016" cy="128016"/>
          </a:xfrm>
          <a:prstGeom prst="ellipse">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veal_03"/>
          <p:cNvSpPr txBox="1"/>
          <p:nvPr/>
        </p:nvSpPr>
        <p:spPr>
          <a:xfrm>
            <a:off x="7260336" y="2688336"/>
            <a:ext cx="4133087" cy="274320"/>
          </a:xfrm>
          <a:prstGeom prst="rect">
            <a:avLst/>
          </a:prstGeom>
          <a:noFill/>
        </p:spPr>
        <p:txBody>
          <a:bodyPr wrap="square" lIns="0" tIns="0" rIns="0" bIns="0">
            <a:spAutoFit/>
          </a:bodyPr>
          <a:lstStyle/>
          <a:p>
            <a:pPr>
              <a:spcAft>
                <a:spcPts val="300"/>
              </a:spcAft>
              <a:defRPr sz="1350" b="1">
                <a:solidFill>
                  <a:srgbClr val="EDF5FF"/>
                </a:solidFill>
                <a:latin typeface="Aptos"/>
              </a:defRPr>
            </a:pPr>
            <a:r>
              <a:t>getAccounts + getWorkspaceData</a:t>
            </a:r>
          </a:p>
        </p:txBody>
      </p:sp>
      <p:sp>
        <p:nvSpPr>
          <p:cNvPr id="12" name="reveal_03"/>
          <p:cNvSpPr txBox="1"/>
          <p:nvPr/>
        </p:nvSpPr>
        <p:spPr>
          <a:xfrm>
            <a:off x="7260336" y="3026664"/>
            <a:ext cx="4133087" cy="228600"/>
          </a:xfrm>
          <a:prstGeom prst="rect">
            <a:avLst/>
          </a:prstGeom>
          <a:noFill/>
        </p:spPr>
        <p:txBody>
          <a:bodyPr wrap="square" lIns="0" tIns="0" rIns="0" bIns="0">
            <a:spAutoFit/>
          </a:bodyPr>
          <a:lstStyle/>
          <a:p>
            <a:pPr>
              <a:spcAft>
                <a:spcPts val="300"/>
              </a:spcAft>
              <a:defRPr sz="1100" b="0">
                <a:solidFill>
                  <a:srgbClr val="A2B4CA"/>
                </a:solidFill>
                <a:latin typeface="Aptos"/>
              </a:defRPr>
            </a:pPr>
            <a:r>
              <a:t>Balances, invoice and spending</a:t>
            </a:r>
          </a:p>
        </p:txBody>
      </p:sp>
      <p:sp>
        <p:nvSpPr>
          <p:cNvPr id="13" name="Oval 12"/>
          <p:cNvSpPr/>
          <p:nvPr/>
        </p:nvSpPr>
        <p:spPr>
          <a:xfrm>
            <a:off x="6995160" y="3529584"/>
            <a:ext cx="128016" cy="128016"/>
          </a:xfrm>
          <a:prstGeom prst="ellipse">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veal_04"/>
          <p:cNvSpPr txBox="1"/>
          <p:nvPr/>
        </p:nvSpPr>
        <p:spPr>
          <a:xfrm>
            <a:off x="7260336" y="3474720"/>
            <a:ext cx="4133087" cy="274320"/>
          </a:xfrm>
          <a:prstGeom prst="rect">
            <a:avLst/>
          </a:prstGeom>
          <a:noFill/>
        </p:spPr>
        <p:txBody>
          <a:bodyPr wrap="square" lIns="0" tIns="0" rIns="0" bIns="0">
            <a:spAutoFit/>
          </a:bodyPr>
          <a:lstStyle/>
          <a:p>
            <a:pPr>
              <a:spcAft>
                <a:spcPts val="300"/>
              </a:spcAft>
              <a:defRPr sz="1350" b="1">
                <a:solidFill>
                  <a:srgbClr val="EDF5FF"/>
                </a:solidFill>
                <a:latin typeface="Aptos"/>
              </a:defRPr>
            </a:pPr>
            <a:r>
              <a:t>calculateTuitionGap</a:t>
            </a:r>
          </a:p>
        </p:txBody>
      </p:sp>
      <p:sp>
        <p:nvSpPr>
          <p:cNvPr id="15" name="reveal_04"/>
          <p:cNvSpPr txBox="1"/>
          <p:nvPr/>
        </p:nvSpPr>
        <p:spPr>
          <a:xfrm>
            <a:off x="7260336" y="3813048"/>
            <a:ext cx="4133087" cy="228600"/>
          </a:xfrm>
          <a:prstGeom prst="rect">
            <a:avLst/>
          </a:prstGeom>
          <a:noFill/>
        </p:spPr>
        <p:txBody>
          <a:bodyPr wrap="square" lIns="0" tIns="0" rIns="0" bIns="0">
            <a:spAutoFit/>
          </a:bodyPr>
          <a:lstStyle/>
          <a:p>
            <a:pPr>
              <a:spcAft>
                <a:spcPts val="300"/>
              </a:spcAft>
              <a:defRPr sz="1100" b="0">
                <a:solidFill>
                  <a:srgbClr val="A2B4CA"/>
                </a:solidFill>
                <a:latin typeface="Aptos"/>
              </a:defRPr>
            </a:pPr>
            <a:r>
              <a:t>CNY 6,750 gap → CNY 3,375 / month</a:t>
            </a:r>
          </a:p>
        </p:txBody>
      </p:sp>
      <p:sp>
        <p:nvSpPr>
          <p:cNvPr id="16" name="Oval 15"/>
          <p:cNvSpPr/>
          <p:nvPr/>
        </p:nvSpPr>
        <p:spPr>
          <a:xfrm>
            <a:off x="6995160" y="4315968"/>
            <a:ext cx="128016" cy="128016"/>
          </a:xfrm>
          <a:prstGeom prst="ellipse">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veal_05"/>
          <p:cNvSpPr txBox="1"/>
          <p:nvPr/>
        </p:nvSpPr>
        <p:spPr>
          <a:xfrm>
            <a:off x="7260336" y="4261104"/>
            <a:ext cx="4133087" cy="274320"/>
          </a:xfrm>
          <a:prstGeom prst="rect">
            <a:avLst/>
          </a:prstGeom>
          <a:noFill/>
        </p:spPr>
        <p:txBody>
          <a:bodyPr wrap="square" lIns="0" tIns="0" rIns="0" bIns="0">
            <a:spAutoFit/>
          </a:bodyPr>
          <a:lstStyle/>
          <a:p>
            <a:pPr>
              <a:spcAft>
                <a:spcPts val="300"/>
              </a:spcAft>
              <a:defRPr sz="1350" b="1">
                <a:solidFill>
                  <a:srgbClr val="EDF5FF"/>
                </a:solidFill>
                <a:latin typeface="Aptos"/>
              </a:defRPr>
            </a:pPr>
            <a:r>
              <a:t>requestAction → confirmAgentAction</a:t>
            </a:r>
          </a:p>
        </p:txBody>
      </p:sp>
      <p:sp>
        <p:nvSpPr>
          <p:cNvPr id="18" name="reveal_05"/>
          <p:cNvSpPr txBox="1"/>
          <p:nvPr/>
        </p:nvSpPr>
        <p:spPr>
          <a:xfrm>
            <a:off x="7260336" y="4599432"/>
            <a:ext cx="4133087" cy="228600"/>
          </a:xfrm>
          <a:prstGeom prst="rect">
            <a:avLst/>
          </a:prstGeom>
          <a:noFill/>
        </p:spPr>
        <p:txBody>
          <a:bodyPr wrap="square" lIns="0" tIns="0" rIns="0" bIns="0">
            <a:spAutoFit/>
          </a:bodyPr>
          <a:lstStyle/>
          <a:p>
            <a:pPr>
              <a:spcAft>
                <a:spcPts val="300"/>
              </a:spcAft>
              <a:defRPr sz="1100" b="0">
                <a:solidFill>
                  <a:srgbClr val="A2B4CA"/>
                </a:solidFill>
                <a:latin typeface="Aptos"/>
              </a:defRPr>
            </a:pPr>
            <a:r>
              <a:t>Structured proposal → explicit review</a:t>
            </a:r>
          </a:p>
        </p:txBody>
      </p:sp>
      <p:sp>
        <p:nvSpPr>
          <p:cNvPr id="19" name="TextBox 18"/>
          <p:cNvSpPr txBox="1"/>
          <p:nvPr/>
        </p:nvSpPr>
        <p:spPr>
          <a:xfrm>
            <a:off x="6986016" y="5129784"/>
            <a:ext cx="4443984" cy="228600"/>
          </a:xfrm>
          <a:prstGeom prst="rect">
            <a:avLst/>
          </a:prstGeom>
          <a:noFill/>
        </p:spPr>
        <p:txBody>
          <a:bodyPr wrap="square" lIns="0" tIns="0" rIns="0" bIns="0">
            <a:spAutoFit/>
          </a:bodyPr>
          <a:lstStyle/>
          <a:p>
            <a:pPr>
              <a:spcAft>
                <a:spcPts val="300"/>
              </a:spcAft>
              <a:defRPr sz="1100" b="1">
                <a:solidFill>
                  <a:srgbClr val="63E6BE"/>
                </a:solidFill>
                <a:latin typeface="Aptos"/>
              </a:defRPr>
            </a:pPr>
            <a:r>
              <a:t>Gemini  ·  OpenAI  ·  deterministic mock</a:t>
            </a:r>
          </a:p>
        </p:txBody>
      </p:sp>
      <p:sp>
        <p:nvSpPr>
          <p:cNvPr id="20" name="reveal_04"/>
          <p:cNvSpPr/>
          <p:nvPr/>
        </p:nvSpPr>
        <p:spPr>
          <a:xfrm>
            <a:off x="548640" y="5605272"/>
            <a:ext cx="262432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veal_04"/>
          <p:cNvSpPr txBox="1"/>
          <p:nvPr/>
        </p:nvSpPr>
        <p:spPr>
          <a:xfrm>
            <a:off x="658368" y="5724144"/>
            <a:ext cx="2404872" cy="246888"/>
          </a:xfrm>
          <a:prstGeom prst="rect">
            <a:avLst/>
          </a:prstGeom>
          <a:noFill/>
        </p:spPr>
        <p:txBody>
          <a:bodyPr wrap="square" lIns="0" tIns="0" rIns="0" bIns="0">
            <a:spAutoFit/>
          </a:bodyPr>
          <a:lstStyle/>
          <a:p>
            <a:pPr algn="ctr">
              <a:spcAft>
                <a:spcPts val="300"/>
              </a:spcAft>
              <a:defRPr sz="1600" b="1">
                <a:solidFill>
                  <a:srgbClr val="6BB9FF"/>
                </a:solidFill>
                <a:latin typeface="Aptos"/>
              </a:defRPr>
            </a:pPr>
            <a:r>
              <a:t>React / Next.js</a:t>
            </a:r>
          </a:p>
        </p:txBody>
      </p:sp>
      <p:sp>
        <p:nvSpPr>
          <p:cNvPr id="22" name="reveal_04"/>
          <p:cNvSpPr txBox="1"/>
          <p:nvPr/>
        </p:nvSpPr>
        <p:spPr>
          <a:xfrm>
            <a:off x="640080" y="6071616"/>
            <a:ext cx="244144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User workspace</a:t>
            </a:r>
          </a:p>
        </p:txBody>
      </p:sp>
      <p:sp>
        <p:nvSpPr>
          <p:cNvPr id="23" name="TextBox 22"/>
          <p:cNvSpPr txBox="1"/>
          <p:nvPr/>
        </p:nvSpPr>
        <p:spPr>
          <a:xfrm>
            <a:off x="3191256" y="5824728"/>
            <a:ext cx="210312" cy="292608"/>
          </a:xfrm>
          <a:prstGeom prst="rect">
            <a:avLst/>
          </a:prstGeom>
          <a:noFill/>
        </p:spPr>
        <p:txBody>
          <a:bodyPr wrap="square" lIns="0" tIns="0" rIns="0" bIns="0">
            <a:spAutoFit/>
          </a:bodyPr>
          <a:lstStyle/>
          <a:p>
            <a:pPr>
              <a:spcAft>
                <a:spcPts val="300"/>
              </a:spcAft>
              <a:defRPr sz="1700" b="0">
                <a:solidFill>
                  <a:srgbClr val="63E6BE"/>
                </a:solidFill>
                <a:latin typeface="Aptos"/>
              </a:defRPr>
            </a:pPr>
            <a:r>
              <a:t>→</a:t>
            </a:r>
          </a:p>
        </p:txBody>
      </p:sp>
      <p:sp>
        <p:nvSpPr>
          <p:cNvPr id="24" name="reveal_05"/>
          <p:cNvSpPr/>
          <p:nvPr/>
        </p:nvSpPr>
        <p:spPr>
          <a:xfrm>
            <a:off x="3383280" y="5605272"/>
            <a:ext cx="262432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veal_05"/>
          <p:cNvSpPr txBox="1"/>
          <p:nvPr/>
        </p:nvSpPr>
        <p:spPr>
          <a:xfrm>
            <a:off x="3493008" y="5724144"/>
            <a:ext cx="2404872" cy="246888"/>
          </a:xfrm>
          <a:prstGeom prst="rect">
            <a:avLst/>
          </a:prstGeom>
          <a:noFill/>
        </p:spPr>
        <p:txBody>
          <a:bodyPr wrap="square" lIns="0" tIns="0" rIns="0" bIns="0">
            <a:spAutoFit/>
          </a:bodyPr>
          <a:lstStyle/>
          <a:p>
            <a:pPr algn="ctr">
              <a:spcAft>
                <a:spcPts val="300"/>
              </a:spcAft>
              <a:defRPr sz="1600" b="1">
                <a:solidFill>
                  <a:srgbClr val="B4A3FF"/>
                </a:solidFill>
                <a:latin typeface="Aptos"/>
              </a:defRPr>
            </a:pPr>
            <a:r>
              <a:t>AI + Zod</a:t>
            </a:r>
          </a:p>
        </p:txBody>
      </p:sp>
      <p:sp>
        <p:nvSpPr>
          <p:cNvPr id="26" name="reveal_05"/>
          <p:cNvSpPr txBox="1"/>
          <p:nvPr/>
        </p:nvSpPr>
        <p:spPr>
          <a:xfrm>
            <a:off x="3474720" y="6071616"/>
            <a:ext cx="244144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Validated tools</a:t>
            </a:r>
          </a:p>
        </p:txBody>
      </p:sp>
      <p:sp>
        <p:nvSpPr>
          <p:cNvPr id="27" name="TextBox 26"/>
          <p:cNvSpPr txBox="1"/>
          <p:nvPr/>
        </p:nvSpPr>
        <p:spPr>
          <a:xfrm>
            <a:off x="6025896" y="5824728"/>
            <a:ext cx="210312" cy="292608"/>
          </a:xfrm>
          <a:prstGeom prst="rect">
            <a:avLst/>
          </a:prstGeom>
          <a:noFill/>
        </p:spPr>
        <p:txBody>
          <a:bodyPr wrap="square" lIns="0" tIns="0" rIns="0" bIns="0">
            <a:spAutoFit/>
          </a:bodyPr>
          <a:lstStyle/>
          <a:p>
            <a:pPr>
              <a:spcAft>
                <a:spcPts val="300"/>
              </a:spcAft>
              <a:defRPr sz="1700" b="0">
                <a:solidFill>
                  <a:srgbClr val="63E6BE"/>
                </a:solidFill>
                <a:latin typeface="Aptos"/>
              </a:defRPr>
            </a:pPr>
            <a:r>
              <a:t>→</a:t>
            </a:r>
          </a:p>
        </p:txBody>
      </p:sp>
      <p:sp>
        <p:nvSpPr>
          <p:cNvPr id="28" name="reveal_06"/>
          <p:cNvSpPr/>
          <p:nvPr/>
        </p:nvSpPr>
        <p:spPr>
          <a:xfrm>
            <a:off x="6217920" y="5605272"/>
            <a:ext cx="262432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veal_06"/>
          <p:cNvSpPr txBox="1"/>
          <p:nvPr/>
        </p:nvSpPr>
        <p:spPr>
          <a:xfrm>
            <a:off x="6327648" y="5724144"/>
            <a:ext cx="2404872" cy="246888"/>
          </a:xfrm>
          <a:prstGeom prst="rect">
            <a:avLst/>
          </a:prstGeom>
          <a:noFill/>
        </p:spPr>
        <p:txBody>
          <a:bodyPr wrap="square" lIns="0" tIns="0" rIns="0" bIns="0">
            <a:spAutoFit/>
          </a:bodyPr>
          <a:lstStyle/>
          <a:p>
            <a:pPr algn="ctr">
              <a:spcAft>
                <a:spcPts val="300"/>
              </a:spcAft>
              <a:defRPr sz="1600" b="1">
                <a:solidFill>
                  <a:srgbClr val="F3C969"/>
                </a:solidFill>
                <a:latin typeface="Aptos"/>
              </a:defRPr>
            </a:pPr>
            <a:r>
              <a:t>Server Actions</a:t>
            </a:r>
          </a:p>
        </p:txBody>
      </p:sp>
      <p:sp>
        <p:nvSpPr>
          <p:cNvPr id="30" name="reveal_06"/>
          <p:cNvSpPr txBox="1"/>
          <p:nvPr/>
        </p:nvSpPr>
        <p:spPr>
          <a:xfrm>
            <a:off x="6309359" y="6071616"/>
            <a:ext cx="244144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Auth / role / risk</a:t>
            </a:r>
          </a:p>
        </p:txBody>
      </p:sp>
      <p:sp>
        <p:nvSpPr>
          <p:cNvPr id="31" name="TextBox 30"/>
          <p:cNvSpPr txBox="1"/>
          <p:nvPr/>
        </p:nvSpPr>
        <p:spPr>
          <a:xfrm>
            <a:off x="8860536" y="5824728"/>
            <a:ext cx="210312" cy="292608"/>
          </a:xfrm>
          <a:prstGeom prst="rect">
            <a:avLst/>
          </a:prstGeom>
          <a:noFill/>
        </p:spPr>
        <p:txBody>
          <a:bodyPr wrap="square" lIns="0" tIns="0" rIns="0" bIns="0">
            <a:spAutoFit/>
          </a:bodyPr>
          <a:lstStyle/>
          <a:p>
            <a:pPr>
              <a:spcAft>
                <a:spcPts val="300"/>
              </a:spcAft>
              <a:defRPr sz="1700" b="0">
                <a:solidFill>
                  <a:srgbClr val="63E6BE"/>
                </a:solidFill>
                <a:latin typeface="Aptos"/>
              </a:defRPr>
            </a:pPr>
            <a:r>
              <a:t>→</a:t>
            </a:r>
          </a:p>
        </p:txBody>
      </p:sp>
      <p:sp>
        <p:nvSpPr>
          <p:cNvPr id="32" name="reveal_07"/>
          <p:cNvSpPr/>
          <p:nvPr/>
        </p:nvSpPr>
        <p:spPr>
          <a:xfrm>
            <a:off x="9052560" y="5605272"/>
            <a:ext cx="262432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veal_07"/>
          <p:cNvSpPr txBox="1"/>
          <p:nvPr/>
        </p:nvSpPr>
        <p:spPr>
          <a:xfrm>
            <a:off x="9162288" y="5724144"/>
            <a:ext cx="2404872" cy="246888"/>
          </a:xfrm>
          <a:prstGeom prst="rect">
            <a:avLst/>
          </a:prstGeom>
          <a:noFill/>
        </p:spPr>
        <p:txBody>
          <a:bodyPr wrap="square" lIns="0" tIns="0" rIns="0" bIns="0">
            <a:spAutoFit/>
          </a:bodyPr>
          <a:lstStyle/>
          <a:p>
            <a:pPr algn="ctr">
              <a:spcAft>
                <a:spcPts val="300"/>
              </a:spcAft>
              <a:defRPr sz="1600" b="1">
                <a:solidFill>
                  <a:srgbClr val="63E6BE"/>
                </a:solidFill>
                <a:latin typeface="Aptos"/>
              </a:defRPr>
            </a:pPr>
            <a:r>
              <a:t>MySQL ledger</a:t>
            </a:r>
          </a:p>
        </p:txBody>
      </p:sp>
      <p:sp>
        <p:nvSpPr>
          <p:cNvPr id="34" name="reveal_07"/>
          <p:cNvSpPr txBox="1"/>
          <p:nvPr/>
        </p:nvSpPr>
        <p:spPr>
          <a:xfrm>
            <a:off x="9144000" y="6071616"/>
            <a:ext cx="244144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Locks / idempotency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childTnLst>
                          </p:cTn>
                        </p:par>
                        <p:par>
                          <p:cTn id="8" fill="hold">
                            <p:stCondLst>
                              <p:cond delay="600"/>
                            </p:stCondLst>
                            <p:childTnLst>
                              <p:par>
                                <p:cTn id="9" presetID="10"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600"/>
                                        <p:tgtEl>
                                          <p:spTgt spid="7"/>
                                        </p:tgtEl>
                                      </p:cBhvr>
                                    </p:animEffect>
                                  </p:childTnLst>
                                </p:cTn>
                              </p:par>
                            </p:childTnLst>
                          </p:cTn>
                        </p:par>
                        <p:par>
                          <p:cTn id="12" fill="hold">
                            <p:stCondLst>
                              <p:cond delay="1200"/>
                            </p:stCondLst>
                            <p:childTnLst>
                              <p:par>
                                <p:cTn id="13" presetID="10" presetClass="entr" presetSubtype="0"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600"/>
                                        <p:tgtEl>
                                          <p:spTgt spid="1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600"/>
                                        <p:tgtEl>
                                          <p:spTgt spid="11"/>
                                        </p:tgtEl>
                                      </p:cBhvr>
                                    </p:animEffect>
                                  </p:childTnLst>
                                </p:cTn>
                              </p:par>
                            </p:childTnLst>
                          </p:cTn>
                        </p:par>
                        <p:par>
                          <p:cTn id="19" fill="hold">
                            <p:stCondLst>
                              <p:cond delay="1800"/>
                            </p:stCondLst>
                            <p:childTnLst>
                              <p:par>
                                <p:cTn id="20" presetID="10" presetClass="entr" presetSubtype="0" fill="hold" grpId="0" nodeType="after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6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6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6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6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600"/>
                                        <p:tgtEl>
                                          <p:spTgt spid="14"/>
                                        </p:tgtEl>
                                      </p:cBhvr>
                                    </p:animEffect>
                                  </p:childTnLst>
                                </p:cTn>
                              </p:par>
                            </p:childTnLst>
                          </p:cTn>
                        </p:par>
                        <p:par>
                          <p:cTn id="35" fill="hold">
                            <p:stCondLst>
                              <p:cond delay="2400"/>
                            </p:stCondLst>
                            <p:childTnLst>
                              <p:par>
                                <p:cTn id="36" presetID="10" presetClass="entr" presetSubtype="0" fill="hold" grpId="0" nodeType="after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fade">
                                      <p:cBhvr>
                                        <p:cTn id="38" dur="600"/>
                                        <p:tgtEl>
                                          <p:spTgt spid="2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600"/>
                                        <p:tgtEl>
                                          <p:spTgt spid="2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fade">
                                      <p:cBhvr>
                                        <p:cTn id="44" dur="600"/>
                                        <p:tgtEl>
                                          <p:spTgt spid="2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60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600"/>
                                        <p:tgtEl>
                                          <p:spTgt spid="17"/>
                                        </p:tgtEl>
                                      </p:cBhvr>
                                    </p:animEffect>
                                  </p:childTnLst>
                                </p:cTn>
                              </p:par>
                            </p:childTnLst>
                          </p:cTn>
                        </p:par>
                        <p:par>
                          <p:cTn id="51" fill="hold">
                            <p:stCondLst>
                              <p:cond delay="3000"/>
                            </p:stCondLst>
                            <p:childTnLst>
                              <p:par>
                                <p:cTn id="52" presetID="10" presetClass="entr" presetSubtype="0" fill="hold" grpId="0" nodeType="afterEffect">
                                  <p:stCondLst>
                                    <p:cond delay="0"/>
                                  </p:stCondLst>
                                  <p:childTnLst>
                                    <p:set>
                                      <p:cBhvr>
                                        <p:cTn id="53" dur="1" fill="hold">
                                          <p:stCondLst>
                                            <p:cond delay="0"/>
                                          </p:stCondLst>
                                        </p:cTn>
                                        <p:tgtEl>
                                          <p:spTgt spid="30"/>
                                        </p:tgtEl>
                                        <p:attrNameLst>
                                          <p:attrName>style.visibility</p:attrName>
                                        </p:attrNameLst>
                                      </p:cBhvr>
                                      <p:to>
                                        <p:strVal val="visible"/>
                                      </p:to>
                                    </p:set>
                                    <p:animEffect transition="in" filter="fade">
                                      <p:cBhvr>
                                        <p:cTn id="54" dur="600"/>
                                        <p:tgtEl>
                                          <p:spTgt spid="3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fade">
                                      <p:cBhvr>
                                        <p:cTn id="57" dur="600"/>
                                        <p:tgtEl>
                                          <p:spTgt spid="2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8"/>
                                        </p:tgtEl>
                                        <p:attrNameLst>
                                          <p:attrName>style.visibility</p:attrName>
                                        </p:attrNameLst>
                                      </p:cBhvr>
                                      <p:to>
                                        <p:strVal val="visible"/>
                                      </p:to>
                                    </p:set>
                                    <p:animEffect transition="in" filter="fade">
                                      <p:cBhvr>
                                        <p:cTn id="60" dur="600"/>
                                        <p:tgtEl>
                                          <p:spTgt spid="28"/>
                                        </p:tgtEl>
                                      </p:cBhvr>
                                    </p:animEffect>
                                  </p:childTnLst>
                                </p:cTn>
                              </p:par>
                            </p:childTnLst>
                          </p:cTn>
                        </p:par>
                        <p:par>
                          <p:cTn id="61" fill="hold">
                            <p:stCondLst>
                              <p:cond delay="3600"/>
                            </p:stCondLst>
                            <p:childTnLst>
                              <p:par>
                                <p:cTn id="62" presetID="10" presetClass="entr" presetSubtype="0" fill="hold" grpId="0" nodeType="afterEffect">
                                  <p:stCondLst>
                                    <p:cond delay="0"/>
                                  </p:stCondLst>
                                  <p:childTnLst>
                                    <p:set>
                                      <p:cBhvr>
                                        <p:cTn id="63" dur="1" fill="hold">
                                          <p:stCondLst>
                                            <p:cond delay="0"/>
                                          </p:stCondLst>
                                        </p:cTn>
                                        <p:tgtEl>
                                          <p:spTgt spid="34"/>
                                        </p:tgtEl>
                                        <p:attrNameLst>
                                          <p:attrName>style.visibility</p:attrName>
                                        </p:attrNameLst>
                                      </p:cBhvr>
                                      <p:to>
                                        <p:strVal val="visible"/>
                                      </p:to>
                                    </p:set>
                                    <p:animEffect transition="in" filter="fade">
                                      <p:cBhvr>
                                        <p:cTn id="64" dur="600"/>
                                        <p:tgtEl>
                                          <p:spTgt spid="3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fade">
                                      <p:cBhvr>
                                        <p:cTn id="67" dur="600"/>
                                        <p:tgtEl>
                                          <p:spTgt spid="3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2"/>
                                        </p:tgtEl>
                                        <p:attrNameLst>
                                          <p:attrName>style.visibility</p:attrName>
                                        </p:attrNameLst>
                                      </p:cBhvr>
                                      <p:to>
                                        <p:strVal val="visible"/>
                                      </p:to>
                                    </p:set>
                                    <p:animEffect transition="in" filter="fade">
                                      <p:cBhvr>
                                        <p:cTn id="70" dur="6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p:bldP spid="12" grpId="0"/>
      <p:bldP spid="14" grpId="0"/>
      <p:bldP spid="15" grpId="0"/>
      <p:bldP spid="17" grpId="0"/>
      <p:bldP spid="18" grpId="0"/>
      <p:bldP spid="20" grpId="0" animBg="1"/>
      <p:bldP spid="21" grpId="0"/>
      <p:bldP spid="22" grpId="0"/>
      <p:bldP spid="24" grpId="0" animBg="1"/>
      <p:bldP spid="25" grpId="0"/>
      <p:bldP spid="26" grpId="0"/>
      <p:bldP spid="28" grpId="0" animBg="1"/>
      <p:bldP spid="29" grpId="0"/>
      <p:bldP spid="30" grpId="0"/>
      <p:bldP spid="32" grpId="0" animBg="1"/>
      <p:bldP spid="33" grpId="0"/>
      <p:bldP spid="3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0058400" cy="228600"/>
          </a:xfrm>
          <a:prstGeom prst="rect">
            <a:avLst/>
          </a:prstGeom>
          <a:noFill/>
        </p:spPr>
        <p:txBody>
          <a:bodyPr wrap="square" lIns="0" tIns="0" rIns="0" bIns="0">
            <a:spAutoFit/>
          </a:bodyPr>
          <a:lstStyle/>
          <a:p>
            <a:pPr>
              <a:spcAft>
                <a:spcPts val="300"/>
              </a:spcAft>
              <a:defRPr sz="1000" b="1">
                <a:solidFill>
                  <a:srgbClr val="63E6BE"/>
                </a:solidFill>
                <a:latin typeface="Aptos"/>
              </a:defRPr>
            </a:pPr>
            <a:r>
              <a:t>FEATURES / STUDENT</a:t>
            </a:r>
          </a:p>
        </p:txBody>
      </p:sp>
      <p:sp>
        <p:nvSpPr>
          <p:cNvPr id="3" name="reveal_01"/>
          <p:cNvSpPr txBox="1"/>
          <p:nvPr/>
        </p:nvSpPr>
        <p:spPr>
          <a:xfrm>
            <a:off x="502920" y="768096"/>
            <a:ext cx="11155680" cy="612648"/>
          </a:xfrm>
          <a:prstGeom prst="rect">
            <a:avLst/>
          </a:prstGeom>
          <a:noFill/>
        </p:spPr>
        <p:txBody>
          <a:bodyPr wrap="square" lIns="0" tIns="0" rIns="0" bIns="0">
            <a:spAutoFit/>
          </a:bodyPr>
          <a:lstStyle/>
          <a:p>
            <a:pPr>
              <a:spcAft>
                <a:spcPts val="300"/>
              </a:spcAft>
              <a:defRPr sz="3100" b="1">
                <a:solidFill>
                  <a:srgbClr val="EDF5FF"/>
                </a:solidFill>
                <a:latin typeface="Aptos"/>
              </a:defRPr>
            </a:pPr>
            <a:r>
              <a:t>Student features</a:t>
            </a:r>
          </a:p>
        </p:txBody>
      </p:sp>
      <p:sp>
        <p:nvSpPr>
          <p:cNvPr id="4" name="TextBox 3"/>
          <p:cNvSpPr txBox="1"/>
          <p:nvPr/>
        </p:nvSpPr>
        <p:spPr>
          <a:xfrm>
            <a:off x="521207" y="1389888"/>
            <a:ext cx="10972800" cy="411480"/>
          </a:xfrm>
          <a:prstGeom prst="rect">
            <a:avLst/>
          </a:prstGeom>
          <a:noFill/>
        </p:spPr>
        <p:txBody>
          <a:bodyPr wrap="square" lIns="0" tIns="0" rIns="0" bIns="0">
            <a:spAutoFit/>
          </a:bodyPr>
          <a:lstStyle/>
          <a:p>
            <a:pPr>
              <a:spcAft>
                <a:spcPts val="300"/>
              </a:spcAft>
              <a:defRPr sz="1300" b="0">
                <a:solidFill>
                  <a:srgbClr val="A2B4CA"/>
                </a:solidFill>
                <a:latin typeface="Aptos"/>
              </a:defRPr>
            </a:pPr>
            <a:r>
              <a:t>Track everyday money, plan tuition and act with the AI copilot.</a:t>
            </a:r>
          </a:p>
        </p:txBody>
      </p:sp>
      <p:sp>
        <p:nvSpPr>
          <p:cNvPr id="5" name="TextBox 4"/>
          <p:cNvSpPr txBox="1"/>
          <p:nvPr/>
        </p:nvSpPr>
        <p:spPr>
          <a:xfrm>
            <a:off x="502920" y="6510528"/>
            <a:ext cx="3657600" cy="182880"/>
          </a:xfrm>
          <a:prstGeom prst="rect">
            <a:avLst/>
          </a:prstGeom>
          <a:noFill/>
        </p:spPr>
        <p:txBody>
          <a:bodyPr wrap="square" lIns="0" tIns="0" rIns="0" bIns="0">
            <a:spAutoFit/>
          </a:bodyPr>
          <a:lstStyle/>
          <a:p>
            <a:pPr>
              <a:spcAft>
                <a:spcPts val="300"/>
              </a:spcAft>
              <a:defRPr sz="900" b="0">
                <a:solidFill>
                  <a:srgbClr val="A2B4CA"/>
                </a:solidFill>
                <a:latin typeface="Aptos"/>
              </a:defRPr>
            </a:pPr>
            <a:r>
              <a:t>FINBRIDGE AI</a:t>
            </a:r>
          </a:p>
        </p:txBody>
      </p:sp>
      <p:sp>
        <p:nvSpPr>
          <p:cNvPr id="6" name="TextBox 5"/>
          <p:cNvSpPr txBox="1"/>
          <p:nvPr/>
        </p:nvSpPr>
        <p:spPr>
          <a:xfrm>
            <a:off x="10607040" y="6473952"/>
            <a:ext cx="1078992" cy="228600"/>
          </a:xfrm>
          <a:prstGeom prst="rect">
            <a:avLst/>
          </a:prstGeom>
          <a:noFill/>
        </p:spPr>
        <p:txBody>
          <a:bodyPr wrap="square" lIns="0" tIns="0" rIns="0" bIns="0">
            <a:spAutoFit/>
          </a:bodyPr>
          <a:lstStyle/>
          <a:p>
            <a:pPr algn="r">
              <a:spcAft>
                <a:spcPts val="300"/>
              </a:spcAft>
              <a:defRPr sz="1000" b="0">
                <a:solidFill>
                  <a:srgbClr val="A2B4CA"/>
                </a:solidFill>
                <a:latin typeface="Aptos"/>
              </a:defRPr>
            </a:pPr>
            <a:r>
              <a:t>06 / 10</a:t>
            </a:r>
          </a:p>
        </p:txBody>
      </p:sp>
      <p:sp>
        <p:nvSpPr>
          <p:cNvPr id="7" name="Rounded Rectangle 6"/>
          <p:cNvSpPr/>
          <p:nvPr/>
        </p:nvSpPr>
        <p:spPr>
          <a:xfrm>
            <a:off x="502920" y="1920240"/>
            <a:ext cx="5760720" cy="4352544"/>
          </a:xfrm>
          <a:prstGeom prst="roundRect">
            <a:avLst>
              <a:gd name="adj" fmla="val 10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121408"/>
            <a:ext cx="5303520" cy="274320"/>
          </a:xfrm>
          <a:prstGeom prst="rect">
            <a:avLst/>
          </a:prstGeom>
          <a:noFill/>
        </p:spPr>
        <p:txBody>
          <a:bodyPr wrap="square" lIns="0" tIns="0" rIns="0" bIns="0">
            <a:spAutoFit/>
          </a:bodyPr>
          <a:lstStyle/>
          <a:p>
            <a:pPr>
              <a:spcAft>
                <a:spcPts val="300"/>
              </a:spcAft>
              <a:defRPr sz="1200" b="1">
                <a:solidFill>
                  <a:srgbClr val="63E6BE"/>
                </a:solidFill>
                <a:latin typeface="Aptos"/>
              </a:defRPr>
            </a:pPr>
            <a:r>
              <a:t>BUDGET VS SPENDING · CNY</a:t>
            </a:r>
          </a:p>
        </p:txBody>
      </p:sp>
      <p:graphicFrame>
        <p:nvGraphicFramePr>
          <p:cNvPr id="9" name="chart_03"/>
          <p:cNvGraphicFramePr>
            <a:graphicFrameLocks noGrp="1"/>
          </p:cNvGraphicFramePr>
          <p:nvPr/>
        </p:nvGraphicFramePr>
        <p:xfrm>
          <a:off x="694944" y="2624328"/>
          <a:ext cx="5349240" cy="196596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p:cNvSpPr txBox="1"/>
          <p:nvPr/>
        </p:nvSpPr>
        <p:spPr>
          <a:xfrm>
            <a:off x="749808" y="4663440"/>
            <a:ext cx="5212080" cy="265176"/>
          </a:xfrm>
          <a:prstGeom prst="rect">
            <a:avLst/>
          </a:prstGeom>
          <a:noFill/>
        </p:spPr>
        <p:txBody>
          <a:bodyPr wrap="square" lIns="0" tIns="0" rIns="0" bIns="0">
            <a:spAutoFit/>
          </a:bodyPr>
          <a:lstStyle/>
          <a:p>
            <a:pPr>
              <a:spcAft>
                <a:spcPts val="300"/>
              </a:spcAft>
              <a:defRPr sz="1100" b="0">
                <a:solidFill>
                  <a:srgbClr val="A2B4CA"/>
                </a:solidFill>
                <a:latin typeface="Aptos"/>
              </a:defRPr>
            </a:pPr>
            <a:r>
              <a:t>Illustrative monthly budget: housing is CNY 100 over plan.</a:t>
            </a:r>
          </a:p>
        </p:txBody>
      </p:sp>
      <p:pic>
        <p:nvPicPr>
          <p:cNvPr id="11" name="reveal_04" descr="shopping-card.png"/>
          <p:cNvPicPr>
            <a:picLocks noChangeAspect="1"/>
          </p:cNvPicPr>
          <p:nvPr/>
        </p:nvPicPr>
        <p:blipFill>
          <a:blip r:embed="rId4"/>
          <a:stretch>
            <a:fillRect/>
          </a:stretch>
        </p:blipFill>
        <p:spPr>
          <a:xfrm>
            <a:off x="749808" y="5129784"/>
            <a:ext cx="2697480" cy="1179576"/>
          </a:xfrm>
          <a:prstGeom prst="rect">
            <a:avLst/>
          </a:prstGeom>
        </p:spPr>
      </p:pic>
      <p:sp>
        <p:nvSpPr>
          <p:cNvPr id="12" name="TextBox 11"/>
          <p:cNvSpPr txBox="1"/>
          <p:nvPr/>
        </p:nvSpPr>
        <p:spPr>
          <a:xfrm>
            <a:off x="3675887" y="5212080"/>
            <a:ext cx="2286000" cy="228600"/>
          </a:xfrm>
          <a:prstGeom prst="rect">
            <a:avLst/>
          </a:prstGeom>
          <a:noFill/>
        </p:spPr>
        <p:txBody>
          <a:bodyPr wrap="square" lIns="0" tIns="0" rIns="0" bIns="0">
            <a:spAutoFit/>
          </a:bodyPr>
          <a:lstStyle/>
          <a:p>
            <a:pPr>
              <a:spcAft>
                <a:spcPts val="300"/>
              </a:spcAft>
              <a:defRPr sz="1000" b="1">
                <a:solidFill>
                  <a:srgbClr val="63E6BE"/>
                </a:solidFill>
                <a:latin typeface="Aptos"/>
              </a:defRPr>
            </a:pPr>
            <a:r>
              <a:t>ACTUAL DEMO UI</a:t>
            </a:r>
          </a:p>
        </p:txBody>
      </p:sp>
      <p:sp>
        <p:nvSpPr>
          <p:cNvPr id="13" name="TextBox 12"/>
          <p:cNvSpPr txBox="1"/>
          <p:nvPr/>
        </p:nvSpPr>
        <p:spPr>
          <a:xfrm>
            <a:off x="3675887" y="5559552"/>
            <a:ext cx="2286000" cy="548640"/>
          </a:xfrm>
          <a:prstGeom prst="rect">
            <a:avLst/>
          </a:prstGeom>
          <a:noFill/>
        </p:spPr>
        <p:txBody>
          <a:bodyPr wrap="square" lIns="0" tIns="0" rIns="0" bIns="0">
            <a:spAutoFit/>
          </a:bodyPr>
          <a:lstStyle/>
          <a:p>
            <a:pPr>
              <a:spcAft>
                <a:spcPts val="300"/>
              </a:spcAft>
              <a:defRPr sz="1400" b="1">
                <a:solidFill>
                  <a:srgbClr val="EDF5FF"/>
                </a:solidFill>
                <a:latin typeface="Aptos"/>
              </a:defRPr>
            </a:pPr>
            <a:r>
              <a:t>Category progress</a:t>
            </a:r>
          </a:p>
          <a:p>
            <a:pPr>
              <a:spcAft>
                <a:spcPts val="300"/>
              </a:spcAft>
              <a:defRPr sz="1400" b="1">
                <a:solidFill>
                  <a:srgbClr val="EDF5FF"/>
                </a:solidFill>
                <a:latin typeface="Aptos"/>
              </a:defRPr>
            </a:pPr>
            <a:r>
              <a:t>and overspend alerts</a:t>
            </a:r>
          </a:p>
        </p:txBody>
      </p:sp>
      <p:sp>
        <p:nvSpPr>
          <p:cNvPr id="14" name="Oval 13"/>
          <p:cNvSpPr/>
          <p:nvPr/>
        </p:nvSpPr>
        <p:spPr>
          <a:xfrm>
            <a:off x="6583680" y="1984248"/>
            <a:ext cx="82296" cy="82296"/>
          </a:xfrm>
          <a:prstGeom prst="ellipse">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veal_04"/>
          <p:cNvSpPr txBox="1"/>
          <p:nvPr/>
        </p:nvSpPr>
        <p:spPr>
          <a:xfrm>
            <a:off x="6793992" y="19293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Accounts &amp; activity</a:t>
            </a:r>
          </a:p>
        </p:txBody>
      </p:sp>
      <p:sp>
        <p:nvSpPr>
          <p:cNvPr id="16" name="reveal_04"/>
          <p:cNvSpPr txBox="1"/>
          <p:nvPr/>
        </p:nvSpPr>
        <p:spPr>
          <a:xfrm>
            <a:off x="6793992" y="2221991"/>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Multi-currency wallets, cash, transactions, categories, search/filter, CSV mapping/import.</a:t>
            </a:r>
          </a:p>
        </p:txBody>
      </p:sp>
      <p:sp>
        <p:nvSpPr>
          <p:cNvPr id="17" name="Oval 16"/>
          <p:cNvSpPr/>
          <p:nvPr/>
        </p:nvSpPr>
        <p:spPr>
          <a:xfrm>
            <a:off x="6583680" y="2670048"/>
            <a:ext cx="82296" cy="82296"/>
          </a:xfrm>
          <a:prstGeom prst="ellipse">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veal_05"/>
          <p:cNvSpPr txBox="1"/>
          <p:nvPr/>
        </p:nvSpPr>
        <p:spPr>
          <a:xfrm>
            <a:off x="6793992" y="26151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Tuition &amp; planning</a:t>
            </a:r>
          </a:p>
        </p:txBody>
      </p:sp>
      <p:sp>
        <p:nvSpPr>
          <p:cNvPr id="19" name="reveal_05"/>
          <p:cNvSpPr txBox="1"/>
          <p:nvPr/>
        </p:nvSpPr>
        <p:spPr>
          <a:xfrm>
            <a:off x="6793992" y="2907791"/>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Invoices, scholarships, deadlines, savings scenarios, category budgets, credit guidance.</a:t>
            </a:r>
          </a:p>
        </p:txBody>
      </p:sp>
      <p:sp>
        <p:nvSpPr>
          <p:cNvPr id="20" name="Oval 19"/>
          <p:cNvSpPr/>
          <p:nvPr/>
        </p:nvSpPr>
        <p:spPr>
          <a:xfrm>
            <a:off x="6583680" y="3355848"/>
            <a:ext cx="82296" cy="82296"/>
          </a:xfrm>
          <a:prstGeom prst="ellipse">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veal_06"/>
          <p:cNvSpPr txBox="1"/>
          <p:nvPr/>
        </p:nvSpPr>
        <p:spPr>
          <a:xfrm>
            <a:off x="6793992" y="33009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Payments &amp; transfers</a:t>
            </a:r>
          </a:p>
        </p:txBody>
      </p:sp>
      <p:sp>
        <p:nvSpPr>
          <p:cNvPr id="22" name="reveal_06"/>
          <p:cNvSpPr txBox="1"/>
          <p:nvPr/>
        </p:nvSpPr>
        <p:spPr>
          <a:xfrm>
            <a:off x="6793992" y="3593591"/>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FX/providers, quotes, sends, top-ups, manual deposits, withdrawals, recipients and receipts.</a:t>
            </a:r>
          </a:p>
        </p:txBody>
      </p:sp>
      <p:sp>
        <p:nvSpPr>
          <p:cNvPr id="23" name="Oval 22"/>
          <p:cNvSpPr/>
          <p:nvPr/>
        </p:nvSpPr>
        <p:spPr>
          <a:xfrm>
            <a:off x="6583680" y="4041647"/>
            <a:ext cx="82296" cy="82296"/>
          </a:xfrm>
          <a:prstGeom prst="ellipse">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veal_07"/>
          <p:cNvSpPr txBox="1"/>
          <p:nvPr/>
        </p:nvSpPr>
        <p:spPr>
          <a:xfrm>
            <a:off x="6793992" y="39867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AI copilot</a:t>
            </a:r>
          </a:p>
        </p:txBody>
      </p:sp>
      <p:sp>
        <p:nvSpPr>
          <p:cNvPr id="25" name="reveal_07"/>
          <p:cNvSpPr txBox="1"/>
          <p:nvPr/>
        </p:nvSpPr>
        <p:spPr>
          <a:xfrm>
            <a:off x="6793992" y="4279392"/>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Chat/tool history, advice, follow-ups, navigation, reviewed actions and model selection.</a:t>
            </a:r>
          </a:p>
        </p:txBody>
      </p:sp>
      <p:sp>
        <p:nvSpPr>
          <p:cNvPr id="26" name="Oval 25"/>
          <p:cNvSpPr/>
          <p:nvPr/>
        </p:nvSpPr>
        <p:spPr>
          <a:xfrm>
            <a:off x="6583680" y="4727447"/>
            <a:ext cx="82296" cy="82296"/>
          </a:xfrm>
          <a:prstGeom prst="ellipse">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veal_08"/>
          <p:cNvSpPr txBox="1"/>
          <p:nvPr/>
        </p:nvSpPr>
        <p:spPr>
          <a:xfrm>
            <a:off x="6793992" y="46725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Family &amp; notifications</a:t>
            </a:r>
          </a:p>
        </p:txBody>
      </p:sp>
      <p:sp>
        <p:nvSpPr>
          <p:cNvPr id="28" name="reveal_08"/>
          <p:cNvSpPr txBox="1"/>
          <p:nvPr/>
        </p:nvSpPr>
        <p:spPr>
          <a:xfrm>
            <a:off x="6793992" y="4965192"/>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Invitations, recipient/transfer approvals, reminders, alerts/snooze and ledger history.</a:t>
            </a:r>
          </a:p>
        </p:txBody>
      </p:sp>
      <p:sp>
        <p:nvSpPr>
          <p:cNvPr id="29" name="Oval 28"/>
          <p:cNvSpPr/>
          <p:nvPr/>
        </p:nvSpPr>
        <p:spPr>
          <a:xfrm>
            <a:off x="6583680" y="5413247"/>
            <a:ext cx="82296" cy="82296"/>
          </a:xfrm>
          <a:prstGeom prst="ellipse">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veal_09"/>
          <p:cNvSpPr txBox="1"/>
          <p:nvPr/>
        </p:nvSpPr>
        <p:spPr>
          <a:xfrm>
            <a:off x="6793992" y="53583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Personal account</a:t>
            </a:r>
          </a:p>
        </p:txBody>
      </p:sp>
      <p:sp>
        <p:nvSpPr>
          <p:cNvPr id="31" name="reveal_09"/>
          <p:cNvSpPr txBox="1"/>
          <p:nvPr/>
        </p:nvSpPr>
        <p:spPr>
          <a:xfrm>
            <a:off x="6793992" y="5650992"/>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Plans/quotas/history, saved cards/models, profile/security, reports, export and closure.</a:t>
            </a:r>
          </a:p>
        </p:txBody>
      </p:sp>
      <p:sp>
        <p:nvSpPr>
          <p:cNvPr id="32" name="TextBox 31"/>
          <p:cNvSpPr txBox="1"/>
          <p:nvPr/>
        </p:nvSpPr>
        <p:spPr>
          <a:xfrm>
            <a:off x="6793992" y="6199632"/>
            <a:ext cx="4690872" cy="210312"/>
          </a:xfrm>
          <a:prstGeom prst="rect">
            <a:avLst/>
          </a:prstGeom>
          <a:noFill/>
        </p:spPr>
        <p:txBody>
          <a:bodyPr wrap="square" lIns="0" tIns="0" rIns="0" bIns="0">
            <a:spAutoFit/>
          </a:bodyPr>
          <a:lstStyle/>
          <a:p>
            <a:pPr>
              <a:spcAft>
                <a:spcPts val="300"/>
              </a:spcAft>
              <a:defRPr sz="1000" b="0">
                <a:solidFill>
                  <a:srgbClr val="63E6BE"/>
                </a:solidFill>
                <a:latin typeface="Aptos"/>
              </a:defRPr>
            </a:pPr>
            <a:r>
              <a:t>3 languages · themes · country/currency · time zone · search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childTnLst>
                          </p:cTn>
                        </p:par>
                        <p:par>
                          <p:cTn id="8" fill="hold">
                            <p:stCondLst>
                              <p:cond delay="600"/>
                            </p:stCondLst>
                            <p:childTnLst>
                              <p:par>
                                <p:cTn id="9" presetID="2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down)">
                                      <p:cBhvr>
                                        <p:cTn id="11" dur="600"/>
                                        <p:tgtEl>
                                          <p:spTgt spid="9"/>
                                        </p:tgtEl>
                                      </p:cBhvr>
                                    </p:animEffect>
                                  </p:childTnLst>
                                </p:cTn>
                              </p:par>
                            </p:childTnLst>
                          </p:cTn>
                        </p:par>
                        <p:par>
                          <p:cTn id="12" fill="hold">
                            <p:stCondLst>
                              <p:cond delay="1200"/>
                            </p:stCondLst>
                            <p:childTnLst>
                              <p:par>
                                <p:cTn id="13" presetID="10" presetClass="entr" presetSubtype="0" fill="hold" grpId="0"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60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600"/>
                                        <p:tgtEl>
                                          <p:spTgt spid="15"/>
                                        </p:tgtEl>
                                      </p:cBhvr>
                                    </p:animEffect>
                                  </p:childTnLst>
                                </p:cTn>
                              </p:par>
                              <p:par>
                                <p:cTn id="19" presetID="10"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600"/>
                                        <p:tgtEl>
                                          <p:spTgt spid="11"/>
                                        </p:tgtEl>
                                      </p:cBhvr>
                                    </p:animEffect>
                                  </p:childTnLst>
                                </p:cTn>
                              </p:par>
                            </p:childTnLst>
                          </p:cTn>
                        </p:par>
                        <p:par>
                          <p:cTn id="22" fill="hold">
                            <p:stCondLst>
                              <p:cond delay="1800"/>
                            </p:stCondLst>
                            <p:childTnLst>
                              <p:par>
                                <p:cTn id="23" presetID="10" presetClass="entr" presetSubtype="0" fill="hold" grpId="0" nodeType="after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6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600"/>
                                        <p:tgtEl>
                                          <p:spTgt spid="18"/>
                                        </p:tgtEl>
                                      </p:cBhvr>
                                    </p:animEffect>
                                  </p:childTnLst>
                                </p:cTn>
                              </p:par>
                            </p:childTnLst>
                          </p:cTn>
                        </p:par>
                        <p:par>
                          <p:cTn id="29" fill="hold">
                            <p:stCondLst>
                              <p:cond delay="2400"/>
                            </p:stCondLst>
                            <p:childTnLst>
                              <p:par>
                                <p:cTn id="30" presetID="10" presetClass="entr" presetSubtype="0" fill="hold" grpId="0" nodeType="after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600"/>
                                        <p:tgtEl>
                                          <p:spTgt spid="2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600"/>
                                        <p:tgtEl>
                                          <p:spTgt spid="21"/>
                                        </p:tgtEl>
                                      </p:cBhvr>
                                    </p:animEffect>
                                  </p:childTnLst>
                                </p:cTn>
                              </p:par>
                            </p:childTnLst>
                          </p:cTn>
                        </p:par>
                        <p:par>
                          <p:cTn id="36" fill="hold">
                            <p:stCondLst>
                              <p:cond delay="3000"/>
                            </p:stCondLst>
                            <p:childTnLst>
                              <p:par>
                                <p:cTn id="37" presetID="10" presetClass="entr" presetSubtype="0" fill="hold" grpId="0" nodeType="after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600"/>
                                        <p:tgtEl>
                                          <p:spTgt spid="2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600"/>
                                        <p:tgtEl>
                                          <p:spTgt spid="24"/>
                                        </p:tgtEl>
                                      </p:cBhvr>
                                    </p:animEffect>
                                  </p:childTnLst>
                                </p:cTn>
                              </p:par>
                            </p:childTnLst>
                          </p:cTn>
                        </p:par>
                        <p:par>
                          <p:cTn id="43" fill="hold">
                            <p:stCondLst>
                              <p:cond delay="3600"/>
                            </p:stCondLst>
                            <p:childTnLst>
                              <p:par>
                                <p:cTn id="44" presetID="10" presetClass="entr" presetSubtype="0" fill="hold" grpId="0" nodeType="after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6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animEffect transition="in" filter="fade">
                                      <p:cBhvr>
                                        <p:cTn id="49" dur="600"/>
                                        <p:tgtEl>
                                          <p:spTgt spid="27"/>
                                        </p:tgtEl>
                                      </p:cBhvr>
                                    </p:animEffect>
                                  </p:childTnLst>
                                </p:cTn>
                              </p:par>
                            </p:childTnLst>
                          </p:cTn>
                        </p:par>
                        <p:par>
                          <p:cTn id="50" fill="hold">
                            <p:stCondLst>
                              <p:cond delay="4200"/>
                            </p:stCondLst>
                            <p:childTnLst>
                              <p:par>
                                <p:cTn id="51" presetID="10" presetClass="entr" presetSubtype="0" fill="hold" grpId="0" nodeType="after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600"/>
                                        <p:tgtEl>
                                          <p:spTgt spid="3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fade">
                                      <p:cBhvr>
                                        <p:cTn id="56" dur="6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Graphic spid="9" grpId="0">
        <p:bldAsOne/>
      </p:bldGraphic>
      <p:bldP spid="15" grpId="0"/>
      <p:bldP spid="16" grpId="0"/>
      <p:bldP spid="18" grpId="0"/>
      <p:bldP spid="19" grpId="0"/>
      <p:bldP spid="21" grpId="0"/>
      <p:bldP spid="22" grpId="0"/>
      <p:bldP spid="24" grpId="0"/>
      <p:bldP spid="25" grpId="0"/>
      <p:bldP spid="27" grpId="0"/>
      <p:bldP spid="28" grpId="0"/>
      <p:bldP spid="30" grpId="0"/>
      <p:bldP spid="31"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0058400" cy="228600"/>
          </a:xfrm>
          <a:prstGeom prst="rect">
            <a:avLst/>
          </a:prstGeom>
          <a:noFill/>
        </p:spPr>
        <p:txBody>
          <a:bodyPr wrap="square" lIns="0" tIns="0" rIns="0" bIns="0">
            <a:spAutoFit/>
          </a:bodyPr>
          <a:lstStyle/>
          <a:p>
            <a:pPr>
              <a:spcAft>
                <a:spcPts val="300"/>
              </a:spcAft>
              <a:defRPr sz="1000" b="1">
                <a:solidFill>
                  <a:srgbClr val="63E6BE"/>
                </a:solidFill>
                <a:latin typeface="Aptos"/>
              </a:defRPr>
            </a:pPr>
            <a:r>
              <a:t>FEATURES / PARENT</a:t>
            </a:r>
          </a:p>
        </p:txBody>
      </p:sp>
      <p:sp>
        <p:nvSpPr>
          <p:cNvPr id="3" name="reveal_01"/>
          <p:cNvSpPr txBox="1"/>
          <p:nvPr/>
        </p:nvSpPr>
        <p:spPr>
          <a:xfrm>
            <a:off x="502920" y="768096"/>
            <a:ext cx="11155680" cy="612648"/>
          </a:xfrm>
          <a:prstGeom prst="rect">
            <a:avLst/>
          </a:prstGeom>
          <a:noFill/>
        </p:spPr>
        <p:txBody>
          <a:bodyPr wrap="square" lIns="0" tIns="0" rIns="0" bIns="0">
            <a:spAutoFit/>
          </a:bodyPr>
          <a:lstStyle/>
          <a:p>
            <a:pPr>
              <a:spcAft>
                <a:spcPts val="300"/>
              </a:spcAft>
              <a:defRPr sz="3100" b="1">
                <a:solidFill>
                  <a:srgbClr val="EDF5FF"/>
                </a:solidFill>
                <a:latin typeface="Aptos"/>
              </a:defRPr>
            </a:pPr>
            <a:r>
              <a:t>Parent features</a:t>
            </a:r>
          </a:p>
        </p:txBody>
      </p:sp>
      <p:sp>
        <p:nvSpPr>
          <p:cNvPr id="4" name="TextBox 3"/>
          <p:cNvSpPr txBox="1"/>
          <p:nvPr/>
        </p:nvSpPr>
        <p:spPr>
          <a:xfrm>
            <a:off x="521207" y="1389888"/>
            <a:ext cx="10972800" cy="411480"/>
          </a:xfrm>
          <a:prstGeom prst="rect">
            <a:avLst/>
          </a:prstGeom>
          <a:noFill/>
        </p:spPr>
        <p:txBody>
          <a:bodyPr wrap="square" lIns="0" tIns="0" rIns="0" bIns="0">
            <a:spAutoFit/>
          </a:bodyPr>
          <a:lstStyle/>
          <a:p>
            <a:pPr>
              <a:spcAft>
                <a:spcPts val="300"/>
              </a:spcAft>
              <a:defRPr sz="1300" b="0">
                <a:solidFill>
                  <a:srgbClr val="A2B4CA"/>
                </a:solidFill>
                <a:latin typeface="Aptos"/>
              </a:defRPr>
            </a:pPr>
            <a:r>
              <a:t>Support the student with scoped visibility, clear approval rules and spending limits.</a:t>
            </a:r>
          </a:p>
        </p:txBody>
      </p:sp>
      <p:sp>
        <p:nvSpPr>
          <p:cNvPr id="5" name="TextBox 4"/>
          <p:cNvSpPr txBox="1"/>
          <p:nvPr/>
        </p:nvSpPr>
        <p:spPr>
          <a:xfrm>
            <a:off x="502920" y="6510528"/>
            <a:ext cx="3657600" cy="182880"/>
          </a:xfrm>
          <a:prstGeom prst="rect">
            <a:avLst/>
          </a:prstGeom>
          <a:noFill/>
        </p:spPr>
        <p:txBody>
          <a:bodyPr wrap="square" lIns="0" tIns="0" rIns="0" bIns="0">
            <a:spAutoFit/>
          </a:bodyPr>
          <a:lstStyle/>
          <a:p>
            <a:pPr>
              <a:spcAft>
                <a:spcPts val="300"/>
              </a:spcAft>
              <a:defRPr sz="900" b="0">
                <a:solidFill>
                  <a:srgbClr val="A2B4CA"/>
                </a:solidFill>
                <a:latin typeface="Aptos"/>
              </a:defRPr>
            </a:pPr>
            <a:r>
              <a:t>FINBRIDGE AI</a:t>
            </a:r>
          </a:p>
        </p:txBody>
      </p:sp>
      <p:sp>
        <p:nvSpPr>
          <p:cNvPr id="6" name="TextBox 5"/>
          <p:cNvSpPr txBox="1"/>
          <p:nvPr/>
        </p:nvSpPr>
        <p:spPr>
          <a:xfrm>
            <a:off x="10607040" y="6473952"/>
            <a:ext cx="1078992" cy="228600"/>
          </a:xfrm>
          <a:prstGeom prst="rect">
            <a:avLst/>
          </a:prstGeom>
          <a:noFill/>
        </p:spPr>
        <p:txBody>
          <a:bodyPr wrap="square" lIns="0" tIns="0" rIns="0" bIns="0">
            <a:spAutoFit/>
          </a:bodyPr>
          <a:lstStyle/>
          <a:p>
            <a:pPr algn="r">
              <a:spcAft>
                <a:spcPts val="300"/>
              </a:spcAft>
              <a:defRPr sz="1000" b="0">
                <a:solidFill>
                  <a:srgbClr val="A2B4CA"/>
                </a:solidFill>
                <a:latin typeface="Aptos"/>
              </a:defRPr>
            </a:pPr>
            <a:r>
              <a:t>07 / 10</a:t>
            </a:r>
          </a:p>
        </p:txBody>
      </p:sp>
      <p:sp>
        <p:nvSpPr>
          <p:cNvPr id="7" name="Rounded Rectangle 6"/>
          <p:cNvSpPr/>
          <p:nvPr/>
        </p:nvSpPr>
        <p:spPr>
          <a:xfrm>
            <a:off x="502920" y="1920240"/>
            <a:ext cx="5760720" cy="2231136"/>
          </a:xfrm>
          <a:prstGeom prst="roundRect">
            <a:avLst>
              <a:gd name="adj" fmla="val 10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121408"/>
            <a:ext cx="5303520" cy="256032"/>
          </a:xfrm>
          <a:prstGeom prst="rect">
            <a:avLst/>
          </a:prstGeom>
          <a:noFill/>
        </p:spPr>
        <p:txBody>
          <a:bodyPr wrap="square" lIns="0" tIns="0" rIns="0" bIns="0">
            <a:spAutoFit/>
          </a:bodyPr>
          <a:lstStyle/>
          <a:p>
            <a:pPr>
              <a:spcAft>
                <a:spcPts val="300"/>
              </a:spcAft>
              <a:defRPr sz="1200" b="1">
                <a:solidFill>
                  <a:srgbClr val="63E6BE"/>
                </a:solidFill>
                <a:latin typeface="Aptos"/>
              </a:defRPr>
            </a:pPr>
            <a:r>
              <a:t>TRANSFER REVIEW BOUNDARIES · CNY</a:t>
            </a:r>
          </a:p>
        </p:txBody>
      </p:sp>
      <p:graphicFrame>
        <p:nvGraphicFramePr>
          <p:cNvPr id="9" name="chart_03"/>
          <p:cNvGraphicFramePr>
            <a:graphicFrameLocks noGrp="1"/>
          </p:cNvGraphicFramePr>
          <p:nvPr/>
        </p:nvGraphicFramePr>
        <p:xfrm>
          <a:off x="713232" y="2551176"/>
          <a:ext cx="5303520" cy="1298448"/>
        </p:xfrm>
        <a:graphic>
          <a:graphicData uri="http://schemas.openxmlformats.org/drawingml/2006/chart">
            <c:chart xmlns:c="http://schemas.openxmlformats.org/drawingml/2006/chart" xmlns:r="http://schemas.openxmlformats.org/officeDocument/2006/relationships" r:id="rId3"/>
          </a:graphicData>
        </a:graphic>
      </p:graphicFrame>
      <p:pic>
        <p:nvPicPr>
          <p:cNvPr id="10" name="reveal_04" descr="approval.gif"/>
          <p:cNvPicPr>
            <a:picLocks noChangeAspect="1"/>
          </p:cNvPicPr>
          <p:nvPr/>
        </p:nvPicPr>
        <p:blipFill>
          <a:blip r:embed="rId4"/>
          <a:stretch>
            <a:fillRect/>
          </a:stretch>
        </p:blipFill>
        <p:spPr>
          <a:xfrm>
            <a:off x="502920" y="4361688"/>
            <a:ext cx="5760720" cy="1920240"/>
          </a:xfrm>
          <a:prstGeom prst="rect">
            <a:avLst/>
          </a:prstGeom>
        </p:spPr>
      </p:pic>
      <p:sp>
        <p:nvSpPr>
          <p:cNvPr id="11" name="Oval 10"/>
          <p:cNvSpPr/>
          <p:nvPr/>
        </p:nvSpPr>
        <p:spPr>
          <a:xfrm>
            <a:off x="6583680" y="1984248"/>
            <a:ext cx="82296" cy="82296"/>
          </a:xfrm>
          <a:prstGeom prst="ellipse">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veal_04"/>
          <p:cNvSpPr txBox="1"/>
          <p:nvPr/>
        </p:nvSpPr>
        <p:spPr>
          <a:xfrm>
            <a:off x="6793992" y="19293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Family circle</a:t>
            </a:r>
          </a:p>
        </p:txBody>
      </p:sp>
      <p:sp>
        <p:nvSpPr>
          <p:cNvPr id="13" name="reveal_04"/>
          <p:cNvSpPr txBox="1"/>
          <p:nvPr/>
        </p:nvSpPr>
        <p:spPr>
          <a:xfrm>
            <a:off x="6793992" y="2221991"/>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Invite/link students, review linked finances and revoke relationships.</a:t>
            </a:r>
          </a:p>
        </p:txBody>
      </p:sp>
      <p:sp>
        <p:nvSpPr>
          <p:cNvPr id="14" name="Oval 13"/>
          <p:cNvSpPr/>
          <p:nvPr/>
        </p:nvSpPr>
        <p:spPr>
          <a:xfrm>
            <a:off x="6583680" y="2670048"/>
            <a:ext cx="82296" cy="82296"/>
          </a:xfrm>
          <a:prstGeom prst="ellipse">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veal_05"/>
          <p:cNvSpPr txBox="1"/>
          <p:nvPr/>
        </p:nvSpPr>
        <p:spPr>
          <a:xfrm>
            <a:off x="6793992" y="26151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Visibility matrix</a:t>
            </a:r>
          </a:p>
        </p:txBody>
      </p:sp>
      <p:sp>
        <p:nvSpPr>
          <p:cNvPr id="16" name="reveal_05"/>
          <p:cNvSpPr txBox="1"/>
          <p:nvPr/>
        </p:nvSpPr>
        <p:spPr>
          <a:xfrm>
            <a:off x="6793992" y="2907791"/>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Balances, category totals, descriptions, tuition, budgets and permission-aware alerts.</a:t>
            </a:r>
          </a:p>
        </p:txBody>
      </p:sp>
      <p:sp>
        <p:nvSpPr>
          <p:cNvPr id="17" name="Oval 16"/>
          <p:cNvSpPr/>
          <p:nvPr/>
        </p:nvSpPr>
        <p:spPr>
          <a:xfrm>
            <a:off x="6583680" y="3355848"/>
            <a:ext cx="82296" cy="82296"/>
          </a:xfrm>
          <a:prstGeom prst="ellipse">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veal_06"/>
          <p:cNvSpPr txBox="1"/>
          <p:nvPr/>
        </p:nvSpPr>
        <p:spPr>
          <a:xfrm>
            <a:off x="6793992" y="33009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Approval center</a:t>
            </a:r>
          </a:p>
        </p:txBody>
      </p:sp>
      <p:sp>
        <p:nvSpPr>
          <p:cNvPr id="19" name="reveal_06"/>
          <p:cNvSpPr txBox="1"/>
          <p:nvPr/>
        </p:nvSpPr>
        <p:spPr>
          <a:xfrm>
            <a:off x="6793992" y="3593591"/>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Approve/reject payments and beneficiaries; reasons/history; tuition/conversion sign-off.</a:t>
            </a:r>
          </a:p>
        </p:txBody>
      </p:sp>
      <p:sp>
        <p:nvSpPr>
          <p:cNvPr id="20" name="Oval 19"/>
          <p:cNvSpPr/>
          <p:nvPr/>
        </p:nvSpPr>
        <p:spPr>
          <a:xfrm>
            <a:off x="6583680" y="4041647"/>
            <a:ext cx="82296" cy="82296"/>
          </a:xfrm>
          <a:prstGeom prst="ellipse">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veal_07"/>
          <p:cNvSpPr txBox="1"/>
          <p:nvPr/>
        </p:nvSpPr>
        <p:spPr>
          <a:xfrm>
            <a:off x="6793992" y="39867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Spending controls</a:t>
            </a:r>
          </a:p>
        </p:txBody>
      </p:sp>
      <p:sp>
        <p:nvSpPr>
          <p:cNvPr id="22" name="reveal_07"/>
          <p:cNvSpPr txBox="1"/>
          <p:nvPr/>
        </p:nvSpPr>
        <p:spPr>
          <a:xfrm>
            <a:off x="6793992" y="4279392"/>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Thresholds, transfer/daily/monthly caps, category limits, auto-approval and one-time recipients.</a:t>
            </a:r>
          </a:p>
        </p:txBody>
      </p:sp>
      <p:sp>
        <p:nvSpPr>
          <p:cNvPr id="23" name="Oval 22"/>
          <p:cNvSpPr/>
          <p:nvPr/>
        </p:nvSpPr>
        <p:spPr>
          <a:xfrm>
            <a:off x="6583680" y="4727447"/>
            <a:ext cx="82296" cy="82296"/>
          </a:xfrm>
          <a:prstGeom prst="ellipse">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veal_08"/>
          <p:cNvSpPr txBox="1"/>
          <p:nvPr/>
        </p:nvSpPr>
        <p:spPr>
          <a:xfrm>
            <a:off x="6793992" y="46725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Parent money &amp; AI</a:t>
            </a:r>
          </a:p>
        </p:txBody>
      </p:sp>
      <p:sp>
        <p:nvSpPr>
          <p:cNvPr id="25" name="reveal_08"/>
          <p:cNvSpPr txBox="1"/>
          <p:nvPr/>
        </p:nvSpPr>
        <p:spPr>
          <a:xfrm>
            <a:off x="6793992" y="4965192"/>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Own wallets, student funding, deposits/payments, transactions/CSV and reviewed AI actions.</a:t>
            </a:r>
          </a:p>
        </p:txBody>
      </p:sp>
      <p:sp>
        <p:nvSpPr>
          <p:cNvPr id="26" name="Oval 25"/>
          <p:cNvSpPr/>
          <p:nvPr/>
        </p:nvSpPr>
        <p:spPr>
          <a:xfrm>
            <a:off x="6583680" y="5413247"/>
            <a:ext cx="82296" cy="82296"/>
          </a:xfrm>
          <a:prstGeom prst="ellipse">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veal_09"/>
          <p:cNvSpPr txBox="1"/>
          <p:nvPr/>
        </p:nvSpPr>
        <p:spPr>
          <a:xfrm>
            <a:off x="6793992" y="53583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Shared account tools</a:t>
            </a:r>
          </a:p>
        </p:txBody>
      </p:sp>
      <p:sp>
        <p:nvSpPr>
          <p:cNvPr id="28" name="reveal_09"/>
          <p:cNvSpPr txBox="1"/>
          <p:nvPr/>
        </p:nvSpPr>
        <p:spPr>
          <a:xfrm>
            <a:off x="6793992" y="5650992"/>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Plans, cards/models, alerts/reports, profile/security, preferences, export and closure.</a:t>
            </a:r>
          </a:p>
        </p:txBody>
      </p:sp>
      <p:sp>
        <p:nvSpPr>
          <p:cNvPr id="29" name="TextBox 28"/>
          <p:cNvSpPr txBox="1"/>
          <p:nvPr/>
        </p:nvSpPr>
        <p:spPr>
          <a:xfrm>
            <a:off x="6793992" y="6199632"/>
            <a:ext cx="4690872" cy="210312"/>
          </a:xfrm>
          <a:prstGeom prst="rect">
            <a:avLst/>
          </a:prstGeom>
          <a:noFill/>
        </p:spPr>
        <p:txBody>
          <a:bodyPr wrap="square" lIns="0" tIns="0" rIns="0" bIns="0">
            <a:spAutoFit/>
          </a:bodyPr>
          <a:lstStyle/>
          <a:p>
            <a:pPr>
              <a:spcAft>
                <a:spcPts val="300"/>
              </a:spcAft>
              <a:defRPr sz="1000" b="0">
                <a:solidFill>
                  <a:srgbClr val="63E6BE"/>
                </a:solidFill>
                <a:latin typeface="Aptos"/>
              </a:defRPr>
            </a:pPr>
            <a:r>
              <a:t>Parent policies can tighten platform limits.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childTnLst>
                          </p:cTn>
                        </p:par>
                        <p:par>
                          <p:cTn id="8" fill="hold">
                            <p:stCondLst>
                              <p:cond delay="600"/>
                            </p:stCondLst>
                            <p:childTnLst>
                              <p:par>
                                <p:cTn id="9" presetID="22" presetClass="entr" presetSubtype="2"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right)">
                                      <p:cBhvr>
                                        <p:cTn id="11" dur="600"/>
                                        <p:tgtEl>
                                          <p:spTgt spid="9"/>
                                        </p:tgtEl>
                                      </p:cBhvr>
                                    </p:animEffect>
                                  </p:childTnLst>
                                </p:cTn>
                              </p:par>
                            </p:childTnLst>
                          </p:cTn>
                        </p:par>
                        <p:par>
                          <p:cTn id="12" fill="hold">
                            <p:stCondLst>
                              <p:cond delay="1200"/>
                            </p:stCondLst>
                            <p:childTnLst>
                              <p:par>
                                <p:cTn id="13" presetID="10" presetClass="entr" presetSubtype="0"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6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600"/>
                                        <p:tgtEl>
                                          <p:spTgt spid="12"/>
                                        </p:tgtEl>
                                      </p:cBhvr>
                                    </p:animEffect>
                                  </p:childTnLst>
                                </p:cTn>
                              </p:par>
                              <p:par>
                                <p:cTn id="19" presetID="10"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600"/>
                                        <p:tgtEl>
                                          <p:spTgt spid="10"/>
                                        </p:tgtEl>
                                      </p:cBhvr>
                                    </p:animEffect>
                                  </p:childTnLst>
                                </p:cTn>
                              </p:par>
                            </p:childTnLst>
                          </p:cTn>
                        </p:par>
                        <p:par>
                          <p:cTn id="22" fill="hold">
                            <p:stCondLst>
                              <p:cond delay="1800"/>
                            </p:stCondLst>
                            <p:childTnLst>
                              <p:par>
                                <p:cTn id="23" presetID="10" presetClass="entr" presetSubtype="0" fill="hold" grpId="0" nodeType="after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600"/>
                                        <p:tgtEl>
                                          <p:spTgt spid="1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600"/>
                                        <p:tgtEl>
                                          <p:spTgt spid="15"/>
                                        </p:tgtEl>
                                      </p:cBhvr>
                                    </p:animEffect>
                                  </p:childTnLst>
                                </p:cTn>
                              </p:par>
                            </p:childTnLst>
                          </p:cTn>
                        </p:par>
                        <p:par>
                          <p:cTn id="29" fill="hold">
                            <p:stCondLst>
                              <p:cond delay="2400"/>
                            </p:stCondLst>
                            <p:childTnLst>
                              <p:par>
                                <p:cTn id="30" presetID="10" presetClass="entr" presetSubtype="0" fill="hold" grpId="0" nodeType="after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600"/>
                                        <p:tgtEl>
                                          <p:spTgt spid="1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600"/>
                                        <p:tgtEl>
                                          <p:spTgt spid="18"/>
                                        </p:tgtEl>
                                      </p:cBhvr>
                                    </p:animEffect>
                                  </p:childTnLst>
                                </p:cTn>
                              </p:par>
                            </p:childTnLst>
                          </p:cTn>
                        </p:par>
                        <p:par>
                          <p:cTn id="36" fill="hold">
                            <p:stCondLst>
                              <p:cond delay="3000"/>
                            </p:stCondLst>
                            <p:childTnLst>
                              <p:par>
                                <p:cTn id="37" presetID="10" presetClass="entr" presetSubtype="0" fill="hold" grpId="0" nodeType="after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600"/>
                                        <p:tgtEl>
                                          <p:spTgt spid="2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600"/>
                                        <p:tgtEl>
                                          <p:spTgt spid="21"/>
                                        </p:tgtEl>
                                      </p:cBhvr>
                                    </p:animEffect>
                                  </p:childTnLst>
                                </p:cTn>
                              </p:par>
                            </p:childTnLst>
                          </p:cTn>
                        </p:par>
                        <p:par>
                          <p:cTn id="43" fill="hold">
                            <p:stCondLst>
                              <p:cond delay="3600"/>
                            </p:stCondLst>
                            <p:childTnLst>
                              <p:par>
                                <p:cTn id="44" presetID="10" presetClass="entr" presetSubtype="0" fill="hold" grpId="0" nodeType="after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600"/>
                                        <p:tgtEl>
                                          <p:spTgt spid="2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600"/>
                                        <p:tgtEl>
                                          <p:spTgt spid="24"/>
                                        </p:tgtEl>
                                      </p:cBhvr>
                                    </p:animEffect>
                                  </p:childTnLst>
                                </p:cTn>
                              </p:par>
                            </p:childTnLst>
                          </p:cTn>
                        </p:par>
                        <p:par>
                          <p:cTn id="50" fill="hold">
                            <p:stCondLst>
                              <p:cond delay="4200"/>
                            </p:stCondLst>
                            <p:childTnLst>
                              <p:par>
                                <p:cTn id="51" presetID="10" presetClass="entr" presetSubtype="0" fill="hold" grpId="0" nodeType="afterEffect">
                                  <p:stCondLst>
                                    <p:cond delay="0"/>
                                  </p:stCondLst>
                                  <p:childTnLst>
                                    <p:set>
                                      <p:cBhvr>
                                        <p:cTn id="52" dur="1" fill="hold">
                                          <p:stCondLst>
                                            <p:cond delay="0"/>
                                          </p:stCondLst>
                                        </p:cTn>
                                        <p:tgtEl>
                                          <p:spTgt spid="28"/>
                                        </p:tgtEl>
                                        <p:attrNameLst>
                                          <p:attrName>style.visibility</p:attrName>
                                        </p:attrNameLst>
                                      </p:cBhvr>
                                      <p:to>
                                        <p:strVal val="visible"/>
                                      </p:to>
                                    </p:set>
                                    <p:animEffect transition="in" filter="fade">
                                      <p:cBhvr>
                                        <p:cTn id="53" dur="600"/>
                                        <p:tgtEl>
                                          <p:spTgt spid="2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fade">
                                      <p:cBhvr>
                                        <p:cTn id="56" dur="6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Graphic spid="9" grpId="0">
        <p:bldAsOne/>
      </p:bldGraphic>
      <p:bldP spid="12" grpId="0"/>
      <p:bldP spid="13" grpId="0"/>
      <p:bldP spid="15" grpId="0"/>
      <p:bldP spid="16" grpId="0"/>
      <p:bldP spid="18" grpId="0"/>
      <p:bldP spid="19" grpId="0"/>
      <p:bldP spid="21" grpId="0"/>
      <p:bldP spid="22" grpId="0"/>
      <p:bldP spid="24" grpId="0"/>
      <p:bldP spid="25" grpId="0"/>
      <p:bldP spid="27" grpId="0"/>
      <p:bldP spid="28"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0058400" cy="228600"/>
          </a:xfrm>
          <a:prstGeom prst="rect">
            <a:avLst/>
          </a:prstGeom>
          <a:noFill/>
        </p:spPr>
        <p:txBody>
          <a:bodyPr wrap="square" lIns="0" tIns="0" rIns="0" bIns="0">
            <a:spAutoFit/>
          </a:bodyPr>
          <a:lstStyle/>
          <a:p>
            <a:pPr>
              <a:spcAft>
                <a:spcPts val="300"/>
              </a:spcAft>
              <a:defRPr sz="1000" b="1">
                <a:solidFill>
                  <a:srgbClr val="63E6BE"/>
                </a:solidFill>
                <a:latin typeface="Aptos"/>
              </a:defRPr>
            </a:pPr>
            <a:r>
              <a:t>FEATURES / ADMIN &amp; MODERATOR</a:t>
            </a:r>
          </a:p>
        </p:txBody>
      </p:sp>
      <p:sp>
        <p:nvSpPr>
          <p:cNvPr id="3" name="reveal_01"/>
          <p:cNvSpPr txBox="1"/>
          <p:nvPr/>
        </p:nvSpPr>
        <p:spPr>
          <a:xfrm>
            <a:off x="502920" y="768096"/>
            <a:ext cx="11155680" cy="612648"/>
          </a:xfrm>
          <a:prstGeom prst="rect">
            <a:avLst/>
          </a:prstGeom>
          <a:noFill/>
        </p:spPr>
        <p:txBody>
          <a:bodyPr wrap="square" lIns="0" tIns="0" rIns="0" bIns="0">
            <a:spAutoFit/>
          </a:bodyPr>
          <a:lstStyle/>
          <a:p>
            <a:pPr>
              <a:spcAft>
                <a:spcPts val="300"/>
              </a:spcAft>
              <a:defRPr sz="3100" b="1">
                <a:solidFill>
                  <a:srgbClr val="EDF5FF"/>
                </a:solidFill>
                <a:latin typeface="Aptos"/>
              </a:defRPr>
            </a:pPr>
            <a:r>
              <a:t>Admin features</a:t>
            </a:r>
          </a:p>
        </p:txBody>
      </p:sp>
      <p:sp>
        <p:nvSpPr>
          <p:cNvPr id="4" name="TextBox 3"/>
          <p:cNvSpPr txBox="1"/>
          <p:nvPr/>
        </p:nvSpPr>
        <p:spPr>
          <a:xfrm>
            <a:off x="521207" y="1389888"/>
            <a:ext cx="10972800" cy="411480"/>
          </a:xfrm>
          <a:prstGeom prst="rect">
            <a:avLst/>
          </a:prstGeom>
          <a:noFill/>
        </p:spPr>
        <p:txBody>
          <a:bodyPr wrap="square" lIns="0" tIns="0" rIns="0" bIns="0">
            <a:spAutoFit/>
          </a:bodyPr>
          <a:lstStyle/>
          <a:p>
            <a:pPr>
              <a:spcAft>
                <a:spcPts val="300"/>
              </a:spcAft>
              <a:defRPr sz="1300" b="0">
                <a:solidFill>
                  <a:srgbClr val="A2B4CA"/>
                </a:solidFill>
                <a:latin typeface="Aptos"/>
              </a:defRPr>
            </a:pPr>
            <a:r>
              <a:t>Configure the sandbox, resolve requests and inspect the evidence behind each financial action.</a:t>
            </a:r>
          </a:p>
        </p:txBody>
      </p:sp>
      <p:sp>
        <p:nvSpPr>
          <p:cNvPr id="5" name="TextBox 4"/>
          <p:cNvSpPr txBox="1"/>
          <p:nvPr/>
        </p:nvSpPr>
        <p:spPr>
          <a:xfrm>
            <a:off x="502920" y="6510528"/>
            <a:ext cx="3657600" cy="182880"/>
          </a:xfrm>
          <a:prstGeom prst="rect">
            <a:avLst/>
          </a:prstGeom>
          <a:noFill/>
        </p:spPr>
        <p:txBody>
          <a:bodyPr wrap="square" lIns="0" tIns="0" rIns="0" bIns="0">
            <a:spAutoFit/>
          </a:bodyPr>
          <a:lstStyle/>
          <a:p>
            <a:pPr>
              <a:spcAft>
                <a:spcPts val="300"/>
              </a:spcAft>
              <a:defRPr sz="900" b="0">
                <a:solidFill>
                  <a:srgbClr val="A2B4CA"/>
                </a:solidFill>
                <a:latin typeface="Aptos"/>
              </a:defRPr>
            </a:pPr>
            <a:r>
              <a:t>FINBRIDGE AI</a:t>
            </a:r>
          </a:p>
        </p:txBody>
      </p:sp>
      <p:sp>
        <p:nvSpPr>
          <p:cNvPr id="6" name="TextBox 5"/>
          <p:cNvSpPr txBox="1"/>
          <p:nvPr/>
        </p:nvSpPr>
        <p:spPr>
          <a:xfrm>
            <a:off x="10607040" y="6473952"/>
            <a:ext cx="1078992" cy="228600"/>
          </a:xfrm>
          <a:prstGeom prst="rect">
            <a:avLst/>
          </a:prstGeom>
          <a:noFill/>
        </p:spPr>
        <p:txBody>
          <a:bodyPr wrap="square" lIns="0" tIns="0" rIns="0" bIns="0">
            <a:spAutoFit/>
          </a:bodyPr>
          <a:lstStyle/>
          <a:p>
            <a:pPr algn="r">
              <a:spcAft>
                <a:spcPts val="300"/>
              </a:spcAft>
              <a:defRPr sz="1000" b="0">
                <a:solidFill>
                  <a:srgbClr val="A2B4CA"/>
                </a:solidFill>
                <a:latin typeface="Aptos"/>
              </a:defRPr>
            </a:pPr>
            <a:r>
              <a:t>08 / 10</a:t>
            </a:r>
          </a:p>
        </p:txBody>
      </p:sp>
      <p:pic>
        <p:nvPicPr>
          <p:cNvPr id="7" name="reveal_02" descr="settlement.gif"/>
          <p:cNvPicPr>
            <a:picLocks noChangeAspect="1"/>
          </p:cNvPicPr>
          <p:nvPr/>
        </p:nvPicPr>
        <p:blipFill>
          <a:blip r:embed="rId3"/>
          <a:stretch>
            <a:fillRect/>
          </a:stretch>
        </p:blipFill>
        <p:spPr>
          <a:xfrm>
            <a:off x="502920" y="1920240"/>
            <a:ext cx="5760720" cy="2423160"/>
          </a:xfrm>
          <a:prstGeom prst="rect">
            <a:avLst/>
          </a:prstGeom>
        </p:spPr>
      </p:pic>
      <p:sp>
        <p:nvSpPr>
          <p:cNvPr id="8" name="Rounded Rectangle 7"/>
          <p:cNvSpPr/>
          <p:nvPr/>
        </p:nvSpPr>
        <p:spPr>
          <a:xfrm>
            <a:off x="502920" y="4535424"/>
            <a:ext cx="5760720" cy="1755648"/>
          </a:xfrm>
          <a:prstGeom prst="roundRect">
            <a:avLst>
              <a:gd name="adj" fmla="val 10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4718304"/>
            <a:ext cx="5303520" cy="237744"/>
          </a:xfrm>
          <a:prstGeom prst="rect">
            <a:avLst/>
          </a:prstGeom>
          <a:noFill/>
        </p:spPr>
        <p:txBody>
          <a:bodyPr wrap="square" lIns="0" tIns="0" rIns="0" bIns="0">
            <a:spAutoFit/>
          </a:bodyPr>
          <a:lstStyle/>
          <a:p>
            <a:pPr>
              <a:spcAft>
                <a:spcPts val="300"/>
              </a:spcAft>
              <a:defRPr sz="1100" b="1">
                <a:solidFill>
                  <a:srgbClr val="63E6BE"/>
                </a:solidFill>
                <a:latin typeface="Aptos"/>
              </a:defRPr>
            </a:pPr>
            <a:r>
              <a:t>EXAMPLE QUEUE SNAPSHOT</a:t>
            </a:r>
          </a:p>
        </p:txBody>
      </p:sp>
      <p:graphicFrame>
        <p:nvGraphicFramePr>
          <p:cNvPr id="10" name="chart_03"/>
          <p:cNvGraphicFramePr>
            <a:graphicFrameLocks noGrp="1"/>
          </p:cNvGraphicFramePr>
          <p:nvPr/>
        </p:nvGraphicFramePr>
        <p:xfrm>
          <a:off x="722376" y="5074920"/>
          <a:ext cx="5294376" cy="1051560"/>
        </p:xfrm>
        <a:graphic>
          <a:graphicData uri="http://schemas.openxmlformats.org/drawingml/2006/chart">
            <c:chart xmlns:c="http://schemas.openxmlformats.org/drawingml/2006/chart" xmlns:r="http://schemas.openxmlformats.org/officeDocument/2006/relationships" r:id="rId4"/>
          </a:graphicData>
        </a:graphic>
      </p:graphicFrame>
      <p:sp>
        <p:nvSpPr>
          <p:cNvPr id="11" name="Oval 10"/>
          <p:cNvSpPr/>
          <p:nvPr/>
        </p:nvSpPr>
        <p:spPr>
          <a:xfrm>
            <a:off x="6583680" y="1984248"/>
            <a:ext cx="82296" cy="82296"/>
          </a:xfrm>
          <a:prstGeom prst="ellipse">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veal_04"/>
          <p:cNvSpPr txBox="1"/>
          <p:nvPr/>
        </p:nvSpPr>
        <p:spPr>
          <a:xfrm>
            <a:off x="6793992" y="19293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Users &amp; roles</a:t>
            </a:r>
          </a:p>
        </p:txBody>
      </p:sp>
      <p:sp>
        <p:nvSpPr>
          <p:cNvPr id="13" name="reveal_04"/>
          <p:cNvSpPr txBox="1"/>
          <p:nvPr/>
        </p:nvSpPr>
        <p:spPr>
          <a:xfrm>
            <a:off x="6793992" y="2221991"/>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User/role management, suspend/reactivate, metrics and delegated moderator scopes.</a:t>
            </a:r>
          </a:p>
        </p:txBody>
      </p:sp>
      <p:sp>
        <p:nvSpPr>
          <p:cNvPr id="14" name="Oval 13"/>
          <p:cNvSpPr/>
          <p:nvPr/>
        </p:nvSpPr>
        <p:spPr>
          <a:xfrm>
            <a:off x="6583680" y="2670048"/>
            <a:ext cx="82296" cy="82296"/>
          </a:xfrm>
          <a:prstGeom prst="ellipse">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veal_05"/>
          <p:cNvSpPr txBox="1"/>
          <p:nvPr/>
        </p:nvSpPr>
        <p:spPr>
          <a:xfrm>
            <a:off x="6793992" y="26151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Manual settlement</a:t>
            </a:r>
          </a:p>
        </p:txBody>
      </p:sp>
      <p:sp>
        <p:nvSpPr>
          <p:cNvPr id="16" name="reveal_05"/>
          <p:cNvSpPr txBox="1"/>
          <p:nvPr/>
        </p:nvSpPr>
        <p:spPr>
          <a:xfrm>
            <a:off x="6793992" y="2907791"/>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Claim/process/complete/fail, payout references, held funds/refunds and receiving details.</a:t>
            </a:r>
          </a:p>
        </p:txBody>
      </p:sp>
      <p:sp>
        <p:nvSpPr>
          <p:cNvPr id="17" name="Oval 16"/>
          <p:cNvSpPr/>
          <p:nvPr/>
        </p:nvSpPr>
        <p:spPr>
          <a:xfrm>
            <a:off x="6583680" y="3355848"/>
            <a:ext cx="82296" cy="82296"/>
          </a:xfrm>
          <a:prstGeom prst="ellipse">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veal_06"/>
          <p:cNvSpPr txBox="1"/>
          <p:nvPr/>
        </p:nvSpPr>
        <p:spPr>
          <a:xfrm>
            <a:off x="6793992" y="33009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Financial configuration</a:t>
            </a:r>
          </a:p>
        </p:txBody>
      </p:sp>
      <p:sp>
        <p:nvSpPr>
          <p:cNvPr id="19" name="reveal_06"/>
          <p:cNvSpPr txBox="1"/>
          <p:nvPr/>
        </p:nvSpPr>
        <p:spPr>
          <a:xfrm>
            <a:off x="6793992" y="3593591"/>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Risk/frequency ceilings, FX, providers/fees/spreads/routes and credit guidance.</a:t>
            </a:r>
          </a:p>
        </p:txBody>
      </p:sp>
      <p:sp>
        <p:nvSpPr>
          <p:cNvPr id="20" name="Oval 19"/>
          <p:cNvSpPr/>
          <p:nvPr/>
        </p:nvSpPr>
        <p:spPr>
          <a:xfrm>
            <a:off x="6583680" y="4041647"/>
            <a:ext cx="82296" cy="82296"/>
          </a:xfrm>
          <a:prstGeom prst="ellipse">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veal_07"/>
          <p:cNvSpPr txBox="1"/>
          <p:nvPr/>
        </p:nvSpPr>
        <p:spPr>
          <a:xfrm>
            <a:off x="6793992" y="39867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Catalog &amp; subscriptions</a:t>
            </a:r>
          </a:p>
        </p:txBody>
      </p:sp>
      <p:sp>
        <p:nvSpPr>
          <p:cNvPr id="22" name="reveal_07"/>
          <p:cNvSpPr txBox="1"/>
          <p:nvPr/>
        </p:nvSpPr>
        <p:spPr>
          <a:xfrm>
            <a:off x="6793992" y="4279392"/>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Countries/currencies, defaults/settings, pricing, quotas and feature limits.</a:t>
            </a:r>
          </a:p>
        </p:txBody>
      </p:sp>
      <p:sp>
        <p:nvSpPr>
          <p:cNvPr id="23" name="Oval 22"/>
          <p:cNvSpPr/>
          <p:nvPr/>
        </p:nvSpPr>
        <p:spPr>
          <a:xfrm>
            <a:off x="6583680" y="4727447"/>
            <a:ext cx="82296" cy="82296"/>
          </a:xfrm>
          <a:prstGeom prst="ellipse">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veal_08"/>
          <p:cNvSpPr txBox="1"/>
          <p:nvPr/>
        </p:nvSpPr>
        <p:spPr>
          <a:xfrm>
            <a:off x="6793992" y="46725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AI &amp; platform team</a:t>
            </a:r>
          </a:p>
        </p:txBody>
      </p:sp>
      <p:sp>
        <p:nvSpPr>
          <p:cNvPr id="25" name="reveal_08"/>
          <p:cNvSpPr txBox="1"/>
          <p:nvPr/>
        </p:nvSpPr>
        <p:spPr>
          <a:xfrm>
            <a:off x="6793992" y="4965192"/>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Shared models/keys, connection tests, run/tool inspection and published team profiles.</a:t>
            </a:r>
          </a:p>
        </p:txBody>
      </p:sp>
      <p:sp>
        <p:nvSpPr>
          <p:cNvPr id="26" name="Oval 25"/>
          <p:cNvSpPr/>
          <p:nvPr/>
        </p:nvSpPr>
        <p:spPr>
          <a:xfrm>
            <a:off x="6583680" y="5413247"/>
            <a:ext cx="82296" cy="82296"/>
          </a:xfrm>
          <a:prstGeom prst="ellipse">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veal_09"/>
          <p:cNvSpPr txBox="1"/>
          <p:nvPr/>
        </p:nvSpPr>
        <p:spPr>
          <a:xfrm>
            <a:off x="6793992" y="53583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Reports &amp; evidence</a:t>
            </a:r>
          </a:p>
        </p:txBody>
      </p:sp>
      <p:sp>
        <p:nvSpPr>
          <p:cNvPr id="28" name="reveal_09"/>
          <p:cNvSpPr txBox="1"/>
          <p:nvPr/>
        </p:nvSpPr>
        <p:spPr>
          <a:xfrm>
            <a:off x="6793992" y="5650992"/>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Resolve reports; audit logs, transfer receipts, project and security evidence exports.</a:t>
            </a:r>
          </a:p>
        </p:txBody>
      </p:sp>
      <p:sp>
        <p:nvSpPr>
          <p:cNvPr id="29" name="TextBox 28"/>
          <p:cNvSpPr txBox="1"/>
          <p:nvPr/>
        </p:nvSpPr>
        <p:spPr>
          <a:xfrm>
            <a:off x="6793992" y="6199632"/>
            <a:ext cx="4690872" cy="210312"/>
          </a:xfrm>
          <a:prstGeom prst="rect">
            <a:avLst/>
          </a:prstGeom>
          <a:noFill/>
        </p:spPr>
        <p:txBody>
          <a:bodyPr wrap="square" lIns="0" tIns="0" rIns="0" bIns="0">
            <a:spAutoFit/>
          </a:bodyPr>
          <a:lstStyle/>
          <a:p>
            <a:pPr>
              <a:spcAft>
                <a:spcPts val="300"/>
              </a:spcAft>
              <a:defRPr sz="1000" b="0">
                <a:solidFill>
                  <a:srgbClr val="63E6BE"/>
                </a:solidFill>
                <a:latin typeface="Aptos"/>
              </a:defRPr>
            </a:pPr>
            <a:r>
              <a:t>Moderator access is limited to assigned sections.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childTnLst>
                          </p:cTn>
                        </p:par>
                        <p:par>
                          <p:cTn id="8" fill="hold">
                            <p:stCondLst>
                              <p:cond delay="600"/>
                            </p:stCondLst>
                            <p:childTnLst>
                              <p:par>
                                <p:cTn id="9" presetID="10"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600"/>
                                        <p:tgtEl>
                                          <p:spTgt spid="7"/>
                                        </p:tgtEl>
                                      </p:cBhvr>
                                    </p:animEffect>
                                  </p:childTnLst>
                                </p:cTn>
                              </p:par>
                            </p:childTnLst>
                          </p:cTn>
                        </p:par>
                        <p:par>
                          <p:cTn id="12" fill="hold">
                            <p:stCondLst>
                              <p:cond delay="1200"/>
                            </p:stCondLst>
                            <p:childTnLst>
                              <p:par>
                                <p:cTn id="13" presetID="22" presetClass="entr" presetSubtype="4"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down)">
                                      <p:cBhvr>
                                        <p:cTn id="15" dur="600"/>
                                        <p:tgtEl>
                                          <p:spTgt spid="10"/>
                                        </p:tgtEl>
                                      </p:cBhvr>
                                    </p:animEffect>
                                  </p:childTnLst>
                                </p:cTn>
                              </p:par>
                            </p:childTnLst>
                          </p:cTn>
                        </p:par>
                        <p:par>
                          <p:cTn id="16" fill="hold">
                            <p:stCondLst>
                              <p:cond delay="1800"/>
                            </p:stCondLst>
                            <p:childTnLst>
                              <p:par>
                                <p:cTn id="17" presetID="10" presetClass="entr" presetSubtype="0"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6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600"/>
                                        <p:tgtEl>
                                          <p:spTgt spid="12"/>
                                        </p:tgtEl>
                                      </p:cBhvr>
                                    </p:animEffect>
                                  </p:childTnLst>
                                </p:cTn>
                              </p:par>
                            </p:childTnLst>
                          </p:cTn>
                        </p:par>
                        <p:par>
                          <p:cTn id="23" fill="hold">
                            <p:stCondLst>
                              <p:cond delay="2400"/>
                            </p:stCondLst>
                            <p:childTnLst>
                              <p:par>
                                <p:cTn id="24" presetID="10" presetClass="entr" presetSubtype="0" fill="hold" grpId="0" nodeType="after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600"/>
                                        <p:tgtEl>
                                          <p:spTgt spid="1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600"/>
                                        <p:tgtEl>
                                          <p:spTgt spid="15"/>
                                        </p:tgtEl>
                                      </p:cBhvr>
                                    </p:animEffect>
                                  </p:childTnLst>
                                </p:cTn>
                              </p:par>
                            </p:childTnLst>
                          </p:cTn>
                        </p:par>
                        <p:par>
                          <p:cTn id="30" fill="hold">
                            <p:stCondLst>
                              <p:cond delay="3000"/>
                            </p:stCondLst>
                            <p:childTnLst>
                              <p:par>
                                <p:cTn id="31" presetID="10" presetClass="entr" presetSubtype="0" fill="hold" grpId="0" nodeType="after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6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600"/>
                                        <p:tgtEl>
                                          <p:spTgt spid="18"/>
                                        </p:tgtEl>
                                      </p:cBhvr>
                                    </p:animEffect>
                                  </p:childTnLst>
                                </p:cTn>
                              </p:par>
                            </p:childTnLst>
                          </p:cTn>
                        </p:par>
                        <p:par>
                          <p:cTn id="37" fill="hold">
                            <p:stCondLst>
                              <p:cond delay="3600"/>
                            </p:stCondLst>
                            <p:childTnLst>
                              <p:par>
                                <p:cTn id="38" presetID="10" presetClass="entr" presetSubtype="0" fill="hold" grpId="0" nodeType="after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600"/>
                                        <p:tgtEl>
                                          <p:spTgt spid="2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600"/>
                                        <p:tgtEl>
                                          <p:spTgt spid="21"/>
                                        </p:tgtEl>
                                      </p:cBhvr>
                                    </p:animEffect>
                                  </p:childTnLst>
                                </p:cTn>
                              </p:par>
                            </p:childTnLst>
                          </p:cTn>
                        </p:par>
                        <p:par>
                          <p:cTn id="44" fill="hold">
                            <p:stCondLst>
                              <p:cond delay="4200"/>
                            </p:stCondLst>
                            <p:childTnLst>
                              <p:par>
                                <p:cTn id="45" presetID="10" presetClass="entr" presetSubtype="0" fill="hold" grpId="0" nodeType="after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600"/>
                                        <p:tgtEl>
                                          <p:spTgt spid="2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600"/>
                                        <p:tgtEl>
                                          <p:spTgt spid="24"/>
                                        </p:tgtEl>
                                      </p:cBhvr>
                                    </p:animEffect>
                                  </p:childTnLst>
                                </p:cTn>
                              </p:par>
                            </p:childTnLst>
                          </p:cTn>
                        </p:par>
                        <p:par>
                          <p:cTn id="51" fill="hold">
                            <p:stCondLst>
                              <p:cond delay="4800"/>
                            </p:stCondLst>
                            <p:childTnLst>
                              <p:par>
                                <p:cTn id="52" presetID="10" presetClass="entr" presetSubtype="0" fill="hold" grpId="0" nodeType="after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600"/>
                                        <p:tgtEl>
                                          <p:spTgt spid="28"/>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7" dur="6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Graphic spid="10" grpId="0">
        <p:bldAsOne/>
      </p:bldGraphic>
      <p:bldP spid="12" grpId="0"/>
      <p:bldP spid="13" grpId="0"/>
      <p:bldP spid="15" grpId="0"/>
      <p:bldP spid="16" grpId="0"/>
      <p:bldP spid="18" grpId="0"/>
      <p:bldP spid="19" grpId="0"/>
      <p:bldP spid="21" grpId="0"/>
      <p:bldP spid="22" grpId="0"/>
      <p:bldP spid="24" grpId="0"/>
      <p:bldP spid="25" grpId="0"/>
      <p:bldP spid="27" grpId="0"/>
      <p:bldP spid="28"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0058400" cy="228600"/>
          </a:xfrm>
          <a:prstGeom prst="rect">
            <a:avLst/>
          </a:prstGeom>
          <a:noFill/>
        </p:spPr>
        <p:txBody>
          <a:bodyPr wrap="square" lIns="0" tIns="0" rIns="0" bIns="0">
            <a:spAutoFit/>
          </a:bodyPr>
          <a:lstStyle/>
          <a:p>
            <a:pPr>
              <a:spcAft>
                <a:spcPts val="300"/>
              </a:spcAft>
              <a:defRPr sz="1000" b="1">
                <a:solidFill>
                  <a:srgbClr val="63E6BE"/>
                </a:solidFill>
                <a:latin typeface="Aptos"/>
              </a:defRPr>
            </a:pPr>
            <a:r>
              <a:t>SECURITY &amp; PRIVACY</a:t>
            </a:r>
          </a:p>
        </p:txBody>
      </p:sp>
      <p:sp>
        <p:nvSpPr>
          <p:cNvPr id="3" name="reveal_01"/>
          <p:cNvSpPr txBox="1"/>
          <p:nvPr/>
        </p:nvSpPr>
        <p:spPr>
          <a:xfrm>
            <a:off x="502920" y="768096"/>
            <a:ext cx="11155680" cy="612648"/>
          </a:xfrm>
          <a:prstGeom prst="rect">
            <a:avLst/>
          </a:prstGeom>
          <a:noFill/>
        </p:spPr>
        <p:txBody>
          <a:bodyPr wrap="square" lIns="0" tIns="0" rIns="0" bIns="0">
            <a:spAutoFit/>
          </a:bodyPr>
          <a:lstStyle/>
          <a:p>
            <a:pPr>
              <a:spcAft>
                <a:spcPts val="300"/>
              </a:spcAft>
              <a:defRPr sz="3100" b="1">
                <a:solidFill>
                  <a:srgbClr val="EDF5FF"/>
                </a:solidFill>
                <a:latin typeface="Aptos"/>
              </a:defRPr>
            </a:pPr>
            <a:r>
              <a:t>Security &amp; privacy</a:t>
            </a:r>
          </a:p>
        </p:txBody>
      </p:sp>
      <p:sp>
        <p:nvSpPr>
          <p:cNvPr id="4" name="TextBox 3"/>
          <p:cNvSpPr txBox="1"/>
          <p:nvPr/>
        </p:nvSpPr>
        <p:spPr>
          <a:xfrm>
            <a:off x="521207" y="1389888"/>
            <a:ext cx="10972800" cy="411480"/>
          </a:xfrm>
          <a:prstGeom prst="rect">
            <a:avLst/>
          </a:prstGeom>
          <a:noFill/>
        </p:spPr>
        <p:txBody>
          <a:bodyPr wrap="square" lIns="0" tIns="0" rIns="0" bIns="0">
            <a:spAutoFit/>
          </a:bodyPr>
          <a:lstStyle/>
          <a:p>
            <a:pPr>
              <a:spcAft>
                <a:spcPts val="300"/>
              </a:spcAft>
              <a:defRPr sz="1300" b="0">
                <a:solidFill>
                  <a:srgbClr val="A2B4CA"/>
                </a:solidFill>
                <a:latin typeface="Aptos"/>
              </a:defRPr>
            </a:pPr>
            <a:r>
              <a:t>Controls are applied to each action and each field of financial context.</a:t>
            </a:r>
          </a:p>
        </p:txBody>
      </p:sp>
      <p:sp>
        <p:nvSpPr>
          <p:cNvPr id="5" name="TextBox 4"/>
          <p:cNvSpPr txBox="1"/>
          <p:nvPr/>
        </p:nvSpPr>
        <p:spPr>
          <a:xfrm>
            <a:off x="502920" y="6510528"/>
            <a:ext cx="3657600" cy="182880"/>
          </a:xfrm>
          <a:prstGeom prst="rect">
            <a:avLst/>
          </a:prstGeom>
          <a:noFill/>
        </p:spPr>
        <p:txBody>
          <a:bodyPr wrap="square" lIns="0" tIns="0" rIns="0" bIns="0">
            <a:spAutoFit/>
          </a:bodyPr>
          <a:lstStyle/>
          <a:p>
            <a:pPr>
              <a:spcAft>
                <a:spcPts val="300"/>
              </a:spcAft>
              <a:defRPr sz="900" b="0">
                <a:solidFill>
                  <a:srgbClr val="A2B4CA"/>
                </a:solidFill>
                <a:latin typeface="Aptos"/>
              </a:defRPr>
            </a:pPr>
            <a:r>
              <a:t>FINBRIDGE AI</a:t>
            </a:r>
          </a:p>
        </p:txBody>
      </p:sp>
      <p:sp>
        <p:nvSpPr>
          <p:cNvPr id="6" name="TextBox 5"/>
          <p:cNvSpPr txBox="1"/>
          <p:nvPr/>
        </p:nvSpPr>
        <p:spPr>
          <a:xfrm>
            <a:off x="10607040" y="6473952"/>
            <a:ext cx="1078992" cy="228600"/>
          </a:xfrm>
          <a:prstGeom prst="rect">
            <a:avLst/>
          </a:prstGeom>
          <a:noFill/>
        </p:spPr>
        <p:txBody>
          <a:bodyPr wrap="square" lIns="0" tIns="0" rIns="0" bIns="0">
            <a:spAutoFit/>
          </a:bodyPr>
          <a:lstStyle/>
          <a:p>
            <a:pPr algn="r">
              <a:spcAft>
                <a:spcPts val="300"/>
              </a:spcAft>
              <a:defRPr sz="1000" b="0">
                <a:solidFill>
                  <a:srgbClr val="A2B4CA"/>
                </a:solidFill>
                <a:latin typeface="Aptos"/>
              </a:defRPr>
            </a:pPr>
            <a:r>
              <a:t>09 / 10</a:t>
            </a:r>
          </a:p>
        </p:txBody>
      </p:sp>
      <p:pic>
        <p:nvPicPr>
          <p:cNvPr id="7" name="reveal_02" descr="privacy.gif"/>
          <p:cNvPicPr>
            <a:picLocks noChangeAspect="1"/>
          </p:cNvPicPr>
          <p:nvPr/>
        </p:nvPicPr>
        <p:blipFill>
          <a:blip r:embed="rId3"/>
          <a:stretch>
            <a:fillRect/>
          </a:stretch>
        </p:blipFill>
        <p:spPr>
          <a:xfrm>
            <a:off x="502920" y="1920240"/>
            <a:ext cx="6583680" cy="3895344"/>
          </a:xfrm>
          <a:prstGeom prst="rect">
            <a:avLst/>
          </a:prstGeom>
        </p:spPr>
      </p:pic>
      <p:sp>
        <p:nvSpPr>
          <p:cNvPr id="8" name="Rounded Rectangle 7"/>
          <p:cNvSpPr/>
          <p:nvPr/>
        </p:nvSpPr>
        <p:spPr>
          <a:xfrm>
            <a:off x="7342631" y="2020824"/>
            <a:ext cx="411480" cy="292608"/>
          </a:xfrm>
          <a:prstGeom prst="roundRect">
            <a:avLst>
              <a:gd name="adj" fmla="val 10000"/>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15783" y="2061972"/>
            <a:ext cx="265176" cy="210312"/>
          </a:xfrm>
          <a:prstGeom prst="rect">
            <a:avLst/>
          </a:prstGeom>
          <a:noFill/>
        </p:spPr>
        <p:txBody>
          <a:bodyPr wrap="square" lIns="0" tIns="0" rIns="0" bIns="0">
            <a:spAutoFit/>
          </a:bodyPr>
          <a:lstStyle/>
          <a:p>
            <a:pPr>
              <a:spcAft>
                <a:spcPts val="300"/>
              </a:spcAft>
              <a:defRPr sz="1000" b="1">
                <a:solidFill>
                  <a:srgbClr val="080F1B"/>
                </a:solidFill>
                <a:latin typeface="Aptos"/>
              </a:defRPr>
            </a:pPr>
            <a:r>
              <a:t>01</a:t>
            </a:r>
          </a:p>
        </p:txBody>
      </p:sp>
      <p:sp>
        <p:nvSpPr>
          <p:cNvPr id="10" name="reveal_03"/>
          <p:cNvSpPr txBox="1"/>
          <p:nvPr/>
        </p:nvSpPr>
        <p:spPr>
          <a:xfrm>
            <a:off x="7918704" y="2020824"/>
            <a:ext cx="3749039" cy="274320"/>
          </a:xfrm>
          <a:prstGeom prst="rect">
            <a:avLst/>
          </a:prstGeom>
          <a:noFill/>
        </p:spPr>
        <p:txBody>
          <a:bodyPr wrap="square" lIns="0" tIns="0" rIns="0" bIns="0">
            <a:spAutoFit/>
          </a:bodyPr>
          <a:lstStyle/>
          <a:p>
            <a:pPr>
              <a:spcAft>
                <a:spcPts val="300"/>
              </a:spcAft>
              <a:defRPr sz="1400" b="1">
                <a:solidFill>
                  <a:srgbClr val="EDF5FF"/>
                </a:solidFill>
                <a:latin typeface="Aptos"/>
              </a:defRPr>
            </a:pPr>
            <a:r>
              <a:t>IDENTITY</a:t>
            </a:r>
          </a:p>
        </p:txBody>
      </p:sp>
      <p:sp>
        <p:nvSpPr>
          <p:cNvPr id="11" name="reveal_03"/>
          <p:cNvSpPr txBox="1"/>
          <p:nvPr/>
        </p:nvSpPr>
        <p:spPr>
          <a:xfrm>
            <a:off x="7918704" y="2414016"/>
            <a:ext cx="3657600" cy="457200"/>
          </a:xfrm>
          <a:prstGeom prst="rect">
            <a:avLst/>
          </a:prstGeom>
          <a:noFill/>
        </p:spPr>
        <p:txBody>
          <a:bodyPr wrap="square" lIns="0" tIns="0" rIns="0" bIns="0">
            <a:spAutoFit/>
          </a:bodyPr>
          <a:lstStyle/>
          <a:p>
            <a:pPr>
              <a:spcAft>
                <a:spcPts val="300"/>
              </a:spcAft>
              <a:defRPr sz="1300" b="0">
                <a:solidFill>
                  <a:srgbClr val="A2B4CA"/>
                </a:solidFill>
                <a:latin typeface="Aptos"/>
              </a:defRPr>
            </a:pPr>
            <a:r>
              <a:t>bcrypt hashes; signed sessions; revocation.</a:t>
            </a:r>
          </a:p>
        </p:txBody>
      </p:sp>
      <p:sp>
        <p:nvSpPr>
          <p:cNvPr id="12" name="Rounded Rectangle 11"/>
          <p:cNvSpPr/>
          <p:nvPr/>
        </p:nvSpPr>
        <p:spPr>
          <a:xfrm>
            <a:off x="7342631" y="2953512"/>
            <a:ext cx="411480" cy="292608"/>
          </a:xfrm>
          <a:prstGeom prst="roundRect">
            <a:avLst>
              <a:gd name="adj" fmla="val 10000"/>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415783" y="2994660"/>
            <a:ext cx="265176" cy="210312"/>
          </a:xfrm>
          <a:prstGeom prst="rect">
            <a:avLst/>
          </a:prstGeom>
          <a:noFill/>
        </p:spPr>
        <p:txBody>
          <a:bodyPr wrap="square" lIns="0" tIns="0" rIns="0" bIns="0">
            <a:spAutoFit/>
          </a:bodyPr>
          <a:lstStyle/>
          <a:p>
            <a:pPr>
              <a:spcAft>
                <a:spcPts val="300"/>
              </a:spcAft>
              <a:defRPr sz="1000" b="1">
                <a:solidFill>
                  <a:srgbClr val="080F1B"/>
                </a:solidFill>
                <a:latin typeface="Aptos"/>
              </a:defRPr>
            </a:pPr>
            <a:r>
              <a:t>02</a:t>
            </a:r>
          </a:p>
        </p:txBody>
      </p:sp>
      <p:sp>
        <p:nvSpPr>
          <p:cNvPr id="14" name="reveal_04"/>
          <p:cNvSpPr txBox="1"/>
          <p:nvPr/>
        </p:nvSpPr>
        <p:spPr>
          <a:xfrm>
            <a:off x="7918704" y="2953512"/>
            <a:ext cx="3749039" cy="274320"/>
          </a:xfrm>
          <a:prstGeom prst="rect">
            <a:avLst/>
          </a:prstGeom>
          <a:noFill/>
        </p:spPr>
        <p:txBody>
          <a:bodyPr wrap="square" lIns="0" tIns="0" rIns="0" bIns="0">
            <a:spAutoFit/>
          </a:bodyPr>
          <a:lstStyle/>
          <a:p>
            <a:pPr>
              <a:spcAft>
                <a:spcPts val="300"/>
              </a:spcAft>
              <a:defRPr sz="1400" b="1">
                <a:solidFill>
                  <a:srgbClr val="EDF5FF"/>
                </a:solidFill>
                <a:latin typeface="Aptos"/>
              </a:defRPr>
            </a:pPr>
            <a:r>
              <a:t>ACCESS</a:t>
            </a:r>
          </a:p>
        </p:txBody>
      </p:sp>
      <p:sp>
        <p:nvSpPr>
          <p:cNvPr id="15" name="reveal_04"/>
          <p:cNvSpPr txBox="1"/>
          <p:nvPr/>
        </p:nvSpPr>
        <p:spPr>
          <a:xfrm>
            <a:off x="7918704" y="3346704"/>
            <a:ext cx="3657600" cy="457200"/>
          </a:xfrm>
          <a:prstGeom prst="rect">
            <a:avLst/>
          </a:prstGeom>
          <a:noFill/>
        </p:spPr>
        <p:txBody>
          <a:bodyPr wrap="square" lIns="0" tIns="0" rIns="0" bIns="0">
            <a:spAutoFit/>
          </a:bodyPr>
          <a:lstStyle/>
          <a:p>
            <a:pPr>
              <a:spcAft>
                <a:spcPts val="300"/>
              </a:spcAft>
              <a:defRPr sz="1300" b="0">
                <a:solidFill>
                  <a:srgbClr val="A2B4CA"/>
                </a:solidFill>
                <a:latin typeface="Aptos"/>
              </a:defRPr>
            </a:pPr>
            <a:r>
              <a:t>Role + ownership checks; parent permissions.</a:t>
            </a:r>
          </a:p>
        </p:txBody>
      </p:sp>
      <p:sp>
        <p:nvSpPr>
          <p:cNvPr id="16" name="Rounded Rectangle 15"/>
          <p:cNvSpPr/>
          <p:nvPr/>
        </p:nvSpPr>
        <p:spPr>
          <a:xfrm>
            <a:off x="7342631" y="3886200"/>
            <a:ext cx="411480" cy="292608"/>
          </a:xfrm>
          <a:prstGeom prst="roundRect">
            <a:avLst>
              <a:gd name="adj" fmla="val 10000"/>
            </a:avLst>
          </a:prstGeom>
          <a:solidFill>
            <a:srgbClr val="B4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15783" y="3927348"/>
            <a:ext cx="265176" cy="210312"/>
          </a:xfrm>
          <a:prstGeom prst="rect">
            <a:avLst/>
          </a:prstGeom>
          <a:noFill/>
        </p:spPr>
        <p:txBody>
          <a:bodyPr wrap="square" lIns="0" tIns="0" rIns="0" bIns="0">
            <a:spAutoFit/>
          </a:bodyPr>
          <a:lstStyle/>
          <a:p>
            <a:pPr>
              <a:spcAft>
                <a:spcPts val="300"/>
              </a:spcAft>
              <a:defRPr sz="1000" b="1">
                <a:solidFill>
                  <a:srgbClr val="080F1B"/>
                </a:solidFill>
                <a:latin typeface="Aptos"/>
              </a:defRPr>
            </a:pPr>
            <a:r>
              <a:t>03</a:t>
            </a:r>
          </a:p>
        </p:txBody>
      </p:sp>
      <p:sp>
        <p:nvSpPr>
          <p:cNvPr id="18" name="reveal_05"/>
          <p:cNvSpPr txBox="1"/>
          <p:nvPr/>
        </p:nvSpPr>
        <p:spPr>
          <a:xfrm>
            <a:off x="7918704" y="3886200"/>
            <a:ext cx="3749039" cy="274320"/>
          </a:xfrm>
          <a:prstGeom prst="rect">
            <a:avLst/>
          </a:prstGeom>
          <a:noFill/>
        </p:spPr>
        <p:txBody>
          <a:bodyPr wrap="square" lIns="0" tIns="0" rIns="0" bIns="0">
            <a:spAutoFit/>
          </a:bodyPr>
          <a:lstStyle/>
          <a:p>
            <a:pPr>
              <a:spcAft>
                <a:spcPts val="300"/>
              </a:spcAft>
              <a:defRPr sz="1400" b="1">
                <a:solidFill>
                  <a:srgbClr val="EDF5FF"/>
                </a:solidFill>
                <a:latin typeface="Aptos"/>
              </a:defRPr>
            </a:pPr>
            <a:r>
              <a:t>AI &amp; SECRETS</a:t>
            </a:r>
          </a:p>
        </p:txBody>
      </p:sp>
      <p:sp>
        <p:nvSpPr>
          <p:cNvPr id="19" name="reveal_05"/>
          <p:cNvSpPr txBox="1"/>
          <p:nvPr/>
        </p:nvSpPr>
        <p:spPr>
          <a:xfrm>
            <a:off x="7918704" y="4279392"/>
            <a:ext cx="3657600" cy="457200"/>
          </a:xfrm>
          <a:prstGeom prst="rect">
            <a:avLst/>
          </a:prstGeom>
          <a:noFill/>
        </p:spPr>
        <p:txBody>
          <a:bodyPr wrap="square" lIns="0" tIns="0" rIns="0" bIns="0">
            <a:spAutoFit/>
          </a:bodyPr>
          <a:lstStyle/>
          <a:p>
            <a:pPr>
              <a:spcAft>
                <a:spcPts val="300"/>
              </a:spcAft>
              <a:defRPr sz="1300" b="0">
                <a:solidFill>
                  <a:srgbClr val="A2B4CA"/>
                </a:solidFill>
                <a:latin typeface="Aptos"/>
              </a:defRPr>
            </a:pPr>
            <a:r>
              <a:t>AES-256-GCM model keys; validated tools.</a:t>
            </a:r>
          </a:p>
        </p:txBody>
      </p:sp>
      <p:sp>
        <p:nvSpPr>
          <p:cNvPr id="20" name="Rounded Rectangle 19"/>
          <p:cNvSpPr/>
          <p:nvPr/>
        </p:nvSpPr>
        <p:spPr>
          <a:xfrm>
            <a:off x="7342631" y="4818888"/>
            <a:ext cx="411480" cy="292608"/>
          </a:xfrm>
          <a:prstGeom prst="roundRect">
            <a:avLst>
              <a:gd name="adj" fmla="val 10000"/>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15783" y="4860036"/>
            <a:ext cx="265176" cy="210312"/>
          </a:xfrm>
          <a:prstGeom prst="rect">
            <a:avLst/>
          </a:prstGeom>
          <a:noFill/>
        </p:spPr>
        <p:txBody>
          <a:bodyPr wrap="square" lIns="0" tIns="0" rIns="0" bIns="0">
            <a:spAutoFit/>
          </a:bodyPr>
          <a:lstStyle/>
          <a:p>
            <a:pPr>
              <a:spcAft>
                <a:spcPts val="300"/>
              </a:spcAft>
              <a:defRPr sz="1000" b="1">
                <a:solidFill>
                  <a:srgbClr val="080F1B"/>
                </a:solidFill>
                <a:latin typeface="Aptos"/>
              </a:defRPr>
            </a:pPr>
            <a:r>
              <a:t>04</a:t>
            </a:r>
          </a:p>
        </p:txBody>
      </p:sp>
      <p:sp>
        <p:nvSpPr>
          <p:cNvPr id="22" name="reveal_06"/>
          <p:cNvSpPr txBox="1"/>
          <p:nvPr/>
        </p:nvSpPr>
        <p:spPr>
          <a:xfrm>
            <a:off x="7918704" y="4818888"/>
            <a:ext cx="3749039" cy="274320"/>
          </a:xfrm>
          <a:prstGeom prst="rect">
            <a:avLst/>
          </a:prstGeom>
          <a:noFill/>
        </p:spPr>
        <p:txBody>
          <a:bodyPr wrap="square" lIns="0" tIns="0" rIns="0" bIns="0">
            <a:spAutoFit/>
          </a:bodyPr>
          <a:lstStyle/>
          <a:p>
            <a:pPr>
              <a:spcAft>
                <a:spcPts val="300"/>
              </a:spcAft>
              <a:defRPr sz="1400" b="1">
                <a:solidFill>
                  <a:srgbClr val="EDF5FF"/>
                </a:solidFill>
                <a:latin typeface="Aptos"/>
              </a:defRPr>
            </a:pPr>
            <a:r>
              <a:t>MONEY INTEGRITY</a:t>
            </a:r>
          </a:p>
        </p:txBody>
      </p:sp>
      <p:sp>
        <p:nvSpPr>
          <p:cNvPr id="23" name="reveal_06"/>
          <p:cNvSpPr txBox="1"/>
          <p:nvPr/>
        </p:nvSpPr>
        <p:spPr>
          <a:xfrm>
            <a:off x="7918704" y="5212079"/>
            <a:ext cx="3657600" cy="457200"/>
          </a:xfrm>
          <a:prstGeom prst="rect">
            <a:avLst/>
          </a:prstGeom>
          <a:noFill/>
        </p:spPr>
        <p:txBody>
          <a:bodyPr wrap="square" lIns="0" tIns="0" rIns="0" bIns="0">
            <a:spAutoFit/>
          </a:bodyPr>
          <a:lstStyle/>
          <a:p>
            <a:pPr>
              <a:spcAft>
                <a:spcPts val="300"/>
              </a:spcAft>
              <a:defRPr sz="1300" b="0">
                <a:solidFill>
                  <a:srgbClr val="A2B4CA"/>
                </a:solidFill>
                <a:latin typeface="Aptos"/>
              </a:defRPr>
            </a:pPr>
            <a:r>
              <a:t>Confirmation, locks, tokens, balanced ledger.</a:t>
            </a:r>
          </a:p>
        </p:txBody>
      </p:sp>
      <p:sp>
        <p:nvSpPr>
          <p:cNvPr id="24" name="Rounded Rectangle 23"/>
          <p:cNvSpPr/>
          <p:nvPr/>
        </p:nvSpPr>
        <p:spPr>
          <a:xfrm>
            <a:off x="502920" y="6007608"/>
            <a:ext cx="11183112" cy="402336"/>
          </a:xfrm>
          <a:prstGeom prst="roundRect">
            <a:avLst>
              <a:gd name="adj" fmla="val 10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04088" y="6117336"/>
            <a:ext cx="10789920" cy="210312"/>
          </a:xfrm>
          <a:prstGeom prst="rect">
            <a:avLst/>
          </a:prstGeom>
          <a:noFill/>
        </p:spPr>
        <p:txBody>
          <a:bodyPr wrap="square" lIns="0" tIns="0" rIns="0" bIns="0">
            <a:spAutoFit/>
          </a:bodyPr>
          <a:lstStyle/>
          <a:p>
            <a:pPr>
              <a:spcAft>
                <a:spcPts val="300"/>
              </a:spcAft>
              <a:defRPr sz="1100" b="0">
                <a:solidFill>
                  <a:srgbClr val="A2B4CA"/>
                </a:solidFill>
                <a:latin typeface="Aptos"/>
              </a:defRPr>
            </a:pPr>
            <a:r>
              <a:t>Data export  ·  Account closure  ·  No stored full PAN/CVV  ·  Selected AI context may reach the configured provider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childTnLst>
                          </p:cTn>
                        </p:par>
                        <p:par>
                          <p:cTn id="8" fill="hold">
                            <p:stCondLst>
                              <p:cond delay="600"/>
                            </p:stCondLst>
                            <p:childTnLst>
                              <p:par>
                                <p:cTn id="9" presetID="10"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600"/>
                                        <p:tgtEl>
                                          <p:spTgt spid="7"/>
                                        </p:tgtEl>
                                      </p:cBhvr>
                                    </p:animEffect>
                                  </p:childTnLst>
                                </p:cTn>
                              </p:par>
                            </p:childTnLst>
                          </p:cTn>
                        </p:par>
                        <p:par>
                          <p:cTn id="12" fill="hold">
                            <p:stCondLst>
                              <p:cond delay="1200"/>
                            </p:stCondLst>
                            <p:childTnLst>
                              <p:par>
                                <p:cTn id="13" presetID="10" presetClass="entr" presetSubtype="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600"/>
                                        <p:tgtEl>
                                          <p:spTgt spid="1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600"/>
                                        <p:tgtEl>
                                          <p:spTgt spid="10"/>
                                        </p:tgtEl>
                                      </p:cBhvr>
                                    </p:animEffect>
                                  </p:childTnLst>
                                </p:cTn>
                              </p:par>
                            </p:childTnLst>
                          </p:cTn>
                        </p:par>
                        <p:par>
                          <p:cTn id="19" fill="hold">
                            <p:stCondLst>
                              <p:cond delay="1800"/>
                            </p:stCondLst>
                            <p:childTnLst>
                              <p:par>
                                <p:cTn id="20" presetID="10" presetClass="entr" presetSubtype="0" fill="hold" grpId="0" nodeType="after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600"/>
                                        <p:tgtEl>
                                          <p:spTgt spid="1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600"/>
                                        <p:tgtEl>
                                          <p:spTgt spid="14"/>
                                        </p:tgtEl>
                                      </p:cBhvr>
                                    </p:animEffect>
                                  </p:childTnLst>
                                </p:cTn>
                              </p:par>
                            </p:childTnLst>
                          </p:cTn>
                        </p:par>
                        <p:par>
                          <p:cTn id="26" fill="hold">
                            <p:stCondLst>
                              <p:cond delay="2400"/>
                            </p:stCondLst>
                            <p:childTnLst>
                              <p:par>
                                <p:cTn id="27" presetID="10" presetClass="entr" presetSubtype="0" fill="hold" grpId="0" nodeType="after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600"/>
                                        <p:tgtEl>
                                          <p:spTgt spid="1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600"/>
                                        <p:tgtEl>
                                          <p:spTgt spid="18"/>
                                        </p:tgtEl>
                                      </p:cBhvr>
                                    </p:animEffect>
                                  </p:childTnLst>
                                </p:cTn>
                              </p:par>
                            </p:childTnLst>
                          </p:cTn>
                        </p:par>
                        <p:par>
                          <p:cTn id="33" fill="hold">
                            <p:stCondLst>
                              <p:cond delay="3000"/>
                            </p:stCondLst>
                            <p:childTnLst>
                              <p:par>
                                <p:cTn id="34" presetID="10" presetClass="entr" presetSubtype="0" fill="hold" grpId="0" nodeType="after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600"/>
                                        <p:tgtEl>
                                          <p:spTgt spid="2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6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P spid="11" grpId="0"/>
      <p:bldP spid="14" grpId="0"/>
      <p:bldP spid="15" grpId="0"/>
      <p:bldP spid="18" grpId="0"/>
      <p:bldP spid="19" grpId="0"/>
      <p:bldP spid="22" grpId="0"/>
      <p:bldP spid="23"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TotalTime>
  <Words>3085</Words>
  <Application>Microsoft Office PowerPoint</Application>
  <PresentationFormat>Widescreen</PresentationFormat>
  <Paragraphs>245</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FinBridge AI — Project Presentation</dc:title>
  <dc:subject/>
  <dc:creator>FinBridge AI Project Team</dc:creator>
  <cp:keywords/>
  <dc:description>generated using python-pptx</dc:description>
  <cp:lastModifiedBy>WALTON</cp:lastModifiedBy>
  <cp:revision>6</cp:revision>
  <dcterms:created xsi:type="dcterms:W3CDTF">2013-01-27T09:14:16Z</dcterms:created>
  <dcterms:modified xsi:type="dcterms:W3CDTF">2026-10-20T13:22:59Z</dcterms:modified>
  <cp:category/>
</cp:coreProperties>
</file>