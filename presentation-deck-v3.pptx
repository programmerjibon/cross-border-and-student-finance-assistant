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5" r:id="rId3"/>
    <p:sldId id="257" r:id="rId4"/>
    <p:sldId id="258" r:id="rId5"/>
    <p:sldId id="259" r:id="rId6"/>
    <p:sldId id="260" r:id="rId7"/>
    <p:sldId id="261" r:id="rId8"/>
    <p:sldId id="262" r:id="rId9"/>
    <p:sldId id="263" r:id="rId10"/>
    <p:sldId id="266" r:id="rId11"/>
    <p:sldId id="264"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78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Projected funds</c:v>
                </c:pt>
              </c:strCache>
            </c:strRef>
          </c:tx>
          <c:spPr>
            <a:ln w="38100">
              <a:solidFill>
                <a:srgbClr val="63E6BE"/>
              </a:solidFill>
            </a:ln>
          </c:spPr>
          <c:marker>
            <c:symbol val="none"/>
          </c:marker>
          <c:cat>
            <c:strRef>
              <c:f>Sheet1!$A$2:$A$4</c:f>
              <c:strCache>
                <c:ptCount val="3"/>
                <c:pt idx="0">
                  <c:v>Now</c:v>
                </c:pt>
                <c:pt idx="1">
                  <c:v>Month 1</c:v>
                </c:pt>
                <c:pt idx="2">
                  <c:v>Tuition due</c:v>
                </c:pt>
              </c:strCache>
            </c:strRef>
          </c:cat>
          <c:val>
            <c:numRef>
              <c:f>Sheet1!$B$2:$B$4</c:f>
              <c:numCache>
                <c:formatCode>General</c:formatCode>
                <c:ptCount val="3"/>
                <c:pt idx="0">
                  <c:v>27500</c:v>
                </c:pt>
                <c:pt idx="1">
                  <c:v>30375</c:v>
                </c:pt>
                <c:pt idx="2">
                  <c:v>33250</c:v>
                </c:pt>
              </c:numCache>
            </c:numRef>
          </c:val>
          <c:smooth val="0"/>
          <c:extLst>
            <c:ext xmlns:c16="http://schemas.microsoft.com/office/drawing/2014/chart" uri="{C3380CC4-5D6E-409C-BE32-E72D297353CC}">
              <c16:uniqueId val="{00000000-120E-4D1A-A0E1-E910A6F614F6}"/>
            </c:ext>
          </c:extLst>
        </c:ser>
        <c:ser>
          <c:idx val="1"/>
          <c:order val="1"/>
          <c:tx>
            <c:strRef>
              <c:f>Sheet1!$C$1</c:f>
              <c:strCache>
                <c:ptCount val="1"/>
                <c:pt idx="0">
                  <c:v>Tuition required</c:v>
                </c:pt>
              </c:strCache>
            </c:strRef>
          </c:tx>
          <c:spPr>
            <a:ln w="38100">
              <a:solidFill>
                <a:srgbClr val="F3C969"/>
              </a:solidFill>
            </a:ln>
          </c:spPr>
          <c:marker>
            <c:symbol val="none"/>
          </c:marker>
          <c:cat>
            <c:strRef>
              <c:f>Sheet1!$A$2:$A$4</c:f>
              <c:strCache>
                <c:ptCount val="3"/>
                <c:pt idx="0">
                  <c:v>Now</c:v>
                </c:pt>
                <c:pt idx="1">
                  <c:v>Month 1</c:v>
                </c:pt>
                <c:pt idx="2">
                  <c:v>Tuition due</c:v>
                </c:pt>
              </c:strCache>
            </c:strRef>
          </c:cat>
          <c:val>
            <c:numRef>
              <c:f>Sheet1!$C$2:$C$4</c:f>
              <c:numCache>
                <c:formatCode>General</c:formatCode>
                <c:ptCount val="3"/>
                <c:pt idx="0">
                  <c:v>40000</c:v>
                </c:pt>
                <c:pt idx="1">
                  <c:v>40000</c:v>
                </c:pt>
                <c:pt idx="2">
                  <c:v>40000</c:v>
                </c:pt>
              </c:numCache>
            </c:numRef>
          </c:val>
          <c:smooth val="0"/>
          <c:extLst>
            <c:ext xmlns:c16="http://schemas.microsoft.com/office/drawing/2014/chart" uri="{C3380CC4-5D6E-409C-BE32-E72D297353CC}">
              <c16:uniqueId val="{00000001-120E-4D1A-A0E1-E910A6F614F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40495176"/>
        <c:crosses val="autoZero"/>
        <c:auto val="1"/>
        <c:lblAlgn val="ctr"/>
        <c:lblOffset val="100"/>
        <c:noMultiLvlLbl val="0"/>
      </c:catAx>
      <c:valAx>
        <c:axId val="2140495176"/>
        <c:scaling>
          <c:orientation val="minMax"/>
          <c:max val="45000"/>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118791784"/>
        <c:crosses val="autoZero"/>
        <c:crossBetween val="between"/>
      </c:valAx>
    </c:plotArea>
    <c:legend>
      <c:legendPos val="b"/>
      <c:overlay val="0"/>
      <c:txPr>
        <a:bodyPr/>
        <a:lstStyle/>
        <a:p>
          <a:pPr>
            <a:defRPr sz="1000">
              <a:solidFill>
                <a:srgbClr val="A2B4CA"/>
              </a:solidFill>
            </a:defRPr>
          </a:pPr>
          <a:endParaRPr lang="en-US"/>
        </a:p>
      </c:txPr>
    </c:legend>
    <c:plotVisOnly val="1"/>
    <c:dispBlanksAs val="gap"/>
    <c:showDLblsOverMax val="0"/>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Extra sender cost in BDT</c:v>
                </c:pt>
              </c:strCache>
            </c:strRef>
          </c:tx>
          <c:spPr>
            <a:solidFill>
              <a:srgbClr val="63E6BE"/>
            </a:solidFill>
            <a:ln>
              <a:noFill/>
            </a:ln>
          </c:spPr>
          <c:invertIfNegative val="1"/>
          <c:dPt>
            <c:idx val="0"/>
            <c:invertIfNegative val="1"/>
            <c:bubble3D val="0"/>
            <c:extLst>
              <c:ext xmlns:c16="http://schemas.microsoft.com/office/drawing/2014/chart" uri="{C3380CC4-5D6E-409C-BE32-E72D297353CC}">
                <c16:uniqueId val="{00000001-9B9F-4849-8039-2156EFE5E1C2}"/>
              </c:ext>
            </c:extLst>
          </c:dPt>
          <c:dPt>
            <c:idx val="1"/>
            <c:invertIfNegative val="1"/>
            <c:bubble3D val="0"/>
            <c:spPr>
              <a:solidFill>
                <a:srgbClr val="6BB9FF"/>
              </a:solidFill>
              <a:ln>
                <a:noFill/>
              </a:ln>
            </c:spPr>
            <c:extLst>
              <c:ext xmlns:c16="http://schemas.microsoft.com/office/drawing/2014/chart" uri="{C3380CC4-5D6E-409C-BE32-E72D297353CC}">
                <c16:uniqueId val="{00000003-9B9F-4849-8039-2156EFE5E1C2}"/>
              </c:ext>
            </c:extLst>
          </c:dPt>
          <c:dPt>
            <c:idx val="2"/>
            <c:invertIfNegative val="1"/>
            <c:bubble3D val="0"/>
            <c:spPr>
              <a:solidFill>
                <a:srgbClr val="B4A3FF"/>
              </a:solidFill>
              <a:ln>
                <a:noFill/>
              </a:ln>
            </c:spPr>
            <c:extLst>
              <c:ext xmlns:c16="http://schemas.microsoft.com/office/drawing/2014/chart" uri="{C3380CC4-5D6E-409C-BE32-E72D297353CC}">
                <c16:uniqueId val="{00000005-9B9F-4849-8039-2156EFE5E1C2}"/>
              </c:ext>
            </c:extLst>
          </c:dPt>
          <c:dPt>
            <c:idx val="3"/>
            <c:invertIfNegative val="1"/>
            <c:bubble3D val="0"/>
            <c:spPr>
              <a:solidFill>
                <a:srgbClr val="F3C969"/>
              </a:solidFill>
              <a:ln>
                <a:noFill/>
              </a:ln>
            </c:spPr>
            <c:extLst>
              <c:ext xmlns:c16="http://schemas.microsoft.com/office/drawing/2014/chart" uri="{C3380CC4-5D6E-409C-BE32-E72D297353CC}">
                <c16:uniqueId val="{00000007-9B9F-4849-8039-2156EFE5E1C2}"/>
              </c:ext>
            </c:extLst>
          </c:dPt>
          <c:dLbls>
            <c:numFmt formatCode="#,##0" sourceLinked="0"/>
            <c:spPr>
              <a:noFill/>
              <a:ln>
                <a:noFill/>
              </a:ln>
              <a:effectLst/>
            </c:spPr>
            <c:txPr>
              <a:bodyPr/>
              <a:lstStyle/>
              <a:p>
                <a:pPr>
                  <a:defRPr sz="1100">
                    <a:solidFill>
                      <a:srgbClr val="EDF5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StudentTransfer</c:v>
                </c:pt>
                <c:pt idx="1">
                  <c:v>GlobeSend</c:v>
                </c:pt>
                <c:pt idx="2">
                  <c:v>FastRemit</c:v>
                </c:pt>
                <c:pt idx="3">
                  <c:v>SwiftBank</c:v>
                </c:pt>
              </c:strCache>
            </c:strRef>
          </c:cat>
          <c:val>
            <c:numRef>
              <c:f>Sheet1!$B$2:$B$5</c:f>
              <c:numCache>
                <c:formatCode>General</c:formatCode>
                <c:ptCount val="4"/>
                <c:pt idx="0">
                  <c:v>0</c:v>
                </c:pt>
                <c:pt idx="1">
                  <c:v>362.1</c:v>
                </c:pt>
                <c:pt idx="2">
                  <c:v>893.85</c:v>
                </c:pt>
                <c:pt idx="3">
                  <c:v>2913.91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9B9F-4849-8039-2156EFE5E1C2}"/>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35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Budget</c:v>
                </c:pt>
              </c:strCache>
            </c:strRef>
          </c:tx>
          <c:spPr>
            <a:solidFill>
              <a:srgbClr val="6BB9FF"/>
            </a:solidFill>
            <a:ln>
              <a:noFill/>
            </a:ln>
          </c:spPr>
          <c:invertIfNegative val="1"/>
          <c:cat>
            <c:strRef>
              <c:f>Sheet1!$A$2:$A$4</c:f>
              <c:strCache>
                <c:ptCount val="3"/>
                <c:pt idx="0">
                  <c:v>Housing</c:v>
                </c:pt>
                <c:pt idx="1">
                  <c:v>Food</c:v>
                </c:pt>
                <c:pt idx="2">
                  <c:v>Transport</c:v>
                </c:pt>
              </c:strCache>
            </c:strRef>
          </c:cat>
          <c:val>
            <c:numRef>
              <c:f>Sheet1!$B$2:$B$4</c:f>
              <c:numCache>
                <c:formatCode>General</c:formatCode>
                <c:ptCount val="3"/>
                <c:pt idx="0">
                  <c:v>1400</c:v>
                </c:pt>
                <c:pt idx="1">
                  <c:v>500</c:v>
                </c:pt>
                <c:pt idx="2">
                  <c:v>200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1FE-4F28-9C86-05F6B60EC23B}"/>
            </c:ext>
          </c:extLst>
        </c:ser>
        <c:ser>
          <c:idx val="1"/>
          <c:order val="1"/>
          <c:tx>
            <c:strRef>
              <c:f>Sheet1!$C$1</c:f>
              <c:strCache>
                <c:ptCount val="1"/>
                <c:pt idx="0">
                  <c:v>Spent</c:v>
                </c:pt>
              </c:strCache>
            </c:strRef>
          </c:tx>
          <c:spPr>
            <a:solidFill>
              <a:srgbClr val="63E6BE"/>
            </a:solidFill>
            <a:ln>
              <a:noFill/>
            </a:ln>
          </c:spPr>
          <c:invertIfNegative val="1"/>
          <c:cat>
            <c:strRef>
              <c:f>Sheet1!$A$2:$A$4</c:f>
              <c:strCache>
                <c:ptCount val="3"/>
                <c:pt idx="0">
                  <c:v>Housing</c:v>
                </c:pt>
                <c:pt idx="1">
                  <c:v>Food</c:v>
                </c:pt>
                <c:pt idx="2">
                  <c:v>Transport</c:v>
                </c:pt>
              </c:strCache>
            </c:strRef>
          </c:cat>
          <c:val>
            <c:numRef>
              <c:f>Sheet1!$C$2:$C$4</c:f>
              <c:numCache>
                <c:formatCode>General</c:formatCode>
                <c:ptCount val="3"/>
                <c:pt idx="0">
                  <c:v>1500</c:v>
                </c:pt>
                <c:pt idx="1">
                  <c:v>450</c:v>
                </c:pt>
                <c:pt idx="2">
                  <c:v>175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1FE-4F28-9C86-05F6B60EC23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800"/>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068027336"/>
        <c:crosses val="autoZero"/>
        <c:crossBetween val="between"/>
      </c:valAx>
    </c:plotArea>
    <c:legend>
      <c:legendPos val="b"/>
      <c:overlay val="0"/>
      <c:txPr>
        <a:bodyPr/>
        <a:lstStyle/>
        <a:p>
          <a:pPr>
            <a:defRPr sz="1000">
              <a:solidFill>
                <a:srgbClr val="A2B4CA"/>
              </a:solidFill>
            </a:defRPr>
          </a:pPr>
          <a:endParaRPr lang="en-US"/>
        </a:p>
      </c:txPr>
    </c:legend>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CNY</c:v>
                </c:pt>
              </c:strCache>
            </c:strRef>
          </c:tx>
          <c:spPr>
            <a:solidFill>
              <a:srgbClr val="F3C969"/>
            </a:solidFill>
            <a:ln>
              <a:noFill/>
            </a:ln>
          </c:spPr>
          <c:invertIfNegative val="1"/>
          <c:dPt>
            <c:idx val="0"/>
            <c:invertIfNegative val="1"/>
            <c:bubble3D val="0"/>
            <c:extLst>
              <c:ext xmlns:c16="http://schemas.microsoft.com/office/drawing/2014/chart" uri="{C3380CC4-5D6E-409C-BE32-E72D297353CC}">
                <c16:uniqueId val="{00000001-16D0-4AC8-A898-8E6A6BFDF63F}"/>
              </c:ext>
            </c:extLst>
          </c:dPt>
          <c:dPt>
            <c:idx val="1"/>
            <c:invertIfNegative val="1"/>
            <c:bubble3D val="0"/>
            <c:spPr>
              <a:solidFill>
                <a:srgbClr val="6BB9FF"/>
              </a:solidFill>
              <a:ln>
                <a:noFill/>
              </a:ln>
            </c:spPr>
            <c:extLst>
              <c:ext xmlns:c16="http://schemas.microsoft.com/office/drawing/2014/chart" uri="{C3380CC4-5D6E-409C-BE32-E72D297353CC}">
                <c16:uniqueId val="{00000003-16D0-4AC8-A898-8E6A6BFDF63F}"/>
              </c:ext>
            </c:extLst>
          </c:dPt>
          <c:dPt>
            <c:idx val="2"/>
            <c:invertIfNegative val="1"/>
            <c:bubble3D val="0"/>
            <c:spPr>
              <a:solidFill>
                <a:srgbClr val="63E6BE"/>
              </a:solidFill>
              <a:ln>
                <a:noFill/>
              </a:ln>
            </c:spPr>
            <c:extLst>
              <c:ext xmlns:c16="http://schemas.microsoft.com/office/drawing/2014/chart" uri="{C3380CC4-5D6E-409C-BE32-E72D297353CC}">
                <c16:uniqueId val="{00000005-16D0-4AC8-A898-8E6A6BFDF63F}"/>
              </c:ext>
            </c:extLst>
          </c:dPt>
          <c:dLbls>
            <c:numFmt formatCode="#,##0" sourceLinked="0"/>
            <c:spPr>
              <a:noFill/>
              <a:ln>
                <a:noFill/>
              </a:ln>
              <a:effectLst/>
            </c:spPr>
            <c:txPr>
              <a:bodyPr/>
              <a:lstStyle/>
              <a:p>
                <a:pPr>
                  <a:defRPr sz="1100">
                    <a:solidFill>
                      <a:srgbClr val="EDF5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Approval threshold</c:v>
                </c:pt>
                <c:pt idx="1">
                  <c:v>Student request</c:v>
                </c:pt>
                <c:pt idx="2">
                  <c:v>Hard transfer cap</c:v>
                </c:pt>
              </c:strCache>
            </c:strRef>
          </c:cat>
          <c:val>
            <c:numRef>
              <c:f>Sheet1!$B$2:$B$4</c:f>
              <c:numCache>
                <c:formatCode>General</c:formatCode>
                <c:ptCount val="3"/>
                <c:pt idx="0">
                  <c:v>5000</c:v>
                </c:pt>
                <c:pt idx="1">
                  <c:v>6750</c:v>
                </c:pt>
                <c:pt idx="2">
                  <c:v>10000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16D0-4AC8-A898-8E6A6BFDF63F}"/>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20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Requests</c:v>
                </c:pt>
              </c:strCache>
            </c:strRef>
          </c:tx>
          <c:spPr>
            <a:solidFill>
              <a:srgbClr val="F3C969"/>
            </a:solidFill>
            <a:ln>
              <a:noFill/>
            </a:ln>
          </c:spPr>
          <c:invertIfNegative val="1"/>
          <c:dPt>
            <c:idx val="0"/>
            <c:invertIfNegative val="1"/>
            <c:bubble3D val="0"/>
            <c:extLst>
              <c:ext xmlns:c16="http://schemas.microsoft.com/office/drawing/2014/chart" uri="{C3380CC4-5D6E-409C-BE32-E72D297353CC}">
                <c16:uniqueId val="{00000001-9B57-4708-B747-A0BEA44C2D77}"/>
              </c:ext>
            </c:extLst>
          </c:dPt>
          <c:dPt>
            <c:idx val="1"/>
            <c:invertIfNegative val="1"/>
            <c:bubble3D val="0"/>
            <c:spPr>
              <a:solidFill>
                <a:srgbClr val="6BB9FF"/>
              </a:solidFill>
              <a:ln>
                <a:noFill/>
              </a:ln>
            </c:spPr>
            <c:extLst>
              <c:ext xmlns:c16="http://schemas.microsoft.com/office/drawing/2014/chart" uri="{C3380CC4-5D6E-409C-BE32-E72D297353CC}">
                <c16:uniqueId val="{00000003-9B57-4708-B747-A0BEA44C2D77}"/>
              </c:ext>
            </c:extLst>
          </c:dPt>
          <c:dPt>
            <c:idx val="2"/>
            <c:invertIfNegative val="1"/>
            <c:bubble3D val="0"/>
            <c:spPr>
              <a:solidFill>
                <a:srgbClr val="63E6BE"/>
              </a:solidFill>
              <a:ln>
                <a:noFill/>
              </a:ln>
            </c:spPr>
            <c:extLst>
              <c:ext xmlns:c16="http://schemas.microsoft.com/office/drawing/2014/chart" uri="{C3380CC4-5D6E-409C-BE32-E72D297353CC}">
                <c16:uniqueId val="{00000005-9B57-4708-B747-A0BEA44C2D77}"/>
              </c:ext>
            </c:extLst>
          </c:dPt>
          <c:cat>
            <c:strRef>
              <c:f>Sheet1!$A$2:$A$4</c:f>
              <c:strCache>
                <c:ptCount val="3"/>
                <c:pt idx="0">
                  <c:v>Queued</c:v>
                </c:pt>
                <c:pt idx="1">
                  <c:v>Processing</c:v>
                </c:pt>
                <c:pt idx="2">
                  <c:v>Completed</c:v>
                </c:pt>
              </c:strCache>
            </c:strRef>
          </c:cat>
          <c:val>
            <c:numRef>
              <c:f>Sheet1!$B$2:$B$4</c:f>
              <c:numCache>
                <c:formatCode>General</c:formatCode>
                <c:ptCount val="3"/>
                <c:pt idx="0">
                  <c:v>6</c:v>
                </c:pt>
                <c:pt idx="1">
                  <c:v>2</c:v>
                </c:pt>
                <c:pt idx="2">
                  <c:v>12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9B57-4708-B747-A0BEA44C2D77}"/>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5"/>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191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V3: Cover v3: no logo; full-bleed hero illustration; large centred product name with teal tagline; thin teal top bar; dark bottom scrim for legibility.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V3: Developer slide v3: preserved actual names/roles from user edits. Premium two-card layout with colored sidebars, pill role badges, and dot-bullet contribution lines.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V2 REVISION: The old funding chart has been removed from the problem statement at the user's request. The problem is now framed directly with a human illustration and three root causes: fragmented currencies/accounts, competing tuition/living expenses and unclear family coordination. The user-edited funding calculations remain in the later real-world and solution slides; deleted numerical labels from the edited problem slide were not restored.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real-world struggle scenario, explicitly illustrative rather than a documented case study. The chart uses the same inputs and exact formula as slide 2. Funding is CNY 27,500 initially, CNY 30,375 after one month and CNY 33,250 after two. The tuition line remains CNY 40,000. Student expenses, a parent funding from Bangladesh and a fixed tuition deadline motivate the app modules. No invented prevalence or survey statistics are used. Sources: README.md; src/lib/money.ts; src/services/tuition.service.ts; src/services/remittance.service.ts; src/actions/parent.actions.ts.</a:t>
            </a:r>
          </a:p>
          <a:p>
            <a:endParaRPr/>
          </a:p>
          <a:p>
            <a:endParaRP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Provider comparison is computed with the actual repository formula, seeded provider fees and seeded rates CNY 5.21 / BDT 88.5. Target receipt is CNY 6,750. Principal = receipt / (targetRate/sourceRate * (1-spread)), rounded to cents; total = principal + principal*percentage_fee + fixed_fee. Providers and seed settings from scripts/generate-demo.mjs. These are sandbox seed values, not current market quotes. Bars show additional sender cost relative to the lowest demo quote; zero means no extra cost versus that baseline. Full exact values are in presentation/dark-assets/chart-data.json. Native workflow nodes show the product solution.</a:t>
            </a:r>
          </a:p>
          <a:p>
            <a:endParaRPr/>
          </a:p>
          <a:p>
            <a:r>
              <a:t>The same payment backend is reused by student, parent and AI workflows. Shared experience includes onboarding, preferred currency, language, time zone, notifications, theme, search, subscriptions, saved demo cards and personal model settings. The platform is a sandbox with manual external settlement.</a:t>
            </a:r>
          </a:p>
          <a:p>
            <a:endParaRPr/>
          </a:p>
          <a:p>
            <a:r>
              <a:t>Repository evidence: src/actions/dashboard.actions.ts; src/components/layout/shell.tsx; src/actions/preferences.actions.ts; src/services/payment.service.ts; IMPLEMENTATION_STATUS.md</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Combined implementation slide retains AI emphasis while making room for the real-world-struggles slide. The animated tool run is an illustrative reproduction of implemented tool and review behavior, not a recording of a live provider call. Exact tool names appear in src/ai/tools/index.ts and src/ai/action-catalog.ts. Confirmed non-financial proposals dispatch through src/actions/agent-workflow.actions.ts; money requests reuse src/services/payment.service.ts. Stack: Next.js/React/TypeScript, Zod, MySQL, Decimal.js. Chat can read authorized application context, compare providers, propose budgets and funding plans, draft payments, navigate and ask follow-ups. Financial execution requires confirmation. Tool logs and action state persist.</a:t>
            </a:r>
          </a:p>
          <a:p>
            <a:endParaRPr/>
          </a:p>
          <a:p>
            <a:r>
              <a:t>Primary AI capabilities: getStudentProfile, getAccounts, analyseTransactions, calculateTuitionGap, compareRemittance, getFxRates, generateBudgetSuggestion, analyseFinancialHealth, getCreditGuidance, getWorkspaceData, assessPaymentRisk, draftPayment, beneficiary tools, requestAction and respond. The role-checked catalog also supports account, transaction, budget, tuition, alert, credit, family, preference, report and subscription tasks. Financial execution requires explicit UI confirmation. Some approved low-impact tools may create drafts, beneficiaries or alerts; do not claim the model is universally read-only. The chart is a deliberately simplified illustrative plan, not a live account or measured result.</a:t>
            </a:r>
          </a:p>
          <a:p>
            <a:endParaRPr/>
          </a:p>
          <a:p>
            <a:r>
              <a:t>Repository evidence: src/ai/tools/index.ts; src/ai/action-catalog.ts; src/ai/mock-provider.ts; src/ai/gemini-provider.ts; src/ai/openai-provider.ts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The AI figure is now an editable prompt/read/calculate/propose/review diagram with progressive reveals. The existing tool graph, provider list, architecture and wording remain preserved.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native chart is illustrative, using monthly expenses CNY 1,500 housing + 450 food + 175 transport = 2,125. The shopping card is an actual screenshot from the local demo, separate from the illustrative scenario; its amounts are not part of the story dataset. Shared account preferences include language, theme, country, currency, timezone and notification choices. Monthly/annual sandbox subscriptions, cancellation/history, CSV limits/preview/atomic rollback, photo/password settings, data export and closure remain implemented. All original capability detail is retained below.</a:t>
            </a:r>
          </a:p>
          <a:p>
            <a:endParaRPr/>
          </a:p>
          <a:p>
            <a:r>
              <a:t>Student feature inventory: account creation/rename/archive; separate cash and payment wallet semantics; manual categorized transactions and confidence display; pagination/filtering; CSV file and row limits, mapping and preview; budget creation/edit, mixed-currency normalization and AI suggestions; tuition paid and scholarship tracking, monthly funding plans and readiness; educational credit profile and country-specific checklist; FX charts/provider comparisons, locked quotes and reviewed legacy sandbox execution; unified internal/card/manual/external payment requests and beneficiary approvals; saved card management; payment statuses, cancellation, receipts, ledger and audit activity; AI providers, personal keys, selection and tests; family invitation acceptance; automatic alerts and user reminders; subscription quotas, monthly/annual sandbox checkout, change history and cancellation; support reports; profile photo/name/email, password reset/change, locale/country/currency/time zone/theme/notifications; data export and account closure. The mini bars are illustrative visual cues.</a:t>
            </a:r>
          </a:p>
          <a:p>
            <a:endParaRPr/>
          </a:p>
          <a:p>
            <a:r>
              <a:t>Repository evidence: src/actions/; src/components/accounts/; src/components/tuition/; src/components/budget/; src/components/payments/; src/components/layout/utility-pages.tsx; src/components/settings/platform-panels.tsx</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Illustrative threshold CNY 5,000, request CNY 6,750 and per-transfer cap CNY 10,000. The request exceeds the approval threshold but stays below the hard cap, so it needs parent review rather than automatic rejection (other policy checks still apply). The animation is a state demonstration, not a real transfer. Parent authorization is explicit; the model cannot approve by itself. The strongest applicable parent policy wins, and parents cannot relax platform risk limits.</a:t>
            </a:r>
          </a:p>
          <a:p>
            <a:endParaRPr/>
          </a:p>
          <a:p>
            <a:r>
              <a:t>Parent functions include linking and revocation, configurable visibility, parent-owned financial accounts and wallet transfers, transaction recording and CSV imports under role ownership, approval decisions and history, beneficiary decisions, controls for tuition/conversion, caps and thresholds, non-beneficiary policy and category limits. Strictest applicable parent policy wins and can only tighten administrator ceilings. Parent AI actions are restricted by the role catalog; the model does not approve by itself. Parent access to automatic alerts respects visibility. Parent subscriptions, cards, models and preferences share the customer workflow. Illustrative bars show nested policy constraints, not measured amounts.</a:t>
            </a:r>
          </a:p>
          <a:p>
            <a:endParaRPr/>
          </a:p>
          <a:p>
            <a:r>
              <a:t>Repository evidence: src/actions/parent.actions.ts; src/services/parent-controls.service.ts; src/services/payment.service.ts; src/ai/action-catalog.ts; src/components/family/family-page.tsx; src/services/automatic-alerts.service.ts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Parent approval figure is now an editable three-step request/decision/queue diagram. The existing threshold chart, policy limits and complete parent feature list are preserved.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Queue counts 6, 2 and 12 are illustrative snapshot values, not production metrics. Animated card shows manual queue progression with a reference and receipt, with no actual transfer execution. Admin uses role-restricted settlement service, provider/catalog/risk/plan controls and evidence inspection. Moderator delegations and team publishing remain in the feature list. Source code and original detailed inventory follow.</a:t>
            </a:r>
          </a:p>
          <a:p>
            <a:endParaRPr/>
          </a:p>
          <a:p>
            <a:r>
              <a:t>Administrator features verified against admin.actions.ts, platform.actions.ts, payment.actions.ts, admin-page.tsx and financial-config.tsx. Moderator delegations cover reports, team, agent, models, users, finance and catalog; access is individually checked. Team editing includes publishing, designation and CEO designation, profile photo and limited moderator self-edit. Settlement actions are role restricted. Financial controls include risk caps, provider and route settings and country-specific credit education. Reporting and evidence are application artifacts, not independent compliance certification.</a:t>
            </a:r>
          </a:p>
          <a:p>
            <a:endParaRPr/>
          </a:p>
          <a:p>
            <a:r>
              <a:t>Repository evidence: src/actions/admin.actions.ts; src/actions/platform.actions.ts; src/actions/payment.actions.ts; src/components/admin/; src/lib/admin-permissions.ts; src/components/layout/evidence-page.tsx</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Administrative illustration now has three large editable settlement lanes with explicit moderator tasks. Native queue chart and feature text are unchanged.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Notes body"/>
          <p:cNvSpPr>
            <a:spLocks noGrp="1"/>
          </p:cNvSpPr>
          <p:nvPr>
            <p:ph type="body" idx="13"/>
          </p:nvPr>
        </p:nvSpPr>
        <p:spPr/>
        <p:txBody>
          <a:bodyPr/>
          <a:lstStyle/>
          <a:p>
            <a:endParaRPr/>
          </a:p>
          <a:p>
            <a:endParaRPr/>
          </a:p>
          <a:p>
            <a:r>
              <a:t>V2 REVISION: New common-features slide. Languages from src/lib/i18n.ts and src/dictionaries; theme modes from UI providers/preferences. Learning routes /en/features, /en/how-it-works, /en/security and /en/privacy exist in the page dispatcher. /en/demo exposes exactly Student, Parent and Admin buttons when DEMO_MODE=true; moderator role uses normal assigned accounts and is not represented as a demo selector. No demo passwords or API secrets appear. Deterministic mock AI supports no-key demonstrations.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animation demonstrates the existing permission matrix: a parent may see balances and tuition while transaction descriptions remain hidden. It does not imply a specific demo account has these permissions. Encrypted-key handling is for AI API keys, not a claim that all financial data is encrypted. User closure revokes access but is not an erasure promise. Fields sent through AI tools may reach the configured provider. Controls are implemented; no independent certification is claimed.</a:t>
            </a:r>
          </a:p>
          <a:p>
            <a:endParaRPr/>
          </a:p>
          <a:p>
            <a:r>
              <a:t>Security claims are code-level controls, not a certification. session.ts uses HS256, 8-hour JWT expiry, httpOnly, SameSite lax and production secure cookies; auth.ts verifies session_version. Passwords use bcrypt. secrets.ts encrypts AI keys using AES-256-GCM. Parent permissions govern disclosure. Avatar validation in current src/lib/avatar.ts accepts PNG/JPEG/WebP data URLs, checks signatures and enforces 300,000 bytes; README describes a different limit, so the slide deliberately makes no size claim. Profile export is capped per table and is not an exhaustive privacy portability certification. Account closure changes status and revokes sessions/links; it is not an erasure promise. AI adapters send selected conversational/tool context to the configured provider. No claim is made that all financial data is encrypted at rest. Legacy sandbox transfer uses locked quotes and single-use execution tokens. Unified payment path uses idempotency, transactional locking and policy checks. No fresh audit was run for this deck.</a:t>
            </a:r>
          </a:p>
          <a:p>
            <a:endParaRPr/>
          </a:p>
          <a:p>
            <a:r>
              <a:t>Repository evidence: src/lib/session.ts; src/lib/auth.ts; src/lib/secrets.ts; src/lib/avatar.ts; src/lib/permissions.ts; src/lib/risk-engine.ts; src/actions/user.actions.ts; src/services/sandbox-payment.service.ts; src/services/payment.service.ts; src/ai/</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Privacy figure rebuilt as a readable editable student/parent disclosure matrix: balances and tuition can be shared while descriptions stay private. This is illustrative, not a statement about the current demo account's permissions. Existing security control descriptions remain unchanged.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Notes body"/>
          <p:cNvSpPr>
            <a:spLocks noGrp="1"/>
          </p:cNvSpPr>
          <p:nvPr>
            <p:ph type="body" idx="13"/>
          </p:nvPr>
        </p:nvSpPr>
        <p:spPr/>
        <p:txBody>
          <a:bodyPr/>
          <a:lstStyle/>
          <a:p>
            <a:endParaRPr/>
          </a:p>
          <a:p>
            <a:endParaRPr/>
          </a:p>
          <a:p>
            <a:r>
              <a:t>V2 REVISION: New business model slide describes the subscription mechanism implemented in the repository, not actual revenue. Source: scripts/generate-demo.mjs plans and plan_prices: 7-day trial; Student BDT299/mo or 2990/year, Pro699/mo or6990/year, Family999/mo or9990/year. Quotas vary across accounts, AI messages, transfer simulations, tuition plans, CSV imports and family links. Payment is sandbox checkout. AI/hosting/support are qualitative anticipated operating costs; no unit-cost, margin, traction or profitability claims are made.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Notes body"/>
          <p:cNvSpPr>
            <a:spLocks noGrp="1"/>
          </p:cNvSpPr>
          <p:nvPr>
            <p:ph type="body" idx="13"/>
          </p:nvPr>
        </p:nvSpPr>
        <p:spPr/>
        <p:txBody>
          <a:bodyPr/>
          <a:lstStyle/>
          <a:p>
            <a:endParaRPr/>
          </a:p>
          <a:p>
            <a:endParaRPr/>
          </a:p>
          <a:p>
            <a:r>
              <a:t>V2 REVISION: New strategy slide is explicitly a proposal, not evidence of existing university partnerships, customers, market share or validated growth. Initial corridor aligns with the current China/Bangladesh product focus. The sequence is user discovery, campus/student-group pilots and retention-led expansion. Measures are proposed metrics, with no fabricated targets or achieved values. Live payment-network integration and independent production/security review remain future work.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Notes body"/>
          <p:cNvSpPr>
            <a:spLocks noGrp="1"/>
          </p:cNvSpPr>
          <p:nvPr>
            <p:ph type="body" idx="13"/>
          </p:nvPr>
        </p:nvSpPr>
        <p:spPr/>
        <p:txBody>
          <a:bodyPr/>
          <a:lstStyle/>
          <a:p>
            <a:r>
              <a:t>V3: Thank You closing slide v3: full-bleed illustration, large centered "Thank You", product tagline, subtle demo URL. No logo.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reveal_01" descr="cover-hero.png"/>
          <p:cNvPicPr>
            <a:picLocks noChangeAspect="1"/>
          </p:cNvPicPr>
          <p:nvPr/>
        </p:nvPicPr>
        <p:blipFill>
          <a:blip r:embed="rId3"/>
          <a:stretch>
            <a:fillRect/>
          </a:stretch>
        </p:blipFill>
        <p:spPr>
          <a:xfrm>
            <a:off x="0" y="54864"/>
            <a:ext cx="12188952" cy="6803136"/>
          </a:xfrm>
          <a:prstGeom prst="rect">
            <a:avLst/>
          </a:prstGeom>
        </p:spPr>
      </p:pic>
      <p:sp>
        <p:nvSpPr>
          <p:cNvPr id="4" name="Rectangle 3"/>
          <p:cNvSpPr/>
          <p:nvPr/>
        </p:nvSpPr>
        <p:spPr>
          <a:xfrm>
            <a:off x="0" y="4754880"/>
            <a:ext cx="12188952" cy="2103120"/>
          </a:xfrm>
          <a:prstGeom prst="rect">
            <a:avLst/>
          </a:prstGeom>
          <a:solidFill>
            <a:srgbClr val="06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2"/>
          <p:cNvSpPr txBox="1"/>
          <p:nvPr/>
        </p:nvSpPr>
        <p:spPr>
          <a:xfrm>
            <a:off x="1371600" y="4983480"/>
            <a:ext cx="9445752" cy="960120"/>
          </a:xfrm>
          <a:prstGeom prst="rect">
            <a:avLst/>
          </a:prstGeom>
          <a:noFill/>
        </p:spPr>
        <p:txBody>
          <a:bodyPr wrap="square" lIns="0" tIns="0" rIns="0" bIns="0">
            <a:spAutoFit/>
          </a:bodyPr>
          <a:lstStyle/>
          <a:p>
            <a:pPr algn="ctr">
              <a:spcAft>
                <a:spcPts val="400"/>
              </a:spcAft>
              <a:defRPr sz="6400" b="1">
                <a:solidFill>
                  <a:srgbClr val="EDF5FF"/>
                </a:solidFill>
                <a:latin typeface="Aptos"/>
              </a:defRPr>
            </a:pPr>
            <a:r>
              <a:t>FinBridge AI</a:t>
            </a:r>
          </a:p>
        </p:txBody>
      </p:sp>
      <p:sp>
        <p:nvSpPr>
          <p:cNvPr id="6" name="reveal_02"/>
          <p:cNvSpPr txBox="1"/>
          <p:nvPr/>
        </p:nvSpPr>
        <p:spPr>
          <a:xfrm>
            <a:off x="1371600" y="5806440"/>
            <a:ext cx="9445752" cy="502920"/>
          </a:xfrm>
          <a:prstGeom prst="rect">
            <a:avLst/>
          </a:prstGeom>
          <a:noFill/>
        </p:spPr>
        <p:txBody>
          <a:bodyPr wrap="square" lIns="0" tIns="0" rIns="0" bIns="0">
            <a:spAutoFit/>
          </a:bodyPr>
          <a:lstStyle/>
          <a:p>
            <a:pPr algn="ctr">
              <a:spcAft>
                <a:spcPts val="400"/>
              </a:spcAft>
              <a:defRPr sz="2000" b="0">
                <a:solidFill>
                  <a:srgbClr val="63E6BE"/>
                </a:solidFill>
                <a:latin typeface="Aptos"/>
              </a:defRPr>
            </a:pPr>
            <a:r>
              <a:t>Cross-border student finance · powered by AI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457200"/>
            <a:ext cx="10972800" cy="658368"/>
          </a:xfrm>
          <a:prstGeom prst="rect">
            <a:avLst/>
          </a:prstGeom>
          <a:noFill/>
        </p:spPr>
        <p:txBody>
          <a:bodyPr wrap="square" lIns="0" tIns="0" rIns="0" bIns="0">
            <a:spAutoFit/>
          </a:bodyPr>
          <a:lstStyle/>
          <a:p>
            <a:pPr>
              <a:spcAft>
                <a:spcPts val="400"/>
              </a:spcAft>
              <a:defRPr sz="3800" b="1">
                <a:solidFill>
                  <a:srgbClr val="EDF5FF"/>
                </a:solidFill>
                <a:latin typeface="Aptos"/>
              </a:defRPr>
            </a:pPr>
            <a:r>
              <a:t>Meet the team</a:t>
            </a:r>
          </a:p>
        </p:txBody>
      </p:sp>
      <p:sp>
        <p:nvSpPr>
          <p:cNvPr id="3" name="reveal_01"/>
          <p:cNvSpPr txBox="1"/>
          <p:nvPr/>
        </p:nvSpPr>
        <p:spPr>
          <a:xfrm>
            <a:off x="594360" y="1207008"/>
            <a:ext cx="10972800" cy="365760"/>
          </a:xfrm>
          <a:prstGeom prst="rect">
            <a:avLst/>
          </a:prstGeom>
          <a:noFill/>
        </p:spPr>
        <p:txBody>
          <a:bodyPr wrap="square" lIns="0" tIns="0" rIns="0" bIns="0">
            <a:spAutoFit/>
          </a:bodyPr>
          <a:lstStyle/>
          <a:p>
            <a:pPr>
              <a:spcAft>
                <a:spcPts val="400"/>
              </a:spcAft>
              <a:defRPr sz="1600" b="0">
                <a:solidFill>
                  <a:srgbClr val="A2B4CA"/>
                </a:solidFill>
                <a:latin typeface="Aptos"/>
              </a:defRPr>
            </a:pPr>
            <a:r>
              <a:t>FinBridge AI — developed at university</a:t>
            </a:r>
          </a:p>
        </p:txBody>
      </p:sp>
      <p:sp>
        <p:nvSpPr>
          <p:cNvPr id="4" name="reveal_02"/>
          <p:cNvSpPr/>
          <p:nvPr/>
        </p:nvSpPr>
        <p:spPr>
          <a:xfrm>
            <a:off x="777240" y="1920240"/>
            <a:ext cx="5166360" cy="3840480"/>
          </a:xfrm>
          <a:prstGeom prst="roundRect">
            <a:avLst>
              <a:gd name="adj" fmla="val 8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2"/>
          <p:cNvSpPr/>
          <p:nvPr/>
        </p:nvSpPr>
        <p:spPr>
          <a:xfrm>
            <a:off x="777240" y="1920240"/>
            <a:ext cx="91440" cy="3840480"/>
          </a:xfrm>
          <a:prstGeom prst="rect">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veal_03"/>
          <p:cNvSpPr txBox="1"/>
          <p:nvPr/>
        </p:nvSpPr>
        <p:spPr>
          <a:xfrm>
            <a:off x="1051560" y="2331720"/>
            <a:ext cx="4617720" cy="594360"/>
          </a:xfrm>
          <a:prstGeom prst="rect">
            <a:avLst/>
          </a:prstGeom>
          <a:noFill/>
        </p:spPr>
        <p:txBody>
          <a:bodyPr wrap="square" lIns="0" tIns="0" rIns="0" bIns="0">
            <a:spAutoFit/>
          </a:bodyPr>
          <a:lstStyle/>
          <a:p>
            <a:pPr>
              <a:spcAft>
                <a:spcPts val="400"/>
              </a:spcAft>
              <a:defRPr sz="2600" b="1">
                <a:solidFill>
                  <a:srgbClr val="EDF5FF"/>
                </a:solidFill>
                <a:latin typeface="Aptos"/>
              </a:defRPr>
            </a:pPr>
            <a:r>
              <a:t>Md. Jibon Howlader</a:t>
            </a:r>
          </a:p>
        </p:txBody>
      </p:sp>
      <p:sp>
        <p:nvSpPr>
          <p:cNvPr id="7" name="reveal_03"/>
          <p:cNvSpPr/>
          <p:nvPr/>
        </p:nvSpPr>
        <p:spPr>
          <a:xfrm>
            <a:off x="1051560" y="3090672"/>
            <a:ext cx="1920240" cy="310896"/>
          </a:xfrm>
          <a:prstGeom prst="roundRect">
            <a:avLst>
              <a:gd name="adj" fmla="val 50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veal_03"/>
          <p:cNvSpPr txBox="1"/>
          <p:nvPr/>
        </p:nvSpPr>
        <p:spPr>
          <a:xfrm>
            <a:off x="1307592" y="3136392"/>
            <a:ext cx="1920240" cy="237744"/>
          </a:xfrm>
          <a:prstGeom prst="rect">
            <a:avLst/>
          </a:prstGeom>
          <a:noFill/>
        </p:spPr>
        <p:txBody>
          <a:bodyPr wrap="square" lIns="0" tIns="0" rIns="0" bIns="0">
            <a:spAutoFit/>
          </a:bodyPr>
          <a:lstStyle/>
          <a:p>
            <a:pPr algn="ctr">
              <a:spcAft>
                <a:spcPts val="400"/>
              </a:spcAft>
              <a:defRPr sz="1300" b="1">
                <a:solidFill>
                  <a:srgbClr val="080F1B"/>
                </a:solidFill>
                <a:latin typeface="Aptos"/>
              </a:defRPr>
            </a:pPr>
            <a:r>
              <a:t>AI &amp; Development</a:t>
            </a:r>
          </a:p>
        </p:txBody>
      </p:sp>
      <p:sp>
        <p:nvSpPr>
          <p:cNvPr id="9" name="Oval 8"/>
          <p:cNvSpPr/>
          <p:nvPr/>
        </p:nvSpPr>
        <p:spPr>
          <a:xfrm>
            <a:off x="1051560" y="3749039"/>
            <a:ext cx="91440" cy="91440"/>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veal_04"/>
          <p:cNvSpPr txBox="1"/>
          <p:nvPr/>
        </p:nvSpPr>
        <p:spPr>
          <a:xfrm>
            <a:off x="1252728" y="3675887"/>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AI tools &amp; financial logic</a:t>
            </a:r>
          </a:p>
        </p:txBody>
      </p:sp>
      <p:sp>
        <p:nvSpPr>
          <p:cNvPr id="11" name="Oval 10"/>
          <p:cNvSpPr/>
          <p:nvPr/>
        </p:nvSpPr>
        <p:spPr>
          <a:xfrm>
            <a:off x="1051560" y="4224527"/>
            <a:ext cx="91440" cy="91440"/>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1252728" y="4151375"/>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Server actions &amp; data integrity</a:t>
            </a:r>
          </a:p>
        </p:txBody>
      </p:sp>
      <p:sp>
        <p:nvSpPr>
          <p:cNvPr id="13" name="Oval 12"/>
          <p:cNvSpPr/>
          <p:nvPr/>
        </p:nvSpPr>
        <p:spPr>
          <a:xfrm>
            <a:off x="1051560" y="4700016"/>
            <a:ext cx="91440" cy="91440"/>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veal_04"/>
          <p:cNvSpPr txBox="1"/>
          <p:nvPr/>
        </p:nvSpPr>
        <p:spPr>
          <a:xfrm>
            <a:off x="1252728" y="4626864"/>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Database design &amp; API architecture</a:t>
            </a:r>
          </a:p>
        </p:txBody>
      </p:sp>
      <p:sp>
        <p:nvSpPr>
          <p:cNvPr id="15" name="reveal_02"/>
          <p:cNvSpPr/>
          <p:nvPr/>
        </p:nvSpPr>
        <p:spPr>
          <a:xfrm>
            <a:off x="6263640" y="1920240"/>
            <a:ext cx="5166360" cy="3840480"/>
          </a:xfrm>
          <a:prstGeom prst="roundRect">
            <a:avLst>
              <a:gd name="adj" fmla="val 8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veal_02"/>
          <p:cNvSpPr/>
          <p:nvPr/>
        </p:nvSpPr>
        <p:spPr>
          <a:xfrm>
            <a:off x="6263640" y="1920240"/>
            <a:ext cx="91440" cy="3840480"/>
          </a:xfrm>
          <a:prstGeom prst="rect">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3"/>
          <p:cNvSpPr txBox="1"/>
          <p:nvPr/>
        </p:nvSpPr>
        <p:spPr>
          <a:xfrm>
            <a:off x="6537959" y="2331720"/>
            <a:ext cx="4617720" cy="594360"/>
          </a:xfrm>
          <a:prstGeom prst="rect">
            <a:avLst/>
          </a:prstGeom>
          <a:noFill/>
        </p:spPr>
        <p:txBody>
          <a:bodyPr wrap="square" lIns="0" tIns="0" rIns="0" bIns="0">
            <a:spAutoFit/>
          </a:bodyPr>
          <a:lstStyle/>
          <a:p>
            <a:pPr>
              <a:spcAft>
                <a:spcPts val="400"/>
              </a:spcAft>
              <a:defRPr sz="2600" b="1">
                <a:solidFill>
                  <a:srgbClr val="EDF5FF"/>
                </a:solidFill>
                <a:latin typeface="Aptos"/>
              </a:defRPr>
            </a:pPr>
            <a:r>
              <a:t>Meherun Nessa Munmun</a:t>
            </a:r>
          </a:p>
        </p:txBody>
      </p:sp>
      <p:sp>
        <p:nvSpPr>
          <p:cNvPr id="18" name="reveal_03"/>
          <p:cNvSpPr/>
          <p:nvPr/>
        </p:nvSpPr>
        <p:spPr>
          <a:xfrm>
            <a:off x="6537959" y="3090672"/>
            <a:ext cx="2103120" cy="310896"/>
          </a:xfrm>
          <a:prstGeom prst="roundRect">
            <a:avLst>
              <a:gd name="adj" fmla="val 50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veal_03"/>
          <p:cNvSpPr txBox="1"/>
          <p:nvPr/>
        </p:nvSpPr>
        <p:spPr>
          <a:xfrm>
            <a:off x="6537959" y="3136392"/>
            <a:ext cx="2103120" cy="237744"/>
          </a:xfrm>
          <a:prstGeom prst="rect">
            <a:avLst/>
          </a:prstGeom>
          <a:noFill/>
        </p:spPr>
        <p:txBody>
          <a:bodyPr wrap="square" lIns="0" tIns="0" rIns="0" bIns="0">
            <a:spAutoFit/>
          </a:bodyPr>
          <a:lstStyle/>
          <a:p>
            <a:pPr algn="ctr">
              <a:spcAft>
                <a:spcPts val="400"/>
              </a:spcAft>
              <a:defRPr sz="1300" b="1">
                <a:solidFill>
                  <a:srgbClr val="080F1B"/>
                </a:solidFill>
                <a:latin typeface="Aptos"/>
              </a:defRPr>
            </a:pPr>
            <a:r>
              <a:t>Tester &amp; Data Manager</a:t>
            </a:r>
          </a:p>
        </p:txBody>
      </p:sp>
      <p:sp>
        <p:nvSpPr>
          <p:cNvPr id="20" name="Oval 19"/>
          <p:cNvSpPr/>
          <p:nvPr/>
        </p:nvSpPr>
        <p:spPr>
          <a:xfrm>
            <a:off x="6537959" y="3749039"/>
            <a:ext cx="91440" cy="91440"/>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4"/>
          <p:cNvSpPr txBox="1"/>
          <p:nvPr/>
        </p:nvSpPr>
        <p:spPr>
          <a:xfrm>
            <a:off x="6739127" y="3675887"/>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Testing &amp; quality assurance</a:t>
            </a:r>
          </a:p>
        </p:txBody>
      </p:sp>
      <p:sp>
        <p:nvSpPr>
          <p:cNvPr id="22" name="Oval 21"/>
          <p:cNvSpPr/>
          <p:nvPr/>
        </p:nvSpPr>
        <p:spPr>
          <a:xfrm>
            <a:off x="6537959" y="4224527"/>
            <a:ext cx="91440" cy="91440"/>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veal_04"/>
          <p:cNvSpPr txBox="1"/>
          <p:nvPr/>
        </p:nvSpPr>
        <p:spPr>
          <a:xfrm>
            <a:off x="6739127" y="4151375"/>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Demo data management</a:t>
            </a:r>
          </a:p>
        </p:txBody>
      </p:sp>
      <p:sp>
        <p:nvSpPr>
          <p:cNvPr id="24" name="Oval 23"/>
          <p:cNvSpPr/>
          <p:nvPr/>
        </p:nvSpPr>
        <p:spPr>
          <a:xfrm>
            <a:off x="6537959" y="4700016"/>
            <a:ext cx="91440" cy="91440"/>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veal_04"/>
          <p:cNvSpPr txBox="1"/>
          <p:nvPr/>
        </p:nvSpPr>
        <p:spPr>
          <a:xfrm>
            <a:off x="6739127" y="4626864"/>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User research &amp; documentation</a:t>
            </a:r>
          </a:p>
        </p:txBody>
      </p:sp>
      <p:cxnSp>
        <p:nvCxnSpPr>
          <p:cNvPr id="26" name="Connector 25"/>
          <p:cNvCxnSpPr/>
          <p:nvPr/>
        </p:nvCxnSpPr>
        <p:spPr>
          <a:xfrm>
            <a:off x="594360" y="6144768"/>
            <a:ext cx="11000232" cy="0"/>
          </a:xfrm>
          <a:prstGeom prst="line">
            <a:avLst/>
          </a:prstGeom>
          <a:ln w="12700">
            <a:solidFill>
              <a:srgbClr val="1E304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21792" y="6217920"/>
            <a:ext cx="10972800" cy="347472"/>
          </a:xfrm>
          <a:prstGeom prst="rect">
            <a:avLst/>
          </a:prstGeom>
          <a:noFill/>
        </p:spPr>
        <p:txBody>
          <a:bodyPr wrap="square" lIns="0" tIns="0" rIns="0" bIns="0">
            <a:spAutoFit/>
          </a:bodyPr>
          <a:lstStyle/>
          <a:p>
            <a:pPr algn="ctr">
              <a:spcAft>
                <a:spcPts val="400"/>
              </a:spcAft>
              <a:defRPr sz="1200" b="0">
                <a:solidFill>
                  <a:srgbClr val="A2B4CA"/>
                </a:solidFill>
                <a:latin typeface="Aptos"/>
              </a:defRPr>
            </a:pPr>
            <a:r>
              <a:t>University project · FinBridge AI</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childTnLst>
                          </p:cTn>
                        </p:par>
                        <p:par>
                          <p:cTn id="43" fill="hold">
                            <p:stCondLst>
                              <p:cond delay="1500"/>
                            </p:stCondLst>
                            <p:childTnLst>
                              <p:par>
                                <p:cTn id="44" presetID="10" presetClass="entr" presetSubtype="0"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p:bldP spid="7" grpId="0" animBg="1"/>
      <p:bldP spid="8" grpId="0"/>
      <p:bldP spid="10" grpId="0"/>
      <p:bldP spid="12" grpId="0"/>
      <p:bldP spid="14" grpId="0"/>
      <p:bldP spid="15" grpId="0" animBg="1"/>
      <p:bldP spid="16" grpId="0" animBg="1"/>
      <p:bldP spid="17" grpId="0"/>
      <p:bldP spid="18" grpId="0" animBg="1"/>
      <p:bldP spid="19" grpId="0"/>
      <p:bldP spid="21" grpId="0"/>
      <p:bldP spid="23"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Problem statement</a:t>
            </a:r>
          </a:p>
        </p:txBody>
      </p:sp>
      <p:pic>
        <p:nvPicPr>
          <p:cNvPr id="3" name="reveal_02" descr="student-funding-problem.png"/>
          <p:cNvPicPr>
            <a:picLocks noChangeAspect="1"/>
          </p:cNvPicPr>
          <p:nvPr/>
        </p:nvPicPr>
        <p:blipFill>
          <a:blip r:embed="rId3"/>
          <a:stretch>
            <a:fillRect/>
          </a:stretch>
        </p:blipFill>
        <p:spPr>
          <a:xfrm>
            <a:off x="365760" y="1527048"/>
            <a:ext cx="6236208" cy="4160520"/>
          </a:xfrm>
          <a:prstGeom prst="rect">
            <a:avLst/>
          </a:prstGeom>
        </p:spPr>
      </p:pic>
      <p:sp>
        <p:nvSpPr>
          <p:cNvPr id="4" name="Oval 3"/>
          <p:cNvSpPr/>
          <p:nvPr/>
        </p:nvSpPr>
        <p:spPr>
          <a:xfrm>
            <a:off x="6839712" y="1837943"/>
            <a:ext cx="109728" cy="109728"/>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3"/>
          <p:cNvSpPr txBox="1"/>
          <p:nvPr/>
        </p:nvSpPr>
        <p:spPr>
          <a:xfrm>
            <a:off x="7141464" y="1783080"/>
            <a:ext cx="4297680" cy="356616"/>
          </a:xfrm>
          <a:prstGeom prst="rect">
            <a:avLst/>
          </a:prstGeom>
          <a:noFill/>
        </p:spPr>
        <p:txBody>
          <a:bodyPr wrap="square" lIns="0" tIns="0" rIns="0" bIns="0">
            <a:spAutoFit/>
          </a:bodyPr>
          <a:lstStyle/>
          <a:p>
            <a:pPr>
              <a:spcAft>
                <a:spcPts val="400"/>
              </a:spcAft>
              <a:defRPr sz="2000" b="1">
                <a:solidFill>
                  <a:srgbClr val="EDF5FF"/>
                </a:solidFill>
                <a:latin typeface="Aptos"/>
              </a:defRPr>
            </a:pPr>
            <a:r>
              <a:t>Money is fragmented.</a:t>
            </a:r>
          </a:p>
        </p:txBody>
      </p:sp>
      <p:sp>
        <p:nvSpPr>
          <p:cNvPr id="6" name="reveal_03"/>
          <p:cNvSpPr txBox="1"/>
          <p:nvPr/>
        </p:nvSpPr>
        <p:spPr>
          <a:xfrm>
            <a:off x="7141464" y="2276856"/>
            <a:ext cx="4297680" cy="585216"/>
          </a:xfrm>
          <a:prstGeom prst="rect">
            <a:avLst/>
          </a:prstGeom>
          <a:noFill/>
        </p:spPr>
        <p:txBody>
          <a:bodyPr wrap="square" lIns="0" tIns="0" rIns="0" bIns="0">
            <a:spAutoFit/>
          </a:bodyPr>
          <a:lstStyle/>
          <a:p>
            <a:pPr>
              <a:spcAft>
                <a:spcPts val="400"/>
              </a:spcAft>
              <a:defRPr sz="1400" b="0">
                <a:solidFill>
                  <a:srgbClr val="A2B4CA"/>
                </a:solidFill>
                <a:latin typeface="Aptos"/>
              </a:defRPr>
            </a:pPr>
            <a:r>
              <a:t>Family funding and student balances sit in different accounts and currencies.</a:t>
            </a:r>
          </a:p>
        </p:txBody>
      </p:sp>
      <p:sp>
        <p:nvSpPr>
          <p:cNvPr id="7" name="Oval 6"/>
          <p:cNvSpPr/>
          <p:nvPr/>
        </p:nvSpPr>
        <p:spPr>
          <a:xfrm>
            <a:off x="6839712" y="3108960"/>
            <a:ext cx="109728" cy="109728"/>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veal_04"/>
          <p:cNvSpPr txBox="1"/>
          <p:nvPr/>
        </p:nvSpPr>
        <p:spPr>
          <a:xfrm>
            <a:off x="7141464" y="3054096"/>
            <a:ext cx="4297680" cy="356616"/>
          </a:xfrm>
          <a:prstGeom prst="rect">
            <a:avLst/>
          </a:prstGeom>
          <a:noFill/>
        </p:spPr>
        <p:txBody>
          <a:bodyPr wrap="square" lIns="0" tIns="0" rIns="0" bIns="0">
            <a:spAutoFit/>
          </a:bodyPr>
          <a:lstStyle/>
          <a:p>
            <a:pPr>
              <a:spcAft>
                <a:spcPts val="400"/>
              </a:spcAft>
              <a:defRPr sz="2000" b="1">
                <a:solidFill>
                  <a:srgbClr val="EDF5FF"/>
                </a:solidFill>
                <a:latin typeface="Aptos"/>
              </a:defRPr>
            </a:pPr>
            <a:r>
              <a:t>Deadlines compete.</a:t>
            </a:r>
          </a:p>
        </p:txBody>
      </p:sp>
      <p:sp>
        <p:nvSpPr>
          <p:cNvPr id="9" name="reveal_04"/>
          <p:cNvSpPr txBox="1"/>
          <p:nvPr/>
        </p:nvSpPr>
        <p:spPr>
          <a:xfrm>
            <a:off x="7141464" y="3547872"/>
            <a:ext cx="4297680" cy="585216"/>
          </a:xfrm>
          <a:prstGeom prst="rect">
            <a:avLst/>
          </a:prstGeom>
          <a:noFill/>
        </p:spPr>
        <p:txBody>
          <a:bodyPr wrap="square" lIns="0" tIns="0" rIns="0" bIns="0">
            <a:spAutoFit/>
          </a:bodyPr>
          <a:lstStyle/>
          <a:p>
            <a:pPr>
              <a:spcAft>
                <a:spcPts val="400"/>
              </a:spcAft>
              <a:defRPr sz="1400" b="0">
                <a:solidFill>
                  <a:srgbClr val="A2B4CA"/>
                </a:solidFill>
                <a:latin typeface="Aptos"/>
              </a:defRPr>
            </a:pPr>
            <a:r>
              <a:t>Rent and living costs reduce the money available for tuition.</a:t>
            </a:r>
          </a:p>
        </p:txBody>
      </p:sp>
      <p:sp>
        <p:nvSpPr>
          <p:cNvPr id="10" name="Oval 9"/>
          <p:cNvSpPr/>
          <p:nvPr/>
        </p:nvSpPr>
        <p:spPr>
          <a:xfrm>
            <a:off x="6839712" y="4379976"/>
            <a:ext cx="109728" cy="109728"/>
          </a:xfrm>
          <a:prstGeom prst="ellipse">
            <a:avLst/>
          </a:prstGeom>
          <a:solidFill>
            <a:srgbClr val="FF8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5"/>
          <p:cNvSpPr txBox="1"/>
          <p:nvPr/>
        </p:nvSpPr>
        <p:spPr>
          <a:xfrm>
            <a:off x="7141464" y="4325112"/>
            <a:ext cx="4297680" cy="356616"/>
          </a:xfrm>
          <a:prstGeom prst="rect">
            <a:avLst/>
          </a:prstGeom>
          <a:noFill/>
        </p:spPr>
        <p:txBody>
          <a:bodyPr wrap="square" lIns="0" tIns="0" rIns="0" bIns="0">
            <a:spAutoFit/>
          </a:bodyPr>
          <a:lstStyle/>
          <a:p>
            <a:pPr>
              <a:spcAft>
                <a:spcPts val="400"/>
              </a:spcAft>
              <a:defRPr sz="2000" b="1">
                <a:solidFill>
                  <a:srgbClr val="EDF5FF"/>
                </a:solidFill>
                <a:latin typeface="Aptos"/>
              </a:defRPr>
            </a:pPr>
            <a:r>
              <a:t>No shared funding plan.</a:t>
            </a:r>
          </a:p>
        </p:txBody>
      </p:sp>
      <p:sp>
        <p:nvSpPr>
          <p:cNvPr id="12" name="reveal_05"/>
          <p:cNvSpPr txBox="1"/>
          <p:nvPr/>
        </p:nvSpPr>
        <p:spPr>
          <a:xfrm>
            <a:off x="7141464" y="4818888"/>
            <a:ext cx="4297680" cy="585216"/>
          </a:xfrm>
          <a:prstGeom prst="rect">
            <a:avLst/>
          </a:prstGeom>
          <a:noFill/>
        </p:spPr>
        <p:txBody>
          <a:bodyPr wrap="square" lIns="0" tIns="0" rIns="0" bIns="0">
            <a:spAutoFit/>
          </a:bodyPr>
          <a:lstStyle/>
          <a:p>
            <a:pPr>
              <a:spcAft>
                <a:spcPts val="400"/>
              </a:spcAft>
              <a:defRPr sz="1400" b="0">
                <a:solidFill>
                  <a:srgbClr val="A2B4CA"/>
                </a:solidFill>
                <a:latin typeface="Aptos"/>
              </a:defRPr>
            </a:pPr>
            <a:r>
              <a:t>How much is missing, who should act, and when must the money arrive?</a:t>
            </a:r>
          </a:p>
        </p:txBody>
      </p:sp>
      <p:sp>
        <p:nvSpPr>
          <p:cNvPr id="13" name="reveal_06"/>
          <p:cNvSpPr txBox="1"/>
          <p:nvPr/>
        </p:nvSpPr>
        <p:spPr>
          <a:xfrm>
            <a:off x="667512" y="6053328"/>
            <a:ext cx="10881360" cy="393192"/>
          </a:xfrm>
          <a:prstGeom prst="rect">
            <a:avLst/>
          </a:prstGeom>
          <a:noFill/>
        </p:spPr>
        <p:txBody>
          <a:bodyPr wrap="square" lIns="0" tIns="0" rIns="0" bIns="0">
            <a:spAutoFit/>
          </a:bodyPr>
          <a:lstStyle/>
          <a:p>
            <a:pPr>
              <a:spcAft>
                <a:spcPts val="400"/>
              </a:spcAft>
              <a:defRPr sz="2100" b="1">
                <a:solidFill>
                  <a:srgbClr val="63E6BE"/>
                </a:solidFill>
                <a:latin typeface="Aptos"/>
              </a:defRPr>
            </a:pPr>
            <a:r>
              <a:t>Can we fund tuition on time without running short on living costs?</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8" grpId="0"/>
      <p:bldP spid="9" grpId="0"/>
      <p:bldP spid="11"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Real-world struggles: one deadline, two countries.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Illustrative scenario: a Bangladeshi student in China must keep paying living costs while preparing tuition.</a:t>
            </a:r>
          </a:p>
        </p:txBody>
      </p:sp>
      <p:sp>
        <p:nvSpPr>
          <p:cNvPr id="7" name="Rounded Rectangle 6"/>
          <p:cNvSpPr/>
          <p:nvPr/>
        </p:nvSpPr>
        <p:spPr>
          <a:xfrm>
            <a:off x="502920" y="1920240"/>
            <a:ext cx="6675120" cy="349300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6126480" cy="246888"/>
          </a:xfrm>
          <a:prstGeom prst="rect">
            <a:avLst/>
          </a:prstGeom>
          <a:noFill/>
        </p:spPr>
        <p:txBody>
          <a:bodyPr wrap="square" lIns="0" tIns="0" rIns="0" bIns="0">
            <a:spAutoFit/>
          </a:bodyPr>
          <a:lstStyle/>
          <a:p>
            <a:pPr>
              <a:spcAft>
                <a:spcPts val="300"/>
              </a:spcAft>
              <a:defRPr sz="1200" b="1">
                <a:solidFill>
                  <a:srgbClr val="63E6BE"/>
                </a:solidFill>
                <a:latin typeface="Aptos"/>
              </a:defRPr>
            </a:pPr>
            <a:r>
              <a:t>FUNDING RUNWAY · CNY</a:t>
            </a:r>
          </a:p>
        </p:txBody>
      </p:sp>
      <p:graphicFrame>
        <p:nvGraphicFramePr>
          <p:cNvPr id="9" name="chart_03"/>
          <p:cNvGraphicFramePr>
            <a:graphicFrameLocks noGrp="1"/>
          </p:cNvGraphicFramePr>
          <p:nvPr/>
        </p:nvGraphicFramePr>
        <p:xfrm>
          <a:off x="713232" y="2587752"/>
          <a:ext cx="6217920" cy="2505456"/>
        </p:xfrm>
        <a:graphic>
          <a:graphicData uri="http://schemas.openxmlformats.org/drawingml/2006/chart">
            <c:chart xmlns:c="http://schemas.openxmlformats.org/drawingml/2006/chart" xmlns:r="http://schemas.openxmlformats.org/officeDocument/2006/relationships" r:id="rId3"/>
          </a:graphicData>
        </a:graphic>
      </p:graphicFrame>
      <p:pic>
        <p:nvPicPr>
          <p:cNvPr id="10" name="reveal_04" descr="struggles.gif"/>
          <p:cNvPicPr>
            <a:picLocks noChangeAspect="1"/>
          </p:cNvPicPr>
          <p:nvPr/>
        </p:nvPicPr>
        <p:blipFill>
          <a:blip r:embed="rId4"/>
          <a:stretch>
            <a:fillRect/>
          </a:stretch>
        </p:blipFill>
        <p:spPr>
          <a:xfrm>
            <a:off x="7388352" y="1920240"/>
            <a:ext cx="4297680" cy="2542032"/>
          </a:xfrm>
          <a:prstGeom prst="rect">
            <a:avLst/>
          </a:prstGeom>
        </p:spPr>
      </p:pic>
      <p:sp>
        <p:nvSpPr>
          <p:cNvPr id="11" name="Rounded Rectangle 10"/>
          <p:cNvSpPr/>
          <p:nvPr/>
        </p:nvSpPr>
        <p:spPr>
          <a:xfrm>
            <a:off x="7388352" y="4681728"/>
            <a:ext cx="4297680" cy="731520"/>
          </a:xfrm>
          <a:prstGeom prst="roundRect">
            <a:avLst>
              <a:gd name="adj" fmla="val 10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0375" y="4828032"/>
            <a:ext cx="2103120" cy="228600"/>
          </a:xfrm>
          <a:prstGeom prst="rect">
            <a:avLst/>
          </a:prstGeom>
          <a:noFill/>
        </p:spPr>
        <p:txBody>
          <a:bodyPr wrap="square" lIns="0" tIns="0" rIns="0" bIns="0">
            <a:spAutoFit/>
          </a:bodyPr>
          <a:lstStyle/>
          <a:p>
            <a:pPr>
              <a:spcAft>
                <a:spcPts val="300"/>
              </a:spcAft>
              <a:defRPr sz="1200" b="0">
                <a:solidFill>
                  <a:srgbClr val="A2B4CA"/>
                </a:solidFill>
                <a:latin typeface="Aptos"/>
              </a:defRPr>
            </a:pPr>
            <a:r>
              <a:t>Extra savings needed</a:t>
            </a:r>
          </a:p>
        </p:txBody>
      </p:sp>
      <p:sp>
        <p:nvSpPr>
          <p:cNvPr id="13" name="reveal_05"/>
          <p:cNvSpPr txBox="1"/>
          <p:nvPr/>
        </p:nvSpPr>
        <p:spPr>
          <a:xfrm>
            <a:off x="9592056" y="4828032"/>
            <a:ext cx="1874519" cy="320040"/>
          </a:xfrm>
          <a:prstGeom prst="rect">
            <a:avLst/>
          </a:prstGeom>
          <a:noFill/>
        </p:spPr>
        <p:txBody>
          <a:bodyPr wrap="square" lIns="0" tIns="0" rIns="0" bIns="0">
            <a:spAutoFit/>
          </a:bodyPr>
          <a:lstStyle/>
          <a:p>
            <a:pPr>
              <a:spcAft>
                <a:spcPts val="300"/>
              </a:spcAft>
              <a:defRPr sz="2000" b="1">
                <a:solidFill>
                  <a:srgbClr val="63E6BE"/>
                </a:solidFill>
                <a:latin typeface="Aptos"/>
              </a:defRPr>
            </a:pPr>
            <a:r>
              <a:t>3,375 / mo</a:t>
            </a:r>
          </a:p>
        </p:txBody>
      </p:sp>
      <p:sp>
        <p:nvSpPr>
          <p:cNvPr id="14" name="reveal_05"/>
          <p:cNvSpPr/>
          <p:nvPr/>
        </p:nvSpPr>
        <p:spPr>
          <a:xfrm>
            <a:off x="548640"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58368" y="5724144"/>
            <a:ext cx="3364991" cy="246888"/>
          </a:xfrm>
          <a:prstGeom prst="rect">
            <a:avLst/>
          </a:prstGeom>
          <a:noFill/>
        </p:spPr>
        <p:txBody>
          <a:bodyPr wrap="square" lIns="0" tIns="0" rIns="0" bIns="0">
            <a:spAutoFit/>
          </a:bodyPr>
          <a:lstStyle/>
          <a:p>
            <a:pPr algn="ctr">
              <a:spcAft>
                <a:spcPts val="300"/>
              </a:spcAft>
              <a:defRPr sz="1600" b="1">
                <a:solidFill>
                  <a:srgbClr val="6BB9FF"/>
                </a:solidFill>
                <a:latin typeface="Aptos"/>
              </a:defRPr>
            </a:pPr>
            <a:r>
              <a:t>Rent continues</a:t>
            </a:r>
          </a:p>
        </p:txBody>
      </p:sp>
      <p:sp>
        <p:nvSpPr>
          <p:cNvPr id="16" name="reveal_05"/>
          <p:cNvSpPr txBox="1"/>
          <p:nvPr/>
        </p:nvSpPr>
        <p:spPr>
          <a:xfrm>
            <a:off x="640080"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CNY 2,125 / month</a:t>
            </a:r>
          </a:p>
        </p:txBody>
      </p:sp>
      <p:sp>
        <p:nvSpPr>
          <p:cNvPr id="17" name="reveal_06"/>
          <p:cNvSpPr/>
          <p:nvPr/>
        </p:nvSpPr>
        <p:spPr>
          <a:xfrm>
            <a:off x="4334255"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4443983" y="5724144"/>
            <a:ext cx="3364991" cy="246888"/>
          </a:xfrm>
          <a:prstGeom prst="rect">
            <a:avLst/>
          </a:prstGeom>
          <a:noFill/>
        </p:spPr>
        <p:txBody>
          <a:bodyPr wrap="square" lIns="0" tIns="0" rIns="0" bIns="0">
            <a:spAutoFit/>
          </a:bodyPr>
          <a:lstStyle/>
          <a:p>
            <a:pPr algn="ctr">
              <a:spcAft>
                <a:spcPts val="300"/>
              </a:spcAft>
              <a:defRPr sz="1600" b="1">
                <a:solidFill>
                  <a:srgbClr val="F3C969"/>
                </a:solidFill>
                <a:latin typeface="Aptos"/>
              </a:defRPr>
            </a:pPr>
            <a:r>
              <a:t>Family funds in BDT</a:t>
            </a:r>
          </a:p>
        </p:txBody>
      </p:sp>
      <p:sp>
        <p:nvSpPr>
          <p:cNvPr id="19" name="reveal_06"/>
          <p:cNvSpPr txBox="1"/>
          <p:nvPr/>
        </p:nvSpPr>
        <p:spPr>
          <a:xfrm>
            <a:off x="4425695"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Compare total FX cost</a:t>
            </a:r>
          </a:p>
        </p:txBody>
      </p:sp>
      <p:sp>
        <p:nvSpPr>
          <p:cNvPr id="20" name="reveal_07"/>
          <p:cNvSpPr/>
          <p:nvPr/>
        </p:nvSpPr>
        <p:spPr>
          <a:xfrm>
            <a:off x="8119871"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8229599" y="5724144"/>
            <a:ext cx="3364991" cy="246888"/>
          </a:xfrm>
          <a:prstGeom prst="rect">
            <a:avLst/>
          </a:prstGeom>
          <a:noFill/>
        </p:spPr>
        <p:txBody>
          <a:bodyPr wrap="square" lIns="0" tIns="0" rIns="0" bIns="0">
            <a:spAutoFit/>
          </a:bodyPr>
          <a:lstStyle/>
          <a:p>
            <a:pPr algn="ctr">
              <a:spcAft>
                <a:spcPts val="300"/>
              </a:spcAft>
              <a:defRPr sz="1600" b="1">
                <a:solidFill>
                  <a:srgbClr val="FF8896"/>
                </a:solidFill>
                <a:latin typeface="Aptos"/>
              </a:defRPr>
            </a:pPr>
            <a:r>
              <a:t>Tuition approaches</a:t>
            </a:r>
          </a:p>
        </p:txBody>
      </p:sp>
      <p:sp>
        <p:nvSpPr>
          <p:cNvPr id="22" name="reveal_07"/>
          <p:cNvSpPr txBox="1"/>
          <p:nvPr/>
        </p:nvSpPr>
        <p:spPr>
          <a:xfrm>
            <a:off x="8211311"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Close the CNY 6,750 gap</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500"/>
                                        <p:tgtEl>
                                          <p:spTgt spid="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3" grpId="0"/>
      <p:bldP spid="14" grpId="0" animBg="1"/>
      <p:bldP spid="15" grpId="0"/>
      <p:bldP spid="16" grpId="0"/>
      <p:bldP spid="17" grpId="0" animBg="1"/>
      <p:bldP spid="18" grpId="0"/>
      <p:bldP spid="19" grpId="0"/>
      <p:bldP spid="20" grpId="0" animBg="1"/>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See the gap. Compare the cost. Coordinate the funding.</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One workspace links tuition planning, cross-border comparison, parent approval and payment evidence.</a:t>
            </a:r>
          </a:p>
        </p:txBody>
      </p:sp>
      <p:sp>
        <p:nvSpPr>
          <p:cNvPr id="7" name="Rounded Rectangle 6"/>
          <p:cNvSpPr/>
          <p:nvPr/>
        </p:nvSpPr>
        <p:spPr>
          <a:xfrm>
            <a:off x="502920" y="1920240"/>
            <a:ext cx="6675120" cy="3675887"/>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48840"/>
            <a:ext cx="6126480" cy="274320"/>
          </a:xfrm>
          <a:prstGeom prst="rect">
            <a:avLst/>
          </a:prstGeom>
          <a:noFill/>
        </p:spPr>
        <p:txBody>
          <a:bodyPr wrap="square" lIns="0" tIns="0" rIns="0" bIns="0">
            <a:spAutoFit/>
          </a:bodyPr>
          <a:lstStyle/>
          <a:p>
            <a:pPr>
              <a:spcAft>
                <a:spcPts val="300"/>
              </a:spcAft>
              <a:defRPr sz="1400" b="1">
                <a:solidFill>
                  <a:srgbClr val="63E6BE"/>
                </a:solidFill>
                <a:latin typeface="Aptos"/>
              </a:defRPr>
            </a:pPr>
            <a:r>
              <a:t>SEND BDT → RECEIVE CNY 6,750</a:t>
            </a:r>
          </a:p>
        </p:txBody>
      </p:sp>
      <p:sp>
        <p:nvSpPr>
          <p:cNvPr id="9" name="TextBox 8"/>
          <p:cNvSpPr txBox="1"/>
          <p:nvPr/>
        </p:nvSpPr>
        <p:spPr>
          <a:xfrm>
            <a:off x="758952" y="2624328"/>
            <a:ext cx="6126480" cy="274320"/>
          </a:xfrm>
          <a:prstGeom prst="rect">
            <a:avLst/>
          </a:prstGeom>
          <a:noFill/>
        </p:spPr>
        <p:txBody>
          <a:bodyPr wrap="square" lIns="0" tIns="0" rIns="0" bIns="0">
            <a:spAutoFit/>
          </a:bodyPr>
          <a:lstStyle/>
          <a:p>
            <a:pPr>
              <a:spcAft>
                <a:spcPts val="300"/>
              </a:spcAft>
              <a:defRPr sz="1200" b="0">
                <a:solidFill>
                  <a:srgbClr val="A2B4CA"/>
                </a:solidFill>
                <a:latin typeface="Aptos"/>
              </a:defRPr>
            </a:pPr>
            <a:r>
              <a:t>Extra sender cost vs lowest quote | BDT</a:t>
            </a:r>
          </a:p>
        </p:txBody>
      </p:sp>
      <p:graphicFrame>
        <p:nvGraphicFramePr>
          <p:cNvPr id="10" name="chart_03"/>
          <p:cNvGraphicFramePr>
            <a:graphicFrameLocks noGrp="1"/>
          </p:cNvGraphicFramePr>
          <p:nvPr/>
        </p:nvGraphicFramePr>
        <p:xfrm>
          <a:off x="658368" y="2953512"/>
          <a:ext cx="6336792" cy="218541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58952" y="5413248"/>
            <a:ext cx="6126480" cy="237744"/>
          </a:xfrm>
          <a:prstGeom prst="rect">
            <a:avLst/>
          </a:prstGeom>
          <a:noFill/>
        </p:spPr>
        <p:txBody>
          <a:bodyPr wrap="square" lIns="0" tIns="0" rIns="0" bIns="0">
            <a:spAutoFit/>
          </a:bodyPr>
          <a:lstStyle/>
          <a:p>
            <a:pPr>
              <a:spcAft>
                <a:spcPts val="300"/>
              </a:spcAft>
              <a:defRPr sz="1000" b="0">
                <a:solidFill>
                  <a:srgbClr val="A2B4CA"/>
                </a:solidFill>
                <a:latin typeface="Aptos"/>
              </a:defRPr>
            </a:pPr>
            <a:r>
              <a:t>Extra cost vs lowest quote | sandbox seed rates | fees + spread included</a:t>
            </a:r>
          </a:p>
        </p:txBody>
      </p:sp>
      <p:sp>
        <p:nvSpPr>
          <p:cNvPr id="12" name="Rounded Rectangle 11"/>
          <p:cNvSpPr/>
          <p:nvPr/>
        </p:nvSpPr>
        <p:spPr>
          <a:xfrm>
            <a:off x="7388352" y="1920240"/>
            <a:ext cx="4297680" cy="3675887"/>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62672" y="2194560"/>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FUNDING GAP</a:t>
            </a:r>
          </a:p>
        </p:txBody>
      </p:sp>
      <p:sp>
        <p:nvSpPr>
          <p:cNvPr id="14" name="reveal_03"/>
          <p:cNvSpPr txBox="1"/>
          <p:nvPr/>
        </p:nvSpPr>
        <p:spPr>
          <a:xfrm>
            <a:off x="7662672" y="2542032"/>
            <a:ext cx="3566160" cy="502920"/>
          </a:xfrm>
          <a:prstGeom prst="rect">
            <a:avLst/>
          </a:prstGeom>
          <a:noFill/>
        </p:spPr>
        <p:txBody>
          <a:bodyPr wrap="square" lIns="0" tIns="0" rIns="0" bIns="0">
            <a:spAutoFit/>
          </a:bodyPr>
          <a:lstStyle/>
          <a:p>
            <a:pPr>
              <a:spcAft>
                <a:spcPts val="300"/>
              </a:spcAft>
              <a:defRPr sz="2900" b="1">
                <a:solidFill>
                  <a:srgbClr val="FF8896"/>
                </a:solidFill>
                <a:latin typeface="Aptos"/>
              </a:defRPr>
            </a:pPr>
            <a:r>
              <a:t>CNY 6,750</a:t>
            </a:r>
          </a:p>
        </p:txBody>
      </p:sp>
      <p:sp>
        <p:nvSpPr>
          <p:cNvPr id="15" name="TextBox 14"/>
          <p:cNvSpPr txBox="1"/>
          <p:nvPr/>
        </p:nvSpPr>
        <p:spPr>
          <a:xfrm>
            <a:off x="7662672" y="3310128"/>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LOWEST DEMO QUOTE</a:t>
            </a:r>
          </a:p>
        </p:txBody>
      </p:sp>
      <p:sp>
        <p:nvSpPr>
          <p:cNvPr id="16" name="reveal_04"/>
          <p:cNvSpPr txBox="1"/>
          <p:nvPr/>
        </p:nvSpPr>
        <p:spPr>
          <a:xfrm>
            <a:off x="7662672" y="3657600"/>
            <a:ext cx="3566160" cy="502920"/>
          </a:xfrm>
          <a:prstGeom prst="rect">
            <a:avLst/>
          </a:prstGeom>
          <a:noFill/>
        </p:spPr>
        <p:txBody>
          <a:bodyPr wrap="square" lIns="0" tIns="0" rIns="0" bIns="0">
            <a:spAutoFit/>
          </a:bodyPr>
          <a:lstStyle/>
          <a:p>
            <a:pPr>
              <a:spcAft>
                <a:spcPts val="300"/>
              </a:spcAft>
              <a:defRPr sz="2900" b="1">
                <a:solidFill>
                  <a:srgbClr val="63E6BE"/>
                </a:solidFill>
                <a:latin typeface="Aptos"/>
              </a:defRPr>
            </a:pPr>
            <a:r>
              <a:t>BDT 115,434</a:t>
            </a:r>
          </a:p>
        </p:txBody>
      </p:sp>
      <p:sp>
        <p:nvSpPr>
          <p:cNvPr id="17" name="TextBox 16"/>
          <p:cNvSpPr txBox="1"/>
          <p:nvPr/>
        </p:nvSpPr>
        <p:spPr>
          <a:xfrm>
            <a:off x="7662672" y="4425696"/>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QUOTE DIFFERENCE</a:t>
            </a:r>
          </a:p>
        </p:txBody>
      </p:sp>
      <p:sp>
        <p:nvSpPr>
          <p:cNvPr id="18" name="reveal_05"/>
          <p:cNvSpPr txBox="1"/>
          <p:nvPr/>
        </p:nvSpPr>
        <p:spPr>
          <a:xfrm>
            <a:off x="7662672" y="4773168"/>
            <a:ext cx="3566160" cy="502920"/>
          </a:xfrm>
          <a:prstGeom prst="rect">
            <a:avLst/>
          </a:prstGeom>
          <a:noFill/>
        </p:spPr>
        <p:txBody>
          <a:bodyPr wrap="square" lIns="0" tIns="0" rIns="0" bIns="0">
            <a:spAutoFit/>
          </a:bodyPr>
          <a:lstStyle/>
          <a:p>
            <a:pPr>
              <a:spcAft>
                <a:spcPts val="300"/>
              </a:spcAft>
              <a:defRPr sz="2900" b="1">
                <a:solidFill>
                  <a:srgbClr val="F3C969"/>
                </a:solidFill>
                <a:latin typeface="Aptos"/>
              </a:defRPr>
            </a:pPr>
            <a:r>
              <a:t>BDT 2,914</a:t>
            </a:r>
          </a:p>
        </p:txBody>
      </p:sp>
      <p:sp>
        <p:nvSpPr>
          <p:cNvPr id="19" name="reveal_04"/>
          <p:cNvSpPr/>
          <p:nvPr/>
        </p:nvSpPr>
        <p:spPr>
          <a:xfrm>
            <a:off x="54864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4"/>
          <p:cNvSpPr txBox="1"/>
          <p:nvPr/>
        </p:nvSpPr>
        <p:spPr>
          <a:xfrm>
            <a:off x="65836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Plan</a:t>
            </a:r>
          </a:p>
        </p:txBody>
      </p:sp>
      <p:sp>
        <p:nvSpPr>
          <p:cNvPr id="21" name="reveal_04"/>
          <p:cNvSpPr txBox="1"/>
          <p:nvPr/>
        </p:nvSpPr>
        <p:spPr>
          <a:xfrm>
            <a:off x="64008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Tuition + budget</a:t>
            </a:r>
          </a:p>
        </p:txBody>
      </p:sp>
      <p:sp>
        <p:nvSpPr>
          <p:cNvPr id="22" name="TextBox 21"/>
          <p:cNvSpPr txBox="1"/>
          <p:nvPr/>
        </p:nvSpPr>
        <p:spPr>
          <a:xfrm>
            <a:off x="318211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23" name="reveal_05"/>
          <p:cNvSpPr/>
          <p:nvPr/>
        </p:nvSpPr>
        <p:spPr>
          <a:xfrm>
            <a:off x="338328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5"/>
          <p:cNvSpPr txBox="1"/>
          <p:nvPr/>
        </p:nvSpPr>
        <p:spPr>
          <a:xfrm>
            <a:off x="349300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Compare</a:t>
            </a:r>
          </a:p>
        </p:txBody>
      </p:sp>
      <p:sp>
        <p:nvSpPr>
          <p:cNvPr id="25" name="reveal_05"/>
          <p:cNvSpPr txBox="1"/>
          <p:nvPr/>
        </p:nvSpPr>
        <p:spPr>
          <a:xfrm>
            <a:off x="347472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Fees + FX</a:t>
            </a:r>
          </a:p>
        </p:txBody>
      </p:sp>
      <p:sp>
        <p:nvSpPr>
          <p:cNvPr id="26" name="TextBox 25"/>
          <p:cNvSpPr txBox="1"/>
          <p:nvPr/>
        </p:nvSpPr>
        <p:spPr>
          <a:xfrm>
            <a:off x="601675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27" name="reveal_06"/>
          <p:cNvSpPr/>
          <p:nvPr/>
        </p:nvSpPr>
        <p:spPr>
          <a:xfrm>
            <a:off x="621792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veal_06"/>
          <p:cNvSpPr txBox="1"/>
          <p:nvPr/>
        </p:nvSpPr>
        <p:spPr>
          <a:xfrm>
            <a:off x="632764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Approve</a:t>
            </a:r>
          </a:p>
        </p:txBody>
      </p:sp>
      <p:sp>
        <p:nvSpPr>
          <p:cNvPr id="29" name="reveal_06"/>
          <p:cNvSpPr txBox="1"/>
          <p:nvPr/>
        </p:nvSpPr>
        <p:spPr>
          <a:xfrm>
            <a:off x="6309359"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User + parent</a:t>
            </a:r>
          </a:p>
        </p:txBody>
      </p:sp>
      <p:sp>
        <p:nvSpPr>
          <p:cNvPr id="30" name="TextBox 29"/>
          <p:cNvSpPr txBox="1"/>
          <p:nvPr/>
        </p:nvSpPr>
        <p:spPr>
          <a:xfrm>
            <a:off x="885139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31" name="reveal_07"/>
          <p:cNvSpPr/>
          <p:nvPr/>
        </p:nvSpPr>
        <p:spPr>
          <a:xfrm>
            <a:off x="905256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veal_07"/>
          <p:cNvSpPr txBox="1"/>
          <p:nvPr/>
        </p:nvSpPr>
        <p:spPr>
          <a:xfrm>
            <a:off x="916228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Record</a:t>
            </a:r>
          </a:p>
        </p:txBody>
      </p:sp>
      <p:sp>
        <p:nvSpPr>
          <p:cNvPr id="33" name="reveal_07"/>
          <p:cNvSpPr txBox="1"/>
          <p:nvPr/>
        </p:nvSpPr>
        <p:spPr>
          <a:xfrm>
            <a:off x="914400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Receipt + ledger</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500"/>
                                        <p:tgtEl>
                                          <p:spTgt spid="10"/>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par>
                          <p:cTn id="41" fill="hold">
                            <p:stCondLst>
                              <p:cond delay="2000"/>
                            </p:stCondLst>
                            <p:childTnLst>
                              <p:par>
                                <p:cTn id="42" presetID="10" presetClass="entr" presetSubtype="0" fill="hold" grpId="0" nodeType="after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500"/>
                                        <p:tgtEl>
                                          <p:spTgt spid="2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childTnLst>
                          </p:cTn>
                        </p:par>
                        <p:par>
                          <p:cTn id="51" fill="hold">
                            <p:stCondLst>
                              <p:cond delay="2500"/>
                            </p:stCondLst>
                            <p:childTnLst>
                              <p:par>
                                <p:cTn id="52" presetID="10" presetClass="entr" presetSubtype="0" fill="hold" grpId="0"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5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P spid="14" grpId="0"/>
      <p:bldP spid="16" grpId="0"/>
      <p:bldP spid="18" grpId="0"/>
      <p:bldP spid="19" grpId="0" animBg="1"/>
      <p:bldP spid="20" grpId="0"/>
      <p:bldP spid="21" grpId="0"/>
      <p:bldP spid="23" grpId="0" animBg="1"/>
      <p:bldP spid="24" grpId="0"/>
      <p:bldP spid="25" grpId="0"/>
      <p:bldP spid="27" grpId="0" animBg="1"/>
      <p:bldP spid="28" grpId="0"/>
      <p:bldP spid="29" grpId="0"/>
      <p:bldP spid="31" grpId="0" animBg="1"/>
      <p:bldP spid="32" grpId="0"/>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The AI turns financial questions into reviewed actions.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Application-owned tools ground the answer; confirmation and server checks control execution.</a:t>
            </a:r>
          </a:p>
        </p:txBody>
      </p:sp>
      <p:sp>
        <p:nvSpPr>
          <p:cNvPr id="8" name="Rounded Rectangle 7"/>
          <p:cNvSpPr/>
          <p:nvPr/>
        </p:nvSpPr>
        <p:spPr>
          <a:xfrm>
            <a:off x="6729984" y="1920240"/>
            <a:ext cx="4956048" cy="3547872"/>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58584" y="2148840"/>
            <a:ext cx="4480560" cy="256032"/>
          </a:xfrm>
          <a:prstGeom prst="rect">
            <a:avLst/>
          </a:prstGeom>
          <a:noFill/>
        </p:spPr>
        <p:txBody>
          <a:bodyPr wrap="square" lIns="0" tIns="0" rIns="0" bIns="0">
            <a:spAutoFit/>
          </a:bodyPr>
          <a:lstStyle/>
          <a:p>
            <a:pPr>
              <a:spcAft>
                <a:spcPts val="300"/>
              </a:spcAft>
              <a:defRPr sz="1200" b="1">
                <a:solidFill>
                  <a:srgbClr val="63E6BE"/>
                </a:solidFill>
                <a:latin typeface="Aptos"/>
              </a:defRPr>
            </a:pPr>
            <a:r>
              <a:t>APPLICATION TOOL GRAPH</a:t>
            </a:r>
          </a:p>
        </p:txBody>
      </p:sp>
      <p:sp>
        <p:nvSpPr>
          <p:cNvPr id="10" name="Oval 9"/>
          <p:cNvSpPr/>
          <p:nvPr/>
        </p:nvSpPr>
        <p:spPr>
          <a:xfrm>
            <a:off x="6995160" y="2743200"/>
            <a:ext cx="128016" cy="12801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3"/>
          <p:cNvSpPr txBox="1"/>
          <p:nvPr/>
        </p:nvSpPr>
        <p:spPr>
          <a:xfrm>
            <a:off x="7260336" y="2688336"/>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getAccounts + getWorkspaceData</a:t>
            </a:r>
          </a:p>
        </p:txBody>
      </p:sp>
      <p:sp>
        <p:nvSpPr>
          <p:cNvPr id="12" name="reveal_03"/>
          <p:cNvSpPr txBox="1"/>
          <p:nvPr/>
        </p:nvSpPr>
        <p:spPr>
          <a:xfrm>
            <a:off x="7260336" y="3026664"/>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Balances, invoice and spending</a:t>
            </a:r>
          </a:p>
        </p:txBody>
      </p:sp>
      <p:sp>
        <p:nvSpPr>
          <p:cNvPr id="13" name="Oval 12"/>
          <p:cNvSpPr/>
          <p:nvPr/>
        </p:nvSpPr>
        <p:spPr>
          <a:xfrm>
            <a:off x="6995160" y="3529584"/>
            <a:ext cx="128016" cy="12801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veal_04"/>
          <p:cNvSpPr txBox="1"/>
          <p:nvPr/>
        </p:nvSpPr>
        <p:spPr>
          <a:xfrm>
            <a:off x="7260336" y="3474720"/>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calculateTuitionGap</a:t>
            </a:r>
          </a:p>
        </p:txBody>
      </p:sp>
      <p:sp>
        <p:nvSpPr>
          <p:cNvPr id="15" name="reveal_04"/>
          <p:cNvSpPr txBox="1"/>
          <p:nvPr/>
        </p:nvSpPr>
        <p:spPr>
          <a:xfrm>
            <a:off x="7260336" y="3813048"/>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CNY 6,750 gap → CNY 3,375 / month</a:t>
            </a:r>
          </a:p>
        </p:txBody>
      </p:sp>
      <p:sp>
        <p:nvSpPr>
          <p:cNvPr id="16" name="Oval 15"/>
          <p:cNvSpPr/>
          <p:nvPr/>
        </p:nvSpPr>
        <p:spPr>
          <a:xfrm>
            <a:off x="6995160" y="4315968"/>
            <a:ext cx="128016" cy="12801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5"/>
          <p:cNvSpPr txBox="1"/>
          <p:nvPr/>
        </p:nvSpPr>
        <p:spPr>
          <a:xfrm>
            <a:off x="7260336" y="4261104"/>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requestAction → confirmAgentAction</a:t>
            </a:r>
          </a:p>
        </p:txBody>
      </p:sp>
      <p:sp>
        <p:nvSpPr>
          <p:cNvPr id="18" name="reveal_05"/>
          <p:cNvSpPr txBox="1"/>
          <p:nvPr/>
        </p:nvSpPr>
        <p:spPr>
          <a:xfrm>
            <a:off x="7260336" y="4599432"/>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Structured proposal → explicit review</a:t>
            </a:r>
          </a:p>
        </p:txBody>
      </p:sp>
      <p:sp>
        <p:nvSpPr>
          <p:cNvPr id="19" name="TextBox 18"/>
          <p:cNvSpPr txBox="1"/>
          <p:nvPr/>
        </p:nvSpPr>
        <p:spPr>
          <a:xfrm>
            <a:off x="6986016" y="5129784"/>
            <a:ext cx="4443984" cy="228600"/>
          </a:xfrm>
          <a:prstGeom prst="rect">
            <a:avLst/>
          </a:prstGeom>
          <a:noFill/>
        </p:spPr>
        <p:txBody>
          <a:bodyPr wrap="square" lIns="0" tIns="0" rIns="0" bIns="0">
            <a:spAutoFit/>
          </a:bodyPr>
          <a:lstStyle/>
          <a:p>
            <a:pPr>
              <a:spcAft>
                <a:spcPts val="300"/>
              </a:spcAft>
              <a:defRPr sz="1100" b="1">
                <a:solidFill>
                  <a:srgbClr val="63E6BE"/>
                </a:solidFill>
                <a:latin typeface="Aptos"/>
              </a:defRPr>
            </a:pPr>
            <a:r>
              <a:t>Gemini  ·  OpenAI  ·  deterministic mock</a:t>
            </a:r>
          </a:p>
        </p:txBody>
      </p:sp>
      <p:sp>
        <p:nvSpPr>
          <p:cNvPr id="20" name="reveal_04"/>
          <p:cNvSpPr/>
          <p:nvPr/>
        </p:nvSpPr>
        <p:spPr>
          <a:xfrm>
            <a:off x="54864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4"/>
          <p:cNvSpPr txBox="1"/>
          <p:nvPr/>
        </p:nvSpPr>
        <p:spPr>
          <a:xfrm>
            <a:off x="658368" y="5724144"/>
            <a:ext cx="2404872" cy="246888"/>
          </a:xfrm>
          <a:prstGeom prst="rect">
            <a:avLst/>
          </a:prstGeom>
          <a:noFill/>
        </p:spPr>
        <p:txBody>
          <a:bodyPr wrap="square" lIns="0" tIns="0" rIns="0" bIns="0">
            <a:spAutoFit/>
          </a:bodyPr>
          <a:lstStyle/>
          <a:p>
            <a:pPr algn="ctr">
              <a:spcAft>
                <a:spcPts val="300"/>
              </a:spcAft>
              <a:defRPr sz="1600" b="1">
                <a:solidFill>
                  <a:srgbClr val="6BB9FF"/>
                </a:solidFill>
                <a:latin typeface="Aptos"/>
              </a:defRPr>
            </a:pPr>
            <a:r>
              <a:t>React / Next.js</a:t>
            </a:r>
          </a:p>
        </p:txBody>
      </p:sp>
      <p:sp>
        <p:nvSpPr>
          <p:cNvPr id="22" name="reveal_04"/>
          <p:cNvSpPr txBox="1"/>
          <p:nvPr/>
        </p:nvSpPr>
        <p:spPr>
          <a:xfrm>
            <a:off x="64008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User workspace</a:t>
            </a:r>
          </a:p>
        </p:txBody>
      </p:sp>
      <p:sp>
        <p:nvSpPr>
          <p:cNvPr id="23" name="TextBox 22"/>
          <p:cNvSpPr txBox="1"/>
          <p:nvPr/>
        </p:nvSpPr>
        <p:spPr>
          <a:xfrm>
            <a:off x="319125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24" name="reveal_05"/>
          <p:cNvSpPr/>
          <p:nvPr/>
        </p:nvSpPr>
        <p:spPr>
          <a:xfrm>
            <a:off x="338328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veal_05"/>
          <p:cNvSpPr txBox="1"/>
          <p:nvPr/>
        </p:nvSpPr>
        <p:spPr>
          <a:xfrm>
            <a:off x="3493008" y="5724144"/>
            <a:ext cx="2404872" cy="246888"/>
          </a:xfrm>
          <a:prstGeom prst="rect">
            <a:avLst/>
          </a:prstGeom>
          <a:noFill/>
        </p:spPr>
        <p:txBody>
          <a:bodyPr wrap="square" lIns="0" tIns="0" rIns="0" bIns="0">
            <a:spAutoFit/>
          </a:bodyPr>
          <a:lstStyle/>
          <a:p>
            <a:pPr algn="ctr">
              <a:spcAft>
                <a:spcPts val="300"/>
              </a:spcAft>
              <a:defRPr sz="1600" b="1">
                <a:solidFill>
                  <a:srgbClr val="B4A3FF"/>
                </a:solidFill>
                <a:latin typeface="Aptos"/>
              </a:defRPr>
            </a:pPr>
            <a:r>
              <a:t>AI + Zod</a:t>
            </a:r>
          </a:p>
        </p:txBody>
      </p:sp>
      <p:sp>
        <p:nvSpPr>
          <p:cNvPr id="26" name="reveal_05"/>
          <p:cNvSpPr txBox="1"/>
          <p:nvPr/>
        </p:nvSpPr>
        <p:spPr>
          <a:xfrm>
            <a:off x="347472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Validated tools</a:t>
            </a:r>
          </a:p>
        </p:txBody>
      </p:sp>
      <p:sp>
        <p:nvSpPr>
          <p:cNvPr id="27" name="TextBox 26"/>
          <p:cNvSpPr txBox="1"/>
          <p:nvPr/>
        </p:nvSpPr>
        <p:spPr>
          <a:xfrm>
            <a:off x="602589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28" name="reveal_06"/>
          <p:cNvSpPr/>
          <p:nvPr/>
        </p:nvSpPr>
        <p:spPr>
          <a:xfrm>
            <a:off x="621792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veal_06"/>
          <p:cNvSpPr txBox="1"/>
          <p:nvPr/>
        </p:nvSpPr>
        <p:spPr>
          <a:xfrm>
            <a:off x="6327648" y="5724144"/>
            <a:ext cx="2404872" cy="246888"/>
          </a:xfrm>
          <a:prstGeom prst="rect">
            <a:avLst/>
          </a:prstGeom>
          <a:noFill/>
        </p:spPr>
        <p:txBody>
          <a:bodyPr wrap="square" lIns="0" tIns="0" rIns="0" bIns="0">
            <a:spAutoFit/>
          </a:bodyPr>
          <a:lstStyle/>
          <a:p>
            <a:pPr algn="ctr">
              <a:spcAft>
                <a:spcPts val="300"/>
              </a:spcAft>
              <a:defRPr sz="1600" b="1">
                <a:solidFill>
                  <a:srgbClr val="F3C969"/>
                </a:solidFill>
                <a:latin typeface="Aptos"/>
              </a:defRPr>
            </a:pPr>
            <a:r>
              <a:t>Server Actions</a:t>
            </a:r>
          </a:p>
        </p:txBody>
      </p:sp>
      <p:sp>
        <p:nvSpPr>
          <p:cNvPr id="30" name="reveal_06"/>
          <p:cNvSpPr txBox="1"/>
          <p:nvPr/>
        </p:nvSpPr>
        <p:spPr>
          <a:xfrm>
            <a:off x="6309359"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Auth / role / risk</a:t>
            </a:r>
          </a:p>
        </p:txBody>
      </p:sp>
      <p:sp>
        <p:nvSpPr>
          <p:cNvPr id="31" name="TextBox 30"/>
          <p:cNvSpPr txBox="1"/>
          <p:nvPr/>
        </p:nvSpPr>
        <p:spPr>
          <a:xfrm>
            <a:off x="886053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32" name="reveal_07"/>
          <p:cNvSpPr/>
          <p:nvPr/>
        </p:nvSpPr>
        <p:spPr>
          <a:xfrm>
            <a:off x="905256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7"/>
          <p:cNvSpPr txBox="1"/>
          <p:nvPr/>
        </p:nvSpPr>
        <p:spPr>
          <a:xfrm>
            <a:off x="9162288" y="572414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MySQL ledger</a:t>
            </a:r>
          </a:p>
        </p:txBody>
      </p:sp>
      <p:sp>
        <p:nvSpPr>
          <p:cNvPr id="34" name="reveal_07"/>
          <p:cNvSpPr txBox="1"/>
          <p:nvPr/>
        </p:nvSpPr>
        <p:spPr>
          <a:xfrm>
            <a:off x="914400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Locks / idempotency</a:t>
            </a:r>
          </a:p>
        </p:txBody>
      </p:sp>
      <p:sp>
        <p:nvSpPr>
          <p:cNvPr id="35" name="reveal_02"/>
          <p:cNvSpPr/>
          <p:nvPr/>
        </p:nvSpPr>
        <p:spPr>
          <a:xfrm>
            <a:off x="502920" y="1920240"/>
            <a:ext cx="5998464" cy="3547872"/>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veal_02"/>
          <p:cNvSpPr txBox="1"/>
          <p:nvPr/>
        </p:nvSpPr>
        <p:spPr>
          <a:xfrm>
            <a:off x="758952" y="2185416"/>
            <a:ext cx="5468112" cy="475488"/>
          </a:xfrm>
          <a:prstGeom prst="rect">
            <a:avLst/>
          </a:prstGeom>
          <a:noFill/>
        </p:spPr>
        <p:txBody>
          <a:bodyPr wrap="square" lIns="0" tIns="0" rIns="0" bIns="0">
            <a:spAutoFit/>
          </a:bodyPr>
          <a:lstStyle/>
          <a:p>
            <a:pPr>
              <a:spcAft>
                <a:spcPts val="400"/>
              </a:spcAft>
              <a:defRPr sz="2200" b="1">
                <a:solidFill>
                  <a:srgbClr val="EDF5FF"/>
                </a:solidFill>
                <a:latin typeface="Aptos"/>
              </a:defRPr>
            </a:pPr>
            <a:r>
              <a:t>“Can I afford my next tuition bill?”</a:t>
            </a:r>
          </a:p>
        </p:txBody>
      </p:sp>
      <p:sp>
        <p:nvSpPr>
          <p:cNvPr id="37" name="reveal_03"/>
          <p:cNvSpPr/>
          <p:nvPr/>
        </p:nvSpPr>
        <p:spPr>
          <a:xfrm>
            <a:off x="786384" y="2944368"/>
            <a:ext cx="1115568"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veal_03"/>
          <p:cNvSpPr txBox="1"/>
          <p:nvPr/>
        </p:nvSpPr>
        <p:spPr>
          <a:xfrm>
            <a:off x="868680" y="3017520"/>
            <a:ext cx="932688" cy="219456"/>
          </a:xfrm>
          <a:prstGeom prst="rect">
            <a:avLst/>
          </a:prstGeom>
          <a:noFill/>
        </p:spPr>
        <p:txBody>
          <a:bodyPr wrap="square" lIns="0" tIns="0" rIns="0" bIns="0">
            <a:spAutoFit/>
          </a:bodyPr>
          <a:lstStyle/>
          <a:p>
            <a:pPr algn="ctr">
              <a:spcAft>
                <a:spcPts val="400"/>
              </a:spcAft>
              <a:defRPr sz="1200" b="1">
                <a:solidFill>
                  <a:srgbClr val="6BB9FF"/>
                </a:solidFill>
                <a:latin typeface="Aptos"/>
              </a:defRPr>
            </a:pPr>
            <a:r>
              <a:t>Read</a:t>
            </a:r>
          </a:p>
        </p:txBody>
      </p:sp>
      <p:sp>
        <p:nvSpPr>
          <p:cNvPr id="39" name="reveal_03"/>
          <p:cNvSpPr txBox="1"/>
          <p:nvPr/>
        </p:nvSpPr>
        <p:spPr>
          <a:xfrm>
            <a:off x="2103120" y="2980944"/>
            <a:ext cx="4050791" cy="347472"/>
          </a:xfrm>
          <a:prstGeom prst="rect">
            <a:avLst/>
          </a:prstGeom>
          <a:noFill/>
        </p:spPr>
        <p:txBody>
          <a:bodyPr wrap="square" lIns="0" tIns="0" rIns="0" bIns="0">
            <a:spAutoFit/>
          </a:bodyPr>
          <a:lstStyle/>
          <a:p>
            <a:pPr>
              <a:spcAft>
                <a:spcPts val="400"/>
              </a:spcAft>
              <a:defRPr sz="1700" b="0">
                <a:solidFill>
                  <a:srgbClr val="EDF5FF"/>
                </a:solidFill>
                <a:latin typeface="Aptos"/>
              </a:defRPr>
            </a:pPr>
            <a:r>
              <a:t>Accounts + tuition invoice</a:t>
            </a:r>
          </a:p>
        </p:txBody>
      </p:sp>
      <p:sp>
        <p:nvSpPr>
          <p:cNvPr id="40" name="reveal_04"/>
          <p:cNvSpPr/>
          <p:nvPr/>
        </p:nvSpPr>
        <p:spPr>
          <a:xfrm>
            <a:off x="786384" y="3584448"/>
            <a:ext cx="1115568"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veal_04"/>
          <p:cNvSpPr txBox="1"/>
          <p:nvPr/>
        </p:nvSpPr>
        <p:spPr>
          <a:xfrm>
            <a:off x="868680" y="3657600"/>
            <a:ext cx="932688" cy="219456"/>
          </a:xfrm>
          <a:prstGeom prst="rect">
            <a:avLst/>
          </a:prstGeom>
          <a:noFill/>
        </p:spPr>
        <p:txBody>
          <a:bodyPr wrap="square" lIns="0" tIns="0" rIns="0" bIns="0">
            <a:spAutoFit/>
          </a:bodyPr>
          <a:lstStyle/>
          <a:p>
            <a:pPr algn="ctr">
              <a:spcAft>
                <a:spcPts val="400"/>
              </a:spcAft>
              <a:defRPr sz="1200" b="1">
                <a:solidFill>
                  <a:srgbClr val="FF8896"/>
                </a:solidFill>
                <a:latin typeface="Aptos"/>
              </a:defRPr>
            </a:pPr>
            <a:r>
              <a:t>Calculate</a:t>
            </a:r>
          </a:p>
        </p:txBody>
      </p:sp>
      <p:sp>
        <p:nvSpPr>
          <p:cNvPr id="42" name="reveal_04"/>
          <p:cNvSpPr txBox="1"/>
          <p:nvPr/>
        </p:nvSpPr>
        <p:spPr>
          <a:xfrm>
            <a:off x="2103120" y="3621024"/>
            <a:ext cx="4050791" cy="347472"/>
          </a:xfrm>
          <a:prstGeom prst="rect">
            <a:avLst/>
          </a:prstGeom>
          <a:noFill/>
        </p:spPr>
        <p:txBody>
          <a:bodyPr wrap="square" lIns="0" tIns="0" rIns="0" bIns="0">
            <a:spAutoFit/>
          </a:bodyPr>
          <a:lstStyle/>
          <a:p>
            <a:pPr>
              <a:spcAft>
                <a:spcPts val="400"/>
              </a:spcAft>
              <a:defRPr sz="1700" b="0">
                <a:solidFill>
                  <a:srgbClr val="EDF5FF"/>
                </a:solidFill>
                <a:latin typeface="Aptos"/>
              </a:defRPr>
            </a:pPr>
            <a:r>
              <a:t>CNY 6,750 funding gap</a:t>
            </a:r>
          </a:p>
        </p:txBody>
      </p:sp>
      <p:sp>
        <p:nvSpPr>
          <p:cNvPr id="43" name="reveal_05"/>
          <p:cNvSpPr/>
          <p:nvPr/>
        </p:nvSpPr>
        <p:spPr>
          <a:xfrm>
            <a:off x="786384" y="4224528"/>
            <a:ext cx="1115568"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veal_05"/>
          <p:cNvSpPr txBox="1"/>
          <p:nvPr/>
        </p:nvSpPr>
        <p:spPr>
          <a:xfrm>
            <a:off x="868680" y="4297680"/>
            <a:ext cx="932688" cy="219456"/>
          </a:xfrm>
          <a:prstGeom prst="rect">
            <a:avLst/>
          </a:prstGeom>
          <a:noFill/>
        </p:spPr>
        <p:txBody>
          <a:bodyPr wrap="square" lIns="0" tIns="0" rIns="0" bIns="0">
            <a:spAutoFit/>
          </a:bodyPr>
          <a:lstStyle/>
          <a:p>
            <a:pPr algn="ctr">
              <a:spcAft>
                <a:spcPts val="400"/>
              </a:spcAft>
              <a:defRPr sz="1200" b="1">
                <a:solidFill>
                  <a:srgbClr val="63E6BE"/>
                </a:solidFill>
                <a:latin typeface="Aptos"/>
              </a:defRPr>
            </a:pPr>
            <a:r>
              <a:t>Propose</a:t>
            </a:r>
          </a:p>
        </p:txBody>
      </p:sp>
      <p:sp>
        <p:nvSpPr>
          <p:cNvPr id="45" name="reveal_05"/>
          <p:cNvSpPr txBox="1"/>
          <p:nvPr/>
        </p:nvSpPr>
        <p:spPr>
          <a:xfrm>
            <a:off x="2103120" y="4261104"/>
            <a:ext cx="4050791" cy="347472"/>
          </a:xfrm>
          <a:prstGeom prst="rect">
            <a:avLst/>
          </a:prstGeom>
          <a:noFill/>
        </p:spPr>
        <p:txBody>
          <a:bodyPr wrap="square" lIns="0" tIns="0" rIns="0" bIns="0">
            <a:spAutoFit/>
          </a:bodyPr>
          <a:lstStyle/>
          <a:p>
            <a:pPr>
              <a:spcAft>
                <a:spcPts val="400"/>
              </a:spcAft>
              <a:defRPr sz="1700" b="0">
                <a:solidFill>
                  <a:srgbClr val="EDF5FF"/>
                </a:solidFill>
                <a:latin typeface="Aptos"/>
              </a:defRPr>
            </a:pPr>
            <a:r>
              <a:t>CNY 3,375 monthly target</a:t>
            </a:r>
          </a:p>
        </p:txBody>
      </p:sp>
      <p:sp>
        <p:nvSpPr>
          <p:cNvPr id="46" name="reveal_06"/>
          <p:cNvSpPr/>
          <p:nvPr/>
        </p:nvSpPr>
        <p:spPr>
          <a:xfrm>
            <a:off x="4105656" y="5029200"/>
            <a:ext cx="2084831" cy="329184"/>
          </a:xfrm>
          <a:prstGeom prst="roundRect">
            <a:avLst>
              <a:gd name="adj" fmla="val 9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veal_06"/>
          <p:cNvSpPr txBox="1"/>
          <p:nvPr/>
        </p:nvSpPr>
        <p:spPr>
          <a:xfrm>
            <a:off x="4224528" y="5074920"/>
            <a:ext cx="1847088" cy="228600"/>
          </a:xfrm>
          <a:prstGeom prst="rect">
            <a:avLst/>
          </a:prstGeom>
          <a:noFill/>
        </p:spPr>
        <p:txBody>
          <a:bodyPr wrap="square" lIns="0" tIns="0" rIns="0" bIns="0">
            <a:spAutoFit/>
          </a:bodyPr>
          <a:lstStyle/>
          <a:p>
            <a:pPr algn="ctr">
              <a:spcAft>
                <a:spcPts val="400"/>
              </a:spcAft>
              <a:defRPr sz="1200" b="1">
                <a:solidFill>
                  <a:srgbClr val="080F1B"/>
                </a:solidFill>
                <a:latin typeface="Aptos"/>
              </a:defRPr>
            </a:pPr>
            <a:r>
              <a:t>Review before saving</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500"/>
                                        <p:tgtEl>
                                          <p:spTgt spid="3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fade">
                                      <p:cBhvr>
                                        <p:cTn id="18" dur="500"/>
                                        <p:tgtEl>
                                          <p:spTgt spid="3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500"/>
                                        <p:tgtEl>
                                          <p:spTgt spid="39"/>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fade">
                                      <p:cBhvr>
                                        <p:cTn id="34" dur="500"/>
                                        <p:tgtEl>
                                          <p:spTgt spid="4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500"/>
                                        <p:tgtEl>
                                          <p:spTgt spid="4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childTnLst>
                          </p:cTn>
                        </p:par>
                        <p:par>
                          <p:cTn id="56" fill="hold">
                            <p:stCondLst>
                              <p:cond delay="2000"/>
                            </p:stCondLst>
                            <p:childTnLst>
                              <p:par>
                                <p:cTn id="57" presetID="10" presetClass="entr" presetSubtype="0" fill="hold" grpId="0"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fade">
                                      <p:cBhvr>
                                        <p:cTn id="68" dur="500"/>
                                        <p:tgtEl>
                                          <p:spTgt spid="4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4"/>
                                        </p:tgtEl>
                                        <p:attrNameLst>
                                          <p:attrName>style.visibility</p:attrName>
                                        </p:attrNameLst>
                                      </p:cBhvr>
                                      <p:to>
                                        <p:strVal val="visible"/>
                                      </p:to>
                                    </p:set>
                                    <p:animEffect transition="in" filter="fade">
                                      <p:cBhvr>
                                        <p:cTn id="74" dur="500"/>
                                        <p:tgtEl>
                                          <p:spTgt spid="4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500"/>
                                        <p:tgtEl>
                                          <p:spTgt spid="43"/>
                                        </p:tgtEl>
                                      </p:cBhvr>
                                    </p:animEffect>
                                  </p:childTnLst>
                                </p:cTn>
                              </p:par>
                            </p:childTnLst>
                          </p:cTn>
                        </p:par>
                        <p:par>
                          <p:cTn id="81" fill="hold">
                            <p:stCondLst>
                              <p:cond delay="2500"/>
                            </p:stCondLst>
                            <p:childTnLst>
                              <p:par>
                                <p:cTn id="82" presetID="10" presetClass="entr" presetSubtype="0" fill="hold" grpId="0" nodeType="after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5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500"/>
                                        <p:tgtEl>
                                          <p:spTgt spid="4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500"/>
                                        <p:tgtEl>
                                          <p:spTgt spid="2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500"/>
                                        <p:tgtEl>
                                          <p:spTgt spid="28"/>
                                        </p:tgtEl>
                                      </p:cBhvr>
                                    </p:animEffect>
                                  </p:childTnLst>
                                </p:cTn>
                              </p:par>
                            </p:childTnLst>
                          </p:cTn>
                        </p:par>
                        <p:par>
                          <p:cTn id="97" fill="hold">
                            <p:stCondLst>
                              <p:cond delay="3000"/>
                            </p:stCondLst>
                            <p:childTnLst>
                              <p:par>
                                <p:cTn id="98" presetID="10" presetClass="entr" presetSubtype="0" fill="hold" grpId="0" nodeType="after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500"/>
                                        <p:tgtEl>
                                          <p:spTgt spid="3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500"/>
                                        <p:tgtEl>
                                          <p:spTgt spid="3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14" grpId="0"/>
      <p:bldP spid="15" grpId="0"/>
      <p:bldP spid="17" grpId="0"/>
      <p:bldP spid="18" grpId="0"/>
      <p:bldP spid="20" grpId="0" animBg="1"/>
      <p:bldP spid="21" grpId="0"/>
      <p:bldP spid="22" grpId="0"/>
      <p:bldP spid="24" grpId="0" animBg="1"/>
      <p:bldP spid="25" grpId="0"/>
      <p:bldP spid="26" grpId="0"/>
      <p:bldP spid="28" grpId="0" animBg="1"/>
      <p:bldP spid="29" grpId="0"/>
      <p:bldP spid="30" grpId="0"/>
      <p:bldP spid="32" grpId="0" animBg="1"/>
      <p:bldP spid="33" grpId="0"/>
      <p:bldP spid="34" grpId="0"/>
      <p:bldP spid="35" grpId="0" animBg="1"/>
      <p:bldP spid="36" grpId="0"/>
      <p:bldP spid="37" grpId="0" animBg="1"/>
      <p:bldP spid="38" grpId="0"/>
      <p:bldP spid="39" grpId="0"/>
      <p:bldP spid="40" grpId="0" animBg="1"/>
      <p:bldP spid="41" grpId="0"/>
      <p:bldP spid="42" grpId="0"/>
      <p:bldP spid="43" grpId="0" animBg="1"/>
      <p:bldP spid="44" grpId="0"/>
      <p:bldP spid="45" grpId="0"/>
      <p:bldP spid="46" grpId="0" animBg="1"/>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Student features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Track everyday money, plan tuition and act with the AI copilot.</a:t>
            </a:r>
          </a:p>
        </p:txBody>
      </p:sp>
      <p:sp>
        <p:nvSpPr>
          <p:cNvPr id="7" name="Rounded Rectangle 6"/>
          <p:cNvSpPr/>
          <p:nvPr/>
        </p:nvSpPr>
        <p:spPr>
          <a:xfrm>
            <a:off x="502920" y="1920240"/>
            <a:ext cx="5760720" cy="4352544"/>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5303520" cy="274320"/>
          </a:xfrm>
          <a:prstGeom prst="rect">
            <a:avLst/>
          </a:prstGeom>
          <a:noFill/>
        </p:spPr>
        <p:txBody>
          <a:bodyPr wrap="square" lIns="0" tIns="0" rIns="0" bIns="0">
            <a:spAutoFit/>
          </a:bodyPr>
          <a:lstStyle/>
          <a:p>
            <a:pPr>
              <a:spcAft>
                <a:spcPts val="300"/>
              </a:spcAft>
              <a:defRPr sz="1200" b="1">
                <a:solidFill>
                  <a:srgbClr val="63E6BE"/>
                </a:solidFill>
                <a:latin typeface="Aptos"/>
              </a:defRPr>
            </a:pPr>
            <a:r>
              <a:t>BUDGET VS SPENDING · CNY</a:t>
            </a:r>
          </a:p>
        </p:txBody>
      </p:sp>
      <p:graphicFrame>
        <p:nvGraphicFramePr>
          <p:cNvPr id="9" name="chart_03"/>
          <p:cNvGraphicFramePr>
            <a:graphicFrameLocks noGrp="1"/>
          </p:cNvGraphicFramePr>
          <p:nvPr/>
        </p:nvGraphicFramePr>
        <p:xfrm>
          <a:off x="694944" y="2624328"/>
          <a:ext cx="534924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749808" y="4663440"/>
            <a:ext cx="5212080" cy="265176"/>
          </a:xfrm>
          <a:prstGeom prst="rect">
            <a:avLst/>
          </a:prstGeom>
          <a:noFill/>
        </p:spPr>
        <p:txBody>
          <a:bodyPr wrap="square" lIns="0" tIns="0" rIns="0" bIns="0">
            <a:spAutoFit/>
          </a:bodyPr>
          <a:lstStyle/>
          <a:p>
            <a:pPr>
              <a:spcAft>
                <a:spcPts val="300"/>
              </a:spcAft>
              <a:defRPr sz="1100" b="0">
                <a:solidFill>
                  <a:srgbClr val="A2B4CA"/>
                </a:solidFill>
                <a:latin typeface="Aptos"/>
              </a:defRPr>
            </a:pPr>
            <a:r>
              <a:t>Illustrative monthly budget: housing is CNY 100 over plan.</a:t>
            </a:r>
          </a:p>
        </p:txBody>
      </p:sp>
      <p:pic>
        <p:nvPicPr>
          <p:cNvPr id="11" name="reveal_04" descr="shopping-card.png"/>
          <p:cNvPicPr>
            <a:picLocks noChangeAspect="1"/>
          </p:cNvPicPr>
          <p:nvPr/>
        </p:nvPicPr>
        <p:blipFill>
          <a:blip r:embed="rId4"/>
          <a:stretch>
            <a:fillRect/>
          </a:stretch>
        </p:blipFill>
        <p:spPr>
          <a:xfrm>
            <a:off x="749808" y="5129784"/>
            <a:ext cx="2697480" cy="1179576"/>
          </a:xfrm>
          <a:prstGeom prst="rect">
            <a:avLst/>
          </a:prstGeom>
        </p:spPr>
      </p:pic>
      <p:sp>
        <p:nvSpPr>
          <p:cNvPr id="12" name="TextBox 11"/>
          <p:cNvSpPr txBox="1"/>
          <p:nvPr/>
        </p:nvSpPr>
        <p:spPr>
          <a:xfrm>
            <a:off x="3675887" y="5212080"/>
            <a:ext cx="22860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ACTUAL DEMO UI</a:t>
            </a:r>
          </a:p>
        </p:txBody>
      </p:sp>
      <p:sp>
        <p:nvSpPr>
          <p:cNvPr id="13" name="TextBox 12"/>
          <p:cNvSpPr txBox="1"/>
          <p:nvPr/>
        </p:nvSpPr>
        <p:spPr>
          <a:xfrm>
            <a:off x="3675887" y="5559552"/>
            <a:ext cx="2286000" cy="548640"/>
          </a:xfrm>
          <a:prstGeom prst="rect">
            <a:avLst/>
          </a:prstGeom>
          <a:noFill/>
        </p:spPr>
        <p:txBody>
          <a:bodyPr wrap="square" lIns="0" tIns="0" rIns="0" bIns="0">
            <a:spAutoFit/>
          </a:bodyPr>
          <a:lstStyle/>
          <a:p>
            <a:pPr>
              <a:spcAft>
                <a:spcPts val="300"/>
              </a:spcAft>
              <a:defRPr sz="1400" b="1">
                <a:solidFill>
                  <a:srgbClr val="EDF5FF"/>
                </a:solidFill>
                <a:latin typeface="Aptos"/>
              </a:defRPr>
            </a:pPr>
            <a:r>
              <a:t>Category progress</a:t>
            </a:r>
          </a:p>
          <a:p>
            <a:pPr>
              <a:spcAft>
                <a:spcPts val="300"/>
              </a:spcAft>
              <a:defRPr sz="1400" b="1">
                <a:solidFill>
                  <a:srgbClr val="EDF5FF"/>
                </a:solidFill>
                <a:latin typeface="Aptos"/>
              </a:defRPr>
            </a:pPr>
            <a:r>
              <a:t>and overspend alerts</a:t>
            </a:r>
          </a:p>
        </p:txBody>
      </p:sp>
      <p:sp>
        <p:nvSpPr>
          <p:cNvPr id="14" name="Oval 13"/>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Accounts &amp; activity</a:t>
            </a:r>
          </a:p>
        </p:txBody>
      </p:sp>
      <p:sp>
        <p:nvSpPr>
          <p:cNvPr id="16"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Multi-currency wallets, cash, transactions, categories, search/filter, CSV mapping/import.</a:t>
            </a:r>
          </a:p>
        </p:txBody>
      </p:sp>
      <p:sp>
        <p:nvSpPr>
          <p:cNvPr id="17" name="Oval 16"/>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Tuition &amp; planning</a:t>
            </a:r>
          </a:p>
        </p:txBody>
      </p:sp>
      <p:sp>
        <p:nvSpPr>
          <p:cNvPr id="19"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Invoices, scholarships, deadlines, savings scenarios, category budgets, credit guidance.</a:t>
            </a:r>
          </a:p>
        </p:txBody>
      </p:sp>
      <p:sp>
        <p:nvSpPr>
          <p:cNvPr id="20" name="Oval 19"/>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Payments &amp; transfers</a:t>
            </a:r>
          </a:p>
        </p:txBody>
      </p:sp>
      <p:sp>
        <p:nvSpPr>
          <p:cNvPr id="22"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FX/providers, quotes, sends, top-ups, manual deposits, withdrawals, recipients and receipts.</a:t>
            </a:r>
          </a:p>
        </p:txBody>
      </p:sp>
      <p:sp>
        <p:nvSpPr>
          <p:cNvPr id="23" name="Oval 22"/>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AI copilot</a:t>
            </a:r>
          </a:p>
        </p:txBody>
      </p:sp>
      <p:sp>
        <p:nvSpPr>
          <p:cNvPr id="25"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Chat/tool history, advice, follow-ups, navigation, reviewed actions and model selection.</a:t>
            </a:r>
          </a:p>
        </p:txBody>
      </p:sp>
      <p:sp>
        <p:nvSpPr>
          <p:cNvPr id="26" name="Oval 25"/>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Family &amp; notifications</a:t>
            </a:r>
          </a:p>
        </p:txBody>
      </p:sp>
      <p:sp>
        <p:nvSpPr>
          <p:cNvPr id="28"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Invitations, recipient/transfer approvals, reminders, alerts/snooze and ledger history.</a:t>
            </a:r>
          </a:p>
        </p:txBody>
      </p:sp>
      <p:sp>
        <p:nvSpPr>
          <p:cNvPr id="29" name="Oval 28"/>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Personal account</a:t>
            </a:r>
          </a:p>
        </p:txBody>
      </p:sp>
      <p:sp>
        <p:nvSpPr>
          <p:cNvPr id="31"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Plans/quotas/history, saved cards/models, profile/security, reports, export and closure.</a:t>
            </a:r>
          </a:p>
        </p:txBody>
      </p:sp>
      <p:sp>
        <p:nvSpPr>
          <p:cNvPr id="32" name="TextBox 31"/>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3 languages · themes · country/currency · time zone · search</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childTnLst>
                          </p:cTn>
                        </p:par>
                        <p:par>
                          <p:cTn id="36" fill="hold">
                            <p:stCondLst>
                              <p:cond delay="2500"/>
                            </p:stCondLst>
                            <p:childTnLst>
                              <p:par>
                                <p:cTn id="37" presetID="10" presetClass="entr" presetSubtype="0"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childTnLst>
                          </p:cTn>
                        </p:par>
                        <p:par>
                          <p:cTn id="50" fill="hold">
                            <p:stCondLst>
                              <p:cond delay="3500"/>
                            </p:stCondLst>
                            <p:childTnLst>
                              <p:par>
                                <p:cTn id="51" presetID="10"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00"/>
                                        <p:tgtEl>
                                          <p:spTgt spid="3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5" grpId="0"/>
      <p:bldP spid="16" grpId="0"/>
      <p:bldP spid="18" grpId="0"/>
      <p:bldP spid="19" grpId="0"/>
      <p:bldP spid="21" grpId="0"/>
      <p:bldP spid="22" grpId="0"/>
      <p:bldP spid="24" grpId="0"/>
      <p:bldP spid="25" grpId="0"/>
      <p:bldP spid="27" grpId="0"/>
      <p:bldP spid="28" grpId="0"/>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Parent features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Support the student with scoped visibility, clear approval rules and spending limits.</a:t>
            </a:r>
          </a:p>
        </p:txBody>
      </p:sp>
      <p:sp>
        <p:nvSpPr>
          <p:cNvPr id="7" name="Rounded Rectangle 6"/>
          <p:cNvSpPr/>
          <p:nvPr/>
        </p:nvSpPr>
        <p:spPr>
          <a:xfrm>
            <a:off x="502920" y="1920240"/>
            <a:ext cx="5760720" cy="2231136"/>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5303520" cy="256032"/>
          </a:xfrm>
          <a:prstGeom prst="rect">
            <a:avLst/>
          </a:prstGeom>
          <a:noFill/>
        </p:spPr>
        <p:txBody>
          <a:bodyPr wrap="square" lIns="0" tIns="0" rIns="0" bIns="0">
            <a:spAutoFit/>
          </a:bodyPr>
          <a:lstStyle/>
          <a:p>
            <a:pPr>
              <a:spcAft>
                <a:spcPts val="300"/>
              </a:spcAft>
              <a:defRPr sz="1200" b="1">
                <a:solidFill>
                  <a:srgbClr val="63E6BE"/>
                </a:solidFill>
                <a:latin typeface="Aptos"/>
              </a:defRPr>
            </a:pPr>
            <a:r>
              <a:t>TRANSFER REVIEW BOUNDARIES · CNY</a:t>
            </a:r>
          </a:p>
        </p:txBody>
      </p:sp>
      <p:graphicFrame>
        <p:nvGraphicFramePr>
          <p:cNvPr id="9" name="chart_03"/>
          <p:cNvGraphicFramePr>
            <a:graphicFrameLocks noGrp="1"/>
          </p:cNvGraphicFramePr>
          <p:nvPr/>
        </p:nvGraphicFramePr>
        <p:xfrm>
          <a:off x="713232" y="2551176"/>
          <a:ext cx="5303520" cy="1298448"/>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Family circle</a:t>
            </a:r>
          </a:p>
        </p:txBody>
      </p:sp>
      <p:sp>
        <p:nvSpPr>
          <p:cNvPr id="13"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Invite/link students, review linked finances and revoke relationships.</a:t>
            </a:r>
          </a:p>
        </p:txBody>
      </p:sp>
      <p:sp>
        <p:nvSpPr>
          <p:cNvPr id="14" name="Oval 13"/>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Visibility matrix</a:t>
            </a:r>
          </a:p>
        </p:txBody>
      </p:sp>
      <p:sp>
        <p:nvSpPr>
          <p:cNvPr id="16"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Balances, category totals, descriptions, tuition, budgets and permission-aware alerts.</a:t>
            </a:r>
          </a:p>
        </p:txBody>
      </p:sp>
      <p:sp>
        <p:nvSpPr>
          <p:cNvPr id="17" name="Oval 16"/>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Approval center</a:t>
            </a:r>
          </a:p>
        </p:txBody>
      </p:sp>
      <p:sp>
        <p:nvSpPr>
          <p:cNvPr id="19"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Approve/reject payments and beneficiaries; reasons/history; tuition/conversion sign-off.</a:t>
            </a:r>
          </a:p>
        </p:txBody>
      </p:sp>
      <p:sp>
        <p:nvSpPr>
          <p:cNvPr id="20" name="Oval 19"/>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Spending controls</a:t>
            </a:r>
          </a:p>
        </p:txBody>
      </p:sp>
      <p:sp>
        <p:nvSpPr>
          <p:cNvPr id="22"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Thresholds, transfer/daily/monthly caps, category limits, auto-approval and one-time recipients.</a:t>
            </a:r>
          </a:p>
        </p:txBody>
      </p:sp>
      <p:sp>
        <p:nvSpPr>
          <p:cNvPr id="23" name="Oval 22"/>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Parent money &amp; AI</a:t>
            </a:r>
          </a:p>
        </p:txBody>
      </p:sp>
      <p:sp>
        <p:nvSpPr>
          <p:cNvPr id="25"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Own wallets, student funding, deposits/payments, transactions/CSV and reviewed AI actions.</a:t>
            </a:r>
          </a:p>
        </p:txBody>
      </p:sp>
      <p:sp>
        <p:nvSpPr>
          <p:cNvPr id="26" name="Oval 25"/>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Shared account tools</a:t>
            </a:r>
          </a:p>
        </p:txBody>
      </p:sp>
      <p:sp>
        <p:nvSpPr>
          <p:cNvPr id="28"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Plans, cards/models, alerts/reports, profile/security, preferences, export and closure.</a:t>
            </a:r>
          </a:p>
        </p:txBody>
      </p:sp>
      <p:sp>
        <p:nvSpPr>
          <p:cNvPr id="29" name="TextBox 28"/>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Parent policies can tighten platform limits.</a:t>
            </a:r>
          </a:p>
        </p:txBody>
      </p:sp>
      <p:sp>
        <p:nvSpPr>
          <p:cNvPr id="30" name="reveal_03"/>
          <p:cNvSpPr/>
          <p:nvPr/>
        </p:nvSpPr>
        <p:spPr>
          <a:xfrm>
            <a:off x="502920" y="4361688"/>
            <a:ext cx="5760720" cy="192024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veal_03"/>
          <p:cNvSpPr txBox="1"/>
          <p:nvPr/>
        </p:nvSpPr>
        <p:spPr>
          <a:xfrm>
            <a:off x="749808" y="4590288"/>
            <a:ext cx="5266944" cy="393192"/>
          </a:xfrm>
          <a:prstGeom prst="rect">
            <a:avLst/>
          </a:prstGeom>
          <a:noFill/>
        </p:spPr>
        <p:txBody>
          <a:bodyPr wrap="square" lIns="0" tIns="0" rIns="0" bIns="0">
            <a:spAutoFit/>
          </a:bodyPr>
          <a:lstStyle/>
          <a:p>
            <a:pPr>
              <a:spcAft>
                <a:spcPts val="400"/>
              </a:spcAft>
              <a:defRPr sz="2000" b="1">
                <a:solidFill>
                  <a:srgbClr val="EDF5FF"/>
                </a:solidFill>
                <a:latin typeface="Aptos"/>
              </a:defRPr>
            </a:pPr>
            <a:r>
              <a:t>Student requests CNY 6,750</a:t>
            </a:r>
          </a:p>
        </p:txBody>
      </p:sp>
      <p:sp>
        <p:nvSpPr>
          <p:cNvPr id="32" name="reveal_04"/>
          <p:cNvSpPr/>
          <p:nvPr/>
        </p:nvSpPr>
        <p:spPr>
          <a:xfrm>
            <a:off x="731520" y="5285232"/>
            <a:ext cx="1627632" cy="73152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4"/>
          <p:cNvSpPr txBox="1"/>
          <p:nvPr/>
        </p:nvSpPr>
        <p:spPr>
          <a:xfrm>
            <a:off x="804672" y="5422392"/>
            <a:ext cx="1481328" cy="219456"/>
          </a:xfrm>
          <a:prstGeom prst="rect">
            <a:avLst/>
          </a:prstGeom>
          <a:noFill/>
        </p:spPr>
        <p:txBody>
          <a:bodyPr wrap="square" lIns="0" tIns="0" rIns="0" bIns="0">
            <a:spAutoFit/>
          </a:bodyPr>
          <a:lstStyle/>
          <a:p>
            <a:pPr algn="ctr">
              <a:spcAft>
                <a:spcPts val="400"/>
              </a:spcAft>
              <a:defRPr sz="1400" b="1">
                <a:solidFill>
                  <a:srgbClr val="6BB9FF"/>
                </a:solidFill>
                <a:latin typeface="Aptos"/>
              </a:defRPr>
            </a:pPr>
            <a:r>
              <a:t>Student</a:t>
            </a:r>
          </a:p>
        </p:txBody>
      </p:sp>
      <p:sp>
        <p:nvSpPr>
          <p:cNvPr id="34" name="reveal_04"/>
          <p:cNvSpPr txBox="1"/>
          <p:nvPr/>
        </p:nvSpPr>
        <p:spPr>
          <a:xfrm>
            <a:off x="786384" y="5733288"/>
            <a:ext cx="1517904" cy="210312"/>
          </a:xfrm>
          <a:prstGeom prst="rect">
            <a:avLst/>
          </a:prstGeom>
          <a:noFill/>
        </p:spPr>
        <p:txBody>
          <a:bodyPr wrap="square" lIns="0" tIns="0" rIns="0" bIns="0">
            <a:spAutoFit/>
          </a:bodyPr>
          <a:lstStyle/>
          <a:p>
            <a:pPr algn="ctr">
              <a:spcAft>
                <a:spcPts val="400"/>
              </a:spcAft>
              <a:defRPr sz="1000" b="0">
                <a:solidFill>
                  <a:srgbClr val="A2B4CA"/>
                </a:solidFill>
                <a:latin typeface="Aptos"/>
              </a:defRPr>
            </a:pPr>
            <a:r>
              <a:t>Confirms request</a:t>
            </a:r>
          </a:p>
        </p:txBody>
      </p:sp>
      <p:sp>
        <p:nvSpPr>
          <p:cNvPr id="35" name="TextBox 34"/>
          <p:cNvSpPr txBox="1"/>
          <p:nvPr/>
        </p:nvSpPr>
        <p:spPr>
          <a:xfrm>
            <a:off x="2377440" y="5477256"/>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36" name="reveal_05"/>
          <p:cNvSpPr/>
          <p:nvPr/>
        </p:nvSpPr>
        <p:spPr>
          <a:xfrm>
            <a:off x="2578608" y="5285232"/>
            <a:ext cx="1627632" cy="73152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veal_05"/>
          <p:cNvSpPr txBox="1"/>
          <p:nvPr/>
        </p:nvSpPr>
        <p:spPr>
          <a:xfrm>
            <a:off x="2651760" y="5422392"/>
            <a:ext cx="1481328" cy="219456"/>
          </a:xfrm>
          <a:prstGeom prst="rect">
            <a:avLst/>
          </a:prstGeom>
          <a:noFill/>
        </p:spPr>
        <p:txBody>
          <a:bodyPr wrap="square" lIns="0" tIns="0" rIns="0" bIns="0">
            <a:spAutoFit/>
          </a:bodyPr>
          <a:lstStyle/>
          <a:p>
            <a:pPr algn="ctr">
              <a:spcAft>
                <a:spcPts val="400"/>
              </a:spcAft>
              <a:defRPr sz="1400" b="1">
                <a:solidFill>
                  <a:srgbClr val="F3C969"/>
                </a:solidFill>
                <a:latin typeface="Aptos"/>
              </a:defRPr>
            </a:pPr>
            <a:r>
              <a:t>Parent</a:t>
            </a:r>
          </a:p>
        </p:txBody>
      </p:sp>
      <p:sp>
        <p:nvSpPr>
          <p:cNvPr id="38" name="reveal_05"/>
          <p:cNvSpPr txBox="1"/>
          <p:nvPr/>
        </p:nvSpPr>
        <p:spPr>
          <a:xfrm>
            <a:off x="2633472" y="5733288"/>
            <a:ext cx="1517904" cy="210312"/>
          </a:xfrm>
          <a:prstGeom prst="rect">
            <a:avLst/>
          </a:prstGeom>
          <a:noFill/>
        </p:spPr>
        <p:txBody>
          <a:bodyPr wrap="square" lIns="0" tIns="0" rIns="0" bIns="0">
            <a:spAutoFit/>
          </a:bodyPr>
          <a:lstStyle/>
          <a:p>
            <a:pPr algn="ctr">
              <a:spcAft>
                <a:spcPts val="400"/>
              </a:spcAft>
              <a:defRPr sz="1000" b="0">
                <a:solidFill>
                  <a:srgbClr val="A2B4CA"/>
                </a:solidFill>
                <a:latin typeface="Aptos"/>
              </a:defRPr>
            </a:pPr>
            <a:r>
              <a:t>Reviews + decides</a:t>
            </a:r>
          </a:p>
        </p:txBody>
      </p:sp>
      <p:sp>
        <p:nvSpPr>
          <p:cNvPr id="39" name="TextBox 38"/>
          <p:cNvSpPr txBox="1"/>
          <p:nvPr/>
        </p:nvSpPr>
        <p:spPr>
          <a:xfrm>
            <a:off x="4224528" y="5477256"/>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40" name="reveal_06"/>
          <p:cNvSpPr/>
          <p:nvPr/>
        </p:nvSpPr>
        <p:spPr>
          <a:xfrm>
            <a:off x="4425696" y="5285232"/>
            <a:ext cx="1627632" cy="73152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veal_06"/>
          <p:cNvSpPr txBox="1"/>
          <p:nvPr/>
        </p:nvSpPr>
        <p:spPr>
          <a:xfrm>
            <a:off x="4498848" y="5422392"/>
            <a:ext cx="1481328" cy="219456"/>
          </a:xfrm>
          <a:prstGeom prst="rect">
            <a:avLst/>
          </a:prstGeom>
          <a:noFill/>
        </p:spPr>
        <p:txBody>
          <a:bodyPr wrap="square" lIns="0" tIns="0" rIns="0" bIns="0">
            <a:spAutoFit/>
          </a:bodyPr>
          <a:lstStyle/>
          <a:p>
            <a:pPr algn="ctr">
              <a:spcAft>
                <a:spcPts val="400"/>
              </a:spcAft>
              <a:defRPr sz="1400" b="1">
                <a:solidFill>
                  <a:srgbClr val="63E6BE"/>
                </a:solidFill>
                <a:latin typeface="Aptos"/>
              </a:defRPr>
            </a:pPr>
            <a:r>
              <a:t>Payment</a:t>
            </a:r>
          </a:p>
        </p:txBody>
      </p:sp>
      <p:sp>
        <p:nvSpPr>
          <p:cNvPr id="42" name="reveal_06"/>
          <p:cNvSpPr txBox="1"/>
          <p:nvPr/>
        </p:nvSpPr>
        <p:spPr>
          <a:xfrm>
            <a:off x="4480559" y="5733288"/>
            <a:ext cx="1517904" cy="210312"/>
          </a:xfrm>
          <a:prstGeom prst="rect">
            <a:avLst/>
          </a:prstGeom>
          <a:noFill/>
        </p:spPr>
        <p:txBody>
          <a:bodyPr wrap="square" lIns="0" tIns="0" rIns="0" bIns="0">
            <a:spAutoFit/>
          </a:bodyPr>
          <a:lstStyle/>
          <a:p>
            <a:pPr algn="ctr">
              <a:spcAft>
                <a:spcPts val="400"/>
              </a:spcAft>
              <a:defRPr sz="1000" b="0">
                <a:solidFill>
                  <a:srgbClr val="A2B4CA"/>
                </a:solidFill>
                <a:latin typeface="Aptos"/>
              </a:defRPr>
            </a:pPr>
            <a:r>
              <a:t>Queues if approved</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500"/>
                                        <p:tgtEl>
                                          <p:spTgt spid="30"/>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right)">
                                      <p:cBhvr>
                                        <p:cTn id="17" dur="500"/>
                                        <p:tgtEl>
                                          <p:spTgt spid="9"/>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childTnLst>
                          </p:cTn>
                        </p:par>
                        <p:par>
                          <p:cTn id="34" fill="hold">
                            <p:stCondLst>
                              <p:cond delay="1500"/>
                            </p:stCondLst>
                            <p:childTnLst>
                              <p:par>
                                <p:cTn id="35" presetID="10" presetClass="entr" presetSubtype="0" fill="hold" grpId="0"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500"/>
                                        <p:tgtEl>
                                          <p:spTgt spid="38"/>
                                        </p:tgtEl>
                                      </p:cBhvr>
                                    </p:animEffect>
                                  </p:childTnLst>
                                </p:cTn>
                              </p:par>
                            </p:childTnLst>
                          </p:cTn>
                        </p:par>
                        <p:par>
                          <p:cTn id="50" fill="hold">
                            <p:stCondLst>
                              <p:cond delay="2000"/>
                            </p:stCondLst>
                            <p:childTnLst>
                              <p:par>
                                <p:cTn id="51" presetID="10" presetClass="entr" presetSubtype="0" fill="hold" grpId="0" nodeType="after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500"/>
                                        <p:tgtEl>
                                          <p:spTgt spid="4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500"/>
                                        <p:tgtEl>
                                          <p:spTgt spid="4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fade">
                                      <p:cBhvr>
                                        <p:cTn id="62" dur="500"/>
                                        <p:tgtEl>
                                          <p:spTgt spid="4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childTnLst>
                                </p:cTn>
                              </p:par>
                            </p:childTnLst>
                          </p:cTn>
                        </p:par>
                        <p:par>
                          <p:cTn id="66" fill="hold">
                            <p:stCondLst>
                              <p:cond delay="2500"/>
                            </p:stCondLst>
                            <p:childTnLst>
                              <p:par>
                                <p:cTn id="67" presetID="10" presetClass="entr" presetSubtype="0" fill="hold" grpId="0" nodeType="after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500"/>
                                        <p:tgtEl>
                                          <p:spTgt spid="22"/>
                                        </p:tgtEl>
                                      </p:cBhvr>
                                    </p:animEffect>
                                  </p:childTnLst>
                                </p:cTn>
                              </p:par>
                            </p:childTnLst>
                          </p:cTn>
                        </p:par>
                        <p:par>
                          <p:cTn id="73" fill="hold">
                            <p:stCondLst>
                              <p:cond delay="3000"/>
                            </p:stCondLst>
                            <p:childTnLst>
                              <p:par>
                                <p:cTn id="74" presetID="10" presetClass="entr" presetSubtype="0"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0"/>
                                        <p:tgtEl>
                                          <p:spTgt spid="24"/>
                                        </p:tgtEl>
                                      </p:cBhvr>
                                    </p:animEffect>
                                  </p:childTnLst>
                                </p:cTn>
                              </p:par>
                            </p:childTnLst>
                          </p:cTn>
                        </p:par>
                        <p:par>
                          <p:cTn id="80" fill="hold">
                            <p:stCondLst>
                              <p:cond delay="3500"/>
                            </p:stCondLst>
                            <p:childTnLst>
                              <p:par>
                                <p:cTn id="81" presetID="10" presetClass="entr" presetSubtype="0" fill="hold" grpId="0" nodeType="after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2" grpId="0"/>
      <p:bldP spid="13" grpId="0"/>
      <p:bldP spid="15" grpId="0"/>
      <p:bldP spid="16" grpId="0"/>
      <p:bldP spid="18" grpId="0"/>
      <p:bldP spid="19" grpId="0"/>
      <p:bldP spid="21" grpId="0"/>
      <p:bldP spid="22" grpId="0"/>
      <p:bldP spid="24" grpId="0"/>
      <p:bldP spid="25" grpId="0"/>
      <p:bldP spid="27" grpId="0"/>
      <p:bldP spid="28" grpId="0"/>
      <p:bldP spid="30" grpId="0" animBg="1"/>
      <p:bldP spid="31" grpId="0"/>
      <p:bldP spid="32" grpId="0" animBg="1"/>
      <p:bldP spid="33" grpId="0"/>
      <p:bldP spid="34" grpId="0"/>
      <p:bldP spid="36" grpId="0" animBg="1"/>
      <p:bldP spid="37" grpId="0"/>
      <p:bldP spid="38" grpId="0"/>
      <p:bldP spid="40" grpId="0" animBg="1"/>
      <p:bldP spid="41" grpId="0"/>
      <p:bldP spid="4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Admin features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Configure the sandbox, resolve requests and inspect the evidence behind each financial action.</a:t>
            </a:r>
          </a:p>
        </p:txBody>
      </p:sp>
      <p:sp>
        <p:nvSpPr>
          <p:cNvPr id="8" name="Rounded Rectangle 7"/>
          <p:cNvSpPr/>
          <p:nvPr/>
        </p:nvSpPr>
        <p:spPr>
          <a:xfrm>
            <a:off x="502920" y="4535424"/>
            <a:ext cx="5760720" cy="175564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718304"/>
            <a:ext cx="5303520" cy="237744"/>
          </a:xfrm>
          <a:prstGeom prst="rect">
            <a:avLst/>
          </a:prstGeom>
          <a:noFill/>
        </p:spPr>
        <p:txBody>
          <a:bodyPr wrap="square" lIns="0" tIns="0" rIns="0" bIns="0">
            <a:spAutoFit/>
          </a:bodyPr>
          <a:lstStyle/>
          <a:p>
            <a:pPr>
              <a:spcAft>
                <a:spcPts val="300"/>
              </a:spcAft>
              <a:defRPr sz="1100" b="1">
                <a:solidFill>
                  <a:srgbClr val="63E6BE"/>
                </a:solidFill>
                <a:latin typeface="Aptos"/>
              </a:defRPr>
            </a:pPr>
            <a:r>
              <a:t>EXAMPLE QUEUE SNAPSHOT</a:t>
            </a:r>
          </a:p>
        </p:txBody>
      </p:sp>
      <p:graphicFrame>
        <p:nvGraphicFramePr>
          <p:cNvPr id="10" name="chart_03"/>
          <p:cNvGraphicFramePr>
            <a:graphicFrameLocks noGrp="1"/>
          </p:cNvGraphicFramePr>
          <p:nvPr/>
        </p:nvGraphicFramePr>
        <p:xfrm>
          <a:off x="722376" y="5074920"/>
          <a:ext cx="5294376" cy="1051560"/>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Users &amp; roles</a:t>
            </a:r>
          </a:p>
        </p:txBody>
      </p:sp>
      <p:sp>
        <p:nvSpPr>
          <p:cNvPr id="13"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User/role management, suspend/reactivate, metrics and delegated moderator scopes.</a:t>
            </a:r>
          </a:p>
        </p:txBody>
      </p:sp>
      <p:sp>
        <p:nvSpPr>
          <p:cNvPr id="14" name="Oval 13"/>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Manual settlement</a:t>
            </a:r>
          </a:p>
        </p:txBody>
      </p:sp>
      <p:sp>
        <p:nvSpPr>
          <p:cNvPr id="16"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Claim/process/complete/fail, payout references, held funds/refunds and receiving details.</a:t>
            </a:r>
          </a:p>
        </p:txBody>
      </p:sp>
      <p:sp>
        <p:nvSpPr>
          <p:cNvPr id="17" name="Oval 16"/>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Financial configuration</a:t>
            </a:r>
          </a:p>
        </p:txBody>
      </p:sp>
      <p:sp>
        <p:nvSpPr>
          <p:cNvPr id="19"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Risk/frequency ceilings, FX, providers/fees/spreads/routes and credit guidance.</a:t>
            </a:r>
          </a:p>
        </p:txBody>
      </p:sp>
      <p:sp>
        <p:nvSpPr>
          <p:cNvPr id="20" name="Oval 19"/>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Catalog &amp; subscriptions</a:t>
            </a:r>
          </a:p>
        </p:txBody>
      </p:sp>
      <p:sp>
        <p:nvSpPr>
          <p:cNvPr id="22"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Countries/currencies, defaults/settings, pricing, quotas and feature limits.</a:t>
            </a:r>
          </a:p>
        </p:txBody>
      </p:sp>
      <p:sp>
        <p:nvSpPr>
          <p:cNvPr id="23" name="Oval 22"/>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AI &amp; platform team</a:t>
            </a:r>
          </a:p>
        </p:txBody>
      </p:sp>
      <p:sp>
        <p:nvSpPr>
          <p:cNvPr id="25"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Shared models/keys, connection tests, run/tool inspection and published team profiles.</a:t>
            </a:r>
          </a:p>
        </p:txBody>
      </p:sp>
      <p:sp>
        <p:nvSpPr>
          <p:cNvPr id="26" name="Oval 25"/>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Reports &amp; evidence</a:t>
            </a:r>
          </a:p>
        </p:txBody>
      </p:sp>
      <p:sp>
        <p:nvSpPr>
          <p:cNvPr id="28"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Resolve reports; audit logs, transfer receipts, project and security evidence exports.</a:t>
            </a:r>
          </a:p>
        </p:txBody>
      </p:sp>
      <p:sp>
        <p:nvSpPr>
          <p:cNvPr id="29" name="TextBox 28"/>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Moderator access is limited to assigned sections.</a:t>
            </a:r>
          </a:p>
        </p:txBody>
      </p:sp>
      <p:sp>
        <p:nvSpPr>
          <p:cNvPr id="30" name="reveal_02"/>
          <p:cNvSpPr/>
          <p:nvPr/>
        </p:nvSpPr>
        <p:spPr>
          <a:xfrm>
            <a:off x="502920" y="1920240"/>
            <a:ext cx="5760720" cy="242316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veal_02"/>
          <p:cNvSpPr txBox="1"/>
          <p:nvPr/>
        </p:nvSpPr>
        <p:spPr>
          <a:xfrm>
            <a:off x="749808" y="2130552"/>
            <a:ext cx="5285232" cy="320040"/>
          </a:xfrm>
          <a:prstGeom prst="rect">
            <a:avLst/>
          </a:prstGeom>
          <a:noFill/>
        </p:spPr>
        <p:txBody>
          <a:bodyPr wrap="square" lIns="0" tIns="0" rIns="0" bIns="0">
            <a:spAutoFit/>
          </a:bodyPr>
          <a:lstStyle/>
          <a:p>
            <a:pPr>
              <a:spcAft>
                <a:spcPts val="400"/>
              </a:spcAft>
              <a:defRPr sz="1800" b="1">
                <a:solidFill>
                  <a:srgbClr val="EDF5FF"/>
                </a:solidFill>
                <a:latin typeface="Aptos"/>
              </a:defRPr>
            </a:pPr>
            <a:r>
              <a:t>Manual settlement</a:t>
            </a:r>
          </a:p>
        </p:txBody>
      </p:sp>
      <p:sp>
        <p:nvSpPr>
          <p:cNvPr id="32" name="reveal_03"/>
          <p:cNvSpPr/>
          <p:nvPr/>
        </p:nvSpPr>
        <p:spPr>
          <a:xfrm>
            <a:off x="731520" y="2734056"/>
            <a:ext cx="1627632" cy="128016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3"/>
          <p:cNvSpPr txBox="1"/>
          <p:nvPr/>
        </p:nvSpPr>
        <p:spPr>
          <a:xfrm>
            <a:off x="786384" y="2889504"/>
            <a:ext cx="1517904" cy="246888"/>
          </a:xfrm>
          <a:prstGeom prst="rect">
            <a:avLst/>
          </a:prstGeom>
          <a:noFill/>
        </p:spPr>
        <p:txBody>
          <a:bodyPr wrap="square" lIns="0" tIns="0" rIns="0" bIns="0">
            <a:spAutoFit/>
          </a:bodyPr>
          <a:lstStyle/>
          <a:p>
            <a:pPr algn="ctr">
              <a:spcAft>
                <a:spcPts val="400"/>
              </a:spcAft>
              <a:defRPr sz="1300" b="1">
                <a:solidFill>
                  <a:srgbClr val="F3C969"/>
                </a:solidFill>
                <a:latin typeface="Aptos"/>
              </a:defRPr>
            </a:pPr>
            <a:r>
              <a:t>Queued</a:t>
            </a:r>
          </a:p>
        </p:txBody>
      </p:sp>
      <p:sp>
        <p:nvSpPr>
          <p:cNvPr id="34" name="reveal_03"/>
          <p:cNvSpPr txBox="1"/>
          <p:nvPr/>
        </p:nvSpPr>
        <p:spPr>
          <a:xfrm>
            <a:off x="850392" y="3374136"/>
            <a:ext cx="1389888" cy="475488"/>
          </a:xfrm>
          <a:prstGeom prst="rect">
            <a:avLst/>
          </a:prstGeom>
          <a:noFill/>
        </p:spPr>
        <p:txBody>
          <a:bodyPr wrap="square" lIns="0" tIns="0" rIns="0" bIns="0">
            <a:spAutoFit/>
          </a:bodyPr>
          <a:lstStyle/>
          <a:p>
            <a:pPr algn="ctr">
              <a:spcAft>
                <a:spcPts val="400"/>
              </a:spcAft>
              <a:defRPr sz="1200" b="0">
                <a:solidFill>
                  <a:srgbClr val="EDF5FF"/>
                </a:solidFill>
                <a:latin typeface="Aptos"/>
              </a:defRPr>
            </a:pPr>
            <a:r>
              <a:t>Review request</a:t>
            </a:r>
          </a:p>
        </p:txBody>
      </p:sp>
      <p:sp>
        <p:nvSpPr>
          <p:cNvPr id="35" name="TextBox 34"/>
          <p:cNvSpPr txBox="1"/>
          <p:nvPr/>
        </p:nvSpPr>
        <p:spPr>
          <a:xfrm>
            <a:off x="2377440" y="3209544"/>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36" name="reveal_04"/>
          <p:cNvSpPr/>
          <p:nvPr/>
        </p:nvSpPr>
        <p:spPr>
          <a:xfrm>
            <a:off x="2578608" y="2734056"/>
            <a:ext cx="1627632" cy="128016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veal_04"/>
          <p:cNvSpPr txBox="1"/>
          <p:nvPr/>
        </p:nvSpPr>
        <p:spPr>
          <a:xfrm>
            <a:off x="2633472" y="2889504"/>
            <a:ext cx="1517904" cy="246888"/>
          </a:xfrm>
          <a:prstGeom prst="rect">
            <a:avLst/>
          </a:prstGeom>
          <a:noFill/>
        </p:spPr>
        <p:txBody>
          <a:bodyPr wrap="square" lIns="0" tIns="0" rIns="0" bIns="0">
            <a:spAutoFit/>
          </a:bodyPr>
          <a:lstStyle/>
          <a:p>
            <a:pPr algn="ctr">
              <a:spcAft>
                <a:spcPts val="400"/>
              </a:spcAft>
              <a:defRPr sz="1300" b="1">
                <a:solidFill>
                  <a:srgbClr val="6BB9FF"/>
                </a:solidFill>
                <a:latin typeface="Aptos"/>
              </a:defRPr>
            </a:pPr>
            <a:r>
              <a:t>Processing</a:t>
            </a:r>
          </a:p>
        </p:txBody>
      </p:sp>
      <p:sp>
        <p:nvSpPr>
          <p:cNvPr id="38" name="reveal_04"/>
          <p:cNvSpPr txBox="1"/>
          <p:nvPr/>
        </p:nvSpPr>
        <p:spPr>
          <a:xfrm>
            <a:off x="2697480" y="3374136"/>
            <a:ext cx="1389888" cy="475488"/>
          </a:xfrm>
          <a:prstGeom prst="rect">
            <a:avLst/>
          </a:prstGeom>
          <a:noFill/>
        </p:spPr>
        <p:txBody>
          <a:bodyPr wrap="square" lIns="0" tIns="0" rIns="0" bIns="0">
            <a:spAutoFit/>
          </a:bodyPr>
          <a:lstStyle/>
          <a:p>
            <a:pPr algn="ctr">
              <a:spcAft>
                <a:spcPts val="400"/>
              </a:spcAft>
              <a:defRPr sz="1200" b="0">
                <a:solidFill>
                  <a:srgbClr val="EDF5FF"/>
                </a:solidFill>
                <a:latin typeface="Aptos"/>
              </a:defRPr>
            </a:pPr>
            <a:r>
              <a:t>Add payout reference</a:t>
            </a:r>
          </a:p>
        </p:txBody>
      </p:sp>
      <p:sp>
        <p:nvSpPr>
          <p:cNvPr id="39" name="TextBox 38"/>
          <p:cNvSpPr txBox="1"/>
          <p:nvPr/>
        </p:nvSpPr>
        <p:spPr>
          <a:xfrm>
            <a:off x="4224528" y="3209544"/>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40" name="reveal_05"/>
          <p:cNvSpPr/>
          <p:nvPr/>
        </p:nvSpPr>
        <p:spPr>
          <a:xfrm>
            <a:off x="4425696" y="2734056"/>
            <a:ext cx="1627632" cy="128016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veal_05"/>
          <p:cNvSpPr txBox="1"/>
          <p:nvPr/>
        </p:nvSpPr>
        <p:spPr>
          <a:xfrm>
            <a:off x="4480559" y="2889504"/>
            <a:ext cx="1517904" cy="246888"/>
          </a:xfrm>
          <a:prstGeom prst="rect">
            <a:avLst/>
          </a:prstGeom>
          <a:noFill/>
        </p:spPr>
        <p:txBody>
          <a:bodyPr wrap="square" lIns="0" tIns="0" rIns="0" bIns="0">
            <a:spAutoFit/>
          </a:bodyPr>
          <a:lstStyle/>
          <a:p>
            <a:pPr algn="ctr">
              <a:spcAft>
                <a:spcPts val="400"/>
              </a:spcAft>
              <a:defRPr sz="1300" b="1">
                <a:solidFill>
                  <a:srgbClr val="63E6BE"/>
                </a:solidFill>
                <a:latin typeface="Aptos"/>
              </a:defRPr>
            </a:pPr>
            <a:r>
              <a:t>Completed</a:t>
            </a:r>
          </a:p>
        </p:txBody>
      </p:sp>
      <p:sp>
        <p:nvSpPr>
          <p:cNvPr id="42" name="reveal_05"/>
          <p:cNvSpPr txBox="1"/>
          <p:nvPr/>
        </p:nvSpPr>
        <p:spPr>
          <a:xfrm>
            <a:off x="4544568" y="3374136"/>
            <a:ext cx="1389888" cy="475488"/>
          </a:xfrm>
          <a:prstGeom prst="rect">
            <a:avLst/>
          </a:prstGeom>
          <a:noFill/>
        </p:spPr>
        <p:txBody>
          <a:bodyPr wrap="square" lIns="0" tIns="0" rIns="0" bIns="0">
            <a:spAutoFit/>
          </a:bodyPr>
          <a:lstStyle/>
          <a:p>
            <a:pPr algn="ctr">
              <a:spcAft>
                <a:spcPts val="400"/>
              </a:spcAft>
              <a:defRPr sz="1200" b="0">
                <a:solidFill>
                  <a:srgbClr val="EDF5FF"/>
                </a:solidFill>
                <a:latin typeface="Aptos"/>
              </a:defRPr>
            </a:pPr>
            <a:r>
              <a:t>Record receipt</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500"/>
                                        <p:tgtEl>
                                          <p:spTgt spid="31"/>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childTnLst>
                          </p:cTn>
                        </p:par>
                        <p:par>
                          <p:cTn id="44" fill="hold">
                            <p:stCondLst>
                              <p:cond delay="2000"/>
                            </p:stCondLst>
                            <p:childTnLst>
                              <p:par>
                                <p:cTn id="45" presetID="10" presetClass="entr" presetSubtype="0"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fade">
                                      <p:cBhvr>
                                        <p:cTn id="50" dur="500"/>
                                        <p:tgtEl>
                                          <p:spTgt spid="4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childTnLst>
                          </p:cTn>
                        </p:par>
                        <p:par>
                          <p:cTn id="60" fill="hold">
                            <p:stCondLst>
                              <p:cond delay="2500"/>
                            </p:stCondLst>
                            <p:childTnLst>
                              <p:par>
                                <p:cTn id="61" presetID="10" presetClass="entr" presetSubtype="0"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childTnLst>
                          </p:cTn>
                        </p:par>
                        <p:par>
                          <p:cTn id="67" fill="hold">
                            <p:stCondLst>
                              <p:cond delay="3000"/>
                            </p:stCondLst>
                            <p:childTnLst>
                              <p:par>
                                <p:cTn id="68" presetID="10" presetClass="entr" presetSubtype="0" fill="hold" grpId="0" nodeType="after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500"/>
                                        <p:tgtEl>
                                          <p:spTgt spid="2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500"/>
                                        <p:tgtEl>
                                          <p:spTgt spid="22"/>
                                        </p:tgtEl>
                                      </p:cBhvr>
                                    </p:animEffect>
                                  </p:childTnLst>
                                </p:cTn>
                              </p:par>
                            </p:childTnLst>
                          </p:cTn>
                        </p:par>
                        <p:par>
                          <p:cTn id="74" fill="hold">
                            <p:stCondLst>
                              <p:cond delay="3500"/>
                            </p:stCondLst>
                            <p:childTnLst>
                              <p:par>
                                <p:cTn id="75" presetID="10" presetClass="entr" presetSubtype="0" fill="hold" grpId="0" nodeType="after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500"/>
                                        <p:tgtEl>
                                          <p:spTgt spid="2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500"/>
                                        <p:tgtEl>
                                          <p:spTgt spid="25"/>
                                        </p:tgtEl>
                                      </p:cBhvr>
                                    </p:animEffect>
                                  </p:childTnLst>
                                </p:cTn>
                              </p:par>
                            </p:childTnLst>
                          </p:cTn>
                        </p:par>
                        <p:par>
                          <p:cTn id="81" fill="hold">
                            <p:stCondLst>
                              <p:cond delay="4000"/>
                            </p:stCondLst>
                            <p:childTnLst>
                              <p:par>
                                <p:cTn id="82" presetID="10" presetClass="entr" presetSubtype="0" fill="hold" grpId="0" nodeType="after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P spid="12" grpId="0"/>
      <p:bldP spid="13" grpId="0"/>
      <p:bldP spid="15" grpId="0"/>
      <p:bldP spid="16" grpId="0"/>
      <p:bldP spid="18" grpId="0"/>
      <p:bldP spid="19" grpId="0"/>
      <p:bldP spid="21" grpId="0"/>
      <p:bldP spid="22" grpId="0"/>
      <p:bldP spid="24" grpId="0"/>
      <p:bldP spid="25" grpId="0"/>
      <p:bldP spid="27" grpId="0"/>
      <p:bldP spid="28" grpId="0"/>
      <p:bldP spid="30" grpId="0" animBg="1"/>
      <p:bldP spid="31" grpId="0"/>
      <p:bldP spid="32" grpId="0" animBg="1"/>
      <p:bldP spid="33" grpId="0"/>
      <p:bldP spid="34" grpId="0"/>
      <p:bldP spid="36" grpId="0" animBg="1"/>
      <p:bldP spid="37" grpId="0"/>
      <p:bldP spid="38" grpId="0"/>
      <p:bldP spid="40" grpId="0" animBg="1"/>
      <p:bldP spid="41" grpId="0"/>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Common features</a:t>
            </a:r>
          </a:p>
        </p:txBody>
      </p:sp>
      <p:sp>
        <p:nvSpPr>
          <p:cNvPr id="3" name="reveal_02"/>
          <p:cNvSpPr txBox="1"/>
          <p:nvPr/>
        </p:nvSpPr>
        <p:spPr>
          <a:xfrm>
            <a:off x="594360" y="1673352"/>
            <a:ext cx="3300984" cy="365760"/>
          </a:xfrm>
          <a:prstGeom prst="rect">
            <a:avLst/>
          </a:prstGeom>
          <a:noFill/>
        </p:spPr>
        <p:txBody>
          <a:bodyPr wrap="square" lIns="0" tIns="0" rIns="0" bIns="0">
            <a:spAutoFit/>
          </a:bodyPr>
          <a:lstStyle/>
          <a:p>
            <a:pPr>
              <a:spcAft>
                <a:spcPts val="400"/>
              </a:spcAft>
              <a:defRPr sz="2100" b="1">
                <a:solidFill>
                  <a:srgbClr val="EDF5FF"/>
                </a:solidFill>
                <a:latin typeface="Aptos"/>
              </a:defRPr>
            </a:pPr>
            <a:r>
              <a:t>Language</a:t>
            </a:r>
          </a:p>
        </p:txBody>
      </p:sp>
      <p:sp>
        <p:nvSpPr>
          <p:cNvPr id="4" name="reveal_02"/>
          <p:cNvSpPr txBox="1"/>
          <p:nvPr/>
        </p:nvSpPr>
        <p:spPr>
          <a:xfrm>
            <a:off x="4434840" y="1673352"/>
            <a:ext cx="3300984" cy="365760"/>
          </a:xfrm>
          <a:prstGeom prst="rect">
            <a:avLst/>
          </a:prstGeom>
          <a:noFill/>
        </p:spPr>
        <p:txBody>
          <a:bodyPr wrap="square" lIns="0" tIns="0" rIns="0" bIns="0">
            <a:spAutoFit/>
          </a:bodyPr>
          <a:lstStyle/>
          <a:p>
            <a:pPr>
              <a:spcAft>
                <a:spcPts val="400"/>
              </a:spcAft>
              <a:defRPr sz="2100" b="1">
                <a:solidFill>
                  <a:srgbClr val="EDF5FF"/>
                </a:solidFill>
                <a:latin typeface="Aptos"/>
              </a:defRPr>
            </a:pPr>
            <a:r>
              <a:t>Appearance</a:t>
            </a:r>
          </a:p>
        </p:txBody>
      </p:sp>
      <p:sp>
        <p:nvSpPr>
          <p:cNvPr id="5" name="reveal_02"/>
          <p:cNvSpPr txBox="1"/>
          <p:nvPr/>
        </p:nvSpPr>
        <p:spPr>
          <a:xfrm>
            <a:off x="8275320" y="1673352"/>
            <a:ext cx="3300984" cy="365760"/>
          </a:xfrm>
          <a:prstGeom prst="rect">
            <a:avLst/>
          </a:prstGeom>
          <a:noFill/>
        </p:spPr>
        <p:txBody>
          <a:bodyPr wrap="square" lIns="0" tIns="0" rIns="0" bIns="0">
            <a:spAutoFit/>
          </a:bodyPr>
          <a:lstStyle/>
          <a:p>
            <a:pPr>
              <a:spcAft>
                <a:spcPts val="400"/>
              </a:spcAft>
              <a:defRPr sz="2100" b="1">
                <a:solidFill>
                  <a:srgbClr val="EDF5FF"/>
                </a:solidFill>
                <a:latin typeface="Aptos"/>
              </a:defRPr>
            </a:pPr>
            <a:r>
              <a:t>Learn the platform</a:t>
            </a:r>
          </a:p>
        </p:txBody>
      </p:sp>
      <p:sp>
        <p:nvSpPr>
          <p:cNvPr id="6" name="reveal_03"/>
          <p:cNvSpPr/>
          <p:nvPr/>
        </p:nvSpPr>
        <p:spPr>
          <a:xfrm>
            <a:off x="594360" y="2240280"/>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veal_03"/>
          <p:cNvSpPr txBox="1"/>
          <p:nvPr/>
        </p:nvSpPr>
        <p:spPr>
          <a:xfrm>
            <a:off x="795528" y="2304288"/>
            <a:ext cx="2880360" cy="246888"/>
          </a:xfrm>
          <a:prstGeom prst="rect">
            <a:avLst/>
          </a:prstGeom>
          <a:noFill/>
        </p:spPr>
        <p:txBody>
          <a:bodyPr wrap="square" lIns="0" tIns="0" rIns="0" bIns="0">
            <a:spAutoFit/>
          </a:bodyPr>
          <a:lstStyle/>
          <a:p>
            <a:pPr>
              <a:spcAft>
                <a:spcPts val="400"/>
              </a:spcAft>
              <a:defRPr sz="1500" b="1">
                <a:solidFill>
                  <a:srgbClr val="63E6BE"/>
                </a:solidFill>
                <a:latin typeface="Aptos"/>
              </a:defRPr>
            </a:pPr>
            <a:r>
              <a:t>English</a:t>
            </a:r>
          </a:p>
        </p:txBody>
      </p:sp>
      <p:sp>
        <p:nvSpPr>
          <p:cNvPr id="8" name="reveal_04"/>
          <p:cNvSpPr/>
          <p:nvPr/>
        </p:nvSpPr>
        <p:spPr>
          <a:xfrm>
            <a:off x="594360" y="2761488"/>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veal_04"/>
          <p:cNvSpPr txBox="1"/>
          <p:nvPr/>
        </p:nvSpPr>
        <p:spPr>
          <a:xfrm>
            <a:off x="795528" y="2825496"/>
            <a:ext cx="2880360" cy="246888"/>
          </a:xfrm>
          <a:prstGeom prst="rect">
            <a:avLst/>
          </a:prstGeom>
          <a:noFill/>
        </p:spPr>
        <p:txBody>
          <a:bodyPr wrap="square" lIns="0" tIns="0" rIns="0" bIns="0">
            <a:spAutoFit/>
          </a:bodyPr>
          <a:lstStyle/>
          <a:p>
            <a:pPr>
              <a:spcAft>
                <a:spcPts val="400"/>
              </a:spcAft>
              <a:defRPr sz="1500" b="1">
                <a:solidFill>
                  <a:srgbClr val="6BB9FF"/>
                </a:solidFill>
                <a:latin typeface="Aptos"/>
              </a:defRPr>
            </a:pPr>
            <a:r>
              <a:t>Bengali</a:t>
            </a:r>
          </a:p>
        </p:txBody>
      </p:sp>
      <p:sp>
        <p:nvSpPr>
          <p:cNvPr id="10" name="reveal_05"/>
          <p:cNvSpPr/>
          <p:nvPr/>
        </p:nvSpPr>
        <p:spPr>
          <a:xfrm>
            <a:off x="594360" y="3282696"/>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5"/>
          <p:cNvSpPr txBox="1"/>
          <p:nvPr/>
        </p:nvSpPr>
        <p:spPr>
          <a:xfrm>
            <a:off x="795528" y="3346704"/>
            <a:ext cx="2880360" cy="246888"/>
          </a:xfrm>
          <a:prstGeom prst="rect">
            <a:avLst/>
          </a:prstGeom>
          <a:noFill/>
        </p:spPr>
        <p:txBody>
          <a:bodyPr wrap="square" lIns="0" tIns="0" rIns="0" bIns="0">
            <a:spAutoFit/>
          </a:bodyPr>
          <a:lstStyle/>
          <a:p>
            <a:pPr>
              <a:spcAft>
                <a:spcPts val="400"/>
              </a:spcAft>
              <a:defRPr sz="1500" b="1">
                <a:solidFill>
                  <a:srgbClr val="B4A3FF"/>
                </a:solidFill>
                <a:latin typeface="Aptos"/>
              </a:defRPr>
            </a:pPr>
            <a:r>
              <a:t>Chinese</a:t>
            </a:r>
          </a:p>
        </p:txBody>
      </p:sp>
      <p:sp>
        <p:nvSpPr>
          <p:cNvPr id="12" name="reveal_03"/>
          <p:cNvSpPr/>
          <p:nvPr/>
        </p:nvSpPr>
        <p:spPr>
          <a:xfrm>
            <a:off x="4434840" y="2240280"/>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242048" y="2359152"/>
            <a:ext cx="155448" cy="155448"/>
          </a:xfrm>
          <a:prstGeom prst="ellipse">
            <a:avLst/>
          </a:prstGeom>
          <a:solidFill>
            <a:srgbClr val="A2B4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veal_03"/>
          <p:cNvSpPr txBox="1"/>
          <p:nvPr/>
        </p:nvSpPr>
        <p:spPr>
          <a:xfrm>
            <a:off x="4626864" y="2304288"/>
            <a:ext cx="2377440" cy="256032"/>
          </a:xfrm>
          <a:prstGeom prst="rect">
            <a:avLst/>
          </a:prstGeom>
          <a:noFill/>
        </p:spPr>
        <p:txBody>
          <a:bodyPr wrap="square" lIns="0" tIns="0" rIns="0" bIns="0">
            <a:spAutoFit/>
          </a:bodyPr>
          <a:lstStyle/>
          <a:p>
            <a:pPr>
              <a:spcAft>
                <a:spcPts val="400"/>
              </a:spcAft>
              <a:defRPr sz="1500" b="1">
                <a:solidFill>
                  <a:srgbClr val="A2B4CA"/>
                </a:solidFill>
                <a:latin typeface="Aptos"/>
              </a:defRPr>
            </a:pPr>
            <a:r>
              <a:t>Light</a:t>
            </a:r>
          </a:p>
        </p:txBody>
      </p:sp>
      <p:sp>
        <p:nvSpPr>
          <p:cNvPr id="15" name="reveal_04"/>
          <p:cNvSpPr/>
          <p:nvPr/>
        </p:nvSpPr>
        <p:spPr>
          <a:xfrm>
            <a:off x="4434840" y="2761488"/>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880360"/>
            <a:ext cx="155448" cy="155448"/>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4"/>
          <p:cNvSpPr txBox="1"/>
          <p:nvPr/>
        </p:nvSpPr>
        <p:spPr>
          <a:xfrm>
            <a:off x="4626864" y="2825496"/>
            <a:ext cx="2377440" cy="256032"/>
          </a:xfrm>
          <a:prstGeom prst="rect">
            <a:avLst/>
          </a:prstGeom>
          <a:noFill/>
        </p:spPr>
        <p:txBody>
          <a:bodyPr wrap="square" lIns="0" tIns="0" rIns="0" bIns="0">
            <a:spAutoFit/>
          </a:bodyPr>
          <a:lstStyle/>
          <a:p>
            <a:pPr>
              <a:spcAft>
                <a:spcPts val="400"/>
              </a:spcAft>
              <a:defRPr sz="1500" b="1">
                <a:solidFill>
                  <a:srgbClr val="63E6BE"/>
                </a:solidFill>
                <a:latin typeface="Aptos"/>
              </a:defRPr>
            </a:pPr>
            <a:r>
              <a:t>Dark</a:t>
            </a:r>
          </a:p>
        </p:txBody>
      </p:sp>
      <p:sp>
        <p:nvSpPr>
          <p:cNvPr id="18" name="reveal_05"/>
          <p:cNvSpPr/>
          <p:nvPr/>
        </p:nvSpPr>
        <p:spPr>
          <a:xfrm>
            <a:off x="4434840" y="3282696"/>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242048" y="3401568"/>
            <a:ext cx="155448" cy="155448"/>
          </a:xfrm>
          <a:prstGeom prst="ellipse">
            <a:avLst/>
          </a:prstGeom>
          <a:solidFill>
            <a:srgbClr val="A2B4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5"/>
          <p:cNvSpPr txBox="1"/>
          <p:nvPr/>
        </p:nvSpPr>
        <p:spPr>
          <a:xfrm>
            <a:off x="4626864" y="3346703"/>
            <a:ext cx="2377440" cy="256032"/>
          </a:xfrm>
          <a:prstGeom prst="rect">
            <a:avLst/>
          </a:prstGeom>
          <a:noFill/>
        </p:spPr>
        <p:txBody>
          <a:bodyPr wrap="square" lIns="0" tIns="0" rIns="0" bIns="0">
            <a:spAutoFit/>
          </a:bodyPr>
          <a:lstStyle/>
          <a:p>
            <a:pPr>
              <a:spcAft>
                <a:spcPts val="400"/>
              </a:spcAft>
              <a:defRPr sz="1500" b="1">
                <a:solidFill>
                  <a:srgbClr val="A2B4CA"/>
                </a:solidFill>
                <a:latin typeface="Aptos"/>
              </a:defRPr>
            </a:pPr>
            <a:r>
              <a:t>System</a:t>
            </a:r>
          </a:p>
        </p:txBody>
      </p:sp>
      <p:sp>
        <p:nvSpPr>
          <p:cNvPr id="21" name="reveal_03"/>
          <p:cNvSpPr/>
          <p:nvPr/>
        </p:nvSpPr>
        <p:spPr>
          <a:xfrm>
            <a:off x="8275320" y="2240280"/>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veal_03"/>
          <p:cNvSpPr txBox="1"/>
          <p:nvPr/>
        </p:nvSpPr>
        <p:spPr>
          <a:xfrm>
            <a:off x="8467344" y="2304288"/>
            <a:ext cx="2852928" cy="256032"/>
          </a:xfrm>
          <a:prstGeom prst="rect">
            <a:avLst/>
          </a:prstGeom>
          <a:noFill/>
        </p:spPr>
        <p:txBody>
          <a:bodyPr wrap="square" lIns="0" tIns="0" rIns="0" bIns="0">
            <a:spAutoFit/>
          </a:bodyPr>
          <a:lstStyle/>
          <a:p>
            <a:pPr>
              <a:spcAft>
                <a:spcPts val="400"/>
              </a:spcAft>
              <a:defRPr sz="1400" b="0">
                <a:solidFill>
                  <a:srgbClr val="EDF5FF"/>
                </a:solidFill>
                <a:latin typeface="Aptos"/>
              </a:defRPr>
            </a:pPr>
            <a:r>
              <a:t>Features</a:t>
            </a:r>
          </a:p>
        </p:txBody>
      </p:sp>
      <p:sp>
        <p:nvSpPr>
          <p:cNvPr id="23" name="reveal_04"/>
          <p:cNvSpPr/>
          <p:nvPr/>
        </p:nvSpPr>
        <p:spPr>
          <a:xfrm>
            <a:off x="8275320" y="2761488"/>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4"/>
          <p:cNvSpPr txBox="1"/>
          <p:nvPr/>
        </p:nvSpPr>
        <p:spPr>
          <a:xfrm>
            <a:off x="8467344" y="2825496"/>
            <a:ext cx="2852928" cy="256032"/>
          </a:xfrm>
          <a:prstGeom prst="rect">
            <a:avLst/>
          </a:prstGeom>
          <a:noFill/>
        </p:spPr>
        <p:txBody>
          <a:bodyPr wrap="square" lIns="0" tIns="0" rIns="0" bIns="0">
            <a:spAutoFit/>
          </a:bodyPr>
          <a:lstStyle/>
          <a:p>
            <a:pPr>
              <a:spcAft>
                <a:spcPts val="400"/>
              </a:spcAft>
              <a:defRPr sz="1400" b="0">
                <a:solidFill>
                  <a:srgbClr val="EDF5FF"/>
                </a:solidFill>
                <a:latin typeface="Aptos"/>
              </a:defRPr>
            </a:pPr>
            <a:r>
              <a:t>How it works</a:t>
            </a:r>
          </a:p>
        </p:txBody>
      </p:sp>
      <p:sp>
        <p:nvSpPr>
          <p:cNvPr id="25" name="reveal_05"/>
          <p:cNvSpPr/>
          <p:nvPr/>
        </p:nvSpPr>
        <p:spPr>
          <a:xfrm>
            <a:off x="8275320" y="3282696"/>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veal_05"/>
          <p:cNvSpPr txBox="1"/>
          <p:nvPr/>
        </p:nvSpPr>
        <p:spPr>
          <a:xfrm>
            <a:off x="8467344" y="3346703"/>
            <a:ext cx="2852928" cy="256032"/>
          </a:xfrm>
          <a:prstGeom prst="rect">
            <a:avLst/>
          </a:prstGeom>
          <a:noFill/>
        </p:spPr>
        <p:txBody>
          <a:bodyPr wrap="square" lIns="0" tIns="0" rIns="0" bIns="0">
            <a:spAutoFit/>
          </a:bodyPr>
          <a:lstStyle/>
          <a:p>
            <a:pPr>
              <a:spcAft>
                <a:spcPts val="400"/>
              </a:spcAft>
              <a:defRPr sz="1400" b="0">
                <a:solidFill>
                  <a:srgbClr val="EDF5FF"/>
                </a:solidFill>
                <a:latin typeface="Aptos"/>
              </a:defRPr>
            </a:pPr>
            <a:r>
              <a:t>Security &amp; privacy</a:t>
            </a:r>
          </a:p>
        </p:txBody>
      </p:sp>
      <p:cxnSp>
        <p:nvCxnSpPr>
          <p:cNvPr id="27" name="Connector 26"/>
          <p:cNvCxnSpPr/>
          <p:nvPr/>
        </p:nvCxnSpPr>
        <p:spPr>
          <a:xfrm>
            <a:off x="594360" y="4160520"/>
            <a:ext cx="10954512"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28" name="reveal_05"/>
          <p:cNvSpPr txBox="1"/>
          <p:nvPr/>
        </p:nvSpPr>
        <p:spPr>
          <a:xfrm>
            <a:off x="594360" y="4462272"/>
            <a:ext cx="10881360" cy="429768"/>
          </a:xfrm>
          <a:prstGeom prst="rect">
            <a:avLst/>
          </a:prstGeom>
          <a:noFill/>
        </p:spPr>
        <p:txBody>
          <a:bodyPr wrap="square" lIns="0" tIns="0" rIns="0" bIns="0">
            <a:spAutoFit/>
          </a:bodyPr>
          <a:lstStyle/>
          <a:p>
            <a:pPr>
              <a:spcAft>
                <a:spcPts val="400"/>
              </a:spcAft>
              <a:defRPr sz="2500" b="1">
                <a:solidFill>
                  <a:srgbClr val="EDF5FF"/>
                </a:solidFill>
                <a:latin typeface="Aptos"/>
              </a:defRPr>
            </a:pPr>
            <a:r>
              <a:t>Try the main roles with demo access</a:t>
            </a:r>
          </a:p>
        </p:txBody>
      </p:sp>
      <p:sp>
        <p:nvSpPr>
          <p:cNvPr id="29" name="reveal_06"/>
          <p:cNvSpPr/>
          <p:nvPr/>
        </p:nvSpPr>
        <p:spPr>
          <a:xfrm>
            <a:off x="594360" y="5175504"/>
            <a:ext cx="3273552" cy="868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veal_06"/>
          <p:cNvSpPr txBox="1"/>
          <p:nvPr/>
        </p:nvSpPr>
        <p:spPr>
          <a:xfrm>
            <a:off x="777240" y="5340096"/>
            <a:ext cx="2907792" cy="283464"/>
          </a:xfrm>
          <a:prstGeom prst="rect">
            <a:avLst/>
          </a:prstGeom>
          <a:noFill/>
        </p:spPr>
        <p:txBody>
          <a:bodyPr wrap="square" lIns="0" tIns="0" rIns="0" bIns="0">
            <a:spAutoFit/>
          </a:bodyPr>
          <a:lstStyle/>
          <a:p>
            <a:pPr>
              <a:spcAft>
                <a:spcPts val="400"/>
              </a:spcAft>
              <a:defRPr sz="1900" b="1">
                <a:solidFill>
                  <a:srgbClr val="6BB9FF"/>
                </a:solidFill>
                <a:latin typeface="Aptos"/>
              </a:defRPr>
            </a:pPr>
            <a:r>
              <a:t>Student</a:t>
            </a:r>
          </a:p>
        </p:txBody>
      </p:sp>
      <p:sp>
        <p:nvSpPr>
          <p:cNvPr id="31" name="reveal_06"/>
          <p:cNvSpPr txBox="1"/>
          <p:nvPr/>
        </p:nvSpPr>
        <p:spPr>
          <a:xfrm>
            <a:off x="777240" y="5742432"/>
            <a:ext cx="2907792" cy="219456"/>
          </a:xfrm>
          <a:prstGeom prst="rect">
            <a:avLst/>
          </a:prstGeom>
          <a:noFill/>
        </p:spPr>
        <p:txBody>
          <a:bodyPr wrap="square" lIns="0" tIns="0" rIns="0" bIns="0">
            <a:spAutoFit/>
          </a:bodyPr>
          <a:lstStyle/>
          <a:p>
            <a:pPr>
              <a:spcAft>
                <a:spcPts val="400"/>
              </a:spcAft>
              <a:defRPr sz="1200" b="0">
                <a:solidFill>
                  <a:srgbClr val="A2B4CA"/>
                </a:solidFill>
                <a:latin typeface="Aptos"/>
              </a:defRPr>
            </a:pPr>
            <a:r>
              <a:t>Plans, spending and AI</a:t>
            </a:r>
          </a:p>
        </p:txBody>
      </p:sp>
      <p:sp>
        <p:nvSpPr>
          <p:cNvPr id="32" name="reveal_07"/>
          <p:cNvSpPr/>
          <p:nvPr/>
        </p:nvSpPr>
        <p:spPr>
          <a:xfrm>
            <a:off x="4434840" y="5175504"/>
            <a:ext cx="3273552" cy="868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7"/>
          <p:cNvSpPr txBox="1"/>
          <p:nvPr/>
        </p:nvSpPr>
        <p:spPr>
          <a:xfrm>
            <a:off x="4617720" y="5340096"/>
            <a:ext cx="2907792" cy="283464"/>
          </a:xfrm>
          <a:prstGeom prst="rect">
            <a:avLst/>
          </a:prstGeom>
          <a:noFill/>
        </p:spPr>
        <p:txBody>
          <a:bodyPr wrap="square" lIns="0" tIns="0" rIns="0" bIns="0">
            <a:spAutoFit/>
          </a:bodyPr>
          <a:lstStyle/>
          <a:p>
            <a:pPr>
              <a:spcAft>
                <a:spcPts val="400"/>
              </a:spcAft>
              <a:defRPr sz="1900" b="1">
                <a:solidFill>
                  <a:srgbClr val="F3C969"/>
                </a:solidFill>
                <a:latin typeface="Aptos"/>
              </a:defRPr>
            </a:pPr>
            <a:r>
              <a:t>Parent</a:t>
            </a:r>
          </a:p>
        </p:txBody>
      </p:sp>
      <p:sp>
        <p:nvSpPr>
          <p:cNvPr id="34" name="reveal_07"/>
          <p:cNvSpPr txBox="1"/>
          <p:nvPr/>
        </p:nvSpPr>
        <p:spPr>
          <a:xfrm>
            <a:off x="4617720" y="5742432"/>
            <a:ext cx="2907792" cy="219456"/>
          </a:xfrm>
          <a:prstGeom prst="rect">
            <a:avLst/>
          </a:prstGeom>
          <a:noFill/>
        </p:spPr>
        <p:txBody>
          <a:bodyPr wrap="square" lIns="0" tIns="0" rIns="0" bIns="0">
            <a:spAutoFit/>
          </a:bodyPr>
          <a:lstStyle/>
          <a:p>
            <a:pPr>
              <a:spcAft>
                <a:spcPts val="400"/>
              </a:spcAft>
              <a:defRPr sz="1200" b="0">
                <a:solidFill>
                  <a:srgbClr val="A2B4CA"/>
                </a:solidFill>
                <a:latin typeface="Aptos"/>
              </a:defRPr>
            </a:pPr>
            <a:r>
              <a:t>Funding and approvals</a:t>
            </a:r>
          </a:p>
        </p:txBody>
      </p:sp>
      <p:sp>
        <p:nvSpPr>
          <p:cNvPr id="35" name="reveal_08"/>
          <p:cNvSpPr/>
          <p:nvPr/>
        </p:nvSpPr>
        <p:spPr>
          <a:xfrm>
            <a:off x="8275320" y="5175504"/>
            <a:ext cx="3273552" cy="868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veal_08"/>
          <p:cNvSpPr txBox="1"/>
          <p:nvPr/>
        </p:nvSpPr>
        <p:spPr>
          <a:xfrm>
            <a:off x="8458200" y="5340096"/>
            <a:ext cx="2907792" cy="283464"/>
          </a:xfrm>
          <a:prstGeom prst="rect">
            <a:avLst/>
          </a:prstGeom>
          <a:noFill/>
        </p:spPr>
        <p:txBody>
          <a:bodyPr wrap="square" lIns="0" tIns="0" rIns="0" bIns="0">
            <a:spAutoFit/>
          </a:bodyPr>
          <a:lstStyle/>
          <a:p>
            <a:pPr>
              <a:spcAft>
                <a:spcPts val="400"/>
              </a:spcAft>
              <a:defRPr sz="1900" b="1">
                <a:solidFill>
                  <a:srgbClr val="63E6BE"/>
                </a:solidFill>
                <a:latin typeface="Aptos"/>
              </a:defRPr>
            </a:pPr>
            <a:r>
              <a:t>Admin</a:t>
            </a:r>
          </a:p>
        </p:txBody>
      </p:sp>
      <p:sp>
        <p:nvSpPr>
          <p:cNvPr id="37" name="reveal_08"/>
          <p:cNvSpPr txBox="1"/>
          <p:nvPr/>
        </p:nvSpPr>
        <p:spPr>
          <a:xfrm>
            <a:off x="8458200" y="5742432"/>
            <a:ext cx="2907792" cy="219456"/>
          </a:xfrm>
          <a:prstGeom prst="rect">
            <a:avLst/>
          </a:prstGeom>
          <a:noFill/>
        </p:spPr>
        <p:txBody>
          <a:bodyPr wrap="square" lIns="0" tIns="0" rIns="0" bIns="0">
            <a:spAutoFit/>
          </a:bodyPr>
          <a:lstStyle/>
          <a:p>
            <a:pPr>
              <a:spcAft>
                <a:spcPts val="400"/>
              </a:spcAft>
              <a:defRPr sz="1200" b="0">
                <a:solidFill>
                  <a:srgbClr val="A2B4CA"/>
                </a:solidFill>
                <a:latin typeface="Aptos"/>
              </a:defRPr>
            </a:pPr>
            <a:r>
              <a:t>Policies and settlements</a:t>
            </a:r>
          </a:p>
        </p:txBody>
      </p:sp>
      <p:sp>
        <p:nvSpPr>
          <p:cNvPr id="38" name="TextBox 37"/>
          <p:cNvSpPr txBox="1"/>
          <p:nvPr/>
        </p:nvSpPr>
        <p:spPr>
          <a:xfrm>
            <a:off x="621792" y="6345936"/>
            <a:ext cx="10917936" cy="237744"/>
          </a:xfrm>
          <a:prstGeom prst="rect">
            <a:avLst/>
          </a:prstGeom>
          <a:noFill/>
        </p:spPr>
        <p:txBody>
          <a:bodyPr wrap="square" lIns="0" tIns="0" rIns="0" bIns="0">
            <a:spAutoFit/>
          </a:bodyPr>
          <a:lstStyle/>
          <a:p>
            <a:pPr>
              <a:spcAft>
                <a:spcPts val="400"/>
              </a:spcAft>
              <a:defRPr sz="1100" b="0">
                <a:solidFill>
                  <a:srgbClr val="A2B4CA"/>
                </a:solidFill>
                <a:latin typeface="Aptos"/>
              </a:defRPr>
            </a:pPr>
            <a:r>
              <a:t>/en/demo  ·  Simulated money  ·  Local mock AI needs no provider key</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par>
                          <p:cTn id="37" fill="hold">
                            <p:stCondLst>
                              <p:cond delay="1500"/>
                            </p:stCondLst>
                            <p:childTnLst>
                              <p:par>
                                <p:cTn id="38" presetID="10" presetClass="entr" presetSubtype="0"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childTnLst>
                          </p:cTn>
                        </p:par>
                        <p:par>
                          <p:cTn id="56" fill="hold">
                            <p:stCondLst>
                              <p:cond delay="2000"/>
                            </p:stCondLst>
                            <p:childTnLst>
                              <p:par>
                                <p:cTn id="57" presetID="10" presetClass="entr" presetSubtype="0"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fade">
                                      <p:cBhvr>
                                        <p:cTn id="68" dur="500"/>
                                        <p:tgtEl>
                                          <p:spTgt spid="1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fade">
                                      <p:cBhvr>
                                        <p:cTn id="71" dur="500"/>
                                        <p:tgtEl>
                                          <p:spTgt spid="1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00"/>
                                        <p:tgtEl>
                                          <p:spTgt spid="2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childTnLst>
                                </p:cTn>
                              </p:par>
                            </p:childTnLst>
                          </p:cTn>
                        </p:par>
                        <p:par>
                          <p:cTn id="78" fill="hold">
                            <p:stCondLst>
                              <p:cond delay="2500"/>
                            </p:stCondLst>
                            <p:childTnLst>
                              <p:par>
                                <p:cTn id="79" presetID="10" presetClass="entr" presetSubtype="0" fill="hold" grpId="0" nodeType="after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500"/>
                                        <p:tgtEl>
                                          <p:spTgt spid="3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par>
                          <p:cTn id="88" fill="hold">
                            <p:stCondLst>
                              <p:cond delay="3000"/>
                            </p:stCondLst>
                            <p:childTnLst>
                              <p:par>
                                <p:cTn id="89" presetID="10" presetClass="entr" presetSubtype="0" fill="hold" grpId="0" nodeType="after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50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childTnLst>
                          </p:cTn>
                        </p:par>
                        <p:par>
                          <p:cTn id="98" fill="hold">
                            <p:stCondLst>
                              <p:cond delay="3500"/>
                            </p:stCondLst>
                            <p:childTnLst>
                              <p:par>
                                <p:cTn id="99" presetID="10" presetClass="entr" presetSubtype="0" fill="hold" grpId="0" nodeType="after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500"/>
                                        <p:tgtEl>
                                          <p:spTgt spid="3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animBg="1"/>
      <p:bldP spid="7" grpId="0"/>
      <p:bldP spid="8" grpId="0" animBg="1"/>
      <p:bldP spid="9" grpId="0"/>
      <p:bldP spid="10" grpId="0" animBg="1"/>
      <p:bldP spid="11" grpId="0"/>
      <p:bldP spid="12" grpId="0" animBg="1"/>
      <p:bldP spid="14" grpId="0"/>
      <p:bldP spid="15" grpId="0" animBg="1"/>
      <p:bldP spid="17" grpId="0"/>
      <p:bldP spid="18" grpId="0" animBg="1"/>
      <p:bldP spid="20" grpId="0"/>
      <p:bldP spid="21" grpId="0" animBg="1"/>
      <p:bldP spid="22" grpId="0"/>
      <p:bldP spid="23" grpId="0" animBg="1"/>
      <p:bldP spid="24" grpId="0"/>
      <p:bldP spid="25" grpId="0" animBg="1"/>
      <p:bldP spid="26" grpId="0"/>
      <p:bldP spid="28" grpId="0"/>
      <p:bldP spid="29" grpId="0" animBg="1"/>
      <p:bldP spid="30" grpId="0"/>
      <p:bldP spid="31" grpId="0"/>
      <p:bldP spid="32" grpId="0" animBg="1"/>
      <p:bldP spid="33" grpId="0"/>
      <p:bldP spid="34" grpId="0"/>
      <p:bldP spid="35" grpId="0" animBg="1"/>
      <p:bldP spid="36" grpId="0"/>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Security &amp; privacy</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Controls are applied to each action and each field of financial context.</a:t>
            </a:r>
          </a:p>
        </p:txBody>
      </p:sp>
      <p:sp>
        <p:nvSpPr>
          <p:cNvPr id="8" name="Rounded Rectangle 7"/>
          <p:cNvSpPr/>
          <p:nvPr/>
        </p:nvSpPr>
        <p:spPr>
          <a:xfrm>
            <a:off x="7342631" y="2020824"/>
            <a:ext cx="411480" cy="292608"/>
          </a:xfrm>
          <a:prstGeom prst="roundRect">
            <a:avLst>
              <a:gd name="adj" fmla="val 10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15783" y="2061972"/>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01</a:t>
            </a:r>
          </a:p>
        </p:txBody>
      </p:sp>
      <p:sp>
        <p:nvSpPr>
          <p:cNvPr id="10" name="reveal_03"/>
          <p:cNvSpPr txBox="1"/>
          <p:nvPr/>
        </p:nvSpPr>
        <p:spPr>
          <a:xfrm>
            <a:off x="7918704" y="2020824"/>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IDENTITY</a:t>
            </a:r>
          </a:p>
        </p:txBody>
      </p:sp>
      <p:sp>
        <p:nvSpPr>
          <p:cNvPr id="11" name="reveal_03"/>
          <p:cNvSpPr txBox="1"/>
          <p:nvPr/>
        </p:nvSpPr>
        <p:spPr>
          <a:xfrm>
            <a:off x="7918704" y="2414016"/>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bcrypt hashes; signed sessions; revocation.</a:t>
            </a:r>
          </a:p>
        </p:txBody>
      </p:sp>
      <p:sp>
        <p:nvSpPr>
          <p:cNvPr id="12" name="Rounded Rectangle 11"/>
          <p:cNvSpPr/>
          <p:nvPr/>
        </p:nvSpPr>
        <p:spPr>
          <a:xfrm>
            <a:off x="7342631" y="2953512"/>
            <a:ext cx="411480" cy="292608"/>
          </a:xfrm>
          <a:prstGeom prst="roundRect">
            <a:avLst>
              <a:gd name="adj" fmla="val 10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15783" y="2994660"/>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02</a:t>
            </a:r>
          </a:p>
        </p:txBody>
      </p:sp>
      <p:sp>
        <p:nvSpPr>
          <p:cNvPr id="14" name="reveal_04"/>
          <p:cNvSpPr txBox="1"/>
          <p:nvPr/>
        </p:nvSpPr>
        <p:spPr>
          <a:xfrm>
            <a:off x="7918704" y="2953512"/>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ACCESS</a:t>
            </a:r>
          </a:p>
        </p:txBody>
      </p:sp>
      <p:sp>
        <p:nvSpPr>
          <p:cNvPr id="15" name="reveal_04"/>
          <p:cNvSpPr txBox="1"/>
          <p:nvPr/>
        </p:nvSpPr>
        <p:spPr>
          <a:xfrm>
            <a:off x="7918704" y="3346704"/>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Role + ownership checks; parent permissions.</a:t>
            </a:r>
          </a:p>
        </p:txBody>
      </p:sp>
      <p:sp>
        <p:nvSpPr>
          <p:cNvPr id="16" name="Rounded Rectangle 15"/>
          <p:cNvSpPr/>
          <p:nvPr/>
        </p:nvSpPr>
        <p:spPr>
          <a:xfrm>
            <a:off x="7342631" y="3886200"/>
            <a:ext cx="411480" cy="292608"/>
          </a:xfrm>
          <a:prstGeom prst="roundRect">
            <a:avLst>
              <a:gd name="adj" fmla="val 10000"/>
            </a:avLst>
          </a:prstGeom>
          <a:solidFill>
            <a:srgbClr val="B4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15783" y="3927348"/>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03</a:t>
            </a:r>
          </a:p>
        </p:txBody>
      </p:sp>
      <p:sp>
        <p:nvSpPr>
          <p:cNvPr id="18" name="reveal_05"/>
          <p:cNvSpPr txBox="1"/>
          <p:nvPr/>
        </p:nvSpPr>
        <p:spPr>
          <a:xfrm>
            <a:off x="7918704" y="3886200"/>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AI &amp; SECRETS</a:t>
            </a:r>
          </a:p>
        </p:txBody>
      </p:sp>
      <p:sp>
        <p:nvSpPr>
          <p:cNvPr id="19" name="reveal_05"/>
          <p:cNvSpPr txBox="1"/>
          <p:nvPr/>
        </p:nvSpPr>
        <p:spPr>
          <a:xfrm>
            <a:off x="7918704" y="4279392"/>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AES-256-GCM model keys; validated tools.</a:t>
            </a:r>
          </a:p>
        </p:txBody>
      </p:sp>
      <p:sp>
        <p:nvSpPr>
          <p:cNvPr id="20" name="Rounded Rectangle 19"/>
          <p:cNvSpPr/>
          <p:nvPr/>
        </p:nvSpPr>
        <p:spPr>
          <a:xfrm>
            <a:off x="7342631" y="4818888"/>
            <a:ext cx="411480" cy="292608"/>
          </a:xfrm>
          <a:prstGeom prst="roundRect">
            <a:avLst>
              <a:gd name="adj" fmla="val 10000"/>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5783" y="4860036"/>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04</a:t>
            </a:r>
          </a:p>
        </p:txBody>
      </p:sp>
      <p:sp>
        <p:nvSpPr>
          <p:cNvPr id="22" name="reveal_06"/>
          <p:cNvSpPr txBox="1"/>
          <p:nvPr/>
        </p:nvSpPr>
        <p:spPr>
          <a:xfrm>
            <a:off x="7918704" y="4818888"/>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MONEY INTEGRITY</a:t>
            </a:r>
          </a:p>
        </p:txBody>
      </p:sp>
      <p:sp>
        <p:nvSpPr>
          <p:cNvPr id="23" name="reveal_06"/>
          <p:cNvSpPr txBox="1"/>
          <p:nvPr/>
        </p:nvSpPr>
        <p:spPr>
          <a:xfrm>
            <a:off x="7918704" y="5212079"/>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Confirmation, locks, tokens, balanced ledger.</a:t>
            </a:r>
          </a:p>
        </p:txBody>
      </p:sp>
      <p:sp>
        <p:nvSpPr>
          <p:cNvPr id="24" name="Rounded Rectangle 23"/>
          <p:cNvSpPr/>
          <p:nvPr/>
        </p:nvSpPr>
        <p:spPr>
          <a:xfrm>
            <a:off x="502920" y="6007608"/>
            <a:ext cx="11183112" cy="402336"/>
          </a:xfrm>
          <a:prstGeom prst="roundRect">
            <a:avLst>
              <a:gd name="adj" fmla="val 10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 y="6117336"/>
            <a:ext cx="10789920" cy="210312"/>
          </a:xfrm>
          <a:prstGeom prst="rect">
            <a:avLst/>
          </a:prstGeom>
          <a:noFill/>
        </p:spPr>
        <p:txBody>
          <a:bodyPr wrap="square" lIns="0" tIns="0" rIns="0" bIns="0">
            <a:spAutoFit/>
          </a:bodyPr>
          <a:lstStyle/>
          <a:p>
            <a:pPr>
              <a:spcAft>
                <a:spcPts val="300"/>
              </a:spcAft>
              <a:defRPr sz="1100" b="0">
                <a:solidFill>
                  <a:srgbClr val="A2B4CA"/>
                </a:solidFill>
                <a:latin typeface="Aptos"/>
              </a:defRPr>
            </a:pPr>
            <a:r>
              <a:t>Data export  ·  Account closure  ·  No stored full PAN/CVV  ·  Selected AI context may reach the configured provider</a:t>
            </a:r>
          </a:p>
        </p:txBody>
      </p:sp>
      <p:sp>
        <p:nvSpPr>
          <p:cNvPr id="26" name="reveal_02"/>
          <p:cNvSpPr/>
          <p:nvPr/>
        </p:nvSpPr>
        <p:spPr>
          <a:xfrm>
            <a:off x="502920" y="1920240"/>
            <a:ext cx="6583680" cy="389534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2"/>
          <p:cNvSpPr txBox="1"/>
          <p:nvPr/>
        </p:nvSpPr>
        <p:spPr>
          <a:xfrm>
            <a:off x="768096" y="2139696"/>
            <a:ext cx="6035040" cy="393192"/>
          </a:xfrm>
          <a:prstGeom prst="rect">
            <a:avLst/>
          </a:prstGeom>
          <a:noFill/>
        </p:spPr>
        <p:txBody>
          <a:bodyPr wrap="square" lIns="0" tIns="0" rIns="0" bIns="0">
            <a:spAutoFit/>
          </a:bodyPr>
          <a:lstStyle/>
          <a:p>
            <a:pPr>
              <a:spcAft>
                <a:spcPts val="400"/>
              </a:spcAft>
              <a:defRPr sz="2100" b="1">
                <a:solidFill>
                  <a:srgbClr val="EDF5FF"/>
                </a:solidFill>
                <a:latin typeface="Aptos"/>
              </a:defRPr>
            </a:pPr>
            <a:r>
              <a:t>What a parent can see</a:t>
            </a:r>
          </a:p>
        </p:txBody>
      </p:sp>
      <p:sp>
        <p:nvSpPr>
          <p:cNvPr id="28" name="reveal_03"/>
          <p:cNvSpPr txBox="1"/>
          <p:nvPr/>
        </p:nvSpPr>
        <p:spPr>
          <a:xfrm>
            <a:off x="914400" y="2852928"/>
            <a:ext cx="1627632" cy="274320"/>
          </a:xfrm>
          <a:prstGeom prst="rect">
            <a:avLst/>
          </a:prstGeom>
          <a:noFill/>
        </p:spPr>
        <p:txBody>
          <a:bodyPr wrap="square" lIns="0" tIns="0" rIns="0" bIns="0">
            <a:spAutoFit/>
          </a:bodyPr>
          <a:lstStyle/>
          <a:p>
            <a:pPr>
              <a:spcAft>
                <a:spcPts val="400"/>
              </a:spcAft>
              <a:defRPr sz="1400" b="1">
                <a:solidFill>
                  <a:srgbClr val="A2B4CA"/>
                </a:solidFill>
                <a:latin typeface="Aptos"/>
              </a:defRPr>
            </a:pPr>
            <a:r>
              <a:t>Financial detail</a:t>
            </a:r>
          </a:p>
        </p:txBody>
      </p:sp>
      <p:sp>
        <p:nvSpPr>
          <p:cNvPr id="29" name="reveal_03"/>
          <p:cNvSpPr txBox="1"/>
          <p:nvPr/>
        </p:nvSpPr>
        <p:spPr>
          <a:xfrm>
            <a:off x="3300984" y="2852928"/>
            <a:ext cx="1627632" cy="274320"/>
          </a:xfrm>
          <a:prstGeom prst="rect">
            <a:avLst/>
          </a:prstGeom>
          <a:noFill/>
        </p:spPr>
        <p:txBody>
          <a:bodyPr wrap="square" lIns="0" tIns="0" rIns="0" bIns="0">
            <a:spAutoFit/>
          </a:bodyPr>
          <a:lstStyle/>
          <a:p>
            <a:pPr>
              <a:spcAft>
                <a:spcPts val="400"/>
              </a:spcAft>
              <a:defRPr sz="1400" b="1">
                <a:solidFill>
                  <a:srgbClr val="6BB9FF"/>
                </a:solidFill>
                <a:latin typeface="Aptos"/>
              </a:defRPr>
            </a:pPr>
            <a:r>
              <a:t>Student</a:t>
            </a:r>
          </a:p>
        </p:txBody>
      </p:sp>
      <p:sp>
        <p:nvSpPr>
          <p:cNvPr id="30" name="reveal_03"/>
          <p:cNvSpPr txBox="1"/>
          <p:nvPr/>
        </p:nvSpPr>
        <p:spPr>
          <a:xfrm>
            <a:off x="5120640" y="2852928"/>
            <a:ext cx="1627632" cy="274320"/>
          </a:xfrm>
          <a:prstGeom prst="rect">
            <a:avLst/>
          </a:prstGeom>
          <a:noFill/>
        </p:spPr>
        <p:txBody>
          <a:bodyPr wrap="square" lIns="0" tIns="0" rIns="0" bIns="0">
            <a:spAutoFit/>
          </a:bodyPr>
          <a:lstStyle/>
          <a:p>
            <a:pPr>
              <a:spcAft>
                <a:spcPts val="400"/>
              </a:spcAft>
              <a:defRPr sz="1400" b="1">
                <a:solidFill>
                  <a:srgbClr val="63E6BE"/>
                </a:solidFill>
                <a:latin typeface="Aptos"/>
              </a:defRPr>
            </a:pPr>
            <a:r>
              <a:t>Parent</a:t>
            </a:r>
          </a:p>
        </p:txBody>
      </p:sp>
      <p:cxnSp>
        <p:nvCxnSpPr>
          <p:cNvPr id="31" name="Connector 30"/>
          <p:cNvCxnSpPr/>
          <p:nvPr/>
        </p:nvCxnSpPr>
        <p:spPr>
          <a:xfrm>
            <a:off x="804672" y="3310127"/>
            <a:ext cx="5952744"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32" name="reveal_04"/>
          <p:cNvSpPr txBox="1"/>
          <p:nvPr/>
        </p:nvSpPr>
        <p:spPr>
          <a:xfrm>
            <a:off x="914400" y="3438144"/>
            <a:ext cx="2011680" cy="310896"/>
          </a:xfrm>
          <a:prstGeom prst="rect">
            <a:avLst/>
          </a:prstGeom>
          <a:noFill/>
        </p:spPr>
        <p:txBody>
          <a:bodyPr wrap="square" lIns="0" tIns="0" rIns="0" bIns="0">
            <a:spAutoFit/>
          </a:bodyPr>
          <a:lstStyle/>
          <a:p>
            <a:pPr>
              <a:spcAft>
                <a:spcPts val="400"/>
              </a:spcAft>
              <a:defRPr sz="1500" b="0">
                <a:solidFill>
                  <a:srgbClr val="EDF5FF"/>
                </a:solidFill>
                <a:latin typeface="Aptos"/>
              </a:defRPr>
            </a:pPr>
            <a:r>
              <a:t>Balance</a:t>
            </a:r>
          </a:p>
        </p:txBody>
      </p:sp>
      <p:sp>
        <p:nvSpPr>
          <p:cNvPr id="33" name="reveal_04"/>
          <p:cNvSpPr txBox="1"/>
          <p:nvPr/>
        </p:nvSpPr>
        <p:spPr>
          <a:xfrm>
            <a:off x="3300984" y="3438144"/>
            <a:ext cx="1645920" cy="402336"/>
          </a:xfrm>
          <a:prstGeom prst="rect">
            <a:avLst/>
          </a:prstGeom>
          <a:noFill/>
        </p:spPr>
        <p:txBody>
          <a:bodyPr wrap="square" lIns="0" tIns="0" rIns="0" bIns="0">
            <a:spAutoFit/>
          </a:bodyPr>
          <a:lstStyle/>
          <a:p>
            <a:pPr>
              <a:spcAft>
                <a:spcPts val="400"/>
              </a:spcAft>
              <a:defRPr sz="1300" b="0">
                <a:solidFill>
                  <a:srgbClr val="EDF5FF"/>
                </a:solidFill>
                <a:latin typeface="Aptos"/>
              </a:defRPr>
            </a:pPr>
            <a:r>
              <a:t>CNY 27,500</a:t>
            </a:r>
          </a:p>
        </p:txBody>
      </p:sp>
      <p:sp>
        <p:nvSpPr>
          <p:cNvPr id="34" name="reveal_04"/>
          <p:cNvSpPr txBox="1"/>
          <p:nvPr/>
        </p:nvSpPr>
        <p:spPr>
          <a:xfrm>
            <a:off x="5120640" y="3438144"/>
            <a:ext cx="1554480" cy="402336"/>
          </a:xfrm>
          <a:prstGeom prst="rect">
            <a:avLst/>
          </a:prstGeom>
          <a:noFill/>
        </p:spPr>
        <p:txBody>
          <a:bodyPr wrap="square" lIns="0" tIns="0" rIns="0" bIns="0">
            <a:spAutoFit/>
          </a:bodyPr>
          <a:lstStyle/>
          <a:p>
            <a:pPr>
              <a:spcAft>
                <a:spcPts val="400"/>
              </a:spcAft>
              <a:defRPr sz="1300" b="1">
                <a:solidFill>
                  <a:srgbClr val="63E6BE"/>
                </a:solidFill>
                <a:latin typeface="Aptos"/>
              </a:defRPr>
            </a:pPr>
            <a:r>
              <a:t>CNY 27,500</a:t>
            </a:r>
          </a:p>
        </p:txBody>
      </p:sp>
      <p:cxnSp>
        <p:nvCxnSpPr>
          <p:cNvPr id="35" name="Connector 34"/>
          <p:cNvCxnSpPr/>
          <p:nvPr/>
        </p:nvCxnSpPr>
        <p:spPr>
          <a:xfrm>
            <a:off x="804672" y="3950208"/>
            <a:ext cx="5952744"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36" name="reveal_05"/>
          <p:cNvSpPr txBox="1"/>
          <p:nvPr/>
        </p:nvSpPr>
        <p:spPr>
          <a:xfrm>
            <a:off x="914400" y="4078224"/>
            <a:ext cx="2011680" cy="310896"/>
          </a:xfrm>
          <a:prstGeom prst="rect">
            <a:avLst/>
          </a:prstGeom>
          <a:noFill/>
        </p:spPr>
        <p:txBody>
          <a:bodyPr wrap="square" lIns="0" tIns="0" rIns="0" bIns="0">
            <a:spAutoFit/>
          </a:bodyPr>
          <a:lstStyle/>
          <a:p>
            <a:pPr>
              <a:spcAft>
                <a:spcPts val="400"/>
              </a:spcAft>
              <a:defRPr sz="1500" b="0">
                <a:solidFill>
                  <a:srgbClr val="EDF5FF"/>
                </a:solidFill>
                <a:latin typeface="Aptos"/>
              </a:defRPr>
            </a:pPr>
            <a:r>
              <a:t>Tuition due</a:t>
            </a:r>
          </a:p>
        </p:txBody>
      </p:sp>
      <p:sp>
        <p:nvSpPr>
          <p:cNvPr id="37" name="reveal_05"/>
          <p:cNvSpPr txBox="1"/>
          <p:nvPr/>
        </p:nvSpPr>
        <p:spPr>
          <a:xfrm>
            <a:off x="3300984" y="4078224"/>
            <a:ext cx="1645920" cy="402336"/>
          </a:xfrm>
          <a:prstGeom prst="rect">
            <a:avLst/>
          </a:prstGeom>
          <a:noFill/>
        </p:spPr>
        <p:txBody>
          <a:bodyPr wrap="square" lIns="0" tIns="0" rIns="0" bIns="0">
            <a:spAutoFit/>
          </a:bodyPr>
          <a:lstStyle/>
          <a:p>
            <a:pPr>
              <a:spcAft>
                <a:spcPts val="400"/>
              </a:spcAft>
              <a:defRPr sz="1300" b="0">
                <a:solidFill>
                  <a:srgbClr val="EDF5FF"/>
                </a:solidFill>
                <a:latin typeface="Aptos"/>
              </a:defRPr>
            </a:pPr>
            <a:r>
              <a:t>CNY 40,000</a:t>
            </a:r>
          </a:p>
        </p:txBody>
      </p:sp>
      <p:sp>
        <p:nvSpPr>
          <p:cNvPr id="38" name="reveal_05"/>
          <p:cNvSpPr txBox="1"/>
          <p:nvPr/>
        </p:nvSpPr>
        <p:spPr>
          <a:xfrm>
            <a:off x="5120640" y="4078224"/>
            <a:ext cx="1554480" cy="402336"/>
          </a:xfrm>
          <a:prstGeom prst="rect">
            <a:avLst/>
          </a:prstGeom>
          <a:noFill/>
        </p:spPr>
        <p:txBody>
          <a:bodyPr wrap="square" lIns="0" tIns="0" rIns="0" bIns="0">
            <a:spAutoFit/>
          </a:bodyPr>
          <a:lstStyle/>
          <a:p>
            <a:pPr>
              <a:spcAft>
                <a:spcPts val="400"/>
              </a:spcAft>
              <a:defRPr sz="1300" b="1">
                <a:solidFill>
                  <a:srgbClr val="63E6BE"/>
                </a:solidFill>
                <a:latin typeface="Aptos"/>
              </a:defRPr>
            </a:pPr>
            <a:r>
              <a:t>CNY 40,000</a:t>
            </a:r>
          </a:p>
        </p:txBody>
      </p:sp>
      <p:cxnSp>
        <p:nvCxnSpPr>
          <p:cNvPr id="39" name="Connector 38"/>
          <p:cNvCxnSpPr/>
          <p:nvPr/>
        </p:nvCxnSpPr>
        <p:spPr>
          <a:xfrm>
            <a:off x="804672" y="4590288"/>
            <a:ext cx="5952744"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40" name="reveal_06"/>
          <p:cNvSpPr txBox="1"/>
          <p:nvPr/>
        </p:nvSpPr>
        <p:spPr>
          <a:xfrm>
            <a:off x="914400" y="4718304"/>
            <a:ext cx="2011680" cy="310896"/>
          </a:xfrm>
          <a:prstGeom prst="rect">
            <a:avLst/>
          </a:prstGeom>
          <a:noFill/>
        </p:spPr>
        <p:txBody>
          <a:bodyPr wrap="square" lIns="0" tIns="0" rIns="0" bIns="0">
            <a:spAutoFit/>
          </a:bodyPr>
          <a:lstStyle/>
          <a:p>
            <a:pPr>
              <a:spcAft>
                <a:spcPts val="400"/>
              </a:spcAft>
              <a:defRPr sz="1500" b="0">
                <a:solidFill>
                  <a:srgbClr val="EDF5FF"/>
                </a:solidFill>
                <a:latin typeface="Aptos"/>
              </a:defRPr>
            </a:pPr>
            <a:r>
              <a:t>Description</a:t>
            </a:r>
          </a:p>
        </p:txBody>
      </p:sp>
      <p:sp>
        <p:nvSpPr>
          <p:cNvPr id="41" name="reveal_06"/>
          <p:cNvSpPr txBox="1"/>
          <p:nvPr/>
        </p:nvSpPr>
        <p:spPr>
          <a:xfrm>
            <a:off x="3300984" y="4718304"/>
            <a:ext cx="1645920" cy="402336"/>
          </a:xfrm>
          <a:prstGeom prst="rect">
            <a:avLst/>
          </a:prstGeom>
          <a:noFill/>
        </p:spPr>
        <p:txBody>
          <a:bodyPr wrap="square" lIns="0" tIns="0" rIns="0" bIns="0">
            <a:spAutoFit/>
          </a:bodyPr>
          <a:lstStyle/>
          <a:p>
            <a:pPr>
              <a:spcAft>
                <a:spcPts val="400"/>
              </a:spcAft>
              <a:defRPr sz="1300" b="0">
                <a:solidFill>
                  <a:srgbClr val="EDF5FF"/>
                </a:solidFill>
                <a:latin typeface="Aptos"/>
              </a:defRPr>
            </a:pPr>
            <a:r>
              <a:t>Personal purchase</a:t>
            </a:r>
          </a:p>
        </p:txBody>
      </p:sp>
      <p:sp>
        <p:nvSpPr>
          <p:cNvPr id="42" name="reveal_06"/>
          <p:cNvSpPr txBox="1"/>
          <p:nvPr/>
        </p:nvSpPr>
        <p:spPr>
          <a:xfrm>
            <a:off x="5120640" y="4718304"/>
            <a:ext cx="1554480" cy="402336"/>
          </a:xfrm>
          <a:prstGeom prst="rect">
            <a:avLst/>
          </a:prstGeom>
          <a:noFill/>
        </p:spPr>
        <p:txBody>
          <a:bodyPr wrap="square" lIns="0" tIns="0" rIns="0" bIns="0">
            <a:spAutoFit/>
          </a:bodyPr>
          <a:lstStyle/>
          <a:p>
            <a:pPr>
              <a:spcAft>
                <a:spcPts val="400"/>
              </a:spcAft>
              <a:defRPr sz="1300" b="1">
                <a:solidFill>
                  <a:srgbClr val="FF8896"/>
                </a:solidFill>
                <a:latin typeface="Aptos"/>
              </a:defRPr>
            </a:pPr>
            <a:r>
              <a:t>Not shared</a:t>
            </a:r>
          </a:p>
        </p:txBody>
      </p:sp>
      <p:sp>
        <p:nvSpPr>
          <p:cNvPr id="43" name="reveal_07"/>
          <p:cNvSpPr txBox="1"/>
          <p:nvPr/>
        </p:nvSpPr>
        <p:spPr>
          <a:xfrm>
            <a:off x="905256" y="5486400"/>
            <a:ext cx="5669280" cy="219456"/>
          </a:xfrm>
          <a:prstGeom prst="rect">
            <a:avLst/>
          </a:prstGeom>
          <a:noFill/>
        </p:spPr>
        <p:txBody>
          <a:bodyPr wrap="square" lIns="0" tIns="0" rIns="0" bIns="0">
            <a:spAutoFit/>
          </a:bodyPr>
          <a:lstStyle/>
          <a:p>
            <a:pPr>
              <a:spcAft>
                <a:spcPts val="400"/>
              </a:spcAft>
              <a:defRPr sz="1200" b="0">
                <a:solidFill>
                  <a:srgbClr val="A2B4CA"/>
                </a:solidFill>
                <a:latin typeface="Aptos"/>
              </a:defRPr>
            </a:pPr>
            <a:r>
              <a:t>Visibility is configurable for every linked family.</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500"/>
                                        <p:tgtEl>
                                          <p:spTgt spid="3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500"/>
                                        <p:tgtEl>
                                          <p:spTgt spid="3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500"/>
                                        <p:tgtEl>
                                          <p:spTgt spid="3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childTnLst>
                          </p:cTn>
                        </p:par>
                        <p:par>
                          <p:cTn id="63" fill="hold">
                            <p:stCondLst>
                              <p:cond delay="2500"/>
                            </p:stCondLst>
                            <p:childTnLst>
                              <p:par>
                                <p:cTn id="64" presetID="10" presetClass="entr" presetSubtype="0" fill="hold" grpId="0" nodeType="after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500"/>
                                        <p:tgtEl>
                                          <p:spTgt spid="4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500"/>
                                        <p:tgtEl>
                                          <p:spTgt spid="4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5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500"/>
                                        <p:tgtEl>
                                          <p:spTgt spid="22"/>
                                        </p:tgtEl>
                                      </p:cBhvr>
                                    </p:animEffect>
                                  </p:childTnLst>
                                </p:cTn>
                              </p:par>
                            </p:childTnLst>
                          </p:cTn>
                        </p:par>
                        <p:par>
                          <p:cTn id="79" fill="hold">
                            <p:stCondLst>
                              <p:cond delay="3000"/>
                            </p:stCondLst>
                            <p:childTnLst>
                              <p:par>
                                <p:cTn id="80" presetID="10" presetClass="entr" presetSubtype="0" fill="hold" grpId="0" nodeType="after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fade">
                                      <p:cBhvr>
                                        <p:cTn id="8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p:bldP spid="14" grpId="0"/>
      <p:bldP spid="15" grpId="0"/>
      <p:bldP spid="18" grpId="0"/>
      <p:bldP spid="19" grpId="0"/>
      <p:bldP spid="22" grpId="0"/>
      <p:bldP spid="23" grpId="0"/>
      <p:bldP spid="26" grpId="0" animBg="1"/>
      <p:bldP spid="27" grpId="0"/>
      <p:bldP spid="28" grpId="0"/>
      <p:bldP spid="29" grpId="0"/>
      <p:bldP spid="30" grpId="0"/>
      <p:bldP spid="32" grpId="0"/>
      <p:bldP spid="33" grpId="0"/>
      <p:bldP spid="34" grpId="0"/>
      <p:bldP spid="36" grpId="0"/>
      <p:bldP spid="37" grpId="0"/>
      <p:bldP spid="38" grpId="0"/>
      <p:bldP spid="40" grpId="0"/>
      <p:bldP spid="41" grpId="0"/>
      <p:bldP spid="42" grpId="0"/>
      <p:bldP spid="4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Business model</a:t>
            </a:r>
          </a:p>
        </p:txBody>
      </p:sp>
      <p:sp>
        <p:nvSpPr>
          <p:cNvPr id="3" name="TextBox 2"/>
          <p:cNvSpPr txBox="1"/>
          <p:nvPr/>
        </p:nvSpPr>
        <p:spPr>
          <a:xfrm>
            <a:off x="612648" y="1307592"/>
            <a:ext cx="10881360" cy="429768"/>
          </a:xfrm>
          <a:prstGeom prst="rect">
            <a:avLst/>
          </a:prstGeom>
          <a:noFill/>
        </p:spPr>
        <p:txBody>
          <a:bodyPr wrap="square" lIns="0" tIns="0" rIns="0" bIns="0">
            <a:spAutoFit/>
          </a:bodyPr>
          <a:lstStyle/>
          <a:p>
            <a:pPr>
              <a:spcAft>
                <a:spcPts val="400"/>
              </a:spcAft>
              <a:defRPr sz="2200" b="0">
                <a:solidFill>
                  <a:srgbClr val="A2B4CA"/>
                </a:solidFill>
                <a:latin typeface="Aptos"/>
              </a:defRPr>
            </a:pPr>
            <a:r>
              <a:t>Subscriptions matched to student and family needs.</a:t>
            </a:r>
          </a:p>
        </p:txBody>
      </p:sp>
      <p:sp>
        <p:nvSpPr>
          <p:cNvPr id="4" name="reveal_02"/>
          <p:cNvSpPr/>
          <p:nvPr/>
        </p:nvSpPr>
        <p:spPr>
          <a:xfrm>
            <a:off x="594360" y="2121408"/>
            <a:ext cx="3273552" cy="243230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2"/>
          <p:cNvSpPr txBox="1"/>
          <p:nvPr/>
        </p:nvSpPr>
        <p:spPr>
          <a:xfrm>
            <a:off x="832104" y="2395728"/>
            <a:ext cx="2798064" cy="329184"/>
          </a:xfrm>
          <a:prstGeom prst="rect">
            <a:avLst/>
          </a:prstGeom>
          <a:noFill/>
        </p:spPr>
        <p:txBody>
          <a:bodyPr wrap="square" lIns="0" tIns="0" rIns="0" bIns="0">
            <a:spAutoFit/>
          </a:bodyPr>
          <a:lstStyle/>
          <a:p>
            <a:pPr>
              <a:spcAft>
                <a:spcPts val="400"/>
              </a:spcAft>
              <a:defRPr sz="2000" b="1">
                <a:solidFill>
                  <a:srgbClr val="63E6BE"/>
                </a:solidFill>
                <a:latin typeface="Aptos"/>
              </a:defRPr>
            </a:pPr>
            <a:r>
              <a:t>Student</a:t>
            </a:r>
          </a:p>
        </p:txBody>
      </p:sp>
      <p:sp>
        <p:nvSpPr>
          <p:cNvPr id="6" name="reveal_03"/>
          <p:cNvSpPr txBox="1"/>
          <p:nvPr/>
        </p:nvSpPr>
        <p:spPr>
          <a:xfrm>
            <a:off x="832104" y="2916936"/>
            <a:ext cx="2798064" cy="658368"/>
          </a:xfrm>
          <a:prstGeom prst="rect">
            <a:avLst/>
          </a:prstGeom>
          <a:noFill/>
        </p:spPr>
        <p:txBody>
          <a:bodyPr wrap="square" lIns="0" tIns="0" rIns="0" bIns="0">
            <a:spAutoFit/>
          </a:bodyPr>
          <a:lstStyle/>
          <a:p>
            <a:pPr>
              <a:spcAft>
                <a:spcPts val="400"/>
              </a:spcAft>
              <a:defRPr sz="4300" b="1">
                <a:solidFill>
                  <a:srgbClr val="EDF5FF"/>
                </a:solidFill>
                <a:latin typeface="Aptos"/>
              </a:defRPr>
            </a:pPr>
            <a:r>
              <a:t>299</a:t>
            </a:r>
          </a:p>
        </p:txBody>
      </p:sp>
      <p:sp>
        <p:nvSpPr>
          <p:cNvPr id="7" name="TextBox 6"/>
          <p:cNvSpPr txBox="1"/>
          <p:nvPr/>
        </p:nvSpPr>
        <p:spPr>
          <a:xfrm>
            <a:off x="832104" y="3648456"/>
            <a:ext cx="2798064" cy="256032"/>
          </a:xfrm>
          <a:prstGeom prst="rect">
            <a:avLst/>
          </a:prstGeom>
          <a:noFill/>
        </p:spPr>
        <p:txBody>
          <a:bodyPr wrap="square" lIns="0" tIns="0" rIns="0" bIns="0">
            <a:spAutoFit/>
          </a:bodyPr>
          <a:lstStyle/>
          <a:p>
            <a:pPr>
              <a:spcAft>
                <a:spcPts val="400"/>
              </a:spcAft>
              <a:defRPr sz="1300" b="0">
                <a:solidFill>
                  <a:srgbClr val="A2B4CA"/>
                </a:solidFill>
                <a:latin typeface="Aptos"/>
              </a:defRPr>
            </a:pPr>
            <a:r>
              <a:t>BDT / month</a:t>
            </a:r>
          </a:p>
        </p:txBody>
      </p:sp>
      <p:sp>
        <p:nvSpPr>
          <p:cNvPr id="8" name="reveal_04"/>
          <p:cNvSpPr txBox="1"/>
          <p:nvPr/>
        </p:nvSpPr>
        <p:spPr>
          <a:xfrm>
            <a:off x="832104" y="4069080"/>
            <a:ext cx="2798064" cy="393192"/>
          </a:xfrm>
          <a:prstGeom prst="rect">
            <a:avLst/>
          </a:prstGeom>
          <a:noFill/>
        </p:spPr>
        <p:txBody>
          <a:bodyPr wrap="square" lIns="0" tIns="0" rIns="0" bIns="0">
            <a:spAutoFit/>
          </a:bodyPr>
          <a:lstStyle/>
          <a:p>
            <a:pPr>
              <a:spcAft>
                <a:spcPts val="400"/>
              </a:spcAft>
              <a:defRPr sz="1300" b="0">
                <a:solidFill>
                  <a:srgbClr val="EDF5FF"/>
                </a:solidFill>
                <a:latin typeface="Aptos"/>
              </a:defRPr>
            </a:pPr>
            <a:r>
              <a:t>Everyday finance planning</a:t>
            </a:r>
          </a:p>
        </p:txBody>
      </p:sp>
      <p:sp>
        <p:nvSpPr>
          <p:cNvPr id="9" name="reveal_03"/>
          <p:cNvSpPr/>
          <p:nvPr/>
        </p:nvSpPr>
        <p:spPr>
          <a:xfrm>
            <a:off x="4434840" y="2121408"/>
            <a:ext cx="3273552" cy="243230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veal_03"/>
          <p:cNvSpPr txBox="1"/>
          <p:nvPr/>
        </p:nvSpPr>
        <p:spPr>
          <a:xfrm>
            <a:off x="4672584" y="2395728"/>
            <a:ext cx="2798064" cy="329184"/>
          </a:xfrm>
          <a:prstGeom prst="rect">
            <a:avLst/>
          </a:prstGeom>
          <a:noFill/>
        </p:spPr>
        <p:txBody>
          <a:bodyPr wrap="square" lIns="0" tIns="0" rIns="0" bIns="0">
            <a:spAutoFit/>
          </a:bodyPr>
          <a:lstStyle/>
          <a:p>
            <a:pPr>
              <a:spcAft>
                <a:spcPts val="400"/>
              </a:spcAft>
              <a:defRPr sz="2000" b="1">
                <a:solidFill>
                  <a:srgbClr val="6BB9FF"/>
                </a:solidFill>
                <a:latin typeface="Aptos"/>
              </a:defRPr>
            </a:pPr>
            <a:r>
              <a:t>Pro</a:t>
            </a:r>
          </a:p>
        </p:txBody>
      </p:sp>
      <p:sp>
        <p:nvSpPr>
          <p:cNvPr id="11" name="reveal_04"/>
          <p:cNvSpPr txBox="1"/>
          <p:nvPr/>
        </p:nvSpPr>
        <p:spPr>
          <a:xfrm>
            <a:off x="4672584" y="2916936"/>
            <a:ext cx="2798064" cy="658368"/>
          </a:xfrm>
          <a:prstGeom prst="rect">
            <a:avLst/>
          </a:prstGeom>
          <a:noFill/>
        </p:spPr>
        <p:txBody>
          <a:bodyPr wrap="square" lIns="0" tIns="0" rIns="0" bIns="0">
            <a:spAutoFit/>
          </a:bodyPr>
          <a:lstStyle/>
          <a:p>
            <a:pPr>
              <a:spcAft>
                <a:spcPts val="400"/>
              </a:spcAft>
              <a:defRPr sz="4300" b="1">
                <a:solidFill>
                  <a:srgbClr val="EDF5FF"/>
                </a:solidFill>
                <a:latin typeface="Aptos"/>
              </a:defRPr>
            </a:pPr>
            <a:r>
              <a:t>699</a:t>
            </a:r>
          </a:p>
        </p:txBody>
      </p:sp>
      <p:sp>
        <p:nvSpPr>
          <p:cNvPr id="12" name="TextBox 11"/>
          <p:cNvSpPr txBox="1"/>
          <p:nvPr/>
        </p:nvSpPr>
        <p:spPr>
          <a:xfrm>
            <a:off x="4672584" y="3648456"/>
            <a:ext cx="2798064" cy="256032"/>
          </a:xfrm>
          <a:prstGeom prst="rect">
            <a:avLst/>
          </a:prstGeom>
          <a:noFill/>
        </p:spPr>
        <p:txBody>
          <a:bodyPr wrap="square" lIns="0" tIns="0" rIns="0" bIns="0">
            <a:spAutoFit/>
          </a:bodyPr>
          <a:lstStyle/>
          <a:p>
            <a:pPr>
              <a:spcAft>
                <a:spcPts val="400"/>
              </a:spcAft>
              <a:defRPr sz="1300" b="0">
                <a:solidFill>
                  <a:srgbClr val="A2B4CA"/>
                </a:solidFill>
                <a:latin typeface="Aptos"/>
              </a:defRPr>
            </a:pPr>
            <a:r>
              <a:t>BDT / month</a:t>
            </a:r>
          </a:p>
        </p:txBody>
      </p:sp>
      <p:sp>
        <p:nvSpPr>
          <p:cNvPr id="13" name="reveal_05"/>
          <p:cNvSpPr txBox="1"/>
          <p:nvPr/>
        </p:nvSpPr>
        <p:spPr>
          <a:xfrm>
            <a:off x="4672584" y="4069080"/>
            <a:ext cx="2798064" cy="393192"/>
          </a:xfrm>
          <a:prstGeom prst="rect">
            <a:avLst/>
          </a:prstGeom>
          <a:noFill/>
        </p:spPr>
        <p:txBody>
          <a:bodyPr wrap="square" lIns="0" tIns="0" rIns="0" bIns="0">
            <a:spAutoFit/>
          </a:bodyPr>
          <a:lstStyle/>
          <a:p>
            <a:pPr>
              <a:spcAft>
                <a:spcPts val="400"/>
              </a:spcAft>
              <a:defRPr sz="1300" b="0">
                <a:solidFill>
                  <a:srgbClr val="EDF5FF"/>
                </a:solidFill>
                <a:latin typeface="Aptos"/>
              </a:defRPr>
            </a:pPr>
            <a:r>
              <a:t>Higher AI and workflow limits</a:t>
            </a:r>
          </a:p>
        </p:txBody>
      </p:sp>
      <p:sp>
        <p:nvSpPr>
          <p:cNvPr id="14" name="reveal_04"/>
          <p:cNvSpPr/>
          <p:nvPr/>
        </p:nvSpPr>
        <p:spPr>
          <a:xfrm>
            <a:off x="8275320" y="2121408"/>
            <a:ext cx="3273552" cy="243230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4"/>
          <p:cNvSpPr txBox="1"/>
          <p:nvPr/>
        </p:nvSpPr>
        <p:spPr>
          <a:xfrm>
            <a:off x="8513064" y="2395728"/>
            <a:ext cx="2798064" cy="329184"/>
          </a:xfrm>
          <a:prstGeom prst="rect">
            <a:avLst/>
          </a:prstGeom>
          <a:noFill/>
        </p:spPr>
        <p:txBody>
          <a:bodyPr wrap="square" lIns="0" tIns="0" rIns="0" bIns="0">
            <a:spAutoFit/>
          </a:bodyPr>
          <a:lstStyle/>
          <a:p>
            <a:pPr>
              <a:spcAft>
                <a:spcPts val="400"/>
              </a:spcAft>
              <a:defRPr sz="2000" b="1">
                <a:solidFill>
                  <a:srgbClr val="B4A3FF"/>
                </a:solidFill>
                <a:latin typeface="Aptos"/>
              </a:defRPr>
            </a:pPr>
            <a:r>
              <a:t>Family</a:t>
            </a:r>
          </a:p>
        </p:txBody>
      </p:sp>
      <p:sp>
        <p:nvSpPr>
          <p:cNvPr id="16" name="reveal_05"/>
          <p:cNvSpPr txBox="1"/>
          <p:nvPr/>
        </p:nvSpPr>
        <p:spPr>
          <a:xfrm>
            <a:off x="8513064" y="2916936"/>
            <a:ext cx="2798064" cy="658368"/>
          </a:xfrm>
          <a:prstGeom prst="rect">
            <a:avLst/>
          </a:prstGeom>
          <a:noFill/>
        </p:spPr>
        <p:txBody>
          <a:bodyPr wrap="square" lIns="0" tIns="0" rIns="0" bIns="0">
            <a:spAutoFit/>
          </a:bodyPr>
          <a:lstStyle/>
          <a:p>
            <a:pPr>
              <a:spcAft>
                <a:spcPts val="400"/>
              </a:spcAft>
              <a:defRPr sz="4300" b="1">
                <a:solidFill>
                  <a:srgbClr val="EDF5FF"/>
                </a:solidFill>
                <a:latin typeface="Aptos"/>
              </a:defRPr>
            </a:pPr>
            <a:r>
              <a:t>999</a:t>
            </a:r>
          </a:p>
        </p:txBody>
      </p:sp>
      <p:sp>
        <p:nvSpPr>
          <p:cNvPr id="17" name="TextBox 16"/>
          <p:cNvSpPr txBox="1"/>
          <p:nvPr/>
        </p:nvSpPr>
        <p:spPr>
          <a:xfrm>
            <a:off x="8513064" y="3648456"/>
            <a:ext cx="2798064" cy="256032"/>
          </a:xfrm>
          <a:prstGeom prst="rect">
            <a:avLst/>
          </a:prstGeom>
          <a:noFill/>
        </p:spPr>
        <p:txBody>
          <a:bodyPr wrap="square" lIns="0" tIns="0" rIns="0" bIns="0">
            <a:spAutoFit/>
          </a:bodyPr>
          <a:lstStyle/>
          <a:p>
            <a:pPr>
              <a:spcAft>
                <a:spcPts val="400"/>
              </a:spcAft>
              <a:defRPr sz="1300" b="0">
                <a:solidFill>
                  <a:srgbClr val="A2B4CA"/>
                </a:solidFill>
                <a:latin typeface="Aptos"/>
              </a:defRPr>
            </a:pPr>
            <a:r>
              <a:t>BDT / month</a:t>
            </a:r>
          </a:p>
        </p:txBody>
      </p:sp>
      <p:sp>
        <p:nvSpPr>
          <p:cNvPr id="18" name="reveal_06"/>
          <p:cNvSpPr txBox="1"/>
          <p:nvPr/>
        </p:nvSpPr>
        <p:spPr>
          <a:xfrm>
            <a:off x="8513064" y="4069080"/>
            <a:ext cx="2798064" cy="393192"/>
          </a:xfrm>
          <a:prstGeom prst="rect">
            <a:avLst/>
          </a:prstGeom>
          <a:noFill/>
        </p:spPr>
        <p:txBody>
          <a:bodyPr wrap="square" lIns="0" tIns="0" rIns="0" bIns="0">
            <a:spAutoFit/>
          </a:bodyPr>
          <a:lstStyle/>
          <a:p>
            <a:pPr>
              <a:spcAft>
                <a:spcPts val="400"/>
              </a:spcAft>
              <a:defRPr sz="1300" b="0">
                <a:solidFill>
                  <a:srgbClr val="EDF5FF"/>
                </a:solidFill>
                <a:latin typeface="Aptos"/>
              </a:defRPr>
            </a:pPr>
            <a:r>
              <a:t>Parent–student coordination</a:t>
            </a:r>
          </a:p>
        </p:txBody>
      </p:sp>
      <p:sp>
        <p:nvSpPr>
          <p:cNvPr id="19" name="reveal_05"/>
          <p:cNvSpPr/>
          <p:nvPr/>
        </p:nvSpPr>
        <p:spPr>
          <a:xfrm>
            <a:off x="594360" y="4937760"/>
            <a:ext cx="10954512" cy="969264"/>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5"/>
          <p:cNvSpPr txBox="1"/>
          <p:nvPr/>
        </p:nvSpPr>
        <p:spPr>
          <a:xfrm>
            <a:off x="832104" y="5221224"/>
            <a:ext cx="2414016" cy="347472"/>
          </a:xfrm>
          <a:prstGeom prst="rect">
            <a:avLst/>
          </a:prstGeom>
          <a:noFill/>
        </p:spPr>
        <p:txBody>
          <a:bodyPr wrap="square" lIns="0" tIns="0" rIns="0" bIns="0">
            <a:spAutoFit/>
          </a:bodyPr>
          <a:lstStyle/>
          <a:p>
            <a:pPr>
              <a:spcAft>
                <a:spcPts val="400"/>
              </a:spcAft>
              <a:defRPr sz="2100" b="1">
                <a:solidFill>
                  <a:srgbClr val="63E6BE"/>
                </a:solidFill>
                <a:latin typeface="Aptos"/>
              </a:defRPr>
            </a:pPr>
            <a:r>
              <a:t>7-day trial</a:t>
            </a:r>
          </a:p>
        </p:txBody>
      </p:sp>
      <p:sp>
        <p:nvSpPr>
          <p:cNvPr id="21" name="TextBox 20"/>
          <p:cNvSpPr txBox="1"/>
          <p:nvPr/>
        </p:nvSpPr>
        <p:spPr>
          <a:xfrm>
            <a:off x="3191256" y="5166360"/>
            <a:ext cx="411480"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22" name="reveal_06"/>
          <p:cNvSpPr txBox="1"/>
          <p:nvPr/>
        </p:nvSpPr>
        <p:spPr>
          <a:xfrm>
            <a:off x="3794760" y="5257800"/>
            <a:ext cx="3822191" cy="320040"/>
          </a:xfrm>
          <a:prstGeom prst="rect">
            <a:avLst/>
          </a:prstGeom>
          <a:noFill/>
        </p:spPr>
        <p:txBody>
          <a:bodyPr wrap="square" lIns="0" tIns="0" rIns="0" bIns="0">
            <a:spAutoFit/>
          </a:bodyPr>
          <a:lstStyle/>
          <a:p>
            <a:pPr>
              <a:spcAft>
                <a:spcPts val="400"/>
              </a:spcAft>
              <a:defRPr sz="1900" b="1">
                <a:solidFill>
                  <a:srgbClr val="EDF5FF"/>
                </a:solidFill>
                <a:latin typeface="Aptos"/>
              </a:defRPr>
            </a:pPr>
            <a:r>
              <a:t>Monthly or annual plan</a:t>
            </a:r>
          </a:p>
        </p:txBody>
      </p:sp>
      <p:sp>
        <p:nvSpPr>
          <p:cNvPr id="23" name="TextBox 22"/>
          <p:cNvSpPr txBox="1"/>
          <p:nvPr/>
        </p:nvSpPr>
        <p:spPr>
          <a:xfrm>
            <a:off x="7946136" y="5166360"/>
            <a:ext cx="411480"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24" name="reveal_07"/>
          <p:cNvSpPr txBox="1"/>
          <p:nvPr/>
        </p:nvSpPr>
        <p:spPr>
          <a:xfrm>
            <a:off x="8577072" y="5257800"/>
            <a:ext cx="2706624" cy="320040"/>
          </a:xfrm>
          <a:prstGeom prst="rect">
            <a:avLst/>
          </a:prstGeom>
          <a:noFill/>
        </p:spPr>
        <p:txBody>
          <a:bodyPr wrap="square" lIns="0" tIns="0" rIns="0" bIns="0">
            <a:spAutoFit/>
          </a:bodyPr>
          <a:lstStyle/>
          <a:p>
            <a:pPr>
              <a:spcAft>
                <a:spcPts val="400"/>
              </a:spcAft>
              <a:defRPr sz="1700" b="1">
                <a:solidFill>
                  <a:srgbClr val="EDF5FF"/>
                </a:solidFill>
                <a:latin typeface="Aptos"/>
              </a:defRPr>
            </a:pPr>
            <a:r>
              <a:t>Higher usage limits</a:t>
            </a:r>
          </a:p>
        </p:txBody>
      </p:sp>
      <p:sp>
        <p:nvSpPr>
          <p:cNvPr id="25" name="TextBox 24"/>
          <p:cNvSpPr txBox="1"/>
          <p:nvPr/>
        </p:nvSpPr>
        <p:spPr>
          <a:xfrm>
            <a:off x="630936" y="6254496"/>
            <a:ext cx="7242048" cy="274320"/>
          </a:xfrm>
          <a:prstGeom prst="rect">
            <a:avLst/>
          </a:prstGeom>
          <a:noFill/>
        </p:spPr>
        <p:txBody>
          <a:bodyPr wrap="square" lIns="0" tIns="0" rIns="0" bIns="0">
            <a:spAutoFit/>
          </a:bodyPr>
          <a:lstStyle/>
          <a:p>
            <a:pPr>
              <a:spcAft>
                <a:spcPts val="400"/>
              </a:spcAft>
              <a:defRPr sz="1400" b="0">
                <a:solidFill>
                  <a:srgbClr val="A2B4CA"/>
                </a:solidFill>
                <a:latin typeface="Aptos"/>
              </a:defRPr>
            </a:pPr>
            <a:r>
              <a:t>Core costs: AI usage, hosting and support.</a:t>
            </a:r>
          </a:p>
        </p:txBody>
      </p:sp>
      <p:sp>
        <p:nvSpPr>
          <p:cNvPr id="26" name="TextBox 25"/>
          <p:cNvSpPr txBox="1"/>
          <p:nvPr/>
        </p:nvSpPr>
        <p:spPr>
          <a:xfrm>
            <a:off x="8412480" y="6300216"/>
            <a:ext cx="3081528" cy="219456"/>
          </a:xfrm>
          <a:prstGeom prst="rect">
            <a:avLst/>
          </a:prstGeom>
          <a:noFill/>
        </p:spPr>
        <p:txBody>
          <a:bodyPr wrap="square" lIns="0" tIns="0" rIns="0" bIns="0">
            <a:spAutoFit/>
          </a:bodyPr>
          <a:lstStyle/>
          <a:p>
            <a:pPr algn="r">
              <a:spcAft>
                <a:spcPts val="400"/>
              </a:spcAft>
              <a:defRPr sz="1000" b="0">
                <a:solidFill>
                  <a:srgbClr val="A2B4CA"/>
                </a:solidFill>
                <a:latin typeface="Aptos"/>
              </a:defRPr>
            </a:pPr>
            <a:r>
              <a:t>Existing sandbox plan prices</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par>
                          <p:cTn id="38" fill="hold">
                            <p:stCondLst>
                              <p:cond delay="2000"/>
                            </p:stCondLst>
                            <p:childTnLst>
                              <p:par>
                                <p:cTn id="39" presetID="10" presetClass="entr" presetSubtype="0" fill="hold" grpId="0" nodeType="after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par>
                          <p:cTn id="51" fill="hold">
                            <p:stCondLst>
                              <p:cond delay="2500"/>
                            </p:stCondLst>
                            <p:childTnLst>
                              <p:par>
                                <p:cTn id="52" presetID="10" presetClass="entr" presetSubtype="0" fill="hold" grpId="0" nodeType="after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par>
                          <p:cTn id="58" fill="hold">
                            <p:stCondLst>
                              <p:cond delay="3000"/>
                            </p:stCondLst>
                            <p:childTnLst>
                              <p:par>
                                <p:cTn id="59" presetID="10" presetClass="entr" presetSubtype="0" fill="hold" grpId="0" nodeType="after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8" grpId="0"/>
      <p:bldP spid="9" grpId="0" animBg="1"/>
      <p:bldP spid="10" grpId="0"/>
      <p:bldP spid="11" grpId="0"/>
      <p:bldP spid="13" grpId="0"/>
      <p:bldP spid="14" grpId="0" animBg="1"/>
      <p:bldP spid="15" grpId="0"/>
      <p:bldP spid="16" grpId="0"/>
      <p:bldP spid="18" grpId="0"/>
      <p:bldP spid="19" grpId="0" animBg="1"/>
      <p:bldP spid="20" grpId="0"/>
      <p:bldP spid="22"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Business strategy</a:t>
            </a:r>
          </a:p>
        </p:txBody>
      </p:sp>
      <p:sp>
        <p:nvSpPr>
          <p:cNvPr id="3" name="TextBox 2"/>
          <p:cNvSpPr txBox="1"/>
          <p:nvPr/>
        </p:nvSpPr>
        <p:spPr>
          <a:xfrm>
            <a:off x="612648" y="1316736"/>
            <a:ext cx="10881360" cy="420624"/>
          </a:xfrm>
          <a:prstGeom prst="rect">
            <a:avLst/>
          </a:prstGeom>
          <a:noFill/>
        </p:spPr>
        <p:txBody>
          <a:bodyPr wrap="square" lIns="0" tIns="0" rIns="0" bIns="0">
            <a:spAutoFit/>
          </a:bodyPr>
          <a:lstStyle/>
          <a:p>
            <a:pPr>
              <a:spcAft>
                <a:spcPts val="400"/>
              </a:spcAft>
              <a:defRPr sz="2200" b="0">
                <a:solidFill>
                  <a:srgbClr val="A2B4CA"/>
                </a:solidFill>
                <a:latin typeface="Aptos"/>
              </a:defRPr>
            </a:pPr>
            <a:r>
              <a:t>Start with the Bangladesh–China student and family journey.</a:t>
            </a:r>
          </a:p>
        </p:txBody>
      </p:sp>
      <p:sp>
        <p:nvSpPr>
          <p:cNvPr id="4" name="reveal_02"/>
          <p:cNvSpPr/>
          <p:nvPr/>
        </p:nvSpPr>
        <p:spPr>
          <a:xfrm>
            <a:off x="594360" y="2148840"/>
            <a:ext cx="3273552" cy="3154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2"/>
          <p:cNvSpPr txBox="1"/>
          <p:nvPr/>
        </p:nvSpPr>
        <p:spPr>
          <a:xfrm>
            <a:off x="822960" y="2468880"/>
            <a:ext cx="2816352" cy="411480"/>
          </a:xfrm>
          <a:prstGeom prst="rect">
            <a:avLst/>
          </a:prstGeom>
          <a:noFill/>
        </p:spPr>
        <p:txBody>
          <a:bodyPr wrap="square" lIns="0" tIns="0" rIns="0" bIns="0">
            <a:spAutoFit/>
          </a:bodyPr>
          <a:lstStyle/>
          <a:p>
            <a:pPr>
              <a:spcAft>
                <a:spcPts val="400"/>
              </a:spcAft>
              <a:defRPr sz="2800" b="1">
                <a:solidFill>
                  <a:srgbClr val="6BB9FF"/>
                </a:solidFill>
                <a:latin typeface="Aptos"/>
              </a:defRPr>
            </a:pPr>
            <a:r>
              <a:t>Validate</a:t>
            </a:r>
          </a:p>
        </p:txBody>
      </p:sp>
      <p:sp>
        <p:nvSpPr>
          <p:cNvPr id="6" name="reveal_03"/>
          <p:cNvSpPr txBox="1"/>
          <p:nvPr/>
        </p:nvSpPr>
        <p:spPr>
          <a:xfrm>
            <a:off x="822960" y="3172968"/>
            <a:ext cx="2816352" cy="521207"/>
          </a:xfrm>
          <a:prstGeom prst="rect">
            <a:avLst/>
          </a:prstGeom>
          <a:noFill/>
        </p:spPr>
        <p:txBody>
          <a:bodyPr wrap="square" lIns="0" tIns="0" rIns="0" bIns="0">
            <a:spAutoFit/>
          </a:bodyPr>
          <a:lstStyle/>
          <a:p>
            <a:pPr>
              <a:spcAft>
                <a:spcPts val="400"/>
              </a:spcAft>
              <a:defRPr sz="1700" b="1">
                <a:solidFill>
                  <a:srgbClr val="EDF5FF"/>
                </a:solidFill>
                <a:latin typeface="Aptos"/>
              </a:defRPr>
            </a:pPr>
            <a:r>
              <a:t>Student + parent interviews</a:t>
            </a:r>
          </a:p>
        </p:txBody>
      </p:sp>
      <p:sp>
        <p:nvSpPr>
          <p:cNvPr id="7" name="reveal_04"/>
          <p:cNvSpPr txBox="1"/>
          <p:nvPr/>
        </p:nvSpPr>
        <p:spPr>
          <a:xfrm>
            <a:off x="822960" y="3867912"/>
            <a:ext cx="2816352" cy="768096"/>
          </a:xfrm>
          <a:prstGeom prst="rect">
            <a:avLst/>
          </a:prstGeom>
          <a:noFill/>
        </p:spPr>
        <p:txBody>
          <a:bodyPr wrap="square" lIns="0" tIns="0" rIns="0" bIns="0">
            <a:spAutoFit/>
          </a:bodyPr>
          <a:lstStyle/>
          <a:p>
            <a:pPr>
              <a:spcAft>
                <a:spcPts val="400"/>
              </a:spcAft>
              <a:defRPr sz="1500" b="0">
                <a:solidFill>
                  <a:srgbClr val="A2B4CA"/>
                </a:solidFill>
                <a:latin typeface="Aptos"/>
              </a:defRPr>
            </a:pPr>
            <a:r>
              <a:t>Test tuition planning and guided demos.</a:t>
            </a:r>
          </a:p>
        </p:txBody>
      </p:sp>
      <p:sp>
        <p:nvSpPr>
          <p:cNvPr id="8" name="reveal_05"/>
          <p:cNvSpPr txBox="1"/>
          <p:nvPr/>
        </p:nvSpPr>
        <p:spPr>
          <a:xfrm>
            <a:off x="822960" y="4800600"/>
            <a:ext cx="2816352" cy="365760"/>
          </a:xfrm>
          <a:prstGeom prst="rect">
            <a:avLst/>
          </a:prstGeom>
          <a:noFill/>
        </p:spPr>
        <p:txBody>
          <a:bodyPr wrap="square" lIns="0" tIns="0" rIns="0" bIns="0">
            <a:spAutoFit/>
          </a:bodyPr>
          <a:lstStyle/>
          <a:p>
            <a:pPr>
              <a:spcAft>
                <a:spcPts val="400"/>
              </a:spcAft>
              <a:defRPr sz="1100" b="0">
                <a:solidFill>
                  <a:srgbClr val="6BB9FF"/>
                </a:solidFill>
                <a:latin typeface="Aptos"/>
              </a:defRPr>
            </a:pPr>
            <a:r>
              <a:t>Measure: plans created</a:t>
            </a:r>
          </a:p>
        </p:txBody>
      </p:sp>
      <p:sp>
        <p:nvSpPr>
          <p:cNvPr id="9" name="TextBox 8"/>
          <p:cNvSpPr txBox="1"/>
          <p:nvPr/>
        </p:nvSpPr>
        <p:spPr>
          <a:xfrm>
            <a:off x="3977640" y="3474720"/>
            <a:ext cx="356616"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10" name="reveal_03"/>
          <p:cNvSpPr/>
          <p:nvPr/>
        </p:nvSpPr>
        <p:spPr>
          <a:xfrm>
            <a:off x="4434840" y="2148840"/>
            <a:ext cx="3273552" cy="3154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3"/>
          <p:cNvSpPr txBox="1"/>
          <p:nvPr/>
        </p:nvSpPr>
        <p:spPr>
          <a:xfrm>
            <a:off x="4663440" y="2468880"/>
            <a:ext cx="2816352" cy="411480"/>
          </a:xfrm>
          <a:prstGeom prst="rect">
            <a:avLst/>
          </a:prstGeom>
          <a:noFill/>
        </p:spPr>
        <p:txBody>
          <a:bodyPr wrap="square" lIns="0" tIns="0" rIns="0" bIns="0">
            <a:spAutoFit/>
          </a:bodyPr>
          <a:lstStyle/>
          <a:p>
            <a:pPr>
              <a:spcAft>
                <a:spcPts val="400"/>
              </a:spcAft>
              <a:defRPr sz="2800" b="1">
                <a:solidFill>
                  <a:srgbClr val="F3C969"/>
                </a:solidFill>
                <a:latin typeface="Aptos"/>
              </a:defRPr>
            </a:pPr>
            <a:r>
              <a:t>Pilot</a:t>
            </a:r>
          </a:p>
        </p:txBody>
      </p:sp>
      <p:sp>
        <p:nvSpPr>
          <p:cNvPr id="12" name="reveal_04"/>
          <p:cNvSpPr txBox="1"/>
          <p:nvPr/>
        </p:nvSpPr>
        <p:spPr>
          <a:xfrm>
            <a:off x="4663440" y="3172968"/>
            <a:ext cx="2816352" cy="521207"/>
          </a:xfrm>
          <a:prstGeom prst="rect">
            <a:avLst/>
          </a:prstGeom>
          <a:noFill/>
        </p:spPr>
        <p:txBody>
          <a:bodyPr wrap="square" lIns="0" tIns="0" rIns="0" bIns="0">
            <a:spAutoFit/>
          </a:bodyPr>
          <a:lstStyle/>
          <a:p>
            <a:pPr>
              <a:spcAft>
                <a:spcPts val="400"/>
              </a:spcAft>
              <a:defRPr sz="1700" b="1">
                <a:solidFill>
                  <a:srgbClr val="EDF5FF"/>
                </a:solidFill>
                <a:latin typeface="Aptos"/>
              </a:defRPr>
            </a:pPr>
            <a:r>
              <a:t>Campus and student groups</a:t>
            </a:r>
          </a:p>
        </p:txBody>
      </p:sp>
      <p:sp>
        <p:nvSpPr>
          <p:cNvPr id="13" name="reveal_05"/>
          <p:cNvSpPr txBox="1"/>
          <p:nvPr/>
        </p:nvSpPr>
        <p:spPr>
          <a:xfrm>
            <a:off x="4663440" y="3867912"/>
            <a:ext cx="2816352" cy="768096"/>
          </a:xfrm>
          <a:prstGeom prst="rect">
            <a:avLst/>
          </a:prstGeom>
          <a:noFill/>
        </p:spPr>
        <p:txBody>
          <a:bodyPr wrap="square" lIns="0" tIns="0" rIns="0" bIns="0">
            <a:spAutoFit/>
          </a:bodyPr>
          <a:lstStyle/>
          <a:p>
            <a:pPr>
              <a:spcAft>
                <a:spcPts val="400"/>
              </a:spcAft>
              <a:defRPr sz="1500" b="0">
                <a:solidFill>
                  <a:srgbClr val="A2B4CA"/>
                </a:solidFill>
                <a:latin typeface="Aptos"/>
              </a:defRPr>
            </a:pPr>
            <a:r>
              <a:t>Trial the family approval workflow.</a:t>
            </a:r>
          </a:p>
        </p:txBody>
      </p:sp>
      <p:sp>
        <p:nvSpPr>
          <p:cNvPr id="14" name="reveal_06"/>
          <p:cNvSpPr txBox="1"/>
          <p:nvPr/>
        </p:nvSpPr>
        <p:spPr>
          <a:xfrm>
            <a:off x="4663440" y="4800600"/>
            <a:ext cx="2816352" cy="365760"/>
          </a:xfrm>
          <a:prstGeom prst="rect">
            <a:avLst/>
          </a:prstGeom>
          <a:noFill/>
        </p:spPr>
        <p:txBody>
          <a:bodyPr wrap="square" lIns="0" tIns="0" rIns="0" bIns="0">
            <a:spAutoFit/>
          </a:bodyPr>
          <a:lstStyle/>
          <a:p>
            <a:pPr>
              <a:spcAft>
                <a:spcPts val="400"/>
              </a:spcAft>
              <a:defRPr sz="1100" b="0">
                <a:solidFill>
                  <a:srgbClr val="F3C969"/>
                </a:solidFill>
                <a:latin typeface="Aptos"/>
              </a:defRPr>
            </a:pPr>
            <a:r>
              <a:t>Measure: review completion</a:t>
            </a:r>
          </a:p>
        </p:txBody>
      </p:sp>
      <p:sp>
        <p:nvSpPr>
          <p:cNvPr id="15" name="TextBox 14"/>
          <p:cNvSpPr txBox="1"/>
          <p:nvPr/>
        </p:nvSpPr>
        <p:spPr>
          <a:xfrm>
            <a:off x="7818120" y="3474720"/>
            <a:ext cx="356616"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16" name="reveal_04"/>
          <p:cNvSpPr/>
          <p:nvPr/>
        </p:nvSpPr>
        <p:spPr>
          <a:xfrm>
            <a:off x="8275320" y="2148840"/>
            <a:ext cx="3273552" cy="3154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4"/>
          <p:cNvSpPr txBox="1"/>
          <p:nvPr/>
        </p:nvSpPr>
        <p:spPr>
          <a:xfrm>
            <a:off x="8503920" y="2468880"/>
            <a:ext cx="2816352" cy="411480"/>
          </a:xfrm>
          <a:prstGeom prst="rect">
            <a:avLst/>
          </a:prstGeom>
          <a:noFill/>
        </p:spPr>
        <p:txBody>
          <a:bodyPr wrap="square" lIns="0" tIns="0" rIns="0" bIns="0">
            <a:spAutoFit/>
          </a:bodyPr>
          <a:lstStyle/>
          <a:p>
            <a:pPr>
              <a:spcAft>
                <a:spcPts val="400"/>
              </a:spcAft>
              <a:defRPr sz="2800" b="1">
                <a:solidFill>
                  <a:srgbClr val="63E6BE"/>
                </a:solidFill>
                <a:latin typeface="Aptos"/>
              </a:defRPr>
            </a:pPr>
            <a:r>
              <a:t>Grow</a:t>
            </a:r>
          </a:p>
        </p:txBody>
      </p:sp>
      <p:sp>
        <p:nvSpPr>
          <p:cNvPr id="18" name="reveal_05"/>
          <p:cNvSpPr txBox="1"/>
          <p:nvPr/>
        </p:nvSpPr>
        <p:spPr>
          <a:xfrm>
            <a:off x="8503920" y="3172968"/>
            <a:ext cx="2816352" cy="521207"/>
          </a:xfrm>
          <a:prstGeom prst="rect">
            <a:avLst/>
          </a:prstGeom>
          <a:noFill/>
        </p:spPr>
        <p:txBody>
          <a:bodyPr wrap="square" lIns="0" tIns="0" rIns="0" bIns="0">
            <a:spAutoFit/>
          </a:bodyPr>
          <a:lstStyle/>
          <a:p>
            <a:pPr>
              <a:spcAft>
                <a:spcPts val="400"/>
              </a:spcAft>
              <a:defRPr sz="1700" b="1">
                <a:solidFill>
                  <a:srgbClr val="EDF5FF"/>
                </a:solidFill>
                <a:latin typeface="Aptos"/>
              </a:defRPr>
            </a:pPr>
            <a:r>
              <a:t>Repeat use and referrals</a:t>
            </a:r>
          </a:p>
        </p:txBody>
      </p:sp>
      <p:sp>
        <p:nvSpPr>
          <p:cNvPr id="19" name="reveal_06"/>
          <p:cNvSpPr txBox="1"/>
          <p:nvPr/>
        </p:nvSpPr>
        <p:spPr>
          <a:xfrm>
            <a:off x="8503920" y="3867912"/>
            <a:ext cx="2816352" cy="768096"/>
          </a:xfrm>
          <a:prstGeom prst="rect">
            <a:avLst/>
          </a:prstGeom>
          <a:noFill/>
        </p:spPr>
        <p:txBody>
          <a:bodyPr wrap="square" lIns="0" tIns="0" rIns="0" bIns="0">
            <a:spAutoFit/>
          </a:bodyPr>
          <a:lstStyle/>
          <a:p>
            <a:pPr>
              <a:spcAft>
                <a:spcPts val="400"/>
              </a:spcAft>
              <a:defRPr sz="1500" b="0">
                <a:solidFill>
                  <a:srgbClr val="A2B4CA"/>
                </a:solidFill>
                <a:latin typeface="Aptos"/>
              </a:defRPr>
            </a:pPr>
            <a:r>
              <a:t>Improve retention before expanding corridors.</a:t>
            </a:r>
          </a:p>
        </p:txBody>
      </p:sp>
      <p:sp>
        <p:nvSpPr>
          <p:cNvPr id="20" name="reveal_07"/>
          <p:cNvSpPr txBox="1"/>
          <p:nvPr/>
        </p:nvSpPr>
        <p:spPr>
          <a:xfrm>
            <a:off x="8503920" y="4800600"/>
            <a:ext cx="2816352" cy="365760"/>
          </a:xfrm>
          <a:prstGeom prst="rect">
            <a:avLst/>
          </a:prstGeom>
          <a:noFill/>
        </p:spPr>
        <p:txBody>
          <a:bodyPr wrap="square" lIns="0" tIns="0" rIns="0" bIns="0">
            <a:spAutoFit/>
          </a:bodyPr>
          <a:lstStyle/>
          <a:p>
            <a:pPr>
              <a:spcAft>
                <a:spcPts val="400"/>
              </a:spcAft>
              <a:defRPr sz="1100" b="0">
                <a:solidFill>
                  <a:srgbClr val="63E6BE"/>
                </a:solidFill>
                <a:latin typeface="Aptos"/>
              </a:defRPr>
            </a:pPr>
            <a:r>
              <a:t>Measure: conversion + retention</a:t>
            </a:r>
          </a:p>
        </p:txBody>
      </p:sp>
      <p:cxnSp>
        <p:nvCxnSpPr>
          <p:cNvPr id="21" name="Connector 20"/>
          <p:cNvCxnSpPr/>
          <p:nvPr/>
        </p:nvCxnSpPr>
        <p:spPr>
          <a:xfrm>
            <a:off x="621792" y="5705856"/>
            <a:ext cx="10917936"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0936" y="5989320"/>
            <a:ext cx="2743200" cy="301752"/>
          </a:xfrm>
          <a:prstGeom prst="rect">
            <a:avLst/>
          </a:prstGeom>
          <a:noFill/>
        </p:spPr>
        <p:txBody>
          <a:bodyPr wrap="square" lIns="0" tIns="0" rIns="0" bIns="0">
            <a:spAutoFit/>
          </a:bodyPr>
          <a:lstStyle/>
          <a:p>
            <a:pPr>
              <a:spcAft>
                <a:spcPts val="400"/>
              </a:spcAft>
              <a:defRPr sz="1700" b="1">
                <a:solidFill>
                  <a:srgbClr val="63E6BE"/>
                </a:solidFill>
                <a:latin typeface="Aptos"/>
              </a:defRPr>
            </a:pPr>
            <a:r>
              <a:t>Proposed rollout</a:t>
            </a:r>
          </a:p>
        </p:txBody>
      </p:sp>
      <p:sp>
        <p:nvSpPr>
          <p:cNvPr id="23" name="TextBox 22"/>
          <p:cNvSpPr txBox="1"/>
          <p:nvPr/>
        </p:nvSpPr>
        <p:spPr>
          <a:xfrm>
            <a:off x="3675887" y="6025896"/>
            <a:ext cx="7836408" cy="365760"/>
          </a:xfrm>
          <a:prstGeom prst="rect">
            <a:avLst/>
          </a:prstGeom>
          <a:noFill/>
        </p:spPr>
        <p:txBody>
          <a:bodyPr wrap="square" lIns="0" tIns="0" rIns="0" bIns="0">
            <a:spAutoFit/>
          </a:bodyPr>
          <a:lstStyle/>
          <a:p>
            <a:pPr>
              <a:spcAft>
                <a:spcPts val="400"/>
              </a:spcAft>
              <a:defRPr sz="1400" b="0">
                <a:solidFill>
                  <a:srgbClr val="A2B4CA"/>
                </a:solidFill>
                <a:latin typeface="Aptos"/>
              </a:defRPr>
            </a:pPr>
            <a:r>
              <a:t>Pilot partnerships and live-payment integrations remain future work.</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par>
                          <p:cTn id="38" fill="hold">
                            <p:stCondLst>
                              <p:cond delay="2000"/>
                            </p:stCondLst>
                            <p:childTnLst>
                              <p:par>
                                <p:cTn id="39" presetID="10"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par>
                          <p:cTn id="48" fill="hold">
                            <p:stCondLst>
                              <p:cond delay="2500"/>
                            </p:stCondLst>
                            <p:childTnLst>
                              <p:par>
                                <p:cTn id="49" presetID="10"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par>
                          <p:cTn id="55" fill="hold">
                            <p:stCondLst>
                              <p:cond delay="3000"/>
                            </p:stCondLst>
                            <p:childTnLst>
                              <p:par>
                                <p:cTn id="56" presetID="10" presetClass="entr" presetSubtype="0" fill="hold" grpId="0" nodeType="after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p:bldP spid="8" grpId="0"/>
      <p:bldP spid="10" grpId="0" animBg="1"/>
      <p:bldP spid="11" grpId="0"/>
      <p:bldP spid="12" grpId="0"/>
      <p:bldP spid="13" grpId="0"/>
      <p:bldP spid="14" grpId="0"/>
      <p:bldP spid="16" grpId="0" animBg="1"/>
      <p:bldP spid="17" grpId="0"/>
      <p:bldP spid="18" grpId="0"/>
      <p:bldP spid="19"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pic>
        <p:nvPicPr>
          <p:cNvPr id="2" name="reveal_01" descr="thankyou-hero.pn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3931920"/>
            <a:ext cx="12188952" cy="2926080"/>
          </a:xfrm>
          <a:prstGeom prst="rect">
            <a:avLst/>
          </a:prstGeom>
          <a:solidFill>
            <a:srgbClr val="06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veal_02"/>
          <p:cNvSpPr txBox="1"/>
          <p:nvPr/>
        </p:nvSpPr>
        <p:spPr>
          <a:xfrm>
            <a:off x="914400" y="4206240"/>
            <a:ext cx="10360152" cy="1188720"/>
          </a:xfrm>
          <a:prstGeom prst="rect">
            <a:avLst/>
          </a:prstGeom>
          <a:noFill/>
        </p:spPr>
        <p:txBody>
          <a:bodyPr wrap="square" lIns="0" tIns="0" rIns="0" bIns="0">
            <a:spAutoFit/>
          </a:bodyPr>
          <a:lstStyle/>
          <a:p>
            <a:pPr algn="ctr">
              <a:spcAft>
                <a:spcPts val="400"/>
              </a:spcAft>
              <a:defRPr sz="7200" b="1">
                <a:solidFill>
                  <a:srgbClr val="EDF5FF"/>
                </a:solidFill>
                <a:latin typeface="Aptos"/>
              </a:defRPr>
            </a:pPr>
            <a:r>
              <a:t>Thank You</a:t>
            </a:r>
          </a:p>
        </p:txBody>
      </p:sp>
      <p:sp>
        <p:nvSpPr>
          <p:cNvPr id="5" name="reveal_02"/>
          <p:cNvSpPr txBox="1"/>
          <p:nvPr/>
        </p:nvSpPr>
        <p:spPr>
          <a:xfrm>
            <a:off x="914400" y="5321808"/>
            <a:ext cx="10360152" cy="502920"/>
          </a:xfrm>
          <a:prstGeom prst="rect">
            <a:avLst/>
          </a:prstGeom>
          <a:noFill/>
        </p:spPr>
        <p:txBody>
          <a:bodyPr wrap="square" lIns="0" tIns="0" rIns="0" bIns="0">
            <a:spAutoFit/>
          </a:bodyPr>
          <a:lstStyle/>
          <a:p>
            <a:pPr algn="ctr">
              <a:spcAft>
                <a:spcPts val="400"/>
              </a:spcAft>
              <a:defRPr sz="1800" b="0">
                <a:solidFill>
                  <a:srgbClr val="63E6BE"/>
                </a:solidFill>
                <a:latin typeface="Aptos"/>
              </a:defRPr>
            </a:pPr>
            <a:r>
              <a:t>FinBridge AI — where family funding meets student ambition</a:t>
            </a:r>
          </a:p>
        </p:txBody>
      </p:sp>
      <p:cxnSp>
        <p:nvCxnSpPr>
          <p:cNvPr id="6" name="Connector 5"/>
          <p:cNvCxnSpPr/>
          <p:nvPr/>
        </p:nvCxnSpPr>
        <p:spPr>
          <a:xfrm>
            <a:off x="3200400" y="6016752"/>
            <a:ext cx="5788152" cy="0"/>
          </a:xfrm>
          <a:prstGeom prst="line">
            <a:avLst/>
          </a:prstGeom>
          <a:ln w="12700">
            <a:solidFill>
              <a:srgbClr val="1E3048"/>
            </a:solidFill>
          </a:ln>
        </p:spPr>
        <p:style>
          <a:lnRef idx="2">
            <a:schemeClr val="accent1"/>
          </a:lnRef>
          <a:fillRef idx="0">
            <a:schemeClr val="accent1"/>
          </a:fillRef>
          <a:effectRef idx="1">
            <a:schemeClr val="accent1"/>
          </a:effectRef>
          <a:fontRef idx="minor">
            <a:schemeClr val="tx1"/>
          </a:fontRef>
        </p:style>
      </p:cxnSp>
      <p:sp>
        <p:nvSpPr>
          <p:cNvPr id="7" name="reveal_03"/>
          <p:cNvSpPr txBox="1"/>
          <p:nvPr/>
        </p:nvSpPr>
        <p:spPr>
          <a:xfrm>
            <a:off x="914400" y="6108192"/>
            <a:ext cx="10360152" cy="347472"/>
          </a:xfrm>
          <a:prstGeom prst="rect">
            <a:avLst/>
          </a:prstGeom>
          <a:noFill/>
        </p:spPr>
        <p:txBody>
          <a:bodyPr wrap="square" lIns="0" tIns="0" rIns="0" bIns="0">
            <a:spAutoFit/>
          </a:bodyPr>
          <a:lstStyle/>
          <a:p>
            <a:pPr algn="ctr">
              <a:spcAft>
                <a:spcPts val="400"/>
              </a:spcAft>
              <a:defRPr sz="1400" b="0">
                <a:solidFill>
                  <a:srgbClr val="A2B4CA"/>
                </a:solidFill>
                <a:latin typeface="Aptos"/>
              </a:defRPr>
            </a:pPr>
            <a:r>
              <a:t>Try the demo  →  /en/demo</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3390</Words>
  <Application>Microsoft Office PowerPoint</Application>
  <PresentationFormat>Widescreen</PresentationFormat>
  <Paragraphs>317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FinBridge AI — Presentation v3</dc:title>
  <dc:subject/>
  <dc:creator>FinBridge AI Project Team</dc:creator>
  <cp:keywords/>
  <dc:description>V3: professional cover (no logo), improved developer cards, all v2 content preserved, new Thank You closing slide.</dc:description>
  <cp:lastModifiedBy>WALTON</cp:lastModifiedBy>
  <cp:revision>11</cp:revision>
  <dcterms:created xsi:type="dcterms:W3CDTF">2013-01-27T09:14:16Z</dcterms:created>
  <dcterms:modified xsi:type="dcterms:W3CDTF">2026-10-20T14:12:57Z</dcterms:modified>
  <cp:category/>
</cp:coreProperties>
</file>