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78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title>
      <c:layout/>
      <c:overlay val="0"/>
    </c:title>
    <c:autoTitleDeleted val="0"/>
    <c:plotArea>
      <c:layout/>
      <c:barChart>
        <c:barDir val="bar"/>
        <c:grouping val="clustered"/>
        <c:varyColors val="1"/>
        <c:ser>
          <c:idx val="0"/>
          <c:order val="0"/>
          <c:tx>
            <c:strRef>
              <c:f>Sheet1!$B$1</c:f>
              <c:strCache>
                <c:ptCount val="1"/>
                <c:pt idx="0">
                  <c:v>Illustrative CNY</c:v>
                </c:pt>
              </c:strCache>
            </c:strRef>
          </c:tx>
          <c:spPr>
            <a:solidFill>
              <a:srgbClr val="72A9FF"/>
            </a:solidFill>
            <a:ln>
              <a:noFill/>
            </a:ln>
          </c:spPr>
          <c:invertIfNegative val="1"/>
          <c:cat>
            <c:strRef>
              <c:f>Sheet1!$A$2:$A$4</c:f>
              <c:strCache>
                <c:ptCount val="3"/>
                <c:pt idx="0">
                  <c:v>Tuition due</c:v>
                </c:pt>
                <c:pt idx="1">
                  <c:v>Funds + scholarship</c:v>
                </c:pt>
                <c:pt idx="2">
                  <c:v>Projected gap</c:v>
                </c:pt>
              </c:strCache>
            </c:strRef>
          </c:cat>
          <c:val>
            <c:numRef>
              <c:f>Sheet1!$B$2:$B$4</c:f>
              <c:numCache>
                <c:formatCode>General</c:formatCode>
                <c:ptCount val="3"/>
                <c:pt idx="0">
                  <c:v>42000</c:v>
                </c:pt>
                <c:pt idx="1">
                  <c:v>30000</c:v>
                </c:pt>
                <c:pt idx="2">
                  <c:v>12000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97FE-4347-B6CF-64E99AEF482A}"/>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solidFill>
                  <a:srgbClr val="A8BCC6"/>
                </a:solidFill>
              </a:defRPr>
            </a:pPr>
            <a:endParaRPr lang="en-US"/>
          </a:p>
        </c:txPr>
        <c:crossAx val="-2113994440"/>
        <c:crosses val="autoZero"/>
        <c:auto val="1"/>
        <c:lblAlgn val="ctr"/>
        <c:lblOffset val="100"/>
        <c:noMultiLvlLbl val="0"/>
      </c:catAx>
      <c:valAx>
        <c:axId val="-2113994440"/>
        <c:scaling>
          <c:orientation val="minMax"/>
        </c:scaling>
        <c:delete val="0"/>
        <c:axPos val="b"/>
        <c:numFmt formatCode="General" sourceLinked="1"/>
        <c:majorTickMark val="out"/>
        <c:minorTickMark val="none"/>
        <c:tickLblPos val="nextTo"/>
        <c:txPr>
          <a:bodyPr/>
          <a:lstStyle/>
          <a:p>
            <a:pPr>
              <a:defRPr sz="1000">
                <a:solidFill>
                  <a:srgbClr val="A8BCC6"/>
                </a:solidFill>
              </a:defRPr>
            </a:pPr>
            <a:endParaRPr lang="en-US"/>
          </a:p>
        </c:txPr>
        <c:crossAx val="-2068027336"/>
        <c:crosses val="autoZero"/>
        <c:crossBetween val="between"/>
      </c:valAx>
    </c:plotArea>
    <c:plotVisOnly val="1"/>
    <c:dispBlanksAs val="gap"/>
    <c:showDLblsOverMax val="1"/>
  </c:chart>
  <c:txPr>
    <a:bodyPr/>
    <a:lstStyle/>
    <a:p>
      <a:pPr>
        <a:defRPr sz="1100">
          <a:solidFill>
            <a:srgbClr val="A8BCC6"/>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0550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FinBridge AI as a student and family finance project. It combines planning, simulated remittances and a tool-based AI copilot. All payment flows are sandbox simulations; no real money is moved.</a:t>
            </a:r>
          </a:p>
          <a:p>
            <a:endParaRPr/>
          </a:p>
          <a:p>
            <a:r>
              <a:t>Repository evidence: README.md; public/brand/mark.svg</a:t>
            </a:r>
          </a:p>
          <a:p>
            <a:r>
              <a:t>Animation: automatic native fade entrance, fade slide transition and looping animated signal graphic. Play in PowerPoint Slide Show. Charts with example amounts are illustrative, not measured outcomes.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problem using the workflows implemented in this repository rather than unsourced market statistics. The project targets international students, parents and educational sponsors.</a:t>
            </a:r>
          </a:p>
          <a:p>
            <a:endParaRPr/>
          </a:p>
          <a:p>
            <a:r>
              <a:t>Repository evidence: README.md; src/services/tuition.service.ts; src/services/remittance.service.ts; src/services/parent-controls.service.ts</a:t>
            </a:r>
          </a:p>
          <a:p>
            <a:r>
              <a:t>Animation: automatic native fade entrance, fade slide transition and looping animated signal graphic. Play in PowerPoint Slide Show. Charts with example amounts are illustrative, not measured outcomes.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payment backend is reused by student, parent and AI workflows. Shared experience includes onboarding, preferred currency, language, time zone, notifications, theme, search, subscriptions, saved demo cards and personal model settings. The platform is a sandbox with manual external settlement.</a:t>
            </a:r>
          </a:p>
          <a:p>
            <a:endParaRPr/>
          </a:p>
          <a:p>
            <a:r>
              <a:t>Repository evidence: src/actions/dashboard.actions.ts; src/components/layout/shell.tsx; src/actions/preferences.actions.ts; src/services/payment.service.ts; IMPLEMENTATION_STATUS.md</a:t>
            </a:r>
          </a:p>
          <a:p>
            <a:r>
              <a:t>Animation: automatic native fade entrance, fade slide transition and looping animated signal graphic. Play in PowerPoint Slide Show. Charts with example amounts are illustrative, not measured outcomes.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Primary AI capabilities: getStudentProfile, getAccounts, analyseTransactions, calculateTuitionGap, compareRemittance, getFxRates, generateBudgetSuggestion, analyseFinancialHealth, getCreditGuidance, getWorkspaceData, assessPaymentRisk, draftPayment, beneficiary tools, requestAction and respond. The role-checked catalog also supports account, transaction, budget, tuition, alert, credit, family, preference, report and subscription tasks. Financial execution requires explicit UI confirmation. Some approved low-impact tools may create drafts, beneficiaries or alerts; do not claim the model is universally read-only. The chart is a deliberately simplified illustrative plan, not a live account or measured result.</a:t>
            </a:r>
          </a:p>
          <a:p>
            <a:endParaRPr/>
          </a:p>
          <a:p>
            <a:r>
              <a:t>Repository evidence: src/ai/tools/index.ts; src/ai/action-catalog.ts; src/ai/mock-provider.ts; src/ai/gemini-provider.ts; src/ai/openai-provider.ts</a:t>
            </a:r>
          </a:p>
          <a:p>
            <a:r>
              <a:t>Animation: automatic native fade entrance, fade slide transition and looping animated signal graphic. Play in PowerPoint Slide Show. Charts with example amounts are illustrative, not measured outcomes.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Server Actions perform authentication, role and ownership checks, strict validation, risk checks and parent controls. Financial mutations reuse payment.service.ts; non-financial confirmations dispatch to existing server actions. Model instructions treat user and tool text as untrusted and prohibit invented balances, IDs and successful results. Secure-input tasks open standard forms. The database schema contains 57 CREATE TABLE definitions. Stack versions reflect package.json. Testing exists at unit, provider-contract, database integration and Playwright levels; this deck does not assert a fresh test run or a security certification.</a:t>
            </a:r>
          </a:p>
          <a:p>
            <a:endParaRPr/>
          </a:p>
          <a:p>
            <a:r>
              <a:t>Repository evidence: package.json; database/schema.sql; src/actions/agent-workflow.actions.ts; src/ai/action-service.ts; src/ai/structured-response.ts; src/services/payment.service.ts; tests/</a:t>
            </a:r>
          </a:p>
          <a:p>
            <a:r>
              <a:t>Animation: automatic native fade entrance, fade slide transition and looping animated signal graphic. Play in PowerPoint Slide Show. Charts with example amounts are illustrative, not measured outcomes.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feature inventory: account creation/rename/archive; separate cash and payment wallet semantics; manual categorized transactions and confidence display; pagination/filtering; CSV file and row limits, mapping and preview; budget creation/edit, mixed-currency normalization and AI suggestions; tuition paid and scholarship tracking, monthly funding plans and readiness; educational credit profile and country-specific checklist; FX charts/provider comparisons, locked quotes and reviewed legacy sandbox execution; unified internal/card/manual/external payment requests and beneficiary approvals; saved card management; payment statuses, cancellation, receipts, ledger and audit activity; AI providers, personal keys, selection and tests; family invitation acceptance; automatic alerts and user reminders; subscription quotas, monthly/annual sandbox checkout, change history and cancellation; support reports; profile photo/name/email, password reset/change, locale/country/currency/time zone/theme/notifications; data export and account closure. The mini bars are illustrative visual cues.</a:t>
            </a:r>
          </a:p>
          <a:p>
            <a:endParaRPr/>
          </a:p>
          <a:p>
            <a:r>
              <a:t>Repository evidence: src/actions/; src/components/accounts/; src/components/tuition/; src/components/budget/; src/components/payments/; src/components/layout/utility-pages.tsx; src/components/settings/platform-panels.tsx</a:t>
            </a:r>
          </a:p>
          <a:p>
            <a:r>
              <a:t>Animation: automatic native fade entrance, fade slide transition and looping animated signal graphic. Play in PowerPoint Slide Show. Charts with example amounts are illustrative, not measured outcomes.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Parent functions include linking and revocation, configurable visibility, parent-owned financial accounts and wallet transfers, transaction recording and CSV imports under role ownership, approval decisions and history, beneficiary decisions, controls for tuition/conversion, caps and thresholds, non-beneficiary policy and category limits. Strictest applicable parent policy wins and can only tighten administrator ceilings. Parent AI actions are restricted by the role catalog; the model does not approve by itself. Parent access to automatic alerts respects visibility. Parent subscriptions, cards, models and preferences share the customer workflow. Illustrative bars show nested policy constraints, not measured amounts.</a:t>
            </a:r>
          </a:p>
          <a:p>
            <a:endParaRPr/>
          </a:p>
          <a:p>
            <a:r>
              <a:t>Repository evidence: src/actions/parent.actions.ts; src/services/parent-controls.service.ts; src/services/payment.service.ts; src/ai/action-catalog.ts; src/components/family/family-page.tsx; src/services/automatic-alerts.service.ts</a:t>
            </a:r>
          </a:p>
          <a:p>
            <a:r>
              <a:t>Animation: automatic native fade entrance, fade slide transition and looping animated signal graphic. Play in PowerPoint Slide Show. Charts with example amounts are illustrative, not measured outcomes.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Administrator features verified against admin.actions.ts, platform.actions.ts, payment.actions.ts, admin-page.tsx and financial-config.tsx. Moderator delegations cover reports, team, agent, models, users, finance and catalog; access is individually checked. Team editing includes publishing, designation and CEO designation, profile photo and limited moderator self-edit. Settlement actions are role restricted. Financial controls include risk caps, provider and route settings and country-specific credit education. Reporting and evidence are application artifacts, not independent compliance certification.</a:t>
            </a:r>
          </a:p>
          <a:p>
            <a:endParaRPr/>
          </a:p>
          <a:p>
            <a:r>
              <a:t>Repository evidence: src/actions/admin.actions.ts; src/actions/platform.actions.ts; src/actions/payment.actions.ts; src/components/admin/; src/lib/admin-permissions.ts; src/components/layout/evidence-page.tsx</a:t>
            </a:r>
          </a:p>
          <a:p>
            <a:r>
              <a:t>Animation: automatic native fade entrance, fade slide transition and looping animated signal graphic. Play in PowerPoint Slide Show. Charts with example amounts are illustrative, not measured outcomes.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claims are code-level controls, not a certification. session.ts uses HS256, 8-hour JWT expiry, httpOnly, SameSite lax and production secure cookies; auth.ts verifies session_version. Passwords use bcrypt. secrets.ts encrypts AI keys using AES-256-GCM. Parent permissions govern disclosure. Avatar validation in current src/lib/avatar.ts accepts PNG/JPEG/WebP data URLs, checks signatures and enforces 300,000 bytes; README describes a different limit, so the slide deliberately makes no size claim. Profile export is capped per table and is not an exhaustive privacy portability certification. Account closure changes status and revokes sessions/links; it is not an erasure promise. AI adapters send selected conversational/tool context to the configured provider. No claim is made that all financial data is encrypted at rest. Legacy sandbox transfer uses locked quotes and single-use execution tokens. Unified payment path uses idempotency, transactional locking and policy checks. No fresh audit was run for this deck.</a:t>
            </a:r>
          </a:p>
          <a:p>
            <a:endParaRPr/>
          </a:p>
          <a:p>
            <a:r>
              <a:t>Repository evidence: src/lib/session.ts; src/lib/auth.ts; src/lib/secrets.ts; src/lib/avatar.ts; src/lib/permissions.ts; src/lib/risk-engine.ts; src/actions/user.actions.ts; src/services/sandbox-payment.service.ts; src/services/payment.service.ts; src/ai/</a:t>
            </a:r>
          </a:p>
          <a:p>
            <a:r>
              <a:t>Animation: automatic native fade entrance, fade slide transition and looping animated signal graphic. Play in PowerPoint Slide Show. Charts with example amounts are illustrative, not measured outcomes.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demo avatars and suggested role placeholders, explicitly requested by the user. They do not identify actual repository contributors and must not be presented as verified authorship. To replace a portrait, select the circular picture and use Change Picture. The PNG contains a circular portrait with transparent corners; apply Crop to Shape &gt; Oval to any replacement photo. All name and role fields are normal editable PowerPoint text boxes.</a:t>
            </a:r>
          </a:p>
          <a:p>
            <a:endParaRPr/>
          </a:p>
          <a:p>
            <a:r>
              <a:t>Repository evidence: User instruction: keep developer details demo for manual replacement; README.md project identity</a:t>
            </a:r>
          </a:p>
          <a:p>
            <a:r>
              <a:t>Animation: automatic native fade entrance, fade slide transition and looping animated signal graphic. Play in PowerPoint Slide Show. Charts with example amounts are illustrative, not measured outcomes.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E2B"/>
        </a:solidFill>
        <a:effectLst/>
      </p:bgPr>
    </p:bg>
    <p:spTree>
      <p:nvGrpSpPr>
        <p:cNvPr id="1" name=""/>
        <p:cNvGrpSpPr/>
        <p:nvPr/>
      </p:nvGrpSpPr>
      <p:grpSpPr>
        <a:xfrm>
          <a:off x="0" y="0"/>
          <a:ext cx="0" cy="0"/>
          <a:chOff x="0" y="0"/>
          <a:chExt cx="0" cy="0"/>
        </a:xfrm>
      </p:grpSpPr>
      <p:sp>
        <p:nvSpPr>
          <p:cNvPr id="2" name="TextBox 1"/>
          <p:cNvSpPr txBox="1"/>
          <p:nvPr/>
        </p:nvSpPr>
        <p:spPr>
          <a:xfrm>
            <a:off x="676656" y="1645920"/>
            <a:ext cx="10789920" cy="914400"/>
          </a:xfrm>
          <a:prstGeom prst="rect">
            <a:avLst/>
          </a:prstGeom>
          <a:noFill/>
        </p:spPr>
        <p:txBody>
          <a:bodyPr wrap="square" lIns="0" tIns="0" rIns="0" bIns="0">
            <a:spAutoFit/>
          </a:bodyPr>
          <a:lstStyle/>
          <a:p>
            <a:pPr>
              <a:spcAft>
                <a:spcPts val="700"/>
              </a:spcAft>
              <a:defRPr sz="5800" b="1">
                <a:solidFill>
                  <a:srgbClr val="F3F7F6"/>
                </a:solidFill>
                <a:latin typeface="Aptos"/>
              </a:defRPr>
            </a:pPr>
            <a:r>
              <a:t>FinBridge AI</a:t>
            </a:r>
          </a:p>
        </p:txBody>
      </p:sp>
      <p:sp>
        <p:nvSpPr>
          <p:cNvPr id="3" name="TextBox 2"/>
          <p:cNvSpPr txBox="1"/>
          <p:nvPr/>
        </p:nvSpPr>
        <p:spPr>
          <a:xfrm>
            <a:off x="731520" y="2779776"/>
            <a:ext cx="10515600" cy="960120"/>
          </a:xfrm>
          <a:prstGeom prst="rect">
            <a:avLst/>
          </a:prstGeom>
          <a:noFill/>
        </p:spPr>
        <p:txBody>
          <a:bodyPr wrap="square" lIns="0" tIns="0" rIns="0" bIns="0">
            <a:spAutoFit/>
          </a:bodyPr>
          <a:lstStyle/>
          <a:p>
            <a:pPr>
              <a:spcAft>
                <a:spcPts val="700"/>
              </a:spcAft>
              <a:defRPr sz="2500" b="0">
                <a:solidFill>
                  <a:srgbClr val="A8BCC6"/>
                </a:solidFill>
                <a:latin typeface="Aptos"/>
              </a:defRPr>
            </a:pPr>
            <a:r>
              <a:t>An AI financial copilot connecting international students and families through smarter planning and safer cross-border finance.</a:t>
            </a:r>
          </a:p>
        </p:txBody>
      </p:sp>
      <p:pic>
        <p:nvPicPr>
          <p:cNvPr id="4" name="Picture 3" descr="signal-01.gif"/>
          <p:cNvPicPr>
            <a:picLocks noChangeAspect="1"/>
          </p:cNvPicPr>
          <p:nvPr/>
        </p:nvPicPr>
        <p:blipFill>
          <a:blip r:embed="rId3"/>
          <a:stretch>
            <a:fillRect/>
          </a:stretch>
        </p:blipFill>
        <p:spPr>
          <a:xfrm>
            <a:off x="6766560" y="4114800"/>
            <a:ext cx="4389120" cy="1783080"/>
          </a:xfrm>
          <a:prstGeom prst="rect">
            <a:avLst/>
          </a:prstGeom>
        </p:spPr>
      </p:pic>
      <p:sp>
        <p:nvSpPr>
          <p:cNvPr id="6" name="Rectangle 5"/>
          <p:cNvSpPr/>
          <p:nvPr/>
        </p:nvSpPr>
        <p:spPr>
          <a:xfrm>
            <a:off x="932688" y="4663440"/>
            <a:ext cx="91440" cy="1097280"/>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847088" y="4663440"/>
            <a:ext cx="91440" cy="1097280"/>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61488" y="4663440"/>
            <a:ext cx="91440" cy="1097280"/>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4937760"/>
            <a:ext cx="2286000" cy="91440"/>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650"/>
                                  <p:tgtEl>
                                    <p:spTgt spid="4"/>
                                  </p:tgtEl>
                                </p:cBhvr>
                              </p:animEffect>
                            </p:childTnLst>
                          </p:cTn>
                        </p:par>
                      </p:childTnLst>
                    </p:cTn>
                  </p:par>
                </p:childTnLst>
              </p:cTn>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E2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700"/>
              </a:spcAft>
              <a:defRPr sz="1000" b="1">
                <a:solidFill>
                  <a:srgbClr val="47DDC0"/>
                </a:solidFill>
                <a:latin typeface="Aptos"/>
              </a:defRPr>
            </a:pPr>
            <a:r>
              <a:t>01 / PROBLEM STATEMENT</a:t>
            </a:r>
          </a:p>
        </p:txBody>
      </p:sp>
      <p:sp>
        <p:nvSpPr>
          <p:cNvPr id="3" name="TextBox 2"/>
          <p:cNvSpPr txBox="1"/>
          <p:nvPr/>
        </p:nvSpPr>
        <p:spPr>
          <a:xfrm>
            <a:off x="502920" y="713232"/>
            <a:ext cx="11064240" cy="594360"/>
          </a:xfrm>
          <a:prstGeom prst="rect">
            <a:avLst/>
          </a:prstGeom>
          <a:noFill/>
        </p:spPr>
        <p:txBody>
          <a:bodyPr wrap="square" lIns="0" tIns="0" rIns="0" bIns="0">
            <a:spAutoFit/>
          </a:bodyPr>
          <a:lstStyle/>
          <a:p>
            <a:pPr>
              <a:spcAft>
                <a:spcPts val="700"/>
              </a:spcAft>
              <a:defRPr sz="3200" b="1">
                <a:solidFill>
                  <a:srgbClr val="F3F7F6"/>
                </a:solidFill>
                <a:latin typeface="Aptos"/>
              </a:defRPr>
            </a:pPr>
            <a:r>
              <a:t>Studying abroad makes money hard to coordinate.</a:t>
            </a:r>
          </a:p>
        </p:txBody>
      </p:sp>
      <p:sp>
        <p:nvSpPr>
          <p:cNvPr id="4" name="TextBox 3"/>
          <p:cNvSpPr txBox="1"/>
          <p:nvPr/>
        </p:nvSpPr>
        <p:spPr>
          <a:xfrm>
            <a:off x="530352" y="1362456"/>
            <a:ext cx="10927080" cy="502920"/>
          </a:xfrm>
          <a:prstGeom prst="rect">
            <a:avLst/>
          </a:prstGeom>
          <a:noFill/>
        </p:spPr>
        <p:txBody>
          <a:bodyPr wrap="square" lIns="0" tIns="0" rIns="0" bIns="0">
            <a:spAutoFit/>
          </a:bodyPr>
          <a:lstStyle/>
          <a:p>
            <a:pPr>
              <a:spcAft>
                <a:spcPts val="700"/>
              </a:spcAft>
              <a:defRPr sz="1400" b="0">
                <a:solidFill>
                  <a:srgbClr val="A8BCC6"/>
                </a:solidFill>
                <a:latin typeface="Aptos"/>
              </a:defRPr>
            </a:pPr>
            <a:r>
              <a:t>Different currencies, payment deadlines and family expectations create one connected planning problem.</a:t>
            </a:r>
          </a:p>
        </p:txBody>
      </p:sp>
      <p:sp>
        <p:nvSpPr>
          <p:cNvPr id="5" name="Rectangle 4"/>
          <p:cNvSpPr/>
          <p:nvPr/>
        </p:nvSpPr>
        <p:spPr>
          <a:xfrm>
            <a:off x="502920" y="6437376"/>
            <a:ext cx="11155680" cy="10972"/>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547104"/>
            <a:ext cx="9144000" cy="182880"/>
          </a:xfrm>
          <a:prstGeom prst="rect">
            <a:avLst/>
          </a:prstGeom>
          <a:noFill/>
        </p:spPr>
        <p:txBody>
          <a:bodyPr wrap="square" lIns="0" tIns="0" rIns="0" bIns="0">
            <a:spAutoFit/>
          </a:bodyPr>
          <a:lstStyle/>
          <a:p>
            <a:pPr>
              <a:spcAft>
                <a:spcPts val="700"/>
              </a:spcAft>
              <a:defRPr sz="900" b="0">
                <a:solidFill>
                  <a:srgbClr val="A8BCC6"/>
                </a:solidFill>
                <a:latin typeface="Aptos"/>
              </a:defRPr>
            </a:pPr>
            <a:r>
              <a:t>FINBRIDGE AI  /  PROJECT PRESENTATION</a:t>
            </a:r>
          </a:p>
        </p:txBody>
      </p:sp>
      <p:sp>
        <p:nvSpPr>
          <p:cNvPr id="7" name="TextBox 6"/>
          <p:cNvSpPr txBox="1"/>
          <p:nvPr/>
        </p:nvSpPr>
        <p:spPr>
          <a:xfrm>
            <a:off x="10698480" y="6510528"/>
            <a:ext cx="914400" cy="228600"/>
          </a:xfrm>
          <a:prstGeom prst="rect">
            <a:avLst/>
          </a:prstGeom>
          <a:noFill/>
        </p:spPr>
        <p:txBody>
          <a:bodyPr wrap="square" lIns="0" tIns="0" rIns="0" bIns="0">
            <a:spAutoFit/>
          </a:bodyPr>
          <a:lstStyle/>
          <a:p>
            <a:pPr algn="r">
              <a:spcAft>
                <a:spcPts val="700"/>
              </a:spcAft>
              <a:defRPr sz="1000" b="0">
                <a:solidFill>
                  <a:srgbClr val="A8BCC6"/>
                </a:solidFill>
                <a:latin typeface="Aptos"/>
              </a:defRPr>
            </a:pPr>
            <a:r>
              <a:t>02 / 10</a:t>
            </a:r>
          </a:p>
        </p:txBody>
      </p:sp>
      <p:pic>
        <p:nvPicPr>
          <p:cNvPr id="8" name="Picture 7" descr="signal-01.gif"/>
          <p:cNvPicPr>
            <a:picLocks noChangeAspect="1"/>
          </p:cNvPicPr>
          <p:nvPr/>
        </p:nvPicPr>
        <p:blipFill>
          <a:blip r:embed="rId3"/>
          <a:stretch>
            <a:fillRect/>
          </a:stretch>
        </p:blipFill>
        <p:spPr>
          <a:xfrm>
            <a:off x="10515600" y="109728"/>
            <a:ext cx="1143000" cy="466344"/>
          </a:xfrm>
          <a:prstGeom prst="rect">
            <a:avLst/>
          </a:prstGeom>
        </p:spPr>
      </p:pic>
      <p:sp>
        <p:nvSpPr>
          <p:cNvPr id="9" name="Rounded Rectangle 8"/>
          <p:cNvSpPr/>
          <p:nvPr/>
        </p:nvSpPr>
        <p:spPr>
          <a:xfrm>
            <a:off x="548640" y="1965960"/>
            <a:ext cx="5440680" cy="1024128"/>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5074920" cy="274320"/>
          </a:xfrm>
          <a:prstGeom prst="rect">
            <a:avLst/>
          </a:prstGeom>
          <a:noFill/>
        </p:spPr>
        <p:txBody>
          <a:bodyPr wrap="square" lIns="0" tIns="0" rIns="0" bIns="0">
            <a:spAutoFit/>
          </a:bodyPr>
          <a:lstStyle/>
          <a:p>
            <a:pPr>
              <a:spcAft>
                <a:spcPts val="700"/>
              </a:spcAft>
              <a:defRPr sz="1800" b="1">
                <a:solidFill>
                  <a:srgbClr val="F3F7F6"/>
                </a:solidFill>
                <a:latin typeface="Aptos"/>
              </a:defRPr>
            </a:pPr>
            <a:r>
              <a:t>Fragmented money</a:t>
            </a:r>
          </a:p>
        </p:txBody>
      </p:sp>
      <p:sp>
        <p:nvSpPr>
          <p:cNvPr id="11" name="TextBox 10"/>
          <p:cNvSpPr txBox="1"/>
          <p:nvPr/>
        </p:nvSpPr>
        <p:spPr>
          <a:xfrm>
            <a:off x="713232" y="2450591"/>
            <a:ext cx="5074920" cy="475488"/>
          </a:xfrm>
          <a:prstGeom prst="rect">
            <a:avLst/>
          </a:prstGeom>
          <a:noFill/>
        </p:spPr>
        <p:txBody>
          <a:bodyPr wrap="square" lIns="0" tIns="0" rIns="0" bIns="0">
            <a:spAutoFit/>
          </a:bodyPr>
          <a:lstStyle/>
          <a:p>
            <a:pPr>
              <a:spcAft>
                <a:spcPts val="700"/>
              </a:spcAft>
              <a:defRPr sz="1400" b="0">
                <a:solidFill>
                  <a:srgbClr val="A8BCC6"/>
                </a:solidFill>
                <a:latin typeface="Aptos"/>
              </a:defRPr>
            </a:pPr>
            <a:r>
              <a:t>Balances and expenses are spread across accounts and currencies.</a:t>
            </a:r>
          </a:p>
        </p:txBody>
      </p:sp>
      <p:sp>
        <p:nvSpPr>
          <p:cNvPr id="12" name="Rounded Rectangle 11"/>
          <p:cNvSpPr/>
          <p:nvPr/>
        </p:nvSpPr>
        <p:spPr>
          <a:xfrm>
            <a:off x="6172200" y="1965960"/>
            <a:ext cx="5440680" cy="1024128"/>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36792" y="2093976"/>
            <a:ext cx="5074920" cy="274320"/>
          </a:xfrm>
          <a:prstGeom prst="rect">
            <a:avLst/>
          </a:prstGeom>
          <a:noFill/>
        </p:spPr>
        <p:txBody>
          <a:bodyPr wrap="square" lIns="0" tIns="0" rIns="0" bIns="0">
            <a:spAutoFit/>
          </a:bodyPr>
          <a:lstStyle/>
          <a:p>
            <a:pPr>
              <a:spcAft>
                <a:spcPts val="700"/>
              </a:spcAft>
              <a:defRPr sz="1800" b="1">
                <a:solidFill>
                  <a:srgbClr val="F3F7F6"/>
                </a:solidFill>
                <a:latin typeface="Aptos"/>
              </a:defRPr>
            </a:pPr>
            <a:r>
              <a:t>Uncertain tuition readiness</a:t>
            </a:r>
          </a:p>
        </p:txBody>
      </p:sp>
      <p:sp>
        <p:nvSpPr>
          <p:cNvPr id="14" name="TextBox 13"/>
          <p:cNvSpPr txBox="1"/>
          <p:nvPr/>
        </p:nvSpPr>
        <p:spPr>
          <a:xfrm>
            <a:off x="6336792" y="2450591"/>
            <a:ext cx="5074920" cy="475488"/>
          </a:xfrm>
          <a:prstGeom prst="rect">
            <a:avLst/>
          </a:prstGeom>
          <a:noFill/>
        </p:spPr>
        <p:txBody>
          <a:bodyPr wrap="square" lIns="0" tIns="0" rIns="0" bIns="0">
            <a:spAutoFit/>
          </a:bodyPr>
          <a:lstStyle/>
          <a:p>
            <a:pPr>
              <a:spcAft>
                <a:spcPts val="700"/>
              </a:spcAft>
              <a:defRPr sz="1400" b="0">
                <a:solidFill>
                  <a:srgbClr val="A8BCC6"/>
                </a:solidFill>
                <a:latin typeface="Aptos"/>
              </a:defRPr>
            </a:pPr>
            <a:r>
              <a:t>An account balance alone ignores scholarships, future income and living costs.</a:t>
            </a:r>
          </a:p>
        </p:txBody>
      </p:sp>
      <p:sp>
        <p:nvSpPr>
          <p:cNvPr id="15" name="Rounded Rectangle 14"/>
          <p:cNvSpPr/>
          <p:nvPr/>
        </p:nvSpPr>
        <p:spPr>
          <a:xfrm>
            <a:off x="548640" y="3163824"/>
            <a:ext cx="5440680" cy="1024128"/>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3291840"/>
            <a:ext cx="5074920" cy="274320"/>
          </a:xfrm>
          <a:prstGeom prst="rect">
            <a:avLst/>
          </a:prstGeom>
          <a:noFill/>
        </p:spPr>
        <p:txBody>
          <a:bodyPr wrap="square" lIns="0" tIns="0" rIns="0" bIns="0">
            <a:spAutoFit/>
          </a:bodyPr>
          <a:lstStyle/>
          <a:p>
            <a:pPr>
              <a:spcAft>
                <a:spcPts val="700"/>
              </a:spcAft>
              <a:defRPr sz="1800" b="1">
                <a:solidFill>
                  <a:srgbClr val="F3F7F6"/>
                </a:solidFill>
                <a:latin typeface="Aptos"/>
              </a:defRPr>
            </a:pPr>
            <a:r>
              <a:t>Opaque transfer costs</a:t>
            </a:r>
          </a:p>
        </p:txBody>
      </p:sp>
      <p:sp>
        <p:nvSpPr>
          <p:cNvPr id="17" name="TextBox 16"/>
          <p:cNvSpPr txBox="1"/>
          <p:nvPr/>
        </p:nvSpPr>
        <p:spPr>
          <a:xfrm>
            <a:off x="713232" y="3648456"/>
            <a:ext cx="5074920" cy="475488"/>
          </a:xfrm>
          <a:prstGeom prst="rect">
            <a:avLst/>
          </a:prstGeom>
          <a:noFill/>
        </p:spPr>
        <p:txBody>
          <a:bodyPr wrap="square" lIns="0" tIns="0" rIns="0" bIns="0">
            <a:spAutoFit/>
          </a:bodyPr>
          <a:lstStyle/>
          <a:p>
            <a:pPr>
              <a:spcAft>
                <a:spcPts val="700"/>
              </a:spcAft>
              <a:defRPr sz="1400" b="0">
                <a:solidFill>
                  <a:srgbClr val="A8BCC6"/>
                </a:solidFill>
                <a:latin typeface="Aptos"/>
              </a:defRPr>
            </a:pPr>
            <a:r>
              <a:t>Fixed fees, percentage fees and FX spreads complicate comparisons.</a:t>
            </a:r>
          </a:p>
        </p:txBody>
      </p:sp>
      <p:sp>
        <p:nvSpPr>
          <p:cNvPr id="18" name="Rounded Rectangle 17"/>
          <p:cNvSpPr/>
          <p:nvPr/>
        </p:nvSpPr>
        <p:spPr>
          <a:xfrm>
            <a:off x="6172200" y="3163824"/>
            <a:ext cx="5440680" cy="1024128"/>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36792" y="3291840"/>
            <a:ext cx="5074920" cy="274320"/>
          </a:xfrm>
          <a:prstGeom prst="rect">
            <a:avLst/>
          </a:prstGeom>
          <a:noFill/>
        </p:spPr>
        <p:txBody>
          <a:bodyPr wrap="square" lIns="0" tIns="0" rIns="0" bIns="0">
            <a:spAutoFit/>
          </a:bodyPr>
          <a:lstStyle/>
          <a:p>
            <a:pPr>
              <a:spcAft>
                <a:spcPts val="700"/>
              </a:spcAft>
              <a:defRPr sz="1800" b="1">
                <a:solidFill>
                  <a:srgbClr val="F3F7F6"/>
                </a:solidFill>
                <a:latin typeface="Aptos"/>
              </a:defRPr>
            </a:pPr>
            <a:r>
              <a:t>Family coordination gaps</a:t>
            </a:r>
          </a:p>
        </p:txBody>
      </p:sp>
      <p:sp>
        <p:nvSpPr>
          <p:cNvPr id="20" name="TextBox 19"/>
          <p:cNvSpPr txBox="1"/>
          <p:nvPr/>
        </p:nvSpPr>
        <p:spPr>
          <a:xfrm>
            <a:off x="6336792" y="3648456"/>
            <a:ext cx="5074920" cy="475488"/>
          </a:xfrm>
          <a:prstGeom prst="rect">
            <a:avLst/>
          </a:prstGeom>
          <a:noFill/>
        </p:spPr>
        <p:txBody>
          <a:bodyPr wrap="square" lIns="0" tIns="0" rIns="0" bIns="0">
            <a:spAutoFit/>
          </a:bodyPr>
          <a:lstStyle/>
          <a:p>
            <a:pPr>
              <a:spcAft>
                <a:spcPts val="700"/>
              </a:spcAft>
              <a:defRPr sz="1400" b="0">
                <a:solidFill>
                  <a:srgbClr val="A8BCC6"/>
                </a:solidFill>
                <a:latin typeface="Aptos"/>
              </a:defRPr>
            </a:pPr>
            <a:r>
              <a:t>Students need independence; parents need permission-based visibility and approvals.</a:t>
            </a:r>
          </a:p>
        </p:txBody>
      </p:sp>
      <p:sp>
        <p:nvSpPr>
          <p:cNvPr id="21" name="Rounded Rectangle 20"/>
          <p:cNvSpPr/>
          <p:nvPr/>
        </p:nvSpPr>
        <p:spPr>
          <a:xfrm>
            <a:off x="548640" y="4937760"/>
            <a:ext cx="3563112" cy="722376"/>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5047488"/>
            <a:ext cx="3380231" cy="219456"/>
          </a:xfrm>
          <a:prstGeom prst="rect">
            <a:avLst/>
          </a:prstGeom>
          <a:noFill/>
        </p:spPr>
        <p:txBody>
          <a:bodyPr wrap="square" lIns="0" tIns="0" rIns="0" bIns="0">
            <a:spAutoFit/>
          </a:bodyPr>
          <a:lstStyle/>
          <a:p>
            <a:pPr algn="ctr">
              <a:spcAft>
                <a:spcPts val="700"/>
              </a:spcAft>
              <a:defRPr sz="1200" b="1">
                <a:solidFill>
                  <a:srgbClr val="F3F7F6"/>
                </a:solidFill>
                <a:latin typeface="Aptos"/>
              </a:defRPr>
            </a:pPr>
            <a:r>
              <a:t>HOME FUNDING</a:t>
            </a:r>
          </a:p>
        </p:txBody>
      </p:sp>
      <p:sp>
        <p:nvSpPr>
          <p:cNvPr id="23" name="TextBox 22"/>
          <p:cNvSpPr txBox="1"/>
          <p:nvPr/>
        </p:nvSpPr>
        <p:spPr>
          <a:xfrm>
            <a:off x="621792" y="5321808"/>
            <a:ext cx="3416807" cy="201168"/>
          </a:xfrm>
          <a:prstGeom prst="rect">
            <a:avLst/>
          </a:prstGeom>
          <a:noFill/>
        </p:spPr>
        <p:txBody>
          <a:bodyPr wrap="square" lIns="0" tIns="0" rIns="0" bIns="0">
            <a:spAutoFit/>
          </a:bodyPr>
          <a:lstStyle/>
          <a:p>
            <a:pPr algn="ctr">
              <a:spcAft>
                <a:spcPts val="700"/>
              </a:spcAft>
              <a:defRPr sz="1000" b="0">
                <a:solidFill>
                  <a:srgbClr val="A8BCC6"/>
                </a:solidFill>
                <a:latin typeface="Aptos"/>
              </a:defRPr>
            </a:pPr>
            <a:r>
              <a:t>Multiple currencies</a:t>
            </a:r>
          </a:p>
        </p:txBody>
      </p:sp>
      <p:sp>
        <p:nvSpPr>
          <p:cNvPr id="24" name="TextBox 23"/>
          <p:cNvSpPr txBox="1"/>
          <p:nvPr/>
        </p:nvSpPr>
        <p:spPr>
          <a:xfrm>
            <a:off x="4139183" y="5120640"/>
            <a:ext cx="164592" cy="320040"/>
          </a:xfrm>
          <a:prstGeom prst="rect">
            <a:avLst/>
          </a:prstGeom>
          <a:noFill/>
        </p:spPr>
        <p:txBody>
          <a:bodyPr wrap="square" lIns="0" tIns="0" rIns="0" bIns="0">
            <a:spAutoFit/>
          </a:bodyPr>
          <a:lstStyle/>
          <a:p>
            <a:pPr>
              <a:spcAft>
                <a:spcPts val="700"/>
              </a:spcAft>
              <a:defRPr sz="2100" b="0">
                <a:solidFill>
                  <a:srgbClr val="47DDC0"/>
                </a:solidFill>
                <a:latin typeface="Aptos"/>
              </a:defRPr>
            </a:pPr>
            <a:r>
              <a:t>›</a:t>
            </a:r>
          </a:p>
        </p:txBody>
      </p:sp>
      <p:sp>
        <p:nvSpPr>
          <p:cNvPr id="25" name="Rounded Rectangle 24"/>
          <p:cNvSpPr/>
          <p:nvPr/>
        </p:nvSpPr>
        <p:spPr>
          <a:xfrm>
            <a:off x="4322064" y="4937760"/>
            <a:ext cx="3563112" cy="722376"/>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13504" y="5047488"/>
            <a:ext cx="3380231" cy="219456"/>
          </a:xfrm>
          <a:prstGeom prst="rect">
            <a:avLst/>
          </a:prstGeom>
          <a:noFill/>
        </p:spPr>
        <p:txBody>
          <a:bodyPr wrap="square" lIns="0" tIns="0" rIns="0" bIns="0">
            <a:spAutoFit/>
          </a:bodyPr>
          <a:lstStyle/>
          <a:p>
            <a:pPr algn="ctr">
              <a:spcAft>
                <a:spcPts val="700"/>
              </a:spcAft>
              <a:defRPr sz="1200" b="1">
                <a:solidFill>
                  <a:srgbClr val="F3F7F6"/>
                </a:solidFill>
                <a:latin typeface="Aptos"/>
              </a:defRPr>
            </a:pPr>
            <a:r>
              <a:t>STUDENT WALLET</a:t>
            </a:r>
          </a:p>
        </p:txBody>
      </p:sp>
      <p:sp>
        <p:nvSpPr>
          <p:cNvPr id="27" name="TextBox 26"/>
          <p:cNvSpPr txBox="1"/>
          <p:nvPr/>
        </p:nvSpPr>
        <p:spPr>
          <a:xfrm>
            <a:off x="4395216" y="5321808"/>
            <a:ext cx="3416807" cy="201168"/>
          </a:xfrm>
          <a:prstGeom prst="rect">
            <a:avLst/>
          </a:prstGeom>
          <a:noFill/>
        </p:spPr>
        <p:txBody>
          <a:bodyPr wrap="square" lIns="0" tIns="0" rIns="0" bIns="0">
            <a:spAutoFit/>
          </a:bodyPr>
          <a:lstStyle/>
          <a:p>
            <a:pPr algn="ctr">
              <a:spcAft>
                <a:spcPts val="700"/>
              </a:spcAft>
              <a:defRPr sz="1000" b="0">
                <a:solidFill>
                  <a:srgbClr val="A8BCC6"/>
                </a:solidFill>
                <a:latin typeface="Aptos"/>
              </a:defRPr>
            </a:pPr>
            <a:r>
              <a:t>Living costs</a:t>
            </a:r>
          </a:p>
        </p:txBody>
      </p:sp>
      <p:sp>
        <p:nvSpPr>
          <p:cNvPr id="28" name="TextBox 27"/>
          <p:cNvSpPr txBox="1"/>
          <p:nvPr/>
        </p:nvSpPr>
        <p:spPr>
          <a:xfrm>
            <a:off x="7912607" y="5120640"/>
            <a:ext cx="164592" cy="320040"/>
          </a:xfrm>
          <a:prstGeom prst="rect">
            <a:avLst/>
          </a:prstGeom>
          <a:noFill/>
        </p:spPr>
        <p:txBody>
          <a:bodyPr wrap="square" lIns="0" tIns="0" rIns="0" bIns="0">
            <a:spAutoFit/>
          </a:bodyPr>
          <a:lstStyle/>
          <a:p>
            <a:pPr>
              <a:spcAft>
                <a:spcPts val="700"/>
              </a:spcAft>
              <a:defRPr sz="2100" b="0">
                <a:solidFill>
                  <a:srgbClr val="47DDC0"/>
                </a:solidFill>
                <a:latin typeface="Aptos"/>
              </a:defRPr>
            </a:pPr>
            <a:r>
              <a:t>›</a:t>
            </a:r>
          </a:p>
        </p:txBody>
      </p:sp>
      <p:sp>
        <p:nvSpPr>
          <p:cNvPr id="29" name="Rounded Rectangle 28"/>
          <p:cNvSpPr/>
          <p:nvPr/>
        </p:nvSpPr>
        <p:spPr>
          <a:xfrm>
            <a:off x="8095488" y="4937760"/>
            <a:ext cx="3563112" cy="722376"/>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186928" y="5047488"/>
            <a:ext cx="3380231" cy="219456"/>
          </a:xfrm>
          <a:prstGeom prst="rect">
            <a:avLst/>
          </a:prstGeom>
          <a:noFill/>
        </p:spPr>
        <p:txBody>
          <a:bodyPr wrap="square" lIns="0" tIns="0" rIns="0" bIns="0">
            <a:spAutoFit/>
          </a:bodyPr>
          <a:lstStyle/>
          <a:p>
            <a:pPr algn="ctr">
              <a:spcAft>
                <a:spcPts val="700"/>
              </a:spcAft>
              <a:defRPr sz="1200" b="1">
                <a:solidFill>
                  <a:srgbClr val="101E2B"/>
                </a:solidFill>
                <a:latin typeface="Aptos"/>
              </a:defRPr>
            </a:pPr>
            <a:r>
              <a:t>UNIVERSITY</a:t>
            </a:r>
          </a:p>
        </p:txBody>
      </p:sp>
      <p:sp>
        <p:nvSpPr>
          <p:cNvPr id="31" name="TextBox 30"/>
          <p:cNvSpPr txBox="1"/>
          <p:nvPr/>
        </p:nvSpPr>
        <p:spPr>
          <a:xfrm>
            <a:off x="8168640" y="5321808"/>
            <a:ext cx="3416807" cy="201168"/>
          </a:xfrm>
          <a:prstGeom prst="rect">
            <a:avLst/>
          </a:prstGeom>
          <a:noFill/>
        </p:spPr>
        <p:txBody>
          <a:bodyPr wrap="square" lIns="0" tIns="0" rIns="0" bIns="0">
            <a:spAutoFit/>
          </a:bodyPr>
          <a:lstStyle/>
          <a:p>
            <a:pPr algn="ctr">
              <a:spcAft>
                <a:spcPts val="700"/>
              </a:spcAft>
              <a:defRPr sz="1000" b="0">
                <a:solidFill>
                  <a:srgbClr val="101E2B"/>
                </a:solidFill>
                <a:latin typeface="Aptos"/>
              </a:defRPr>
            </a:pPr>
            <a:r>
              <a:t>Tuition deadline</a:t>
            </a:r>
          </a:p>
        </p:txBody>
      </p:sp>
      <p:sp>
        <p:nvSpPr>
          <p:cNvPr id="32" name="TextBox 31"/>
          <p:cNvSpPr txBox="1"/>
          <p:nvPr/>
        </p:nvSpPr>
        <p:spPr>
          <a:xfrm>
            <a:off x="566928" y="5925312"/>
            <a:ext cx="10058400" cy="228600"/>
          </a:xfrm>
          <a:prstGeom prst="rect">
            <a:avLst/>
          </a:prstGeom>
          <a:noFill/>
        </p:spPr>
        <p:txBody>
          <a:bodyPr wrap="square" lIns="0" tIns="0" rIns="0" bIns="0">
            <a:spAutoFit/>
          </a:bodyPr>
          <a:lstStyle/>
          <a:p>
            <a:pPr>
              <a:spcAft>
                <a:spcPts val="700"/>
              </a:spcAft>
              <a:defRPr sz="1100" b="0">
                <a:solidFill>
                  <a:srgbClr val="A8BCC6"/>
                </a:solidFill>
                <a:latin typeface="Aptos"/>
              </a:defRPr>
            </a:pPr>
            <a:r>
              <a:t>Design problem illustrated above; no external survey or market statistics are claimed.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650"/>
                                  <p:tgtEl>
                                    <p:spTgt spid="7"/>
                                  </p:tgtEl>
                                </p:cBhvr>
                              </p:animEffect>
                            </p:childTnLst>
                          </p:cTn>
                        </p:par>
                      </p:childTnLst>
                    </p:cTn>
                  </p:par>
                </p:childTnLst>
              </p:cTn>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E2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700"/>
              </a:spcAft>
              <a:defRPr sz="1000" b="1">
                <a:solidFill>
                  <a:srgbClr val="47DDC0"/>
                </a:solidFill>
                <a:latin typeface="Aptos"/>
              </a:defRPr>
            </a:pPr>
            <a:r>
              <a:t>02 / OUR SOLUTION</a:t>
            </a:r>
          </a:p>
        </p:txBody>
      </p:sp>
      <p:sp>
        <p:nvSpPr>
          <p:cNvPr id="3" name="TextBox 2"/>
          <p:cNvSpPr txBox="1"/>
          <p:nvPr/>
        </p:nvSpPr>
        <p:spPr>
          <a:xfrm>
            <a:off x="502920" y="713232"/>
            <a:ext cx="11064240" cy="594360"/>
          </a:xfrm>
          <a:prstGeom prst="rect">
            <a:avLst/>
          </a:prstGeom>
          <a:noFill/>
        </p:spPr>
        <p:txBody>
          <a:bodyPr wrap="square" lIns="0" tIns="0" rIns="0" bIns="0">
            <a:spAutoFit/>
          </a:bodyPr>
          <a:lstStyle/>
          <a:p>
            <a:pPr>
              <a:spcAft>
                <a:spcPts val="700"/>
              </a:spcAft>
              <a:defRPr sz="3200" b="1">
                <a:solidFill>
                  <a:srgbClr val="F3F7F6"/>
                </a:solidFill>
                <a:latin typeface="Aptos"/>
              </a:defRPr>
            </a:pPr>
            <a:r>
              <a:t>One workspace. A shared financial picture.</a:t>
            </a:r>
          </a:p>
        </p:txBody>
      </p:sp>
      <p:sp>
        <p:nvSpPr>
          <p:cNvPr id="4" name="TextBox 3"/>
          <p:cNvSpPr txBox="1"/>
          <p:nvPr/>
        </p:nvSpPr>
        <p:spPr>
          <a:xfrm>
            <a:off x="530352" y="1362456"/>
            <a:ext cx="10927080" cy="502920"/>
          </a:xfrm>
          <a:prstGeom prst="rect">
            <a:avLst/>
          </a:prstGeom>
          <a:noFill/>
        </p:spPr>
        <p:txBody>
          <a:bodyPr wrap="square" lIns="0" tIns="0" rIns="0" bIns="0">
            <a:spAutoFit/>
          </a:bodyPr>
          <a:lstStyle/>
          <a:p>
            <a:pPr>
              <a:spcAft>
                <a:spcPts val="700"/>
              </a:spcAft>
              <a:defRPr sz="1400" b="0">
                <a:solidFill>
                  <a:srgbClr val="A8BCC6"/>
                </a:solidFill>
                <a:latin typeface="Aptos"/>
              </a:defRPr>
            </a:pPr>
            <a:r>
              <a:t>FinBridge links student planning, family governance and operational oversight around an AI copilot.</a:t>
            </a:r>
          </a:p>
        </p:txBody>
      </p:sp>
      <p:sp>
        <p:nvSpPr>
          <p:cNvPr id="5" name="Rectangle 4"/>
          <p:cNvSpPr/>
          <p:nvPr/>
        </p:nvSpPr>
        <p:spPr>
          <a:xfrm>
            <a:off x="502920" y="6437376"/>
            <a:ext cx="11155680" cy="10972"/>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547104"/>
            <a:ext cx="9144000" cy="182880"/>
          </a:xfrm>
          <a:prstGeom prst="rect">
            <a:avLst/>
          </a:prstGeom>
          <a:noFill/>
        </p:spPr>
        <p:txBody>
          <a:bodyPr wrap="square" lIns="0" tIns="0" rIns="0" bIns="0">
            <a:spAutoFit/>
          </a:bodyPr>
          <a:lstStyle/>
          <a:p>
            <a:pPr>
              <a:spcAft>
                <a:spcPts val="700"/>
              </a:spcAft>
              <a:defRPr sz="900" b="0">
                <a:solidFill>
                  <a:srgbClr val="A8BCC6"/>
                </a:solidFill>
                <a:latin typeface="Aptos"/>
              </a:defRPr>
            </a:pPr>
            <a:r>
              <a:t>FINBRIDGE AI  /  PROJECT PRESENTATION</a:t>
            </a:r>
          </a:p>
        </p:txBody>
      </p:sp>
      <p:sp>
        <p:nvSpPr>
          <p:cNvPr id="7" name="TextBox 6"/>
          <p:cNvSpPr txBox="1"/>
          <p:nvPr/>
        </p:nvSpPr>
        <p:spPr>
          <a:xfrm>
            <a:off x="10698480" y="6510528"/>
            <a:ext cx="914400" cy="228600"/>
          </a:xfrm>
          <a:prstGeom prst="rect">
            <a:avLst/>
          </a:prstGeom>
          <a:noFill/>
        </p:spPr>
        <p:txBody>
          <a:bodyPr wrap="square" lIns="0" tIns="0" rIns="0" bIns="0">
            <a:spAutoFit/>
          </a:bodyPr>
          <a:lstStyle/>
          <a:p>
            <a:pPr algn="r">
              <a:spcAft>
                <a:spcPts val="700"/>
              </a:spcAft>
              <a:defRPr sz="1000" b="0">
                <a:solidFill>
                  <a:srgbClr val="A8BCC6"/>
                </a:solidFill>
                <a:latin typeface="Aptos"/>
              </a:defRPr>
            </a:pPr>
            <a:r>
              <a:t>03 / 10</a:t>
            </a:r>
          </a:p>
        </p:txBody>
      </p:sp>
      <p:pic>
        <p:nvPicPr>
          <p:cNvPr id="8" name="Picture 7" descr="signal-01.gif"/>
          <p:cNvPicPr>
            <a:picLocks noChangeAspect="1"/>
          </p:cNvPicPr>
          <p:nvPr/>
        </p:nvPicPr>
        <p:blipFill>
          <a:blip r:embed="rId3"/>
          <a:stretch>
            <a:fillRect/>
          </a:stretch>
        </p:blipFill>
        <p:spPr>
          <a:xfrm>
            <a:off x="10515600" y="109728"/>
            <a:ext cx="1143000" cy="466344"/>
          </a:xfrm>
          <a:prstGeom prst="rect">
            <a:avLst/>
          </a:prstGeom>
        </p:spPr>
      </p:pic>
      <p:sp>
        <p:nvSpPr>
          <p:cNvPr id="9" name="Rounded Rectangle 8"/>
          <p:cNvSpPr/>
          <p:nvPr/>
        </p:nvSpPr>
        <p:spPr>
          <a:xfrm>
            <a:off x="548640" y="1965960"/>
            <a:ext cx="3593592" cy="1920240"/>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167128"/>
            <a:ext cx="3200400"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2199132"/>
            <a:ext cx="3054096"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STUDENT</a:t>
            </a:r>
          </a:p>
        </p:txBody>
      </p:sp>
      <p:sp>
        <p:nvSpPr>
          <p:cNvPr id="12" name="TextBox 11"/>
          <p:cNvSpPr txBox="1"/>
          <p:nvPr/>
        </p:nvSpPr>
        <p:spPr>
          <a:xfrm>
            <a:off x="749808" y="2724912"/>
            <a:ext cx="3191256" cy="868680"/>
          </a:xfrm>
          <a:prstGeom prst="rect">
            <a:avLst/>
          </a:prstGeom>
          <a:noFill/>
        </p:spPr>
        <p:txBody>
          <a:bodyPr wrap="square" lIns="0" tIns="0" rIns="0" bIns="0">
            <a:spAutoFit/>
          </a:bodyPr>
          <a:lstStyle/>
          <a:p>
            <a:pPr>
              <a:spcAft>
                <a:spcPts val="700"/>
              </a:spcAft>
              <a:defRPr sz="2000" b="0">
                <a:solidFill>
                  <a:srgbClr val="F3F7F6"/>
                </a:solidFill>
                <a:latin typeface="Aptos"/>
              </a:defRPr>
            </a:pPr>
            <a:r>
              <a:t>Plan tuition, track spending, compare transfer costs and act with AI.</a:t>
            </a:r>
          </a:p>
        </p:txBody>
      </p:sp>
      <p:sp>
        <p:nvSpPr>
          <p:cNvPr id="13" name="Rounded Rectangle 12"/>
          <p:cNvSpPr/>
          <p:nvPr/>
        </p:nvSpPr>
        <p:spPr>
          <a:xfrm>
            <a:off x="4315968" y="1965960"/>
            <a:ext cx="3593592" cy="1920240"/>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498848" y="2167128"/>
            <a:ext cx="3200400" cy="283464"/>
          </a:xfrm>
          <a:prstGeom prst="roundRect">
            <a:avLst>
              <a:gd name="adj" fmla="val 12000"/>
            </a:avLst>
          </a:prstGeom>
          <a:solidFill>
            <a:srgbClr val="72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2199132"/>
            <a:ext cx="3054096"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AI COPILOT</a:t>
            </a:r>
          </a:p>
        </p:txBody>
      </p:sp>
      <p:sp>
        <p:nvSpPr>
          <p:cNvPr id="16" name="TextBox 15"/>
          <p:cNvSpPr txBox="1"/>
          <p:nvPr/>
        </p:nvSpPr>
        <p:spPr>
          <a:xfrm>
            <a:off x="4517136" y="2724912"/>
            <a:ext cx="3191256" cy="868680"/>
          </a:xfrm>
          <a:prstGeom prst="rect">
            <a:avLst/>
          </a:prstGeom>
          <a:noFill/>
        </p:spPr>
        <p:txBody>
          <a:bodyPr wrap="square" lIns="0" tIns="0" rIns="0" bIns="0">
            <a:spAutoFit/>
          </a:bodyPr>
          <a:lstStyle/>
          <a:p>
            <a:pPr>
              <a:spcAft>
                <a:spcPts val="700"/>
              </a:spcAft>
              <a:defRPr sz="2000" b="0">
                <a:solidFill>
                  <a:srgbClr val="F3F7F6"/>
                </a:solidFill>
                <a:latin typeface="Aptos"/>
              </a:defRPr>
            </a:pPr>
            <a:r>
              <a:t>Read verified data, explain options and prepare actions for review.</a:t>
            </a:r>
          </a:p>
        </p:txBody>
      </p:sp>
      <p:sp>
        <p:nvSpPr>
          <p:cNvPr id="17" name="Rounded Rectangle 16"/>
          <p:cNvSpPr/>
          <p:nvPr/>
        </p:nvSpPr>
        <p:spPr>
          <a:xfrm>
            <a:off x="8083296" y="1965960"/>
            <a:ext cx="3593592" cy="1920240"/>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66175" y="2167128"/>
            <a:ext cx="3200400" cy="283464"/>
          </a:xfrm>
          <a:prstGeom prst="roundRect">
            <a:avLst>
              <a:gd name="adj" fmla="val 12000"/>
            </a:avLst>
          </a:prstGeom>
          <a:solidFill>
            <a:srgbClr val="FFC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39327" y="2199132"/>
            <a:ext cx="3054096"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PARENT + ADMIN</a:t>
            </a:r>
          </a:p>
        </p:txBody>
      </p:sp>
      <p:sp>
        <p:nvSpPr>
          <p:cNvPr id="20" name="TextBox 19"/>
          <p:cNvSpPr txBox="1"/>
          <p:nvPr/>
        </p:nvSpPr>
        <p:spPr>
          <a:xfrm>
            <a:off x="8284464" y="2724912"/>
            <a:ext cx="3191256" cy="868680"/>
          </a:xfrm>
          <a:prstGeom prst="rect">
            <a:avLst/>
          </a:prstGeom>
          <a:noFill/>
        </p:spPr>
        <p:txBody>
          <a:bodyPr wrap="square" lIns="0" tIns="0" rIns="0" bIns="0">
            <a:spAutoFit/>
          </a:bodyPr>
          <a:lstStyle/>
          <a:p>
            <a:pPr>
              <a:spcAft>
                <a:spcPts val="700"/>
              </a:spcAft>
              <a:defRPr sz="2000" b="0">
                <a:solidFill>
                  <a:srgbClr val="F3F7F6"/>
                </a:solidFill>
                <a:latin typeface="Aptos"/>
              </a:defRPr>
            </a:pPr>
            <a:r>
              <a:t>Apply family limits, approve requests and settle sandbox payments.</a:t>
            </a:r>
          </a:p>
        </p:txBody>
      </p:sp>
      <p:sp>
        <p:nvSpPr>
          <p:cNvPr id="21" name="Rounded Rectangle 20"/>
          <p:cNvSpPr/>
          <p:nvPr/>
        </p:nvSpPr>
        <p:spPr>
          <a:xfrm>
            <a:off x="548640" y="4480560"/>
            <a:ext cx="2619756" cy="722376"/>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590288"/>
            <a:ext cx="2436876" cy="219456"/>
          </a:xfrm>
          <a:prstGeom prst="rect">
            <a:avLst/>
          </a:prstGeom>
          <a:noFill/>
        </p:spPr>
        <p:txBody>
          <a:bodyPr wrap="square" lIns="0" tIns="0" rIns="0" bIns="0">
            <a:spAutoFit/>
          </a:bodyPr>
          <a:lstStyle/>
          <a:p>
            <a:pPr algn="ctr">
              <a:spcAft>
                <a:spcPts val="700"/>
              </a:spcAft>
              <a:defRPr sz="1200" b="1">
                <a:solidFill>
                  <a:srgbClr val="F3F7F6"/>
                </a:solidFill>
                <a:latin typeface="Aptos"/>
              </a:defRPr>
            </a:pPr>
            <a:r>
              <a:t>CONNECT</a:t>
            </a:r>
          </a:p>
        </p:txBody>
      </p:sp>
      <p:sp>
        <p:nvSpPr>
          <p:cNvPr id="23" name="TextBox 22"/>
          <p:cNvSpPr txBox="1"/>
          <p:nvPr/>
        </p:nvSpPr>
        <p:spPr>
          <a:xfrm>
            <a:off x="621792" y="4864608"/>
            <a:ext cx="2473452" cy="201168"/>
          </a:xfrm>
          <a:prstGeom prst="rect">
            <a:avLst/>
          </a:prstGeom>
          <a:noFill/>
        </p:spPr>
        <p:txBody>
          <a:bodyPr wrap="square" lIns="0" tIns="0" rIns="0" bIns="0">
            <a:spAutoFit/>
          </a:bodyPr>
          <a:lstStyle/>
          <a:p>
            <a:pPr algn="ctr">
              <a:spcAft>
                <a:spcPts val="700"/>
              </a:spcAft>
              <a:defRPr sz="1000" b="0">
                <a:solidFill>
                  <a:srgbClr val="A8BCC6"/>
                </a:solidFill>
                <a:latin typeface="Aptos"/>
              </a:defRPr>
            </a:pPr>
            <a:r>
              <a:t>Wallets + transactions</a:t>
            </a:r>
          </a:p>
        </p:txBody>
      </p:sp>
      <p:sp>
        <p:nvSpPr>
          <p:cNvPr id="24" name="TextBox 23"/>
          <p:cNvSpPr txBox="1"/>
          <p:nvPr/>
        </p:nvSpPr>
        <p:spPr>
          <a:xfrm>
            <a:off x="3195828" y="4663440"/>
            <a:ext cx="164592" cy="320040"/>
          </a:xfrm>
          <a:prstGeom prst="rect">
            <a:avLst/>
          </a:prstGeom>
          <a:noFill/>
        </p:spPr>
        <p:txBody>
          <a:bodyPr wrap="square" lIns="0" tIns="0" rIns="0" bIns="0">
            <a:spAutoFit/>
          </a:bodyPr>
          <a:lstStyle/>
          <a:p>
            <a:pPr>
              <a:spcAft>
                <a:spcPts val="700"/>
              </a:spcAft>
              <a:defRPr sz="2100" b="0">
                <a:solidFill>
                  <a:srgbClr val="47DDC0"/>
                </a:solidFill>
                <a:latin typeface="Aptos"/>
              </a:defRPr>
            </a:pPr>
            <a:r>
              <a:t>›</a:t>
            </a:r>
          </a:p>
        </p:txBody>
      </p:sp>
      <p:sp>
        <p:nvSpPr>
          <p:cNvPr id="25" name="Rounded Rectangle 24"/>
          <p:cNvSpPr/>
          <p:nvPr/>
        </p:nvSpPr>
        <p:spPr>
          <a:xfrm>
            <a:off x="3378708" y="4480560"/>
            <a:ext cx="2619756" cy="722376"/>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70148" y="4590288"/>
            <a:ext cx="2436876" cy="219456"/>
          </a:xfrm>
          <a:prstGeom prst="rect">
            <a:avLst/>
          </a:prstGeom>
          <a:noFill/>
        </p:spPr>
        <p:txBody>
          <a:bodyPr wrap="square" lIns="0" tIns="0" rIns="0" bIns="0">
            <a:spAutoFit/>
          </a:bodyPr>
          <a:lstStyle/>
          <a:p>
            <a:pPr algn="ctr">
              <a:spcAft>
                <a:spcPts val="700"/>
              </a:spcAft>
              <a:defRPr sz="1200" b="1">
                <a:solidFill>
                  <a:srgbClr val="F3F7F6"/>
                </a:solidFill>
                <a:latin typeface="Aptos"/>
              </a:defRPr>
            </a:pPr>
            <a:r>
              <a:t>PLAN</a:t>
            </a:r>
          </a:p>
        </p:txBody>
      </p:sp>
      <p:sp>
        <p:nvSpPr>
          <p:cNvPr id="27" name="TextBox 26"/>
          <p:cNvSpPr txBox="1"/>
          <p:nvPr/>
        </p:nvSpPr>
        <p:spPr>
          <a:xfrm>
            <a:off x="3451860" y="4864608"/>
            <a:ext cx="2473452" cy="201168"/>
          </a:xfrm>
          <a:prstGeom prst="rect">
            <a:avLst/>
          </a:prstGeom>
          <a:noFill/>
        </p:spPr>
        <p:txBody>
          <a:bodyPr wrap="square" lIns="0" tIns="0" rIns="0" bIns="0">
            <a:spAutoFit/>
          </a:bodyPr>
          <a:lstStyle/>
          <a:p>
            <a:pPr algn="ctr">
              <a:spcAft>
                <a:spcPts val="700"/>
              </a:spcAft>
              <a:defRPr sz="1000" b="0">
                <a:solidFill>
                  <a:srgbClr val="A8BCC6"/>
                </a:solidFill>
                <a:latin typeface="Aptos"/>
              </a:defRPr>
            </a:pPr>
            <a:r>
              <a:t>Budgets + tuition</a:t>
            </a:r>
          </a:p>
        </p:txBody>
      </p:sp>
      <p:sp>
        <p:nvSpPr>
          <p:cNvPr id="28" name="TextBox 27"/>
          <p:cNvSpPr txBox="1"/>
          <p:nvPr/>
        </p:nvSpPr>
        <p:spPr>
          <a:xfrm>
            <a:off x="6025896" y="4663440"/>
            <a:ext cx="164592" cy="320040"/>
          </a:xfrm>
          <a:prstGeom prst="rect">
            <a:avLst/>
          </a:prstGeom>
          <a:noFill/>
        </p:spPr>
        <p:txBody>
          <a:bodyPr wrap="square" lIns="0" tIns="0" rIns="0" bIns="0">
            <a:spAutoFit/>
          </a:bodyPr>
          <a:lstStyle/>
          <a:p>
            <a:pPr>
              <a:spcAft>
                <a:spcPts val="700"/>
              </a:spcAft>
              <a:defRPr sz="2100" b="0">
                <a:solidFill>
                  <a:srgbClr val="47DDC0"/>
                </a:solidFill>
                <a:latin typeface="Aptos"/>
              </a:defRPr>
            </a:pPr>
            <a:r>
              <a:t>›</a:t>
            </a:r>
          </a:p>
        </p:txBody>
      </p:sp>
      <p:sp>
        <p:nvSpPr>
          <p:cNvPr id="29" name="Rounded Rectangle 28"/>
          <p:cNvSpPr/>
          <p:nvPr/>
        </p:nvSpPr>
        <p:spPr>
          <a:xfrm>
            <a:off x="6208776" y="4480560"/>
            <a:ext cx="2619756" cy="722376"/>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00216" y="4590288"/>
            <a:ext cx="2436876" cy="219456"/>
          </a:xfrm>
          <a:prstGeom prst="rect">
            <a:avLst/>
          </a:prstGeom>
          <a:noFill/>
        </p:spPr>
        <p:txBody>
          <a:bodyPr wrap="square" lIns="0" tIns="0" rIns="0" bIns="0">
            <a:spAutoFit/>
          </a:bodyPr>
          <a:lstStyle/>
          <a:p>
            <a:pPr algn="ctr">
              <a:spcAft>
                <a:spcPts val="700"/>
              </a:spcAft>
              <a:defRPr sz="1200" b="1">
                <a:solidFill>
                  <a:srgbClr val="F3F7F6"/>
                </a:solidFill>
                <a:latin typeface="Aptos"/>
              </a:defRPr>
            </a:pPr>
            <a:r>
              <a:t>REVIEW</a:t>
            </a:r>
          </a:p>
        </p:txBody>
      </p:sp>
      <p:sp>
        <p:nvSpPr>
          <p:cNvPr id="31" name="TextBox 30"/>
          <p:cNvSpPr txBox="1"/>
          <p:nvPr/>
        </p:nvSpPr>
        <p:spPr>
          <a:xfrm>
            <a:off x="6281928" y="4864608"/>
            <a:ext cx="2473452" cy="201168"/>
          </a:xfrm>
          <a:prstGeom prst="rect">
            <a:avLst/>
          </a:prstGeom>
          <a:noFill/>
        </p:spPr>
        <p:txBody>
          <a:bodyPr wrap="square" lIns="0" tIns="0" rIns="0" bIns="0">
            <a:spAutoFit/>
          </a:bodyPr>
          <a:lstStyle/>
          <a:p>
            <a:pPr algn="ctr">
              <a:spcAft>
                <a:spcPts val="700"/>
              </a:spcAft>
              <a:defRPr sz="1000" b="0">
                <a:solidFill>
                  <a:srgbClr val="A8BCC6"/>
                </a:solidFill>
                <a:latin typeface="Aptos"/>
              </a:defRPr>
            </a:pPr>
            <a:r>
              <a:t>User + parent rules</a:t>
            </a:r>
          </a:p>
        </p:txBody>
      </p:sp>
      <p:sp>
        <p:nvSpPr>
          <p:cNvPr id="32" name="TextBox 31"/>
          <p:cNvSpPr txBox="1"/>
          <p:nvPr/>
        </p:nvSpPr>
        <p:spPr>
          <a:xfrm>
            <a:off x="8855964" y="4663440"/>
            <a:ext cx="164592" cy="320040"/>
          </a:xfrm>
          <a:prstGeom prst="rect">
            <a:avLst/>
          </a:prstGeom>
          <a:noFill/>
        </p:spPr>
        <p:txBody>
          <a:bodyPr wrap="square" lIns="0" tIns="0" rIns="0" bIns="0">
            <a:spAutoFit/>
          </a:bodyPr>
          <a:lstStyle/>
          <a:p>
            <a:pPr>
              <a:spcAft>
                <a:spcPts val="700"/>
              </a:spcAft>
              <a:defRPr sz="2100" b="0">
                <a:solidFill>
                  <a:srgbClr val="47DDC0"/>
                </a:solidFill>
                <a:latin typeface="Aptos"/>
              </a:defRPr>
            </a:pPr>
            <a:r>
              <a:t>›</a:t>
            </a:r>
          </a:p>
        </p:txBody>
      </p:sp>
      <p:sp>
        <p:nvSpPr>
          <p:cNvPr id="33" name="Rounded Rectangle 32"/>
          <p:cNvSpPr/>
          <p:nvPr/>
        </p:nvSpPr>
        <p:spPr>
          <a:xfrm>
            <a:off x="9038844" y="4480560"/>
            <a:ext cx="2619756" cy="722376"/>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30284" y="4590288"/>
            <a:ext cx="2436876" cy="219456"/>
          </a:xfrm>
          <a:prstGeom prst="rect">
            <a:avLst/>
          </a:prstGeom>
          <a:noFill/>
        </p:spPr>
        <p:txBody>
          <a:bodyPr wrap="square" lIns="0" tIns="0" rIns="0" bIns="0">
            <a:spAutoFit/>
          </a:bodyPr>
          <a:lstStyle/>
          <a:p>
            <a:pPr algn="ctr">
              <a:spcAft>
                <a:spcPts val="700"/>
              </a:spcAft>
              <a:defRPr sz="1200" b="1">
                <a:solidFill>
                  <a:srgbClr val="101E2B"/>
                </a:solidFill>
                <a:latin typeface="Aptos"/>
              </a:defRPr>
            </a:pPr>
            <a:r>
              <a:t>RECORD</a:t>
            </a:r>
          </a:p>
        </p:txBody>
      </p:sp>
      <p:sp>
        <p:nvSpPr>
          <p:cNvPr id="35" name="TextBox 34"/>
          <p:cNvSpPr txBox="1"/>
          <p:nvPr/>
        </p:nvSpPr>
        <p:spPr>
          <a:xfrm>
            <a:off x="9111996" y="4864608"/>
            <a:ext cx="2473452" cy="201168"/>
          </a:xfrm>
          <a:prstGeom prst="rect">
            <a:avLst/>
          </a:prstGeom>
          <a:noFill/>
        </p:spPr>
        <p:txBody>
          <a:bodyPr wrap="square" lIns="0" tIns="0" rIns="0" bIns="0">
            <a:spAutoFit/>
          </a:bodyPr>
          <a:lstStyle/>
          <a:p>
            <a:pPr algn="ctr">
              <a:spcAft>
                <a:spcPts val="700"/>
              </a:spcAft>
              <a:defRPr sz="1000" b="0">
                <a:solidFill>
                  <a:srgbClr val="101E2B"/>
                </a:solidFill>
                <a:latin typeface="Aptos"/>
              </a:defRPr>
            </a:pPr>
            <a:r>
              <a:t>Receipts + audit</a:t>
            </a:r>
          </a:p>
        </p:txBody>
      </p:sp>
      <p:sp>
        <p:nvSpPr>
          <p:cNvPr id="36" name="TextBox 35"/>
          <p:cNvSpPr txBox="1"/>
          <p:nvPr/>
        </p:nvSpPr>
        <p:spPr>
          <a:xfrm>
            <a:off x="576072" y="5669280"/>
            <a:ext cx="10972800" cy="475488"/>
          </a:xfrm>
          <a:prstGeom prst="rect">
            <a:avLst/>
          </a:prstGeom>
          <a:noFill/>
        </p:spPr>
        <p:txBody>
          <a:bodyPr wrap="square" lIns="0" tIns="0" rIns="0" bIns="0">
            <a:spAutoFit/>
          </a:bodyPr>
          <a:lstStyle/>
          <a:p>
            <a:pPr>
              <a:spcAft>
                <a:spcPts val="700"/>
              </a:spcAft>
              <a:defRPr sz="1400" b="0">
                <a:solidFill>
                  <a:srgbClr val="A8BCC6"/>
                </a:solidFill>
                <a:latin typeface="Aptos"/>
              </a:defRPr>
            </a:pPr>
            <a:r>
              <a:t>Shared across the experience: English / Bengali / Chinese • persistent themes • global search • profile and country preferences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650"/>
                                  <p:tgtEl>
                                    <p:spTgt spid="10"/>
                                  </p:tgtEl>
                                </p:cBhvr>
                              </p:animEffect>
                            </p:childTnLst>
                          </p:cTn>
                        </p:par>
                      </p:childTnLst>
                    </p:cTn>
                  </p:par>
                </p:childTnLst>
              </p:cTn>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E2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700"/>
              </a:spcAft>
              <a:defRPr sz="1000" b="1">
                <a:solidFill>
                  <a:srgbClr val="47DDC0"/>
                </a:solidFill>
                <a:latin typeface="Aptos"/>
              </a:defRPr>
            </a:pPr>
            <a:r>
              <a:t>03 / OUR IMPLEMENTATION · AI FIRST</a:t>
            </a:r>
          </a:p>
        </p:txBody>
      </p:sp>
      <p:sp>
        <p:nvSpPr>
          <p:cNvPr id="3" name="TextBox 2"/>
          <p:cNvSpPr txBox="1"/>
          <p:nvPr/>
        </p:nvSpPr>
        <p:spPr>
          <a:xfrm>
            <a:off x="502920" y="713232"/>
            <a:ext cx="11064240" cy="594360"/>
          </a:xfrm>
          <a:prstGeom prst="rect">
            <a:avLst/>
          </a:prstGeom>
          <a:noFill/>
        </p:spPr>
        <p:txBody>
          <a:bodyPr wrap="square" lIns="0" tIns="0" rIns="0" bIns="0">
            <a:spAutoFit/>
          </a:bodyPr>
          <a:lstStyle/>
          <a:p>
            <a:pPr>
              <a:spcAft>
                <a:spcPts val="700"/>
              </a:spcAft>
              <a:defRPr sz="3200" b="1">
                <a:solidFill>
                  <a:srgbClr val="F3F7F6"/>
                </a:solidFill>
                <a:latin typeface="Aptos"/>
              </a:defRPr>
            </a:pPr>
            <a:r>
              <a:rPr dirty="0"/>
              <a:t>The AI understands the task—and prepares the next step.</a:t>
            </a:r>
          </a:p>
        </p:txBody>
      </p:sp>
      <p:sp>
        <p:nvSpPr>
          <p:cNvPr id="4" name="TextBox 3"/>
          <p:cNvSpPr txBox="1"/>
          <p:nvPr/>
        </p:nvSpPr>
        <p:spPr>
          <a:xfrm>
            <a:off x="530352" y="1362456"/>
            <a:ext cx="10927080" cy="502920"/>
          </a:xfrm>
          <a:prstGeom prst="rect">
            <a:avLst/>
          </a:prstGeom>
          <a:noFill/>
        </p:spPr>
        <p:txBody>
          <a:bodyPr wrap="square" lIns="0" tIns="0" rIns="0" bIns="0">
            <a:spAutoFit/>
          </a:bodyPr>
          <a:lstStyle/>
          <a:p>
            <a:pPr>
              <a:spcAft>
                <a:spcPts val="700"/>
              </a:spcAft>
              <a:defRPr sz="1400" b="0">
                <a:solidFill>
                  <a:srgbClr val="A8BCC6"/>
                </a:solidFill>
                <a:latin typeface="Aptos"/>
              </a:defRPr>
            </a:pPr>
            <a:r>
              <a:rPr dirty="0"/>
              <a:t>Tool-based assistance grounded in application data, with visible progress and structured follow-up questions.</a:t>
            </a:r>
          </a:p>
        </p:txBody>
      </p:sp>
      <p:sp>
        <p:nvSpPr>
          <p:cNvPr id="5" name="Rectangle 4"/>
          <p:cNvSpPr/>
          <p:nvPr/>
        </p:nvSpPr>
        <p:spPr>
          <a:xfrm>
            <a:off x="502920" y="6437376"/>
            <a:ext cx="11155680" cy="10972"/>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547104"/>
            <a:ext cx="9144000" cy="182880"/>
          </a:xfrm>
          <a:prstGeom prst="rect">
            <a:avLst/>
          </a:prstGeom>
          <a:noFill/>
        </p:spPr>
        <p:txBody>
          <a:bodyPr wrap="square" lIns="0" tIns="0" rIns="0" bIns="0">
            <a:spAutoFit/>
          </a:bodyPr>
          <a:lstStyle/>
          <a:p>
            <a:pPr>
              <a:spcAft>
                <a:spcPts val="700"/>
              </a:spcAft>
              <a:defRPr sz="900" b="0">
                <a:solidFill>
                  <a:srgbClr val="A8BCC6"/>
                </a:solidFill>
                <a:latin typeface="Aptos"/>
              </a:defRPr>
            </a:pPr>
            <a:r>
              <a:t>FINBRIDGE AI  /  PROJECT PRESENTATION</a:t>
            </a:r>
          </a:p>
        </p:txBody>
      </p:sp>
      <p:sp>
        <p:nvSpPr>
          <p:cNvPr id="7" name="TextBox 6"/>
          <p:cNvSpPr txBox="1"/>
          <p:nvPr/>
        </p:nvSpPr>
        <p:spPr>
          <a:xfrm>
            <a:off x="10698480" y="6510528"/>
            <a:ext cx="914400" cy="228600"/>
          </a:xfrm>
          <a:prstGeom prst="rect">
            <a:avLst/>
          </a:prstGeom>
          <a:noFill/>
        </p:spPr>
        <p:txBody>
          <a:bodyPr wrap="square" lIns="0" tIns="0" rIns="0" bIns="0">
            <a:spAutoFit/>
          </a:bodyPr>
          <a:lstStyle/>
          <a:p>
            <a:pPr algn="r">
              <a:spcAft>
                <a:spcPts val="700"/>
              </a:spcAft>
              <a:defRPr sz="1000" b="0">
                <a:solidFill>
                  <a:srgbClr val="A8BCC6"/>
                </a:solidFill>
                <a:latin typeface="Aptos"/>
              </a:defRPr>
            </a:pPr>
            <a:r>
              <a:t>04 / 10</a:t>
            </a:r>
          </a:p>
        </p:txBody>
      </p:sp>
      <p:pic>
        <p:nvPicPr>
          <p:cNvPr id="8" name="Picture 7" descr="signal-01.gif"/>
          <p:cNvPicPr>
            <a:picLocks noChangeAspect="1"/>
          </p:cNvPicPr>
          <p:nvPr/>
        </p:nvPicPr>
        <p:blipFill>
          <a:blip r:embed="rId3"/>
          <a:stretch>
            <a:fillRect/>
          </a:stretch>
        </p:blipFill>
        <p:spPr>
          <a:xfrm>
            <a:off x="10515600" y="109728"/>
            <a:ext cx="1143000" cy="466344"/>
          </a:xfrm>
          <a:prstGeom prst="rect">
            <a:avLst/>
          </a:prstGeom>
        </p:spPr>
      </p:pic>
      <p:sp>
        <p:nvSpPr>
          <p:cNvPr id="9" name="Rounded Rectangle 8"/>
          <p:cNvSpPr/>
          <p:nvPr/>
        </p:nvSpPr>
        <p:spPr>
          <a:xfrm>
            <a:off x="548640" y="1901952"/>
            <a:ext cx="4700016" cy="3611880"/>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49808" y="2103120"/>
            <a:ext cx="2395728" cy="283464"/>
          </a:xfrm>
          <a:prstGeom prst="roundRect">
            <a:avLst>
              <a:gd name="adj" fmla="val 12000"/>
            </a:avLst>
          </a:prstGeom>
          <a:solidFill>
            <a:srgbClr val="72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 y="2135124"/>
            <a:ext cx="224942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EXAMPLE CONVERSATION</a:t>
            </a:r>
          </a:p>
        </p:txBody>
      </p:sp>
      <p:sp>
        <p:nvSpPr>
          <p:cNvPr id="12" name="TextBox 11"/>
          <p:cNvSpPr txBox="1"/>
          <p:nvPr/>
        </p:nvSpPr>
        <p:spPr>
          <a:xfrm>
            <a:off x="768096" y="2633472"/>
            <a:ext cx="4251960" cy="640080"/>
          </a:xfrm>
          <a:prstGeom prst="rect">
            <a:avLst/>
          </a:prstGeom>
          <a:noFill/>
        </p:spPr>
        <p:txBody>
          <a:bodyPr wrap="square" lIns="0" tIns="0" rIns="0" bIns="0">
            <a:spAutoFit/>
          </a:bodyPr>
          <a:lstStyle/>
          <a:p>
            <a:pPr>
              <a:spcAft>
                <a:spcPts val="700"/>
              </a:spcAft>
              <a:defRPr sz="2400" b="1">
                <a:solidFill>
                  <a:srgbClr val="F3F7F6"/>
                </a:solidFill>
                <a:latin typeface="Aptos"/>
              </a:defRPr>
            </a:pPr>
            <a:r>
              <a:t>“Can I afford next semester?”</a:t>
            </a:r>
          </a:p>
        </p:txBody>
      </p:sp>
      <p:sp>
        <p:nvSpPr>
          <p:cNvPr id="13" name="Rounded Rectangle 12"/>
          <p:cNvSpPr/>
          <p:nvPr/>
        </p:nvSpPr>
        <p:spPr>
          <a:xfrm>
            <a:off x="777240" y="3502152"/>
            <a:ext cx="111556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3534156"/>
            <a:ext cx="96926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READ</a:t>
            </a:r>
          </a:p>
        </p:txBody>
      </p:sp>
      <p:sp>
        <p:nvSpPr>
          <p:cNvPr id="15" name="TextBox 14"/>
          <p:cNvSpPr txBox="1"/>
          <p:nvPr/>
        </p:nvSpPr>
        <p:spPr>
          <a:xfrm>
            <a:off x="2057400" y="3511296"/>
            <a:ext cx="2907792" cy="466344"/>
          </a:xfrm>
          <a:prstGeom prst="rect">
            <a:avLst/>
          </a:prstGeom>
          <a:noFill/>
        </p:spPr>
        <p:txBody>
          <a:bodyPr wrap="square" lIns="0" tIns="0" rIns="0" bIns="0">
            <a:spAutoFit/>
          </a:bodyPr>
          <a:lstStyle/>
          <a:p>
            <a:pPr>
              <a:spcAft>
                <a:spcPts val="700"/>
              </a:spcAft>
              <a:defRPr sz="1300" b="0">
                <a:solidFill>
                  <a:srgbClr val="A8BCC6"/>
                </a:solidFill>
                <a:latin typeface="Aptos"/>
              </a:defRPr>
            </a:pPr>
            <a:r>
              <a:t>Accounts, transactions and tuition invoice</a:t>
            </a:r>
          </a:p>
        </p:txBody>
      </p:sp>
      <p:sp>
        <p:nvSpPr>
          <p:cNvPr id="16" name="Rounded Rectangle 15"/>
          <p:cNvSpPr/>
          <p:nvPr/>
        </p:nvSpPr>
        <p:spPr>
          <a:xfrm>
            <a:off x="777240" y="4059936"/>
            <a:ext cx="111556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 y="4091940"/>
            <a:ext cx="96926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CALCULATE</a:t>
            </a:r>
          </a:p>
        </p:txBody>
      </p:sp>
      <p:sp>
        <p:nvSpPr>
          <p:cNvPr id="18" name="TextBox 17"/>
          <p:cNvSpPr txBox="1"/>
          <p:nvPr/>
        </p:nvSpPr>
        <p:spPr>
          <a:xfrm>
            <a:off x="2057400" y="4069080"/>
            <a:ext cx="2907792" cy="466344"/>
          </a:xfrm>
          <a:prstGeom prst="rect">
            <a:avLst/>
          </a:prstGeom>
          <a:noFill/>
        </p:spPr>
        <p:txBody>
          <a:bodyPr wrap="square" lIns="0" tIns="0" rIns="0" bIns="0">
            <a:spAutoFit/>
          </a:bodyPr>
          <a:lstStyle/>
          <a:p>
            <a:pPr>
              <a:spcAft>
                <a:spcPts val="700"/>
              </a:spcAft>
              <a:defRPr sz="1300" b="0">
                <a:solidFill>
                  <a:srgbClr val="A8BCC6"/>
                </a:solidFill>
                <a:latin typeface="Aptos"/>
              </a:defRPr>
            </a:pPr>
            <a:r>
              <a:t>Funding gap, living costs and readiness</a:t>
            </a:r>
          </a:p>
        </p:txBody>
      </p:sp>
      <p:sp>
        <p:nvSpPr>
          <p:cNvPr id="19" name="Rounded Rectangle 18"/>
          <p:cNvSpPr/>
          <p:nvPr/>
        </p:nvSpPr>
        <p:spPr>
          <a:xfrm>
            <a:off x="777240" y="4617720"/>
            <a:ext cx="111556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0392" y="4649724"/>
            <a:ext cx="96926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PROPOSE</a:t>
            </a:r>
          </a:p>
        </p:txBody>
      </p:sp>
      <p:sp>
        <p:nvSpPr>
          <p:cNvPr id="21" name="TextBox 20"/>
          <p:cNvSpPr txBox="1"/>
          <p:nvPr/>
        </p:nvSpPr>
        <p:spPr>
          <a:xfrm>
            <a:off x="2057400" y="4626864"/>
            <a:ext cx="2907792" cy="466344"/>
          </a:xfrm>
          <a:prstGeom prst="rect">
            <a:avLst/>
          </a:prstGeom>
          <a:noFill/>
        </p:spPr>
        <p:txBody>
          <a:bodyPr wrap="square" lIns="0" tIns="0" rIns="0" bIns="0">
            <a:spAutoFit/>
          </a:bodyPr>
          <a:lstStyle/>
          <a:p>
            <a:pPr>
              <a:spcAft>
                <a:spcPts val="700"/>
              </a:spcAft>
              <a:defRPr sz="1300" b="0">
                <a:solidFill>
                  <a:srgbClr val="A8BCC6"/>
                </a:solidFill>
                <a:latin typeface="Aptos"/>
              </a:defRPr>
            </a:pPr>
            <a:r>
              <a:t>A savings plan or payment draft to review</a:t>
            </a:r>
          </a:p>
        </p:txBody>
      </p:sp>
      <p:sp>
        <p:nvSpPr>
          <p:cNvPr id="22" name="TextBox 21"/>
          <p:cNvSpPr txBox="1"/>
          <p:nvPr/>
        </p:nvSpPr>
        <p:spPr>
          <a:xfrm>
            <a:off x="5513832" y="1984248"/>
            <a:ext cx="5852160" cy="320040"/>
          </a:xfrm>
          <a:prstGeom prst="rect">
            <a:avLst/>
          </a:prstGeom>
          <a:noFill/>
        </p:spPr>
        <p:txBody>
          <a:bodyPr wrap="square" lIns="0" tIns="0" rIns="0" bIns="0">
            <a:spAutoFit/>
          </a:bodyPr>
          <a:lstStyle/>
          <a:p>
            <a:pPr>
              <a:spcAft>
                <a:spcPts val="700"/>
              </a:spcAft>
              <a:defRPr sz="1700" b="1">
                <a:solidFill>
                  <a:srgbClr val="F3F7F6"/>
                </a:solidFill>
                <a:latin typeface="Aptos"/>
              </a:defRPr>
            </a:pPr>
            <a:r>
              <a:t>Illustrative tuition plan · CNY</a:t>
            </a:r>
          </a:p>
        </p:txBody>
      </p:sp>
      <p:graphicFrame>
        <p:nvGraphicFramePr>
          <p:cNvPr id="23" name="Chart 22"/>
          <p:cNvGraphicFramePr>
            <a:graphicFrameLocks noGrp="1"/>
          </p:cNvGraphicFramePr>
          <p:nvPr/>
        </p:nvGraphicFramePr>
        <p:xfrm>
          <a:off x="5440680" y="2478024"/>
          <a:ext cx="6099048" cy="2514600"/>
        </p:xfrm>
        <a:graphic>
          <a:graphicData uri="http://schemas.openxmlformats.org/drawingml/2006/chart">
            <c:chart xmlns:c="http://schemas.openxmlformats.org/drawingml/2006/chart" xmlns:r="http://schemas.openxmlformats.org/officeDocument/2006/relationships" r:id="rId4"/>
          </a:graphicData>
        </a:graphic>
      </p:graphicFrame>
      <p:sp>
        <p:nvSpPr>
          <p:cNvPr id="24" name="Rounded Rectangle 23"/>
          <p:cNvSpPr/>
          <p:nvPr/>
        </p:nvSpPr>
        <p:spPr>
          <a:xfrm>
            <a:off x="5614416" y="5084064"/>
            <a:ext cx="1856231"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87568" y="5116068"/>
            <a:ext cx="1709928"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PROVIDER CHOICE</a:t>
            </a:r>
          </a:p>
        </p:txBody>
      </p:sp>
      <p:sp>
        <p:nvSpPr>
          <p:cNvPr id="26" name="TextBox 25"/>
          <p:cNvSpPr txBox="1"/>
          <p:nvPr/>
        </p:nvSpPr>
        <p:spPr>
          <a:xfrm>
            <a:off x="7644383" y="5120640"/>
            <a:ext cx="3675887" cy="475488"/>
          </a:xfrm>
          <a:prstGeom prst="rect">
            <a:avLst/>
          </a:prstGeom>
          <a:noFill/>
        </p:spPr>
        <p:txBody>
          <a:bodyPr wrap="square" lIns="0" tIns="0" rIns="0" bIns="0">
            <a:spAutoFit/>
          </a:bodyPr>
          <a:lstStyle/>
          <a:p>
            <a:pPr>
              <a:spcAft>
                <a:spcPts val="700"/>
              </a:spcAft>
              <a:defRPr sz="1400" b="0">
                <a:solidFill>
                  <a:srgbClr val="F3F7F6"/>
                </a:solidFill>
                <a:latin typeface="Aptos"/>
              </a:defRPr>
            </a:pPr>
            <a:r>
              <a:t>Gemini  /  OpenAI  /  deterministic local mock</a:t>
            </a:r>
          </a:p>
        </p:txBody>
      </p:sp>
      <p:sp>
        <p:nvSpPr>
          <p:cNvPr id="27" name="TextBox 26"/>
          <p:cNvSpPr txBox="1"/>
          <p:nvPr/>
        </p:nvSpPr>
        <p:spPr>
          <a:xfrm>
            <a:off x="585216" y="5779008"/>
            <a:ext cx="10972800" cy="457200"/>
          </a:xfrm>
          <a:prstGeom prst="rect">
            <a:avLst/>
          </a:prstGeom>
          <a:noFill/>
        </p:spPr>
        <p:txBody>
          <a:bodyPr wrap="square" lIns="0" tIns="0" rIns="0" bIns="0">
            <a:spAutoFit/>
          </a:bodyPr>
          <a:lstStyle/>
          <a:p>
            <a:pPr>
              <a:spcAft>
                <a:spcPts val="700"/>
              </a:spcAft>
              <a:defRPr sz="1400" b="0">
                <a:solidFill>
                  <a:srgbClr val="A8BCC6"/>
                </a:solidFill>
                <a:latin typeface="Aptos"/>
              </a:defRPr>
            </a:pPr>
            <a:r>
              <a:t>Also: budget suggestions • FX comparisons • financial health • credit guidance • navigation • payment drafts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650"/>
                                  <p:tgtEl>
                                    <p:spTgt spid="23"/>
                                  </p:tgtEl>
                                </p:cBhvr>
                              </p:animEffect>
                            </p:childTnLst>
                          </p:cTn>
                        </p:par>
                      </p:childTnLst>
                    </p:cTn>
                  </p:par>
                </p:childTnLst>
              </p:cTn>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E2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700"/>
              </a:spcAft>
              <a:defRPr sz="1000" b="1">
                <a:solidFill>
                  <a:srgbClr val="47DDC0"/>
                </a:solidFill>
                <a:latin typeface="Aptos"/>
              </a:defRPr>
            </a:pPr>
            <a:r>
              <a:t>04 / OUR IMPLEMENTATION · ARCHITECTURE</a:t>
            </a:r>
          </a:p>
        </p:txBody>
      </p:sp>
      <p:sp>
        <p:nvSpPr>
          <p:cNvPr id="3" name="TextBox 2"/>
          <p:cNvSpPr txBox="1"/>
          <p:nvPr/>
        </p:nvSpPr>
        <p:spPr>
          <a:xfrm>
            <a:off x="502920" y="713232"/>
            <a:ext cx="11064240" cy="594360"/>
          </a:xfrm>
          <a:prstGeom prst="rect">
            <a:avLst/>
          </a:prstGeom>
          <a:noFill/>
        </p:spPr>
        <p:txBody>
          <a:bodyPr wrap="square" lIns="0" tIns="0" rIns="0" bIns="0">
            <a:spAutoFit/>
          </a:bodyPr>
          <a:lstStyle/>
          <a:p>
            <a:pPr>
              <a:spcAft>
                <a:spcPts val="700"/>
              </a:spcAft>
              <a:defRPr sz="3200" b="1">
                <a:solidFill>
                  <a:srgbClr val="F3F7F6"/>
                </a:solidFill>
                <a:latin typeface="Aptos"/>
              </a:defRPr>
            </a:pPr>
            <a:r>
              <a:t>From language to a validated, auditable action.</a:t>
            </a:r>
          </a:p>
        </p:txBody>
      </p:sp>
      <p:sp>
        <p:nvSpPr>
          <p:cNvPr id="4" name="TextBox 3"/>
          <p:cNvSpPr txBox="1"/>
          <p:nvPr/>
        </p:nvSpPr>
        <p:spPr>
          <a:xfrm>
            <a:off x="530352" y="1362456"/>
            <a:ext cx="10927080" cy="502920"/>
          </a:xfrm>
          <a:prstGeom prst="rect">
            <a:avLst/>
          </a:prstGeom>
          <a:noFill/>
        </p:spPr>
        <p:txBody>
          <a:bodyPr wrap="square" lIns="0" tIns="0" rIns="0" bIns="0">
            <a:spAutoFit/>
          </a:bodyPr>
          <a:lstStyle/>
          <a:p>
            <a:pPr>
              <a:spcAft>
                <a:spcPts val="700"/>
              </a:spcAft>
              <a:defRPr sz="1400" b="0">
                <a:solidFill>
                  <a:srgbClr val="A8BCC6"/>
                </a:solidFill>
                <a:latin typeface="Aptos"/>
              </a:defRPr>
            </a:pPr>
            <a:r>
              <a:t>The model selects application tools; authenticated server code controls permissions and money movement.</a:t>
            </a:r>
          </a:p>
        </p:txBody>
      </p:sp>
      <p:sp>
        <p:nvSpPr>
          <p:cNvPr id="5" name="Rectangle 4"/>
          <p:cNvSpPr/>
          <p:nvPr/>
        </p:nvSpPr>
        <p:spPr>
          <a:xfrm>
            <a:off x="502920" y="6437376"/>
            <a:ext cx="11155680" cy="10972"/>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547104"/>
            <a:ext cx="9144000" cy="182880"/>
          </a:xfrm>
          <a:prstGeom prst="rect">
            <a:avLst/>
          </a:prstGeom>
          <a:noFill/>
        </p:spPr>
        <p:txBody>
          <a:bodyPr wrap="square" lIns="0" tIns="0" rIns="0" bIns="0">
            <a:spAutoFit/>
          </a:bodyPr>
          <a:lstStyle/>
          <a:p>
            <a:pPr>
              <a:spcAft>
                <a:spcPts val="700"/>
              </a:spcAft>
              <a:defRPr sz="900" b="0">
                <a:solidFill>
                  <a:srgbClr val="A8BCC6"/>
                </a:solidFill>
                <a:latin typeface="Aptos"/>
              </a:defRPr>
            </a:pPr>
            <a:r>
              <a:t>FINBRIDGE AI  /  PROJECT PRESENTATION</a:t>
            </a:r>
          </a:p>
        </p:txBody>
      </p:sp>
      <p:sp>
        <p:nvSpPr>
          <p:cNvPr id="7" name="TextBox 6"/>
          <p:cNvSpPr txBox="1"/>
          <p:nvPr/>
        </p:nvSpPr>
        <p:spPr>
          <a:xfrm>
            <a:off x="10698480" y="6510528"/>
            <a:ext cx="914400" cy="228600"/>
          </a:xfrm>
          <a:prstGeom prst="rect">
            <a:avLst/>
          </a:prstGeom>
          <a:noFill/>
        </p:spPr>
        <p:txBody>
          <a:bodyPr wrap="square" lIns="0" tIns="0" rIns="0" bIns="0">
            <a:spAutoFit/>
          </a:bodyPr>
          <a:lstStyle/>
          <a:p>
            <a:pPr algn="r">
              <a:spcAft>
                <a:spcPts val="700"/>
              </a:spcAft>
              <a:defRPr sz="1000" b="0">
                <a:solidFill>
                  <a:srgbClr val="A8BCC6"/>
                </a:solidFill>
                <a:latin typeface="Aptos"/>
              </a:defRPr>
            </a:pPr>
            <a:r>
              <a:t>05 / 10</a:t>
            </a:r>
          </a:p>
        </p:txBody>
      </p:sp>
      <p:pic>
        <p:nvPicPr>
          <p:cNvPr id="8" name="Picture 7" descr="signal-01.gif"/>
          <p:cNvPicPr>
            <a:picLocks noChangeAspect="1"/>
          </p:cNvPicPr>
          <p:nvPr/>
        </p:nvPicPr>
        <p:blipFill>
          <a:blip r:embed="rId3"/>
          <a:stretch>
            <a:fillRect/>
          </a:stretch>
        </p:blipFill>
        <p:spPr>
          <a:xfrm>
            <a:off x="10515600" y="109728"/>
            <a:ext cx="1143000" cy="466344"/>
          </a:xfrm>
          <a:prstGeom prst="rect">
            <a:avLst/>
          </a:prstGeom>
        </p:spPr>
      </p:pic>
      <p:sp>
        <p:nvSpPr>
          <p:cNvPr id="9" name="Rounded Rectangle 8"/>
          <p:cNvSpPr/>
          <p:nvPr/>
        </p:nvSpPr>
        <p:spPr>
          <a:xfrm>
            <a:off x="548640" y="2029968"/>
            <a:ext cx="2053742" cy="722376"/>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139696"/>
            <a:ext cx="1870862" cy="219456"/>
          </a:xfrm>
          <a:prstGeom prst="rect">
            <a:avLst/>
          </a:prstGeom>
          <a:noFill/>
        </p:spPr>
        <p:txBody>
          <a:bodyPr wrap="square" lIns="0" tIns="0" rIns="0" bIns="0">
            <a:spAutoFit/>
          </a:bodyPr>
          <a:lstStyle/>
          <a:p>
            <a:pPr algn="ctr">
              <a:spcAft>
                <a:spcPts val="700"/>
              </a:spcAft>
              <a:defRPr sz="1200" b="1">
                <a:solidFill>
                  <a:srgbClr val="F3F7F6"/>
                </a:solidFill>
                <a:latin typeface="Aptos"/>
              </a:defRPr>
            </a:pPr>
            <a:r>
              <a:t>PROMPT</a:t>
            </a:r>
          </a:p>
        </p:txBody>
      </p:sp>
      <p:sp>
        <p:nvSpPr>
          <p:cNvPr id="11" name="TextBox 10"/>
          <p:cNvSpPr txBox="1"/>
          <p:nvPr/>
        </p:nvSpPr>
        <p:spPr>
          <a:xfrm>
            <a:off x="621792" y="2414016"/>
            <a:ext cx="1907438" cy="201168"/>
          </a:xfrm>
          <a:prstGeom prst="rect">
            <a:avLst/>
          </a:prstGeom>
          <a:noFill/>
        </p:spPr>
        <p:txBody>
          <a:bodyPr wrap="square" lIns="0" tIns="0" rIns="0" bIns="0">
            <a:spAutoFit/>
          </a:bodyPr>
          <a:lstStyle/>
          <a:p>
            <a:pPr algn="ctr">
              <a:spcAft>
                <a:spcPts val="700"/>
              </a:spcAft>
              <a:defRPr sz="1000" b="0">
                <a:solidFill>
                  <a:srgbClr val="A8BCC6"/>
                </a:solidFill>
                <a:latin typeface="Aptos"/>
              </a:defRPr>
            </a:pPr>
            <a:r>
              <a:t>Student or parent</a:t>
            </a:r>
          </a:p>
        </p:txBody>
      </p:sp>
      <p:sp>
        <p:nvSpPr>
          <p:cNvPr id="12" name="TextBox 11"/>
          <p:cNvSpPr txBox="1"/>
          <p:nvPr/>
        </p:nvSpPr>
        <p:spPr>
          <a:xfrm>
            <a:off x="2629814" y="2212848"/>
            <a:ext cx="164592" cy="320040"/>
          </a:xfrm>
          <a:prstGeom prst="rect">
            <a:avLst/>
          </a:prstGeom>
          <a:noFill/>
        </p:spPr>
        <p:txBody>
          <a:bodyPr wrap="square" lIns="0" tIns="0" rIns="0" bIns="0">
            <a:spAutoFit/>
          </a:bodyPr>
          <a:lstStyle/>
          <a:p>
            <a:pPr>
              <a:spcAft>
                <a:spcPts val="700"/>
              </a:spcAft>
              <a:defRPr sz="2100" b="0">
                <a:solidFill>
                  <a:srgbClr val="47DDC0"/>
                </a:solidFill>
                <a:latin typeface="Aptos"/>
              </a:defRPr>
            </a:pPr>
            <a:r>
              <a:t>›</a:t>
            </a:r>
          </a:p>
        </p:txBody>
      </p:sp>
      <p:sp>
        <p:nvSpPr>
          <p:cNvPr id="13" name="Rounded Rectangle 12"/>
          <p:cNvSpPr/>
          <p:nvPr/>
        </p:nvSpPr>
        <p:spPr>
          <a:xfrm>
            <a:off x="2812694" y="2029968"/>
            <a:ext cx="2053742" cy="722376"/>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04134" y="2139696"/>
            <a:ext cx="1870862" cy="219456"/>
          </a:xfrm>
          <a:prstGeom prst="rect">
            <a:avLst/>
          </a:prstGeom>
          <a:noFill/>
        </p:spPr>
        <p:txBody>
          <a:bodyPr wrap="square" lIns="0" tIns="0" rIns="0" bIns="0">
            <a:spAutoFit/>
          </a:bodyPr>
          <a:lstStyle/>
          <a:p>
            <a:pPr algn="ctr">
              <a:spcAft>
                <a:spcPts val="700"/>
              </a:spcAft>
              <a:defRPr sz="1200" b="1">
                <a:solidFill>
                  <a:srgbClr val="F3F7F6"/>
                </a:solidFill>
                <a:latin typeface="Aptos"/>
              </a:defRPr>
            </a:pPr>
            <a:r>
              <a:t>AI PROVIDER</a:t>
            </a:r>
          </a:p>
        </p:txBody>
      </p:sp>
      <p:sp>
        <p:nvSpPr>
          <p:cNvPr id="15" name="TextBox 14"/>
          <p:cNvSpPr txBox="1"/>
          <p:nvPr/>
        </p:nvSpPr>
        <p:spPr>
          <a:xfrm>
            <a:off x="2885846" y="2414016"/>
            <a:ext cx="1907438" cy="201168"/>
          </a:xfrm>
          <a:prstGeom prst="rect">
            <a:avLst/>
          </a:prstGeom>
          <a:noFill/>
        </p:spPr>
        <p:txBody>
          <a:bodyPr wrap="square" lIns="0" tIns="0" rIns="0" bIns="0">
            <a:spAutoFit/>
          </a:bodyPr>
          <a:lstStyle/>
          <a:p>
            <a:pPr algn="ctr">
              <a:spcAft>
                <a:spcPts val="700"/>
              </a:spcAft>
              <a:defRPr sz="1000" b="0">
                <a:solidFill>
                  <a:srgbClr val="A8BCC6"/>
                </a:solidFill>
                <a:latin typeface="Aptos"/>
              </a:defRPr>
            </a:pPr>
            <a:r>
              <a:t>Tools + schemas</a:t>
            </a:r>
          </a:p>
        </p:txBody>
      </p:sp>
      <p:sp>
        <p:nvSpPr>
          <p:cNvPr id="16" name="TextBox 15"/>
          <p:cNvSpPr txBox="1"/>
          <p:nvPr/>
        </p:nvSpPr>
        <p:spPr>
          <a:xfrm>
            <a:off x="4893868" y="2212848"/>
            <a:ext cx="164592" cy="320040"/>
          </a:xfrm>
          <a:prstGeom prst="rect">
            <a:avLst/>
          </a:prstGeom>
          <a:noFill/>
        </p:spPr>
        <p:txBody>
          <a:bodyPr wrap="square" lIns="0" tIns="0" rIns="0" bIns="0">
            <a:spAutoFit/>
          </a:bodyPr>
          <a:lstStyle/>
          <a:p>
            <a:pPr>
              <a:spcAft>
                <a:spcPts val="700"/>
              </a:spcAft>
              <a:defRPr sz="2100" b="0">
                <a:solidFill>
                  <a:srgbClr val="47DDC0"/>
                </a:solidFill>
                <a:latin typeface="Aptos"/>
              </a:defRPr>
            </a:pPr>
            <a:r>
              <a:t>›</a:t>
            </a:r>
          </a:p>
        </p:txBody>
      </p:sp>
      <p:sp>
        <p:nvSpPr>
          <p:cNvPr id="17" name="Rounded Rectangle 16"/>
          <p:cNvSpPr/>
          <p:nvPr/>
        </p:nvSpPr>
        <p:spPr>
          <a:xfrm>
            <a:off x="5076748" y="2029968"/>
            <a:ext cx="2053742" cy="722376"/>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68188" y="2139696"/>
            <a:ext cx="1870862" cy="219456"/>
          </a:xfrm>
          <a:prstGeom prst="rect">
            <a:avLst/>
          </a:prstGeom>
          <a:noFill/>
        </p:spPr>
        <p:txBody>
          <a:bodyPr wrap="square" lIns="0" tIns="0" rIns="0" bIns="0">
            <a:spAutoFit/>
          </a:bodyPr>
          <a:lstStyle/>
          <a:p>
            <a:pPr algn="ctr">
              <a:spcAft>
                <a:spcPts val="700"/>
              </a:spcAft>
              <a:defRPr sz="1200" b="1">
                <a:solidFill>
                  <a:srgbClr val="F3F7F6"/>
                </a:solidFill>
                <a:latin typeface="Aptos"/>
              </a:defRPr>
            </a:pPr>
            <a:r>
              <a:t>ACTION REVIEW</a:t>
            </a:r>
          </a:p>
        </p:txBody>
      </p:sp>
      <p:sp>
        <p:nvSpPr>
          <p:cNvPr id="19" name="TextBox 18"/>
          <p:cNvSpPr txBox="1"/>
          <p:nvPr/>
        </p:nvSpPr>
        <p:spPr>
          <a:xfrm>
            <a:off x="5149900" y="2414016"/>
            <a:ext cx="1907438" cy="201168"/>
          </a:xfrm>
          <a:prstGeom prst="rect">
            <a:avLst/>
          </a:prstGeom>
          <a:noFill/>
        </p:spPr>
        <p:txBody>
          <a:bodyPr wrap="square" lIns="0" tIns="0" rIns="0" bIns="0">
            <a:spAutoFit/>
          </a:bodyPr>
          <a:lstStyle/>
          <a:p>
            <a:pPr algn="ctr">
              <a:spcAft>
                <a:spcPts val="700"/>
              </a:spcAft>
              <a:defRPr sz="1000" b="0">
                <a:solidFill>
                  <a:srgbClr val="A8BCC6"/>
                </a:solidFill>
                <a:latin typeface="Aptos"/>
              </a:defRPr>
            </a:pPr>
            <a:r>
              <a:t>Explicit confirmation</a:t>
            </a:r>
          </a:p>
        </p:txBody>
      </p:sp>
      <p:sp>
        <p:nvSpPr>
          <p:cNvPr id="20" name="TextBox 19"/>
          <p:cNvSpPr txBox="1"/>
          <p:nvPr/>
        </p:nvSpPr>
        <p:spPr>
          <a:xfrm>
            <a:off x="7157923" y="2212848"/>
            <a:ext cx="164592" cy="320040"/>
          </a:xfrm>
          <a:prstGeom prst="rect">
            <a:avLst/>
          </a:prstGeom>
          <a:noFill/>
        </p:spPr>
        <p:txBody>
          <a:bodyPr wrap="square" lIns="0" tIns="0" rIns="0" bIns="0">
            <a:spAutoFit/>
          </a:bodyPr>
          <a:lstStyle/>
          <a:p>
            <a:pPr>
              <a:spcAft>
                <a:spcPts val="700"/>
              </a:spcAft>
              <a:defRPr sz="2100" b="0">
                <a:solidFill>
                  <a:srgbClr val="47DDC0"/>
                </a:solidFill>
                <a:latin typeface="Aptos"/>
              </a:defRPr>
            </a:pPr>
            <a:r>
              <a:t>›</a:t>
            </a:r>
          </a:p>
        </p:txBody>
      </p:sp>
      <p:sp>
        <p:nvSpPr>
          <p:cNvPr id="21" name="Rounded Rectangle 20"/>
          <p:cNvSpPr/>
          <p:nvPr/>
        </p:nvSpPr>
        <p:spPr>
          <a:xfrm>
            <a:off x="7340803" y="2029968"/>
            <a:ext cx="2053742" cy="722376"/>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32243" y="2139696"/>
            <a:ext cx="1870862" cy="219456"/>
          </a:xfrm>
          <a:prstGeom prst="rect">
            <a:avLst/>
          </a:prstGeom>
          <a:noFill/>
        </p:spPr>
        <p:txBody>
          <a:bodyPr wrap="square" lIns="0" tIns="0" rIns="0" bIns="0">
            <a:spAutoFit/>
          </a:bodyPr>
          <a:lstStyle/>
          <a:p>
            <a:pPr algn="ctr">
              <a:spcAft>
                <a:spcPts val="700"/>
              </a:spcAft>
              <a:defRPr sz="1200" b="1">
                <a:solidFill>
                  <a:srgbClr val="F3F7F6"/>
                </a:solidFill>
                <a:latin typeface="Aptos"/>
              </a:defRPr>
            </a:pPr>
            <a:r>
              <a:t>SERVER ACTION</a:t>
            </a:r>
          </a:p>
        </p:txBody>
      </p:sp>
      <p:sp>
        <p:nvSpPr>
          <p:cNvPr id="23" name="TextBox 22"/>
          <p:cNvSpPr txBox="1"/>
          <p:nvPr/>
        </p:nvSpPr>
        <p:spPr>
          <a:xfrm>
            <a:off x="7413955" y="2414016"/>
            <a:ext cx="1907438" cy="201168"/>
          </a:xfrm>
          <a:prstGeom prst="rect">
            <a:avLst/>
          </a:prstGeom>
          <a:noFill/>
        </p:spPr>
        <p:txBody>
          <a:bodyPr wrap="square" lIns="0" tIns="0" rIns="0" bIns="0">
            <a:spAutoFit/>
          </a:bodyPr>
          <a:lstStyle/>
          <a:p>
            <a:pPr algn="ctr">
              <a:spcAft>
                <a:spcPts val="700"/>
              </a:spcAft>
              <a:defRPr sz="1000" b="0">
                <a:solidFill>
                  <a:srgbClr val="A8BCC6"/>
                </a:solidFill>
                <a:latin typeface="Aptos"/>
              </a:defRPr>
            </a:pPr>
            <a:r>
              <a:t>Auth + role + policy</a:t>
            </a:r>
          </a:p>
        </p:txBody>
      </p:sp>
      <p:sp>
        <p:nvSpPr>
          <p:cNvPr id="24" name="TextBox 23"/>
          <p:cNvSpPr txBox="1"/>
          <p:nvPr/>
        </p:nvSpPr>
        <p:spPr>
          <a:xfrm>
            <a:off x="9421977" y="2212848"/>
            <a:ext cx="164592" cy="320040"/>
          </a:xfrm>
          <a:prstGeom prst="rect">
            <a:avLst/>
          </a:prstGeom>
          <a:noFill/>
        </p:spPr>
        <p:txBody>
          <a:bodyPr wrap="square" lIns="0" tIns="0" rIns="0" bIns="0">
            <a:spAutoFit/>
          </a:bodyPr>
          <a:lstStyle/>
          <a:p>
            <a:pPr>
              <a:spcAft>
                <a:spcPts val="700"/>
              </a:spcAft>
              <a:defRPr sz="2100" b="0">
                <a:solidFill>
                  <a:srgbClr val="47DDC0"/>
                </a:solidFill>
                <a:latin typeface="Aptos"/>
              </a:defRPr>
            </a:pPr>
            <a:r>
              <a:t>›</a:t>
            </a:r>
          </a:p>
        </p:txBody>
      </p:sp>
      <p:sp>
        <p:nvSpPr>
          <p:cNvPr id="25" name="Rounded Rectangle 24"/>
          <p:cNvSpPr/>
          <p:nvPr/>
        </p:nvSpPr>
        <p:spPr>
          <a:xfrm>
            <a:off x="9604857" y="2029968"/>
            <a:ext cx="2053742" cy="722376"/>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96297" y="2139696"/>
            <a:ext cx="1870862" cy="219456"/>
          </a:xfrm>
          <a:prstGeom prst="rect">
            <a:avLst/>
          </a:prstGeom>
          <a:noFill/>
        </p:spPr>
        <p:txBody>
          <a:bodyPr wrap="square" lIns="0" tIns="0" rIns="0" bIns="0">
            <a:spAutoFit/>
          </a:bodyPr>
          <a:lstStyle/>
          <a:p>
            <a:pPr algn="ctr">
              <a:spcAft>
                <a:spcPts val="700"/>
              </a:spcAft>
              <a:defRPr sz="1200" b="1">
                <a:solidFill>
                  <a:srgbClr val="101E2B"/>
                </a:solidFill>
                <a:latin typeface="Aptos"/>
              </a:defRPr>
            </a:pPr>
            <a:r>
              <a:t>MYSQL LEDGER</a:t>
            </a:r>
          </a:p>
        </p:txBody>
      </p:sp>
      <p:sp>
        <p:nvSpPr>
          <p:cNvPr id="27" name="TextBox 26"/>
          <p:cNvSpPr txBox="1"/>
          <p:nvPr/>
        </p:nvSpPr>
        <p:spPr>
          <a:xfrm>
            <a:off x="9678009" y="2414016"/>
            <a:ext cx="1907438" cy="201168"/>
          </a:xfrm>
          <a:prstGeom prst="rect">
            <a:avLst/>
          </a:prstGeom>
          <a:noFill/>
        </p:spPr>
        <p:txBody>
          <a:bodyPr wrap="square" lIns="0" tIns="0" rIns="0" bIns="0">
            <a:spAutoFit/>
          </a:bodyPr>
          <a:lstStyle/>
          <a:p>
            <a:pPr algn="ctr">
              <a:spcAft>
                <a:spcPts val="700"/>
              </a:spcAft>
              <a:defRPr sz="1000" b="0">
                <a:solidFill>
                  <a:srgbClr val="101E2B"/>
                </a:solidFill>
                <a:latin typeface="Aptos"/>
              </a:defRPr>
            </a:pPr>
            <a:r>
              <a:t>Atomic commit</a:t>
            </a:r>
          </a:p>
        </p:txBody>
      </p:sp>
      <p:sp>
        <p:nvSpPr>
          <p:cNvPr id="28" name="Rounded Rectangle 27"/>
          <p:cNvSpPr/>
          <p:nvPr/>
        </p:nvSpPr>
        <p:spPr>
          <a:xfrm>
            <a:off x="557784" y="3127248"/>
            <a:ext cx="3584448" cy="162763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0664" y="3328416"/>
            <a:ext cx="3200400" cy="283464"/>
          </a:xfrm>
          <a:prstGeom prst="rect">
            <a:avLst/>
          </a:prstGeom>
          <a:noFill/>
        </p:spPr>
        <p:txBody>
          <a:bodyPr wrap="square" lIns="0" tIns="0" rIns="0" bIns="0">
            <a:spAutoFit/>
          </a:bodyPr>
          <a:lstStyle/>
          <a:p>
            <a:pPr>
              <a:spcAft>
                <a:spcPts val="700"/>
              </a:spcAft>
              <a:defRPr sz="1600" b="1">
                <a:solidFill>
                  <a:srgbClr val="47DDC0"/>
                </a:solidFill>
                <a:latin typeface="Aptos"/>
              </a:defRPr>
            </a:pPr>
            <a:r>
              <a:t>APPLICATION</a:t>
            </a:r>
          </a:p>
        </p:txBody>
      </p:sp>
      <p:sp>
        <p:nvSpPr>
          <p:cNvPr id="30" name="TextBox 29"/>
          <p:cNvSpPr txBox="1"/>
          <p:nvPr/>
        </p:nvSpPr>
        <p:spPr>
          <a:xfrm>
            <a:off x="740664" y="3767328"/>
            <a:ext cx="3200400" cy="886968"/>
          </a:xfrm>
          <a:prstGeom prst="rect">
            <a:avLst/>
          </a:prstGeom>
          <a:noFill/>
        </p:spPr>
        <p:txBody>
          <a:bodyPr wrap="square" lIns="0" tIns="0" rIns="0" bIns="0">
            <a:spAutoFit/>
          </a:bodyPr>
          <a:lstStyle/>
          <a:p>
            <a:pPr>
              <a:spcAft>
                <a:spcPts val="700"/>
              </a:spcAft>
              <a:defRPr sz="1600" b="0">
                <a:solidFill>
                  <a:srgbClr val="F3F7F6"/>
                </a:solidFill>
                <a:latin typeface="Aptos"/>
              </a:defRPr>
            </a:pPr>
            <a:r>
              <a:t>Next.js 16 + React 19</a:t>
            </a:r>
          </a:p>
          <a:p>
            <a:pPr>
              <a:spcAft>
                <a:spcPts val="700"/>
              </a:spcAft>
              <a:defRPr sz="1600" b="0">
                <a:solidFill>
                  <a:srgbClr val="F3F7F6"/>
                </a:solidFill>
                <a:latin typeface="Aptos"/>
              </a:defRPr>
            </a:pPr>
            <a:r>
              <a:t>TypeScript, Tailwind, MUI</a:t>
            </a:r>
          </a:p>
          <a:p>
            <a:pPr>
              <a:spcAft>
                <a:spcPts val="700"/>
              </a:spcAft>
              <a:defRPr sz="1600" b="0">
                <a:solidFill>
                  <a:srgbClr val="F3F7F6"/>
                </a:solidFill>
                <a:latin typeface="Aptos"/>
              </a:defRPr>
            </a:pPr>
            <a:r>
              <a:t>Charts + React Flow</a:t>
            </a:r>
          </a:p>
        </p:txBody>
      </p:sp>
      <p:sp>
        <p:nvSpPr>
          <p:cNvPr id="31" name="Rounded Rectangle 30"/>
          <p:cNvSpPr/>
          <p:nvPr/>
        </p:nvSpPr>
        <p:spPr>
          <a:xfrm>
            <a:off x="4334256" y="3127248"/>
            <a:ext cx="3584448" cy="162763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17136" y="3328416"/>
            <a:ext cx="3200400" cy="283464"/>
          </a:xfrm>
          <a:prstGeom prst="rect">
            <a:avLst/>
          </a:prstGeom>
          <a:noFill/>
        </p:spPr>
        <p:txBody>
          <a:bodyPr wrap="square" lIns="0" tIns="0" rIns="0" bIns="0">
            <a:spAutoFit/>
          </a:bodyPr>
          <a:lstStyle/>
          <a:p>
            <a:pPr>
              <a:spcAft>
                <a:spcPts val="700"/>
              </a:spcAft>
              <a:defRPr sz="1600" b="1">
                <a:solidFill>
                  <a:srgbClr val="47DDC0"/>
                </a:solidFill>
                <a:latin typeface="Aptos"/>
              </a:defRPr>
            </a:pPr>
            <a:r>
              <a:t>AI ORCHESTRATION</a:t>
            </a:r>
          </a:p>
        </p:txBody>
      </p:sp>
      <p:sp>
        <p:nvSpPr>
          <p:cNvPr id="33" name="TextBox 32"/>
          <p:cNvSpPr txBox="1"/>
          <p:nvPr/>
        </p:nvSpPr>
        <p:spPr>
          <a:xfrm>
            <a:off x="4517136" y="3767328"/>
            <a:ext cx="3200400" cy="886968"/>
          </a:xfrm>
          <a:prstGeom prst="rect">
            <a:avLst/>
          </a:prstGeom>
          <a:noFill/>
        </p:spPr>
        <p:txBody>
          <a:bodyPr wrap="square" lIns="0" tIns="0" rIns="0" bIns="0">
            <a:spAutoFit/>
          </a:bodyPr>
          <a:lstStyle/>
          <a:p>
            <a:pPr>
              <a:spcAft>
                <a:spcPts val="700"/>
              </a:spcAft>
              <a:defRPr sz="1600" b="0">
                <a:solidFill>
                  <a:srgbClr val="F3F7F6"/>
                </a:solidFill>
                <a:latin typeface="Aptos"/>
              </a:defRPr>
            </a:pPr>
            <a:r>
              <a:t>Zod tool schemas</a:t>
            </a:r>
          </a:p>
          <a:p>
            <a:pPr>
              <a:spcAft>
                <a:spcPts val="700"/>
              </a:spcAft>
              <a:defRPr sz="1600" b="0">
                <a:solidFill>
                  <a:srgbClr val="F3F7F6"/>
                </a:solidFill>
                <a:latin typeface="Aptos"/>
              </a:defRPr>
            </a:pPr>
            <a:r>
              <a:t>Structured action catalog</a:t>
            </a:r>
          </a:p>
          <a:p>
            <a:pPr>
              <a:spcAft>
                <a:spcPts val="700"/>
              </a:spcAft>
              <a:defRPr sz="1600" b="0">
                <a:solidFill>
                  <a:srgbClr val="F3F7F6"/>
                </a:solidFill>
                <a:latin typeface="Aptos"/>
              </a:defRPr>
            </a:pPr>
            <a:r>
              <a:t>Persistent runs + tool logs</a:t>
            </a:r>
          </a:p>
        </p:txBody>
      </p:sp>
      <p:sp>
        <p:nvSpPr>
          <p:cNvPr id="34" name="Rounded Rectangle 33"/>
          <p:cNvSpPr/>
          <p:nvPr/>
        </p:nvSpPr>
        <p:spPr>
          <a:xfrm>
            <a:off x="8110727" y="3127248"/>
            <a:ext cx="3584448" cy="162763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93607" y="3328416"/>
            <a:ext cx="3200400" cy="283464"/>
          </a:xfrm>
          <a:prstGeom prst="rect">
            <a:avLst/>
          </a:prstGeom>
          <a:noFill/>
        </p:spPr>
        <p:txBody>
          <a:bodyPr wrap="square" lIns="0" tIns="0" rIns="0" bIns="0">
            <a:spAutoFit/>
          </a:bodyPr>
          <a:lstStyle/>
          <a:p>
            <a:pPr>
              <a:spcAft>
                <a:spcPts val="700"/>
              </a:spcAft>
              <a:defRPr sz="1600" b="1">
                <a:solidFill>
                  <a:srgbClr val="47DDC0"/>
                </a:solidFill>
                <a:latin typeface="Aptos"/>
              </a:defRPr>
            </a:pPr>
            <a:r>
              <a:t>FINANCIAL CORE</a:t>
            </a:r>
          </a:p>
        </p:txBody>
      </p:sp>
      <p:sp>
        <p:nvSpPr>
          <p:cNvPr id="36" name="TextBox 35"/>
          <p:cNvSpPr txBox="1"/>
          <p:nvPr/>
        </p:nvSpPr>
        <p:spPr>
          <a:xfrm>
            <a:off x="8293607" y="3767328"/>
            <a:ext cx="3200400" cy="886968"/>
          </a:xfrm>
          <a:prstGeom prst="rect">
            <a:avLst/>
          </a:prstGeom>
          <a:noFill/>
        </p:spPr>
        <p:txBody>
          <a:bodyPr wrap="square" lIns="0" tIns="0" rIns="0" bIns="0">
            <a:spAutoFit/>
          </a:bodyPr>
          <a:lstStyle/>
          <a:p>
            <a:pPr>
              <a:spcAft>
                <a:spcPts val="700"/>
              </a:spcAft>
              <a:defRPr sz="1600" b="0">
                <a:solidFill>
                  <a:srgbClr val="F3F7F6"/>
                </a:solidFill>
                <a:latin typeface="Aptos"/>
              </a:defRPr>
            </a:pPr>
            <a:r>
              <a:t>Decimal.js precision</a:t>
            </a:r>
          </a:p>
          <a:p>
            <a:pPr>
              <a:spcAft>
                <a:spcPts val="700"/>
              </a:spcAft>
              <a:defRPr sz="1600" b="0">
                <a:solidFill>
                  <a:srgbClr val="F3F7F6"/>
                </a:solidFill>
                <a:latin typeface="Aptos"/>
              </a:defRPr>
            </a:pPr>
            <a:r>
              <a:t>Row locks + idempotency</a:t>
            </a:r>
          </a:p>
          <a:p>
            <a:pPr>
              <a:spcAft>
                <a:spcPts val="700"/>
              </a:spcAft>
              <a:defRPr sz="1600" b="0">
                <a:solidFill>
                  <a:srgbClr val="F3F7F6"/>
                </a:solidFill>
                <a:latin typeface="Aptos"/>
              </a:defRPr>
            </a:pPr>
            <a:r>
              <a:t>57 relational tables</a:t>
            </a:r>
          </a:p>
        </p:txBody>
      </p:sp>
      <p:sp>
        <p:nvSpPr>
          <p:cNvPr id="37" name="Rounded Rectangle 36"/>
          <p:cNvSpPr/>
          <p:nvPr/>
        </p:nvSpPr>
        <p:spPr>
          <a:xfrm>
            <a:off x="566928" y="5074920"/>
            <a:ext cx="11064240" cy="768096"/>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8096" y="5266944"/>
            <a:ext cx="2011680" cy="274320"/>
          </a:xfrm>
          <a:prstGeom prst="rect">
            <a:avLst/>
          </a:prstGeom>
          <a:noFill/>
        </p:spPr>
        <p:txBody>
          <a:bodyPr wrap="square" lIns="0" tIns="0" rIns="0" bIns="0">
            <a:spAutoFit/>
          </a:bodyPr>
          <a:lstStyle/>
          <a:p>
            <a:pPr>
              <a:spcAft>
                <a:spcPts val="700"/>
              </a:spcAft>
              <a:defRPr sz="1200" b="1">
                <a:solidFill>
                  <a:srgbClr val="47DDC0"/>
                </a:solidFill>
                <a:latin typeface="Aptos"/>
              </a:defRPr>
            </a:pPr>
            <a:r>
              <a:t>PAYMENT LIFECYCLE</a:t>
            </a:r>
          </a:p>
        </p:txBody>
      </p:sp>
      <p:sp>
        <p:nvSpPr>
          <p:cNvPr id="39" name="TextBox 38"/>
          <p:cNvSpPr txBox="1"/>
          <p:nvPr/>
        </p:nvSpPr>
        <p:spPr>
          <a:xfrm>
            <a:off x="2816352" y="5239512"/>
            <a:ext cx="8549640" cy="429768"/>
          </a:xfrm>
          <a:prstGeom prst="rect">
            <a:avLst/>
          </a:prstGeom>
          <a:noFill/>
        </p:spPr>
        <p:txBody>
          <a:bodyPr wrap="square" lIns="0" tIns="0" rIns="0" bIns="0">
            <a:spAutoFit/>
          </a:bodyPr>
          <a:lstStyle/>
          <a:p>
            <a:pPr>
              <a:spcAft>
                <a:spcPts val="700"/>
              </a:spcAft>
              <a:defRPr sz="1500" b="0">
                <a:solidFill>
                  <a:srgbClr val="F3F7F6"/>
                </a:solidFill>
                <a:latin typeface="Aptos"/>
              </a:defRPr>
            </a:pPr>
            <a:r>
              <a:t>Draft → Parent review if needed → Queue → Processing → Completed / Failed / Cancelled</a:t>
            </a:r>
          </a:p>
        </p:txBody>
      </p:sp>
      <p:sp>
        <p:nvSpPr>
          <p:cNvPr id="40" name="TextBox 39"/>
          <p:cNvSpPr txBox="1"/>
          <p:nvPr/>
        </p:nvSpPr>
        <p:spPr>
          <a:xfrm>
            <a:off x="585216" y="5961888"/>
            <a:ext cx="10972800" cy="274320"/>
          </a:xfrm>
          <a:prstGeom prst="rect">
            <a:avLst/>
          </a:prstGeom>
          <a:noFill/>
        </p:spPr>
        <p:txBody>
          <a:bodyPr wrap="square" lIns="0" tIns="0" rIns="0" bIns="0">
            <a:spAutoFit/>
          </a:bodyPr>
          <a:lstStyle/>
          <a:p>
            <a:pPr>
              <a:spcAft>
                <a:spcPts val="700"/>
              </a:spcAft>
              <a:defRPr sz="1100" b="0">
                <a:solidFill>
                  <a:srgbClr val="A8BCC6"/>
                </a:solidFill>
                <a:latin typeface="Aptos"/>
              </a:defRPr>
            </a:pPr>
            <a:r>
              <a:t>External channels use manual settlement. Failed or cancelled eligible requests release held funds or refund through the shared service.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650"/>
                                  <p:tgtEl>
                                    <p:spTgt spid="7"/>
                                  </p:tgtEl>
                                </p:cBhvr>
                              </p:animEffect>
                            </p:childTnLst>
                          </p:cTn>
                        </p:par>
                      </p:childTnLst>
                    </p:cTn>
                  </p:par>
                </p:childTnLst>
              </p:cTn>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E2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700"/>
              </a:spcAft>
              <a:defRPr sz="1000" b="1">
                <a:solidFill>
                  <a:srgbClr val="47DDC0"/>
                </a:solidFill>
                <a:latin typeface="Aptos"/>
              </a:defRPr>
            </a:pPr>
            <a:r>
              <a:t>05 / FEATURES · STUDENT</a:t>
            </a:r>
          </a:p>
        </p:txBody>
      </p:sp>
      <p:sp>
        <p:nvSpPr>
          <p:cNvPr id="3" name="TextBox 2"/>
          <p:cNvSpPr txBox="1"/>
          <p:nvPr/>
        </p:nvSpPr>
        <p:spPr>
          <a:xfrm>
            <a:off x="502920" y="713232"/>
            <a:ext cx="11064240" cy="594360"/>
          </a:xfrm>
          <a:prstGeom prst="rect">
            <a:avLst/>
          </a:prstGeom>
          <a:noFill/>
        </p:spPr>
        <p:txBody>
          <a:bodyPr wrap="square" lIns="0" tIns="0" rIns="0" bIns="0">
            <a:spAutoFit/>
          </a:bodyPr>
          <a:lstStyle/>
          <a:p>
            <a:pPr>
              <a:spcAft>
                <a:spcPts val="700"/>
              </a:spcAft>
              <a:defRPr sz="3200" b="1">
                <a:solidFill>
                  <a:srgbClr val="F3F7F6"/>
                </a:solidFill>
                <a:latin typeface="Aptos"/>
              </a:defRPr>
            </a:pPr>
            <a:r>
              <a:t>Features for students</a:t>
            </a:r>
          </a:p>
        </p:txBody>
      </p:sp>
      <p:sp>
        <p:nvSpPr>
          <p:cNvPr id="4" name="TextBox 3"/>
          <p:cNvSpPr txBox="1"/>
          <p:nvPr/>
        </p:nvSpPr>
        <p:spPr>
          <a:xfrm>
            <a:off x="530352" y="1362456"/>
            <a:ext cx="10927080" cy="502920"/>
          </a:xfrm>
          <a:prstGeom prst="rect">
            <a:avLst/>
          </a:prstGeom>
          <a:noFill/>
        </p:spPr>
        <p:txBody>
          <a:bodyPr wrap="square" lIns="0" tIns="0" rIns="0" bIns="0">
            <a:spAutoFit/>
          </a:bodyPr>
          <a:lstStyle/>
          <a:p>
            <a:pPr>
              <a:spcAft>
                <a:spcPts val="700"/>
              </a:spcAft>
              <a:defRPr sz="1400" b="0">
                <a:solidFill>
                  <a:srgbClr val="A8BCC6"/>
                </a:solidFill>
                <a:latin typeface="Aptos"/>
              </a:defRPr>
            </a:pPr>
            <a:r>
              <a:t>A complete journey from everyday spending to semester funding and reviewed AI-assisted actions.</a:t>
            </a:r>
          </a:p>
        </p:txBody>
      </p:sp>
      <p:sp>
        <p:nvSpPr>
          <p:cNvPr id="5" name="Rectangle 4"/>
          <p:cNvSpPr/>
          <p:nvPr/>
        </p:nvSpPr>
        <p:spPr>
          <a:xfrm>
            <a:off x="502920" y="6437376"/>
            <a:ext cx="11155680" cy="10972"/>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547104"/>
            <a:ext cx="9144000" cy="182880"/>
          </a:xfrm>
          <a:prstGeom prst="rect">
            <a:avLst/>
          </a:prstGeom>
          <a:noFill/>
        </p:spPr>
        <p:txBody>
          <a:bodyPr wrap="square" lIns="0" tIns="0" rIns="0" bIns="0">
            <a:spAutoFit/>
          </a:bodyPr>
          <a:lstStyle/>
          <a:p>
            <a:pPr>
              <a:spcAft>
                <a:spcPts val="700"/>
              </a:spcAft>
              <a:defRPr sz="900" b="0">
                <a:solidFill>
                  <a:srgbClr val="A8BCC6"/>
                </a:solidFill>
                <a:latin typeface="Aptos"/>
              </a:defRPr>
            </a:pPr>
            <a:r>
              <a:t>FINBRIDGE AI  /  PROJECT PRESENTATION</a:t>
            </a:r>
          </a:p>
        </p:txBody>
      </p:sp>
      <p:sp>
        <p:nvSpPr>
          <p:cNvPr id="7" name="TextBox 6"/>
          <p:cNvSpPr txBox="1"/>
          <p:nvPr/>
        </p:nvSpPr>
        <p:spPr>
          <a:xfrm>
            <a:off x="10698480" y="6510528"/>
            <a:ext cx="914400" cy="228600"/>
          </a:xfrm>
          <a:prstGeom prst="rect">
            <a:avLst/>
          </a:prstGeom>
          <a:noFill/>
        </p:spPr>
        <p:txBody>
          <a:bodyPr wrap="square" lIns="0" tIns="0" rIns="0" bIns="0">
            <a:spAutoFit/>
          </a:bodyPr>
          <a:lstStyle/>
          <a:p>
            <a:pPr algn="r">
              <a:spcAft>
                <a:spcPts val="700"/>
              </a:spcAft>
              <a:defRPr sz="1000" b="0">
                <a:solidFill>
                  <a:srgbClr val="A8BCC6"/>
                </a:solidFill>
                <a:latin typeface="Aptos"/>
              </a:defRPr>
            </a:pPr>
            <a:r>
              <a:t>06 / 10</a:t>
            </a:r>
          </a:p>
        </p:txBody>
      </p:sp>
      <p:pic>
        <p:nvPicPr>
          <p:cNvPr id="8" name="Picture 7" descr="signal-01.gif"/>
          <p:cNvPicPr>
            <a:picLocks noChangeAspect="1"/>
          </p:cNvPicPr>
          <p:nvPr/>
        </p:nvPicPr>
        <p:blipFill>
          <a:blip r:embed="rId3"/>
          <a:stretch>
            <a:fillRect/>
          </a:stretch>
        </p:blipFill>
        <p:spPr>
          <a:xfrm>
            <a:off x="10515600" y="109728"/>
            <a:ext cx="1143000" cy="466344"/>
          </a:xfrm>
          <a:prstGeom prst="rect">
            <a:avLst/>
          </a:prstGeom>
        </p:spPr>
      </p:pic>
      <p:sp>
        <p:nvSpPr>
          <p:cNvPr id="9" name="Rounded Rectangle 8"/>
          <p:cNvSpPr/>
          <p:nvPr/>
        </p:nvSpPr>
        <p:spPr>
          <a:xfrm>
            <a:off x="530352" y="193852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94944" y="209397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212598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01</a:t>
            </a:r>
          </a:p>
        </p:txBody>
      </p:sp>
      <p:sp>
        <p:nvSpPr>
          <p:cNvPr id="12" name="TextBox 11"/>
          <p:cNvSpPr txBox="1"/>
          <p:nvPr/>
        </p:nvSpPr>
        <p:spPr>
          <a:xfrm>
            <a:off x="1243584" y="207568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Money + transactions</a:t>
            </a:r>
          </a:p>
        </p:txBody>
      </p:sp>
      <p:sp>
        <p:nvSpPr>
          <p:cNvPr id="13" name="TextBox 12"/>
          <p:cNvSpPr txBox="1"/>
          <p:nvPr/>
        </p:nvSpPr>
        <p:spPr>
          <a:xfrm>
            <a:off x="713232" y="256032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Multi-currency accounts; cash records; expenses/income; categories; search/filter; CSV mapping, preview and atomic import.</a:t>
            </a:r>
          </a:p>
        </p:txBody>
      </p:sp>
      <p:sp>
        <p:nvSpPr>
          <p:cNvPr id="14" name="Rounded Rectangle 13"/>
          <p:cNvSpPr/>
          <p:nvPr/>
        </p:nvSpPr>
        <p:spPr>
          <a:xfrm>
            <a:off x="4297680" y="193852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462272" y="209397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35424" y="212598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02</a:t>
            </a:r>
          </a:p>
        </p:txBody>
      </p:sp>
      <p:sp>
        <p:nvSpPr>
          <p:cNvPr id="17" name="TextBox 16"/>
          <p:cNvSpPr txBox="1"/>
          <p:nvPr/>
        </p:nvSpPr>
        <p:spPr>
          <a:xfrm>
            <a:off x="5010912" y="207568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Planning + readiness</a:t>
            </a:r>
          </a:p>
        </p:txBody>
      </p:sp>
      <p:sp>
        <p:nvSpPr>
          <p:cNvPr id="18" name="TextBox 17"/>
          <p:cNvSpPr txBox="1"/>
          <p:nvPr/>
        </p:nvSpPr>
        <p:spPr>
          <a:xfrm>
            <a:off x="4480560" y="256032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Category budgets; spending charts; tuition invoices, scholarships, deadlines, savings targets and funding scenarios; credit checklist.</a:t>
            </a:r>
          </a:p>
        </p:txBody>
      </p:sp>
      <p:sp>
        <p:nvSpPr>
          <p:cNvPr id="19" name="Rounded Rectangle 18"/>
          <p:cNvSpPr/>
          <p:nvPr/>
        </p:nvSpPr>
        <p:spPr>
          <a:xfrm>
            <a:off x="8065008" y="193852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229600" y="209397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02752" y="212598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03</a:t>
            </a:r>
          </a:p>
        </p:txBody>
      </p:sp>
      <p:sp>
        <p:nvSpPr>
          <p:cNvPr id="22" name="TextBox 21"/>
          <p:cNvSpPr txBox="1"/>
          <p:nvPr/>
        </p:nvSpPr>
        <p:spPr>
          <a:xfrm>
            <a:off x="8778240" y="207568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Transfers + payments</a:t>
            </a:r>
          </a:p>
        </p:txBody>
      </p:sp>
      <p:sp>
        <p:nvSpPr>
          <p:cNvPr id="23" name="TextBox 22"/>
          <p:cNvSpPr txBox="1"/>
          <p:nvPr/>
        </p:nvSpPr>
        <p:spPr>
          <a:xfrm>
            <a:off x="8247888" y="256032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Provider / fee / FX comparison; locked quotes; internal sends, card top-ups, manual deposits, withdrawals; saved beneficiaries and receipts.</a:t>
            </a:r>
          </a:p>
        </p:txBody>
      </p:sp>
      <p:sp>
        <p:nvSpPr>
          <p:cNvPr id="24" name="Rounded Rectangle 23"/>
          <p:cNvSpPr/>
          <p:nvPr/>
        </p:nvSpPr>
        <p:spPr>
          <a:xfrm>
            <a:off x="530352" y="395020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94944" y="410565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8096" y="413766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04</a:t>
            </a:r>
          </a:p>
        </p:txBody>
      </p:sp>
      <p:sp>
        <p:nvSpPr>
          <p:cNvPr id="27" name="TextBox 26"/>
          <p:cNvSpPr txBox="1"/>
          <p:nvPr/>
        </p:nvSpPr>
        <p:spPr>
          <a:xfrm>
            <a:off x="1243584" y="408736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AI financial copilot</a:t>
            </a:r>
          </a:p>
        </p:txBody>
      </p:sp>
      <p:sp>
        <p:nvSpPr>
          <p:cNvPr id="28" name="TextBox 27"/>
          <p:cNvSpPr txBox="1"/>
          <p:nvPr/>
        </p:nvSpPr>
        <p:spPr>
          <a:xfrm>
            <a:off x="713232" y="457200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Model selection; chat history and tool progress; funding and budget advice; follow-up questions; navigation and confirmed actions.</a:t>
            </a:r>
          </a:p>
        </p:txBody>
      </p:sp>
      <p:sp>
        <p:nvSpPr>
          <p:cNvPr id="29" name="Rounded Rectangle 28"/>
          <p:cNvSpPr/>
          <p:nvPr/>
        </p:nvSpPr>
        <p:spPr>
          <a:xfrm>
            <a:off x="4297680" y="395020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462272" y="410565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35424" y="413766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05</a:t>
            </a:r>
          </a:p>
        </p:txBody>
      </p:sp>
      <p:sp>
        <p:nvSpPr>
          <p:cNvPr id="32" name="TextBox 31"/>
          <p:cNvSpPr txBox="1"/>
          <p:nvPr/>
        </p:nvSpPr>
        <p:spPr>
          <a:xfrm>
            <a:off x="5010912" y="408736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Family + awareness</a:t>
            </a:r>
          </a:p>
        </p:txBody>
      </p:sp>
      <p:sp>
        <p:nvSpPr>
          <p:cNvPr id="33" name="TextBox 32"/>
          <p:cNvSpPr txBox="1"/>
          <p:nvPr/>
        </p:nvSpPr>
        <p:spPr>
          <a:xfrm>
            <a:off x="4480560" y="457200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Accept family invitations; parent-governed recipients and transfers; automatic alerts, reminders, snooze/dismiss; activity and ledger history.</a:t>
            </a:r>
          </a:p>
        </p:txBody>
      </p:sp>
      <p:sp>
        <p:nvSpPr>
          <p:cNvPr id="34" name="Rounded Rectangle 33"/>
          <p:cNvSpPr/>
          <p:nvPr/>
        </p:nvSpPr>
        <p:spPr>
          <a:xfrm>
            <a:off x="8065008" y="395020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229600" y="410565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02752" y="413766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06</a:t>
            </a:r>
          </a:p>
        </p:txBody>
      </p:sp>
      <p:sp>
        <p:nvSpPr>
          <p:cNvPr id="37" name="TextBox 36"/>
          <p:cNvSpPr txBox="1"/>
          <p:nvPr/>
        </p:nvSpPr>
        <p:spPr>
          <a:xfrm>
            <a:off x="8778240" y="408736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Account + personalization</a:t>
            </a:r>
          </a:p>
        </p:txBody>
      </p:sp>
      <p:sp>
        <p:nvSpPr>
          <p:cNvPr id="38" name="TextBox 37"/>
          <p:cNvSpPr txBox="1"/>
          <p:nvPr/>
        </p:nvSpPr>
        <p:spPr>
          <a:xfrm>
            <a:off x="8247888" y="457200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Plans, quotas, demo checkout and history; saved cards; model keys; profile/security; languages, themes, search; reports, export and closure.</a:t>
            </a:r>
          </a:p>
        </p:txBody>
      </p:sp>
      <p:sp>
        <p:nvSpPr>
          <p:cNvPr id="39" name="TextBox 38"/>
          <p:cNvSpPr txBox="1"/>
          <p:nvPr/>
        </p:nvSpPr>
        <p:spPr>
          <a:xfrm>
            <a:off x="603504" y="6007608"/>
            <a:ext cx="914400" cy="201168"/>
          </a:xfrm>
          <a:prstGeom prst="rect">
            <a:avLst/>
          </a:prstGeom>
          <a:noFill/>
        </p:spPr>
        <p:txBody>
          <a:bodyPr wrap="square" lIns="0" tIns="0" rIns="0" bIns="0">
            <a:spAutoFit/>
          </a:bodyPr>
          <a:lstStyle/>
          <a:p>
            <a:pPr>
              <a:spcAft>
                <a:spcPts val="700"/>
              </a:spcAft>
              <a:defRPr sz="1000" b="0">
                <a:solidFill>
                  <a:srgbClr val="A8BCC6"/>
                </a:solidFill>
                <a:latin typeface="Aptos"/>
              </a:defRPr>
            </a:pPr>
            <a:r>
              <a:t>Housing</a:t>
            </a:r>
          </a:p>
        </p:txBody>
      </p:sp>
      <p:sp>
        <p:nvSpPr>
          <p:cNvPr id="40" name="Rectangle 39"/>
          <p:cNvSpPr/>
          <p:nvPr/>
        </p:nvSpPr>
        <p:spPr>
          <a:xfrm>
            <a:off x="1517904" y="6053328"/>
            <a:ext cx="2103120" cy="73152"/>
          </a:xfrm>
          <a:prstGeom prst="rect">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517904" y="6053328"/>
            <a:ext cx="1367028" cy="73152"/>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70832" y="6007608"/>
            <a:ext cx="914400" cy="201168"/>
          </a:xfrm>
          <a:prstGeom prst="rect">
            <a:avLst/>
          </a:prstGeom>
          <a:noFill/>
        </p:spPr>
        <p:txBody>
          <a:bodyPr wrap="square" lIns="0" tIns="0" rIns="0" bIns="0">
            <a:spAutoFit/>
          </a:bodyPr>
          <a:lstStyle/>
          <a:p>
            <a:pPr>
              <a:spcAft>
                <a:spcPts val="700"/>
              </a:spcAft>
              <a:defRPr sz="1000" b="0">
                <a:solidFill>
                  <a:srgbClr val="A8BCC6"/>
                </a:solidFill>
                <a:latin typeface="Aptos"/>
              </a:defRPr>
            </a:pPr>
            <a:r>
              <a:t>Food</a:t>
            </a:r>
          </a:p>
        </p:txBody>
      </p:sp>
      <p:sp>
        <p:nvSpPr>
          <p:cNvPr id="43" name="Rectangle 42"/>
          <p:cNvSpPr/>
          <p:nvPr/>
        </p:nvSpPr>
        <p:spPr>
          <a:xfrm>
            <a:off x="5285232" y="6053328"/>
            <a:ext cx="2103120" cy="73152"/>
          </a:xfrm>
          <a:prstGeom prst="rect">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285232" y="6053328"/>
            <a:ext cx="841247" cy="73152"/>
          </a:xfrm>
          <a:prstGeom prst="rect">
            <a:avLst/>
          </a:prstGeom>
          <a:solidFill>
            <a:srgbClr val="72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138160" y="6007608"/>
            <a:ext cx="914400" cy="201168"/>
          </a:xfrm>
          <a:prstGeom prst="rect">
            <a:avLst/>
          </a:prstGeom>
          <a:noFill/>
        </p:spPr>
        <p:txBody>
          <a:bodyPr wrap="square" lIns="0" tIns="0" rIns="0" bIns="0">
            <a:spAutoFit/>
          </a:bodyPr>
          <a:lstStyle/>
          <a:p>
            <a:pPr>
              <a:spcAft>
                <a:spcPts val="700"/>
              </a:spcAft>
              <a:defRPr sz="1000" b="0">
                <a:solidFill>
                  <a:srgbClr val="A8BCC6"/>
                </a:solidFill>
                <a:latin typeface="Aptos"/>
              </a:defRPr>
            </a:pPr>
            <a:r>
              <a:t>Savings</a:t>
            </a:r>
          </a:p>
        </p:txBody>
      </p:sp>
      <p:sp>
        <p:nvSpPr>
          <p:cNvPr id="46" name="Rectangle 45"/>
          <p:cNvSpPr/>
          <p:nvPr/>
        </p:nvSpPr>
        <p:spPr>
          <a:xfrm>
            <a:off x="9052560" y="6053328"/>
            <a:ext cx="2103120" cy="73152"/>
          </a:xfrm>
          <a:prstGeom prst="rect">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9052560" y="6053328"/>
            <a:ext cx="525780" cy="73152"/>
          </a:xfrm>
          <a:prstGeom prst="rect">
            <a:avLst/>
          </a:prstGeom>
          <a:solidFill>
            <a:srgbClr val="FFC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345168" y="6199632"/>
            <a:ext cx="2240280" cy="137160"/>
          </a:xfrm>
          <a:prstGeom prst="rect">
            <a:avLst/>
          </a:prstGeom>
          <a:noFill/>
        </p:spPr>
        <p:txBody>
          <a:bodyPr wrap="square" lIns="0" tIns="0" rIns="0" bIns="0">
            <a:spAutoFit/>
          </a:bodyPr>
          <a:lstStyle/>
          <a:p>
            <a:pPr>
              <a:spcAft>
                <a:spcPts val="700"/>
              </a:spcAft>
              <a:defRPr sz="800" b="0">
                <a:solidFill>
                  <a:srgbClr val="A8BCC6"/>
                </a:solidFill>
                <a:latin typeface="Aptos"/>
              </a:defRPr>
            </a:pPr>
            <a:r>
              <a:t>Illustrative budget bars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650"/>
                                  <p:tgtEl>
                                    <p:spTgt spid="7"/>
                                  </p:tgtEl>
                                </p:cBhvr>
                              </p:animEffect>
                            </p:childTnLst>
                          </p:cTn>
                        </p:par>
                      </p:childTnLst>
                    </p:cTn>
                  </p:par>
                </p:childTnLst>
              </p:cTn>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E2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700"/>
              </a:spcAft>
              <a:defRPr sz="1000" b="1">
                <a:solidFill>
                  <a:srgbClr val="47DDC0"/>
                </a:solidFill>
                <a:latin typeface="Aptos"/>
              </a:defRPr>
            </a:pPr>
            <a:r>
              <a:t>06 / FEATURES · PARENT</a:t>
            </a:r>
          </a:p>
        </p:txBody>
      </p:sp>
      <p:sp>
        <p:nvSpPr>
          <p:cNvPr id="3" name="TextBox 2"/>
          <p:cNvSpPr txBox="1"/>
          <p:nvPr/>
        </p:nvSpPr>
        <p:spPr>
          <a:xfrm>
            <a:off x="502920" y="713232"/>
            <a:ext cx="11064240" cy="594360"/>
          </a:xfrm>
          <a:prstGeom prst="rect">
            <a:avLst/>
          </a:prstGeom>
          <a:noFill/>
        </p:spPr>
        <p:txBody>
          <a:bodyPr wrap="square" lIns="0" tIns="0" rIns="0" bIns="0">
            <a:spAutoFit/>
          </a:bodyPr>
          <a:lstStyle/>
          <a:p>
            <a:pPr>
              <a:spcAft>
                <a:spcPts val="700"/>
              </a:spcAft>
              <a:defRPr sz="3200" b="1">
                <a:solidFill>
                  <a:srgbClr val="F3F7F6"/>
                </a:solidFill>
                <a:latin typeface="Aptos"/>
              </a:defRPr>
            </a:pPr>
            <a:r>
              <a:t>Features for parents</a:t>
            </a:r>
          </a:p>
        </p:txBody>
      </p:sp>
      <p:sp>
        <p:nvSpPr>
          <p:cNvPr id="4" name="TextBox 3"/>
          <p:cNvSpPr txBox="1"/>
          <p:nvPr/>
        </p:nvSpPr>
        <p:spPr>
          <a:xfrm>
            <a:off x="530352" y="1362456"/>
            <a:ext cx="10927080" cy="502920"/>
          </a:xfrm>
          <a:prstGeom prst="rect">
            <a:avLst/>
          </a:prstGeom>
          <a:noFill/>
        </p:spPr>
        <p:txBody>
          <a:bodyPr wrap="square" lIns="0" tIns="0" rIns="0" bIns="0">
            <a:spAutoFit/>
          </a:bodyPr>
          <a:lstStyle/>
          <a:p>
            <a:pPr>
              <a:spcAft>
                <a:spcPts val="700"/>
              </a:spcAft>
              <a:defRPr sz="1400" b="0">
                <a:solidFill>
                  <a:srgbClr val="A8BCC6"/>
                </a:solidFill>
                <a:latin typeface="Aptos"/>
              </a:defRPr>
            </a:pPr>
            <a:r>
              <a:t>Fund a student with clear visibility and configurable guardrails that preserve financial independence.</a:t>
            </a:r>
          </a:p>
        </p:txBody>
      </p:sp>
      <p:sp>
        <p:nvSpPr>
          <p:cNvPr id="5" name="Rectangle 4"/>
          <p:cNvSpPr/>
          <p:nvPr/>
        </p:nvSpPr>
        <p:spPr>
          <a:xfrm>
            <a:off x="502920" y="6437376"/>
            <a:ext cx="11155680" cy="10972"/>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547104"/>
            <a:ext cx="9144000" cy="182880"/>
          </a:xfrm>
          <a:prstGeom prst="rect">
            <a:avLst/>
          </a:prstGeom>
          <a:noFill/>
        </p:spPr>
        <p:txBody>
          <a:bodyPr wrap="square" lIns="0" tIns="0" rIns="0" bIns="0">
            <a:spAutoFit/>
          </a:bodyPr>
          <a:lstStyle/>
          <a:p>
            <a:pPr>
              <a:spcAft>
                <a:spcPts val="700"/>
              </a:spcAft>
              <a:defRPr sz="900" b="0">
                <a:solidFill>
                  <a:srgbClr val="A8BCC6"/>
                </a:solidFill>
                <a:latin typeface="Aptos"/>
              </a:defRPr>
            </a:pPr>
            <a:r>
              <a:t>FINBRIDGE AI  /  PROJECT PRESENTATION</a:t>
            </a:r>
          </a:p>
        </p:txBody>
      </p:sp>
      <p:sp>
        <p:nvSpPr>
          <p:cNvPr id="7" name="TextBox 6"/>
          <p:cNvSpPr txBox="1"/>
          <p:nvPr/>
        </p:nvSpPr>
        <p:spPr>
          <a:xfrm>
            <a:off x="10698480" y="6510528"/>
            <a:ext cx="914400" cy="228600"/>
          </a:xfrm>
          <a:prstGeom prst="rect">
            <a:avLst/>
          </a:prstGeom>
          <a:noFill/>
        </p:spPr>
        <p:txBody>
          <a:bodyPr wrap="square" lIns="0" tIns="0" rIns="0" bIns="0">
            <a:spAutoFit/>
          </a:bodyPr>
          <a:lstStyle/>
          <a:p>
            <a:pPr algn="r">
              <a:spcAft>
                <a:spcPts val="700"/>
              </a:spcAft>
              <a:defRPr sz="1000" b="0">
                <a:solidFill>
                  <a:srgbClr val="A8BCC6"/>
                </a:solidFill>
                <a:latin typeface="Aptos"/>
              </a:defRPr>
            </a:pPr>
            <a:r>
              <a:t>07 / 10</a:t>
            </a:r>
          </a:p>
        </p:txBody>
      </p:sp>
      <p:pic>
        <p:nvPicPr>
          <p:cNvPr id="8" name="Picture 7" descr="signal-01.gif"/>
          <p:cNvPicPr>
            <a:picLocks noChangeAspect="1"/>
          </p:cNvPicPr>
          <p:nvPr/>
        </p:nvPicPr>
        <p:blipFill>
          <a:blip r:embed="rId3"/>
          <a:stretch>
            <a:fillRect/>
          </a:stretch>
        </p:blipFill>
        <p:spPr>
          <a:xfrm>
            <a:off x="10515600" y="109728"/>
            <a:ext cx="1143000" cy="466344"/>
          </a:xfrm>
          <a:prstGeom prst="rect">
            <a:avLst/>
          </a:prstGeom>
        </p:spPr>
      </p:pic>
      <p:sp>
        <p:nvSpPr>
          <p:cNvPr id="9" name="Rounded Rectangle 8"/>
          <p:cNvSpPr/>
          <p:nvPr/>
        </p:nvSpPr>
        <p:spPr>
          <a:xfrm>
            <a:off x="530352" y="193852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94944" y="209397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212598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01</a:t>
            </a:r>
          </a:p>
        </p:txBody>
      </p:sp>
      <p:sp>
        <p:nvSpPr>
          <p:cNvPr id="12" name="TextBox 11"/>
          <p:cNvSpPr txBox="1"/>
          <p:nvPr/>
        </p:nvSpPr>
        <p:spPr>
          <a:xfrm>
            <a:off x="1243584" y="207568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Family circle</a:t>
            </a:r>
          </a:p>
        </p:txBody>
      </p:sp>
      <p:sp>
        <p:nvSpPr>
          <p:cNvPr id="13" name="TextBox 12"/>
          <p:cNvSpPr txBox="1"/>
          <p:nvPr/>
        </p:nvSpPr>
        <p:spPr>
          <a:xfrm>
            <a:off x="713232" y="256032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Invite registered students; manage linked relationships; revoke access; review linked-student finances.</a:t>
            </a:r>
          </a:p>
        </p:txBody>
      </p:sp>
      <p:sp>
        <p:nvSpPr>
          <p:cNvPr id="14" name="Rounded Rectangle 13"/>
          <p:cNvSpPr/>
          <p:nvPr/>
        </p:nvSpPr>
        <p:spPr>
          <a:xfrm>
            <a:off x="4297680" y="193852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462272" y="209397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35424" y="212598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02</a:t>
            </a:r>
          </a:p>
        </p:txBody>
      </p:sp>
      <p:sp>
        <p:nvSpPr>
          <p:cNvPr id="17" name="TextBox 16"/>
          <p:cNvSpPr txBox="1"/>
          <p:nvPr/>
        </p:nvSpPr>
        <p:spPr>
          <a:xfrm>
            <a:off x="5010912" y="207568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Granular visibility</a:t>
            </a:r>
          </a:p>
        </p:txBody>
      </p:sp>
      <p:sp>
        <p:nvSpPr>
          <p:cNvPr id="18" name="TextBox 17"/>
          <p:cNvSpPr txBox="1"/>
          <p:nvPr/>
        </p:nvSpPr>
        <p:spPr>
          <a:xfrm>
            <a:off x="4480560" y="256032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Choose access to balances, category totals, transaction descriptions, tuition and budgets; permission-aware alerts.</a:t>
            </a:r>
          </a:p>
        </p:txBody>
      </p:sp>
      <p:sp>
        <p:nvSpPr>
          <p:cNvPr id="19" name="Rounded Rectangle 18"/>
          <p:cNvSpPr/>
          <p:nvPr/>
        </p:nvSpPr>
        <p:spPr>
          <a:xfrm>
            <a:off x="8065008" y="193852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229600" y="209397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02752" y="212598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03</a:t>
            </a:r>
          </a:p>
        </p:txBody>
      </p:sp>
      <p:sp>
        <p:nvSpPr>
          <p:cNvPr id="22" name="TextBox 21"/>
          <p:cNvSpPr txBox="1"/>
          <p:nvPr/>
        </p:nvSpPr>
        <p:spPr>
          <a:xfrm>
            <a:off x="8778240" y="207568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Approval center</a:t>
            </a:r>
          </a:p>
        </p:txBody>
      </p:sp>
      <p:sp>
        <p:nvSpPr>
          <p:cNvPr id="23" name="TextBox 22"/>
          <p:cNvSpPr txBox="1"/>
          <p:nvPr/>
        </p:nvSpPr>
        <p:spPr>
          <a:xfrm>
            <a:off x="8247888" y="256032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Approve/reject payment and transfer requests with reasons; approve student beneficiaries; tuition and conversion sign-off.</a:t>
            </a:r>
          </a:p>
        </p:txBody>
      </p:sp>
      <p:sp>
        <p:nvSpPr>
          <p:cNvPr id="24" name="Rounded Rectangle 23"/>
          <p:cNvSpPr/>
          <p:nvPr/>
        </p:nvSpPr>
        <p:spPr>
          <a:xfrm>
            <a:off x="530352" y="395020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94944" y="410565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8096" y="413766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04</a:t>
            </a:r>
          </a:p>
        </p:txBody>
      </p:sp>
      <p:sp>
        <p:nvSpPr>
          <p:cNvPr id="27" name="TextBox 26"/>
          <p:cNvSpPr txBox="1"/>
          <p:nvPr/>
        </p:nvSpPr>
        <p:spPr>
          <a:xfrm>
            <a:off x="1243584" y="408736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Spending controls</a:t>
            </a:r>
          </a:p>
        </p:txBody>
      </p:sp>
      <p:sp>
        <p:nvSpPr>
          <p:cNvPr id="28" name="TextBox 27"/>
          <p:cNvSpPr txBox="1"/>
          <p:nvPr/>
        </p:nvSpPr>
        <p:spPr>
          <a:xfrm>
            <a:off x="713232" y="457200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Thresholds; per-transfer, daily and monthly caps; category limits; auto-approval and one-time recipient rules.</a:t>
            </a:r>
          </a:p>
        </p:txBody>
      </p:sp>
      <p:sp>
        <p:nvSpPr>
          <p:cNvPr id="29" name="Rounded Rectangle 28"/>
          <p:cNvSpPr/>
          <p:nvPr/>
        </p:nvSpPr>
        <p:spPr>
          <a:xfrm>
            <a:off x="4297680" y="395020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462272" y="410565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35424" y="413766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05</a:t>
            </a:r>
          </a:p>
        </p:txBody>
      </p:sp>
      <p:sp>
        <p:nvSpPr>
          <p:cNvPr id="32" name="TextBox 31"/>
          <p:cNvSpPr txBox="1"/>
          <p:nvPr/>
        </p:nvSpPr>
        <p:spPr>
          <a:xfrm>
            <a:off x="5010912" y="408736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Parent money + AI</a:t>
            </a:r>
          </a:p>
        </p:txBody>
      </p:sp>
      <p:sp>
        <p:nvSpPr>
          <p:cNvPr id="33" name="TextBox 32"/>
          <p:cNvSpPr txBox="1"/>
          <p:nvPr/>
        </p:nvSpPr>
        <p:spPr>
          <a:xfrm>
            <a:off x="4480560" y="457200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Independent wallets; parent-to-student transfers; deposits and payment history; beneficiaries; AI assistance with reviewed decisions.</a:t>
            </a:r>
          </a:p>
        </p:txBody>
      </p:sp>
      <p:sp>
        <p:nvSpPr>
          <p:cNvPr id="34" name="Rounded Rectangle 33"/>
          <p:cNvSpPr/>
          <p:nvPr/>
        </p:nvSpPr>
        <p:spPr>
          <a:xfrm>
            <a:off x="8065008" y="395020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229600" y="410565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02752" y="413766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06</a:t>
            </a:r>
          </a:p>
        </p:txBody>
      </p:sp>
      <p:sp>
        <p:nvSpPr>
          <p:cNvPr id="37" name="TextBox 36"/>
          <p:cNvSpPr txBox="1"/>
          <p:nvPr/>
        </p:nvSpPr>
        <p:spPr>
          <a:xfrm>
            <a:off x="8778240" y="408736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Shared account tools</a:t>
            </a:r>
          </a:p>
        </p:txBody>
      </p:sp>
      <p:sp>
        <p:nvSpPr>
          <p:cNvPr id="38" name="TextBox 37"/>
          <p:cNvSpPr txBox="1"/>
          <p:nvPr/>
        </p:nvSpPr>
        <p:spPr>
          <a:xfrm>
            <a:off x="8247888" y="457200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Transactions and CSV; subscriptions, saved cards and models; reports, alerts, preferences, security, data export and closure.</a:t>
            </a:r>
          </a:p>
        </p:txBody>
      </p:sp>
      <p:sp>
        <p:nvSpPr>
          <p:cNvPr id="39" name="TextBox 38"/>
          <p:cNvSpPr txBox="1"/>
          <p:nvPr/>
        </p:nvSpPr>
        <p:spPr>
          <a:xfrm>
            <a:off x="594360" y="6007608"/>
            <a:ext cx="1353312" cy="201168"/>
          </a:xfrm>
          <a:prstGeom prst="rect">
            <a:avLst/>
          </a:prstGeom>
          <a:noFill/>
        </p:spPr>
        <p:txBody>
          <a:bodyPr wrap="square" lIns="0" tIns="0" rIns="0" bIns="0">
            <a:spAutoFit/>
          </a:bodyPr>
          <a:lstStyle/>
          <a:p>
            <a:pPr>
              <a:spcAft>
                <a:spcPts val="700"/>
              </a:spcAft>
              <a:defRPr sz="1000" b="0">
                <a:solidFill>
                  <a:srgbClr val="A8BCC6"/>
                </a:solidFill>
                <a:latin typeface="Aptos"/>
              </a:defRPr>
            </a:pPr>
            <a:r>
              <a:t>Platform ceiling</a:t>
            </a:r>
          </a:p>
        </p:txBody>
      </p:sp>
      <p:sp>
        <p:nvSpPr>
          <p:cNvPr id="40" name="Rectangle 39"/>
          <p:cNvSpPr/>
          <p:nvPr/>
        </p:nvSpPr>
        <p:spPr>
          <a:xfrm>
            <a:off x="1965960" y="6053328"/>
            <a:ext cx="1874519" cy="73152"/>
          </a:xfrm>
          <a:prstGeom prst="rect">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965960" y="6053328"/>
            <a:ext cx="1837029" cy="73152"/>
          </a:xfrm>
          <a:prstGeom prst="rect">
            <a:avLst/>
          </a:prstGeom>
          <a:solidFill>
            <a:srgbClr val="72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70832" y="6007608"/>
            <a:ext cx="1353312" cy="201168"/>
          </a:xfrm>
          <a:prstGeom prst="rect">
            <a:avLst/>
          </a:prstGeom>
          <a:noFill/>
        </p:spPr>
        <p:txBody>
          <a:bodyPr wrap="square" lIns="0" tIns="0" rIns="0" bIns="0">
            <a:spAutoFit/>
          </a:bodyPr>
          <a:lstStyle/>
          <a:p>
            <a:pPr>
              <a:spcAft>
                <a:spcPts val="700"/>
              </a:spcAft>
              <a:defRPr sz="1000" b="0">
                <a:solidFill>
                  <a:srgbClr val="A8BCC6"/>
                </a:solidFill>
                <a:latin typeface="Aptos"/>
              </a:defRPr>
            </a:pPr>
            <a:r>
              <a:t>Parent limit</a:t>
            </a:r>
          </a:p>
        </p:txBody>
      </p:sp>
      <p:sp>
        <p:nvSpPr>
          <p:cNvPr id="43" name="Rectangle 42"/>
          <p:cNvSpPr/>
          <p:nvPr/>
        </p:nvSpPr>
        <p:spPr>
          <a:xfrm>
            <a:off x="5742432" y="6053328"/>
            <a:ext cx="1874519" cy="73152"/>
          </a:xfrm>
          <a:prstGeom prst="rect">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742432" y="6053328"/>
            <a:ext cx="1312163" cy="73152"/>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147304" y="6007608"/>
            <a:ext cx="1353312" cy="201168"/>
          </a:xfrm>
          <a:prstGeom prst="rect">
            <a:avLst/>
          </a:prstGeom>
          <a:noFill/>
        </p:spPr>
        <p:txBody>
          <a:bodyPr wrap="square" lIns="0" tIns="0" rIns="0" bIns="0">
            <a:spAutoFit/>
          </a:bodyPr>
          <a:lstStyle/>
          <a:p>
            <a:pPr>
              <a:spcAft>
                <a:spcPts val="700"/>
              </a:spcAft>
              <a:defRPr sz="1000" b="0">
                <a:solidFill>
                  <a:srgbClr val="A8BCC6"/>
                </a:solidFill>
                <a:latin typeface="Aptos"/>
              </a:defRPr>
            </a:pPr>
            <a:r>
              <a:t>Allowed spending</a:t>
            </a:r>
          </a:p>
        </p:txBody>
      </p:sp>
      <p:sp>
        <p:nvSpPr>
          <p:cNvPr id="46" name="Rectangle 45"/>
          <p:cNvSpPr/>
          <p:nvPr/>
        </p:nvSpPr>
        <p:spPr>
          <a:xfrm>
            <a:off x="9518904" y="6053328"/>
            <a:ext cx="1874519" cy="73152"/>
          </a:xfrm>
          <a:prstGeom prst="rect">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9518904" y="6053328"/>
            <a:ext cx="956005" cy="73152"/>
          </a:xfrm>
          <a:prstGeom prst="rect">
            <a:avLst/>
          </a:prstGeom>
          <a:solidFill>
            <a:srgbClr val="FFC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650"/>
                                  <p:tgtEl>
                                    <p:spTgt spid="7"/>
                                  </p:tgtEl>
                                </p:cBhvr>
                              </p:animEffect>
                            </p:childTnLst>
                          </p:cTn>
                        </p:par>
                      </p:childTnLst>
                    </p:cTn>
                  </p:par>
                </p:childTnLst>
              </p:cTn>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E2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700"/>
              </a:spcAft>
              <a:defRPr sz="1000" b="1">
                <a:solidFill>
                  <a:srgbClr val="47DDC0"/>
                </a:solidFill>
                <a:latin typeface="Aptos"/>
              </a:defRPr>
            </a:pPr>
            <a:r>
              <a:t>07 / FEATURES · ADMIN</a:t>
            </a:r>
          </a:p>
        </p:txBody>
      </p:sp>
      <p:sp>
        <p:nvSpPr>
          <p:cNvPr id="3" name="TextBox 2"/>
          <p:cNvSpPr txBox="1"/>
          <p:nvPr/>
        </p:nvSpPr>
        <p:spPr>
          <a:xfrm>
            <a:off x="502920" y="713232"/>
            <a:ext cx="11064240" cy="594360"/>
          </a:xfrm>
          <a:prstGeom prst="rect">
            <a:avLst/>
          </a:prstGeom>
          <a:noFill/>
        </p:spPr>
        <p:txBody>
          <a:bodyPr wrap="square" lIns="0" tIns="0" rIns="0" bIns="0">
            <a:spAutoFit/>
          </a:bodyPr>
          <a:lstStyle/>
          <a:p>
            <a:pPr>
              <a:spcAft>
                <a:spcPts val="700"/>
              </a:spcAft>
              <a:defRPr sz="3200" b="1">
                <a:solidFill>
                  <a:srgbClr val="F3F7F6"/>
                </a:solidFill>
                <a:latin typeface="Aptos"/>
              </a:defRPr>
            </a:pPr>
            <a:r>
              <a:t>Features for admins and delegated moderators</a:t>
            </a:r>
          </a:p>
        </p:txBody>
      </p:sp>
      <p:sp>
        <p:nvSpPr>
          <p:cNvPr id="4" name="TextBox 3"/>
          <p:cNvSpPr txBox="1"/>
          <p:nvPr/>
        </p:nvSpPr>
        <p:spPr>
          <a:xfrm>
            <a:off x="530352" y="1362456"/>
            <a:ext cx="10927080" cy="502920"/>
          </a:xfrm>
          <a:prstGeom prst="rect">
            <a:avLst/>
          </a:prstGeom>
          <a:noFill/>
        </p:spPr>
        <p:txBody>
          <a:bodyPr wrap="square" lIns="0" tIns="0" rIns="0" bIns="0">
            <a:spAutoFit/>
          </a:bodyPr>
          <a:lstStyle/>
          <a:p>
            <a:pPr>
              <a:spcAft>
                <a:spcPts val="700"/>
              </a:spcAft>
              <a:defRPr sz="1400" b="0">
                <a:solidFill>
                  <a:srgbClr val="A8BCC6"/>
                </a:solidFill>
                <a:latin typeface="Aptos"/>
              </a:defRPr>
            </a:pPr>
            <a:r>
              <a:t>Operate the sandbox, configure financial policies and inspect the evidence behind each action.</a:t>
            </a:r>
          </a:p>
        </p:txBody>
      </p:sp>
      <p:sp>
        <p:nvSpPr>
          <p:cNvPr id="5" name="Rectangle 4"/>
          <p:cNvSpPr/>
          <p:nvPr/>
        </p:nvSpPr>
        <p:spPr>
          <a:xfrm>
            <a:off x="502920" y="6437376"/>
            <a:ext cx="11155680" cy="10972"/>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547104"/>
            <a:ext cx="9144000" cy="182880"/>
          </a:xfrm>
          <a:prstGeom prst="rect">
            <a:avLst/>
          </a:prstGeom>
          <a:noFill/>
        </p:spPr>
        <p:txBody>
          <a:bodyPr wrap="square" lIns="0" tIns="0" rIns="0" bIns="0">
            <a:spAutoFit/>
          </a:bodyPr>
          <a:lstStyle/>
          <a:p>
            <a:pPr>
              <a:spcAft>
                <a:spcPts val="700"/>
              </a:spcAft>
              <a:defRPr sz="900" b="0">
                <a:solidFill>
                  <a:srgbClr val="A8BCC6"/>
                </a:solidFill>
                <a:latin typeface="Aptos"/>
              </a:defRPr>
            </a:pPr>
            <a:r>
              <a:t>FINBRIDGE AI  /  PROJECT PRESENTATION</a:t>
            </a:r>
          </a:p>
        </p:txBody>
      </p:sp>
      <p:sp>
        <p:nvSpPr>
          <p:cNvPr id="7" name="TextBox 6"/>
          <p:cNvSpPr txBox="1"/>
          <p:nvPr/>
        </p:nvSpPr>
        <p:spPr>
          <a:xfrm>
            <a:off x="10698480" y="6510528"/>
            <a:ext cx="914400" cy="228600"/>
          </a:xfrm>
          <a:prstGeom prst="rect">
            <a:avLst/>
          </a:prstGeom>
          <a:noFill/>
        </p:spPr>
        <p:txBody>
          <a:bodyPr wrap="square" lIns="0" tIns="0" rIns="0" bIns="0">
            <a:spAutoFit/>
          </a:bodyPr>
          <a:lstStyle/>
          <a:p>
            <a:pPr algn="r">
              <a:spcAft>
                <a:spcPts val="700"/>
              </a:spcAft>
              <a:defRPr sz="1000" b="0">
                <a:solidFill>
                  <a:srgbClr val="A8BCC6"/>
                </a:solidFill>
                <a:latin typeface="Aptos"/>
              </a:defRPr>
            </a:pPr>
            <a:r>
              <a:t>08 / 10</a:t>
            </a:r>
          </a:p>
        </p:txBody>
      </p:sp>
      <p:pic>
        <p:nvPicPr>
          <p:cNvPr id="8" name="Picture 7" descr="signal-01.gif"/>
          <p:cNvPicPr>
            <a:picLocks noChangeAspect="1"/>
          </p:cNvPicPr>
          <p:nvPr/>
        </p:nvPicPr>
        <p:blipFill>
          <a:blip r:embed="rId3"/>
          <a:stretch>
            <a:fillRect/>
          </a:stretch>
        </p:blipFill>
        <p:spPr>
          <a:xfrm>
            <a:off x="10515600" y="109728"/>
            <a:ext cx="1143000" cy="466344"/>
          </a:xfrm>
          <a:prstGeom prst="rect">
            <a:avLst/>
          </a:prstGeom>
        </p:spPr>
      </p:pic>
      <p:sp>
        <p:nvSpPr>
          <p:cNvPr id="9" name="Rounded Rectangle 8"/>
          <p:cNvSpPr/>
          <p:nvPr/>
        </p:nvSpPr>
        <p:spPr>
          <a:xfrm>
            <a:off x="530352" y="193852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94944" y="209397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212598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01</a:t>
            </a:r>
          </a:p>
        </p:txBody>
      </p:sp>
      <p:sp>
        <p:nvSpPr>
          <p:cNvPr id="12" name="TextBox 11"/>
          <p:cNvSpPr txBox="1"/>
          <p:nvPr/>
        </p:nvSpPr>
        <p:spPr>
          <a:xfrm>
            <a:off x="1243584" y="207568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Users + oversight</a:t>
            </a:r>
          </a:p>
        </p:txBody>
      </p:sp>
      <p:sp>
        <p:nvSpPr>
          <p:cNvPr id="13" name="TextBox 12"/>
          <p:cNvSpPr txBox="1"/>
          <p:nvPr/>
        </p:nvSpPr>
        <p:spPr>
          <a:xfrm>
            <a:off x="713232" y="256032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User and role management; suspend/reactivate; dashboard metrics; delegated moderator sections; account and plan oversight.</a:t>
            </a:r>
          </a:p>
        </p:txBody>
      </p:sp>
      <p:sp>
        <p:nvSpPr>
          <p:cNvPr id="14" name="Rounded Rectangle 13"/>
          <p:cNvSpPr/>
          <p:nvPr/>
        </p:nvSpPr>
        <p:spPr>
          <a:xfrm>
            <a:off x="4297680" y="193852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462272" y="209397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35424" y="212598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02</a:t>
            </a:r>
          </a:p>
        </p:txBody>
      </p:sp>
      <p:sp>
        <p:nvSpPr>
          <p:cNvPr id="17" name="TextBox 16"/>
          <p:cNvSpPr txBox="1"/>
          <p:nvPr/>
        </p:nvSpPr>
        <p:spPr>
          <a:xfrm>
            <a:off x="5010912" y="207568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Settlement operations</a:t>
            </a:r>
          </a:p>
        </p:txBody>
      </p:sp>
      <p:sp>
        <p:nvSpPr>
          <p:cNvPr id="18" name="TextBox 17"/>
          <p:cNvSpPr txBox="1"/>
          <p:nvPr/>
        </p:nvSpPr>
        <p:spPr>
          <a:xfrm>
            <a:off x="4480560" y="256032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Manual payment queue; claim/process/complete/fail requests; payout references; held funds/refunds; receiving details and channel settings.</a:t>
            </a:r>
          </a:p>
        </p:txBody>
      </p:sp>
      <p:sp>
        <p:nvSpPr>
          <p:cNvPr id="19" name="Rounded Rectangle 18"/>
          <p:cNvSpPr/>
          <p:nvPr/>
        </p:nvSpPr>
        <p:spPr>
          <a:xfrm>
            <a:off x="8065008" y="193852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229600" y="209397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02752" y="212598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03</a:t>
            </a:r>
          </a:p>
        </p:txBody>
      </p:sp>
      <p:sp>
        <p:nvSpPr>
          <p:cNvPr id="22" name="TextBox 21"/>
          <p:cNvSpPr txBox="1"/>
          <p:nvPr/>
        </p:nvSpPr>
        <p:spPr>
          <a:xfrm>
            <a:off x="8778240" y="207568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Financial configuration</a:t>
            </a:r>
          </a:p>
        </p:txBody>
      </p:sp>
      <p:sp>
        <p:nvSpPr>
          <p:cNvPr id="23" name="TextBox 22"/>
          <p:cNvSpPr txBox="1"/>
          <p:nvPr/>
        </p:nvSpPr>
        <p:spPr>
          <a:xfrm>
            <a:off x="8247888" y="256032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Global risk ceilings; frequency and review thresholds; FX rates; providers, fees, spreads and currency corridors; credit guidance.</a:t>
            </a:r>
          </a:p>
        </p:txBody>
      </p:sp>
      <p:sp>
        <p:nvSpPr>
          <p:cNvPr id="24" name="Rounded Rectangle 23"/>
          <p:cNvSpPr/>
          <p:nvPr/>
        </p:nvSpPr>
        <p:spPr>
          <a:xfrm>
            <a:off x="530352" y="395020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94944" y="410565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8096" y="413766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04</a:t>
            </a:r>
          </a:p>
        </p:txBody>
      </p:sp>
      <p:sp>
        <p:nvSpPr>
          <p:cNvPr id="27" name="TextBox 26"/>
          <p:cNvSpPr txBox="1"/>
          <p:nvPr/>
        </p:nvSpPr>
        <p:spPr>
          <a:xfrm>
            <a:off x="1243584" y="408736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Catalog + subscriptions</a:t>
            </a:r>
          </a:p>
        </p:txBody>
      </p:sp>
      <p:sp>
        <p:nvSpPr>
          <p:cNvPr id="28" name="TextBox 27"/>
          <p:cNvSpPr txBox="1"/>
          <p:nvPr/>
        </p:nvSpPr>
        <p:spPr>
          <a:xfrm>
            <a:off x="713232" y="457200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Country and currency editors; system settings/defaults; plan pricing, quotas and feature limits.</a:t>
            </a:r>
          </a:p>
        </p:txBody>
      </p:sp>
      <p:sp>
        <p:nvSpPr>
          <p:cNvPr id="29" name="Rounded Rectangle 28"/>
          <p:cNvSpPr/>
          <p:nvPr/>
        </p:nvSpPr>
        <p:spPr>
          <a:xfrm>
            <a:off x="4297680" y="395020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462272" y="410565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35424" y="413766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05</a:t>
            </a:r>
          </a:p>
        </p:txBody>
      </p:sp>
      <p:sp>
        <p:nvSpPr>
          <p:cNvPr id="32" name="TextBox 31"/>
          <p:cNvSpPr txBox="1"/>
          <p:nvPr/>
        </p:nvSpPr>
        <p:spPr>
          <a:xfrm>
            <a:off x="5010912" y="408736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AI + platform team</a:t>
            </a:r>
          </a:p>
        </p:txBody>
      </p:sp>
      <p:sp>
        <p:nvSpPr>
          <p:cNvPr id="33" name="TextBox 32"/>
          <p:cNvSpPr txBox="1"/>
          <p:nvPr/>
        </p:nvSpPr>
        <p:spPr>
          <a:xfrm>
            <a:off x="4480560" y="457200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Shared provider/model setup; encrypted keys and connection tests; AI run/tool inspection; published team profiles and moderator permissions.</a:t>
            </a:r>
          </a:p>
        </p:txBody>
      </p:sp>
      <p:sp>
        <p:nvSpPr>
          <p:cNvPr id="34" name="Rounded Rectangle 33"/>
          <p:cNvSpPr/>
          <p:nvPr/>
        </p:nvSpPr>
        <p:spPr>
          <a:xfrm>
            <a:off x="8065008" y="3950208"/>
            <a:ext cx="3602736" cy="1810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229600" y="4105656"/>
            <a:ext cx="384048"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02752" y="4137660"/>
            <a:ext cx="237744"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06</a:t>
            </a:r>
          </a:p>
        </p:txBody>
      </p:sp>
      <p:sp>
        <p:nvSpPr>
          <p:cNvPr id="37" name="TextBox 36"/>
          <p:cNvSpPr txBox="1"/>
          <p:nvPr/>
        </p:nvSpPr>
        <p:spPr>
          <a:xfrm>
            <a:off x="8778240" y="4087368"/>
            <a:ext cx="2706624" cy="329184"/>
          </a:xfrm>
          <a:prstGeom prst="rect">
            <a:avLst/>
          </a:prstGeom>
          <a:noFill/>
        </p:spPr>
        <p:txBody>
          <a:bodyPr wrap="square" lIns="0" tIns="0" rIns="0" bIns="0">
            <a:spAutoFit/>
          </a:bodyPr>
          <a:lstStyle/>
          <a:p>
            <a:pPr>
              <a:spcAft>
                <a:spcPts val="700"/>
              </a:spcAft>
              <a:defRPr sz="1700" b="1">
                <a:solidFill>
                  <a:srgbClr val="F3F7F6"/>
                </a:solidFill>
                <a:latin typeface="Aptos"/>
              </a:defRPr>
            </a:pPr>
            <a:r>
              <a:t>Reports + evidence</a:t>
            </a:r>
          </a:p>
        </p:txBody>
      </p:sp>
      <p:sp>
        <p:nvSpPr>
          <p:cNvPr id="38" name="TextBox 37"/>
          <p:cNvSpPr txBox="1"/>
          <p:nvPr/>
        </p:nvSpPr>
        <p:spPr>
          <a:xfrm>
            <a:off x="8247888" y="4572000"/>
            <a:ext cx="3246120" cy="1152144"/>
          </a:xfrm>
          <a:prstGeom prst="rect">
            <a:avLst/>
          </a:prstGeom>
          <a:noFill/>
        </p:spPr>
        <p:txBody>
          <a:bodyPr wrap="square" lIns="0" tIns="0" rIns="0" bIns="0">
            <a:spAutoFit/>
          </a:bodyPr>
          <a:lstStyle/>
          <a:p>
            <a:pPr>
              <a:spcAft>
                <a:spcPts val="700"/>
              </a:spcAft>
              <a:defRPr sz="1350" b="0">
                <a:solidFill>
                  <a:srgbClr val="A8BCC6"/>
                </a:solidFill>
                <a:latin typeface="Aptos"/>
              </a:defRPr>
            </a:pPr>
            <a:r>
              <a:t>Support/compliance report resolution; audit logs; transfer records and receipts; project evidence and security assessment exports.</a:t>
            </a:r>
          </a:p>
        </p:txBody>
      </p:sp>
      <p:sp>
        <p:nvSpPr>
          <p:cNvPr id="39" name="Rounded Rectangle 38"/>
          <p:cNvSpPr/>
          <p:nvPr/>
        </p:nvSpPr>
        <p:spPr>
          <a:xfrm>
            <a:off x="603504" y="5961888"/>
            <a:ext cx="1645920" cy="283464"/>
          </a:xfrm>
          <a:prstGeom prst="roundRect">
            <a:avLst>
              <a:gd name="adj" fmla="val 12000"/>
            </a:avLst>
          </a:prstGeom>
          <a:solidFill>
            <a:srgbClr val="72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6656" y="5993892"/>
            <a:ext cx="1499616"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QUEUE</a:t>
            </a:r>
          </a:p>
        </p:txBody>
      </p:sp>
      <p:sp>
        <p:nvSpPr>
          <p:cNvPr id="41" name="TextBox 40"/>
          <p:cNvSpPr txBox="1"/>
          <p:nvPr/>
        </p:nvSpPr>
        <p:spPr>
          <a:xfrm>
            <a:off x="2414016" y="5998464"/>
            <a:ext cx="1463040" cy="201168"/>
          </a:xfrm>
          <a:prstGeom prst="rect">
            <a:avLst/>
          </a:prstGeom>
          <a:noFill/>
        </p:spPr>
        <p:txBody>
          <a:bodyPr wrap="square" lIns="0" tIns="0" rIns="0" bIns="0">
            <a:spAutoFit/>
          </a:bodyPr>
          <a:lstStyle/>
          <a:p>
            <a:pPr>
              <a:spcAft>
                <a:spcPts val="700"/>
              </a:spcAft>
              <a:defRPr sz="1100" b="0">
                <a:solidFill>
                  <a:srgbClr val="A8BCC6"/>
                </a:solidFill>
                <a:latin typeface="Aptos"/>
              </a:defRPr>
            </a:pPr>
            <a:r>
              <a:t>Review</a:t>
            </a:r>
          </a:p>
        </p:txBody>
      </p:sp>
      <p:sp>
        <p:nvSpPr>
          <p:cNvPr id="42" name="Rounded Rectangle 41"/>
          <p:cNvSpPr/>
          <p:nvPr/>
        </p:nvSpPr>
        <p:spPr>
          <a:xfrm>
            <a:off x="4379976" y="5961888"/>
            <a:ext cx="1645920" cy="283464"/>
          </a:xfrm>
          <a:prstGeom prst="roundRect">
            <a:avLst>
              <a:gd name="adj" fmla="val 12000"/>
            </a:avLst>
          </a:prstGeom>
          <a:solidFill>
            <a:srgbClr val="FFC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53128" y="5993892"/>
            <a:ext cx="1499616"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PROCESSING</a:t>
            </a:r>
          </a:p>
        </p:txBody>
      </p:sp>
      <p:sp>
        <p:nvSpPr>
          <p:cNvPr id="44" name="TextBox 43"/>
          <p:cNvSpPr txBox="1"/>
          <p:nvPr/>
        </p:nvSpPr>
        <p:spPr>
          <a:xfrm>
            <a:off x="6190488" y="5998464"/>
            <a:ext cx="1463040" cy="201168"/>
          </a:xfrm>
          <a:prstGeom prst="rect">
            <a:avLst/>
          </a:prstGeom>
          <a:noFill/>
        </p:spPr>
        <p:txBody>
          <a:bodyPr wrap="square" lIns="0" tIns="0" rIns="0" bIns="0">
            <a:spAutoFit/>
          </a:bodyPr>
          <a:lstStyle/>
          <a:p>
            <a:pPr>
              <a:spcAft>
                <a:spcPts val="700"/>
              </a:spcAft>
              <a:defRPr sz="1100" b="0">
                <a:solidFill>
                  <a:srgbClr val="A8BCC6"/>
                </a:solidFill>
                <a:latin typeface="Aptos"/>
              </a:defRPr>
            </a:pPr>
            <a:r>
              <a:t>Handle</a:t>
            </a:r>
          </a:p>
        </p:txBody>
      </p:sp>
      <p:sp>
        <p:nvSpPr>
          <p:cNvPr id="45" name="Rounded Rectangle 44"/>
          <p:cNvSpPr/>
          <p:nvPr/>
        </p:nvSpPr>
        <p:spPr>
          <a:xfrm>
            <a:off x="8156448" y="5961888"/>
            <a:ext cx="1645920"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29600" y="5993892"/>
            <a:ext cx="1499616"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COMPLETED</a:t>
            </a:r>
          </a:p>
        </p:txBody>
      </p:sp>
      <p:sp>
        <p:nvSpPr>
          <p:cNvPr id="47" name="TextBox 46"/>
          <p:cNvSpPr txBox="1"/>
          <p:nvPr/>
        </p:nvSpPr>
        <p:spPr>
          <a:xfrm>
            <a:off x="9966960" y="5998464"/>
            <a:ext cx="1463040" cy="201168"/>
          </a:xfrm>
          <a:prstGeom prst="rect">
            <a:avLst/>
          </a:prstGeom>
          <a:noFill/>
        </p:spPr>
        <p:txBody>
          <a:bodyPr wrap="square" lIns="0" tIns="0" rIns="0" bIns="0">
            <a:spAutoFit/>
          </a:bodyPr>
          <a:lstStyle/>
          <a:p>
            <a:pPr>
              <a:spcAft>
                <a:spcPts val="700"/>
              </a:spcAft>
              <a:defRPr sz="1100" b="0">
                <a:solidFill>
                  <a:srgbClr val="A8BCC6"/>
                </a:solidFill>
                <a:latin typeface="Aptos"/>
              </a:defRPr>
            </a:pPr>
            <a:r>
              <a:t>Record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650"/>
                                  <p:tgtEl>
                                    <p:spTgt spid="7"/>
                                  </p:tgtEl>
                                </p:cBhvr>
                              </p:animEffect>
                            </p:childTnLst>
                          </p:cTn>
                        </p:par>
                      </p:childTnLst>
                    </p:cTn>
                  </p:par>
                </p:childTnLst>
              </p:cTn>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E2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700"/>
              </a:spcAft>
              <a:defRPr sz="1000" b="1">
                <a:solidFill>
                  <a:srgbClr val="47DDC0"/>
                </a:solidFill>
                <a:latin typeface="Aptos"/>
              </a:defRPr>
            </a:pPr>
            <a:r>
              <a:t>08 / SECURITY &amp; PRIVACY</a:t>
            </a:r>
          </a:p>
        </p:txBody>
      </p:sp>
      <p:sp>
        <p:nvSpPr>
          <p:cNvPr id="3" name="TextBox 2"/>
          <p:cNvSpPr txBox="1"/>
          <p:nvPr/>
        </p:nvSpPr>
        <p:spPr>
          <a:xfrm>
            <a:off x="502920" y="713232"/>
            <a:ext cx="11064240" cy="594360"/>
          </a:xfrm>
          <a:prstGeom prst="rect">
            <a:avLst/>
          </a:prstGeom>
          <a:noFill/>
        </p:spPr>
        <p:txBody>
          <a:bodyPr wrap="square" lIns="0" tIns="0" rIns="0" bIns="0">
            <a:spAutoFit/>
          </a:bodyPr>
          <a:lstStyle/>
          <a:p>
            <a:pPr>
              <a:spcAft>
                <a:spcPts val="700"/>
              </a:spcAft>
              <a:defRPr sz="3200" b="1">
                <a:solidFill>
                  <a:srgbClr val="F3F7F6"/>
                </a:solidFill>
                <a:latin typeface="Aptos"/>
              </a:defRPr>
            </a:pPr>
            <a:r>
              <a:t>Security &amp; privacy are enforced at the action boundary.</a:t>
            </a:r>
          </a:p>
        </p:txBody>
      </p:sp>
      <p:sp>
        <p:nvSpPr>
          <p:cNvPr id="4" name="TextBox 3"/>
          <p:cNvSpPr txBox="1"/>
          <p:nvPr/>
        </p:nvSpPr>
        <p:spPr>
          <a:xfrm>
            <a:off x="530352" y="1362456"/>
            <a:ext cx="10927080" cy="502920"/>
          </a:xfrm>
          <a:prstGeom prst="rect">
            <a:avLst/>
          </a:prstGeom>
          <a:noFill/>
        </p:spPr>
        <p:txBody>
          <a:bodyPr wrap="square" lIns="0" tIns="0" rIns="0" bIns="0">
            <a:spAutoFit/>
          </a:bodyPr>
          <a:lstStyle/>
          <a:p>
            <a:pPr>
              <a:spcAft>
                <a:spcPts val="700"/>
              </a:spcAft>
              <a:defRPr sz="1400" b="0">
                <a:solidFill>
                  <a:srgbClr val="A8BCC6"/>
                </a:solidFill>
                <a:latin typeface="Aptos"/>
              </a:defRPr>
            </a:pPr>
            <a:r>
              <a:t>Each sensitive operation combines identity, permission, policy and financial-integrity checks.</a:t>
            </a:r>
          </a:p>
        </p:txBody>
      </p:sp>
      <p:sp>
        <p:nvSpPr>
          <p:cNvPr id="5" name="Rectangle 4"/>
          <p:cNvSpPr/>
          <p:nvPr/>
        </p:nvSpPr>
        <p:spPr>
          <a:xfrm>
            <a:off x="502920" y="6437376"/>
            <a:ext cx="11155680" cy="10972"/>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547104"/>
            <a:ext cx="9144000" cy="182880"/>
          </a:xfrm>
          <a:prstGeom prst="rect">
            <a:avLst/>
          </a:prstGeom>
          <a:noFill/>
        </p:spPr>
        <p:txBody>
          <a:bodyPr wrap="square" lIns="0" tIns="0" rIns="0" bIns="0">
            <a:spAutoFit/>
          </a:bodyPr>
          <a:lstStyle/>
          <a:p>
            <a:pPr>
              <a:spcAft>
                <a:spcPts val="700"/>
              </a:spcAft>
              <a:defRPr sz="900" b="0">
                <a:solidFill>
                  <a:srgbClr val="A8BCC6"/>
                </a:solidFill>
                <a:latin typeface="Aptos"/>
              </a:defRPr>
            </a:pPr>
            <a:r>
              <a:t>FINBRIDGE AI  /  PROJECT PRESENTATION</a:t>
            </a:r>
          </a:p>
        </p:txBody>
      </p:sp>
      <p:sp>
        <p:nvSpPr>
          <p:cNvPr id="7" name="TextBox 6"/>
          <p:cNvSpPr txBox="1"/>
          <p:nvPr/>
        </p:nvSpPr>
        <p:spPr>
          <a:xfrm>
            <a:off x="10698480" y="6510528"/>
            <a:ext cx="914400" cy="228600"/>
          </a:xfrm>
          <a:prstGeom prst="rect">
            <a:avLst/>
          </a:prstGeom>
          <a:noFill/>
        </p:spPr>
        <p:txBody>
          <a:bodyPr wrap="square" lIns="0" tIns="0" rIns="0" bIns="0">
            <a:spAutoFit/>
          </a:bodyPr>
          <a:lstStyle/>
          <a:p>
            <a:pPr algn="r">
              <a:spcAft>
                <a:spcPts val="700"/>
              </a:spcAft>
              <a:defRPr sz="1000" b="0">
                <a:solidFill>
                  <a:srgbClr val="A8BCC6"/>
                </a:solidFill>
                <a:latin typeface="Aptos"/>
              </a:defRPr>
            </a:pPr>
            <a:r>
              <a:t>09 / 10</a:t>
            </a:r>
          </a:p>
        </p:txBody>
      </p:sp>
      <p:pic>
        <p:nvPicPr>
          <p:cNvPr id="8" name="Picture 7" descr="signal-01.gif"/>
          <p:cNvPicPr>
            <a:picLocks noChangeAspect="1"/>
          </p:cNvPicPr>
          <p:nvPr/>
        </p:nvPicPr>
        <p:blipFill>
          <a:blip r:embed="rId3"/>
          <a:stretch>
            <a:fillRect/>
          </a:stretch>
        </p:blipFill>
        <p:spPr>
          <a:xfrm>
            <a:off x="10515600" y="109728"/>
            <a:ext cx="1143000" cy="466344"/>
          </a:xfrm>
          <a:prstGeom prst="rect">
            <a:avLst/>
          </a:prstGeom>
        </p:spPr>
      </p:pic>
      <p:sp>
        <p:nvSpPr>
          <p:cNvPr id="9" name="Rounded Rectangle 8"/>
          <p:cNvSpPr/>
          <p:nvPr/>
        </p:nvSpPr>
        <p:spPr>
          <a:xfrm>
            <a:off x="566928" y="1956816"/>
            <a:ext cx="11064240" cy="640080"/>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121408"/>
            <a:ext cx="2020824" cy="283464"/>
          </a:xfrm>
          <a:prstGeom prst="roundRect">
            <a:avLst>
              <a:gd name="adj" fmla="val 12000"/>
            </a:avLst>
          </a:prstGeom>
          <a:solidFill>
            <a:srgbClr val="72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2153412"/>
            <a:ext cx="1874519"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01  IDENTITY</a:t>
            </a:r>
          </a:p>
        </p:txBody>
      </p:sp>
      <p:sp>
        <p:nvSpPr>
          <p:cNvPr id="12" name="TextBox 11"/>
          <p:cNvSpPr txBox="1"/>
          <p:nvPr/>
        </p:nvSpPr>
        <p:spPr>
          <a:xfrm>
            <a:off x="2962656" y="2130552"/>
            <a:ext cx="8385048" cy="384048"/>
          </a:xfrm>
          <a:prstGeom prst="rect">
            <a:avLst/>
          </a:prstGeom>
          <a:noFill/>
        </p:spPr>
        <p:txBody>
          <a:bodyPr wrap="square" lIns="0" tIns="0" rIns="0" bIns="0">
            <a:spAutoFit/>
          </a:bodyPr>
          <a:lstStyle/>
          <a:p>
            <a:pPr>
              <a:spcAft>
                <a:spcPts val="700"/>
              </a:spcAft>
              <a:defRPr sz="1350" b="0">
                <a:solidFill>
                  <a:srgbClr val="F3F7F6"/>
                </a:solidFill>
                <a:latin typeface="Aptos"/>
              </a:defRPr>
            </a:pPr>
            <a:r>
              <a:t>bcrypt password hashes • signed 8-hour JWT • httpOnly / SameSite cookies • session revocation</a:t>
            </a:r>
          </a:p>
        </p:txBody>
      </p:sp>
      <p:sp>
        <p:nvSpPr>
          <p:cNvPr id="13" name="Rounded Rectangle 12"/>
          <p:cNvSpPr/>
          <p:nvPr/>
        </p:nvSpPr>
        <p:spPr>
          <a:xfrm>
            <a:off x="566928" y="2734056"/>
            <a:ext cx="11064240" cy="640080"/>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1520" y="2898648"/>
            <a:ext cx="2020824"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2" y="2930652"/>
            <a:ext cx="1874519"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02  AUTHORIZATION</a:t>
            </a:r>
          </a:p>
        </p:txBody>
      </p:sp>
      <p:sp>
        <p:nvSpPr>
          <p:cNvPr id="16" name="TextBox 15"/>
          <p:cNvSpPr txBox="1"/>
          <p:nvPr/>
        </p:nvSpPr>
        <p:spPr>
          <a:xfrm>
            <a:off x="2962656" y="2907792"/>
            <a:ext cx="8385048" cy="384048"/>
          </a:xfrm>
          <a:prstGeom prst="rect">
            <a:avLst/>
          </a:prstGeom>
          <a:noFill/>
        </p:spPr>
        <p:txBody>
          <a:bodyPr wrap="square" lIns="0" tIns="0" rIns="0" bIns="0">
            <a:spAutoFit/>
          </a:bodyPr>
          <a:lstStyle/>
          <a:p>
            <a:pPr>
              <a:spcAft>
                <a:spcPts val="700"/>
              </a:spcAft>
              <a:defRPr sz="1350" b="0">
                <a:solidFill>
                  <a:srgbClr val="F3F7F6"/>
                </a:solidFill>
                <a:latin typeface="Aptos"/>
              </a:defRPr>
            </a:pPr>
            <a:r>
              <a:t>Server-side role + ownership checks • delegated admin sections • parent visibility and strictest limits</a:t>
            </a:r>
          </a:p>
        </p:txBody>
      </p:sp>
      <p:sp>
        <p:nvSpPr>
          <p:cNvPr id="17" name="Rounded Rectangle 16"/>
          <p:cNvSpPr/>
          <p:nvPr/>
        </p:nvSpPr>
        <p:spPr>
          <a:xfrm>
            <a:off x="566928" y="3511296"/>
            <a:ext cx="11064240" cy="640080"/>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31520" y="3675887"/>
            <a:ext cx="2020824" cy="283464"/>
          </a:xfrm>
          <a:prstGeom prst="roundRect">
            <a:avLst>
              <a:gd name="adj" fmla="val 12000"/>
            </a:avLst>
          </a:prstGeom>
          <a:solidFill>
            <a:srgbClr val="FFC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3707891"/>
            <a:ext cx="1874519"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03  DATA + AI</a:t>
            </a:r>
          </a:p>
        </p:txBody>
      </p:sp>
      <p:sp>
        <p:nvSpPr>
          <p:cNvPr id="20" name="TextBox 19"/>
          <p:cNvSpPr txBox="1"/>
          <p:nvPr/>
        </p:nvSpPr>
        <p:spPr>
          <a:xfrm>
            <a:off x="2962656" y="3685032"/>
            <a:ext cx="8385048" cy="384048"/>
          </a:xfrm>
          <a:prstGeom prst="rect">
            <a:avLst/>
          </a:prstGeom>
          <a:noFill/>
        </p:spPr>
        <p:txBody>
          <a:bodyPr wrap="square" lIns="0" tIns="0" rIns="0" bIns="0">
            <a:spAutoFit/>
          </a:bodyPr>
          <a:lstStyle/>
          <a:p>
            <a:pPr>
              <a:spcAft>
                <a:spcPts val="700"/>
              </a:spcAft>
              <a:defRPr sz="1350" b="0">
                <a:solidFill>
                  <a:srgbClr val="F3F7F6"/>
                </a:solidFill>
                <a:latin typeface="Aptos"/>
              </a:defRPr>
            </a:pPr>
            <a:r>
              <a:t>AES-256-GCM model-key encryption • Zod validation • standard forms for credentials • constrained AI tools</a:t>
            </a:r>
          </a:p>
        </p:txBody>
      </p:sp>
      <p:sp>
        <p:nvSpPr>
          <p:cNvPr id="21" name="Rounded Rectangle 20"/>
          <p:cNvSpPr/>
          <p:nvPr/>
        </p:nvSpPr>
        <p:spPr>
          <a:xfrm>
            <a:off x="566928" y="4288536"/>
            <a:ext cx="11064240" cy="640080"/>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31520" y="4453127"/>
            <a:ext cx="2020824" cy="283464"/>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 y="4485131"/>
            <a:ext cx="1874519" cy="210312"/>
          </a:xfrm>
          <a:prstGeom prst="rect">
            <a:avLst/>
          </a:prstGeom>
          <a:noFill/>
        </p:spPr>
        <p:txBody>
          <a:bodyPr wrap="square" lIns="0" tIns="0" rIns="0" bIns="0">
            <a:spAutoFit/>
          </a:bodyPr>
          <a:lstStyle/>
          <a:p>
            <a:pPr>
              <a:spcAft>
                <a:spcPts val="700"/>
              </a:spcAft>
              <a:defRPr sz="1000" b="1">
                <a:solidFill>
                  <a:srgbClr val="101E2B"/>
                </a:solidFill>
                <a:latin typeface="Aptos"/>
              </a:defRPr>
            </a:pPr>
            <a:r>
              <a:t>04  MONEY INTEGRITY</a:t>
            </a:r>
          </a:p>
        </p:txBody>
      </p:sp>
      <p:sp>
        <p:nvSpPr>
          <p:cNvPr id="24" name="TextBox 23"/>
          <p:cNvSpPr txBox="1"/>
          <p:nvPr/>
        </p:nvSpPr>
        <p:spPr>
          <a:xfrm>
            <a:off x="2962656" y="4462272"/>
            <a:ext cx="8385048" cy="384048"/>
          </a:xfrm>
          <a:prstGeom prst="rect">
            <a:avLst/>
          </a:prstGeom>
          <a:noFill/>
        </p:spPr>
        <p:txBody>
          <a:bodyPr wrap="square" lIns="0" tIns="0" rIns="0" bIns="0">
            <a:spAutoFit/>
          </a:bodyPr>
          <a:lstStyle/>
          <a:p>
            <a:pPr>
              <a:spcAft>
                <a:spcPts val="700"/>
              </a:spcAft>
              <a:defRPr sz="1350" b="0">
                <a:solidFill>
                  <a:srgbClr val="F3F7F6"/>
                </a:solidFill>
                <a:latin typeface="Aptos"/>
              </a:defRPr>
            </a:pPr>
            <a:r>
              <a:t>Explicit payment confirmation • expiring single-use transfer tokens • row locks • idempotency • balanced ledger</a:t>
            </a:r>
          </a:p>
        </p:txBody>
      </p:sp>
      <p:sp>
        <p:nvSpPr>
          <p:cNvPr id="25" name="Rounded Rectangle 24"/>
          <p:cNvSpPr/>
          <p:nvPr/>
        </p:nvSpPr>
        <p:spPr>
          <a:xfrm>
            <a:off x="585216" y="5321808"/>
            <a:ext cx="5413248" cy="667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8096" y="5440680"/>
            <a:ext cx="1554480" cy="256032"/>
          </a:xfrm>
          <a:prstGeom prst="rect">
            <a:avLst/>
          </a:prstGeom>
          <a:noFill/>
        </p:spPr>
        <p:txBody>
          <a:bodyPr wrap="square" lIns="0" tIns="0" rIns="0" bIns="0">
            <a:spAutoFit/>
          </a:bodyPr>
          <a:lstStyle/>
          <a:p>
            <a:pPr>
              <a:spcAft>
                <a:spcPts val="700"/>
              </a:spcAft>
              <a:defRPr sz="1200" b="1">
                <a:solidFill>
                  <a:srgbClr val="47DDC0"/>
                </a:solidFill>
                <a:latin typeface="Aptos"/>
              </a:defRPr>
            </a:pPr>
            <a:r>
              <a:t>USER CONTROL</a:t>
            </a:r>
          </a:p>
        </p:txBody>
      </p:sp>
      <p:sp>
        <p:nvSpPr>
          <p:cNvPr id="27" name="TextBox 26"/>
          <p:cNvSpPr txBox="1"/>
          <p:nvPr/>
        </p:nvSpPr>
        <p:spPr>
          <a:xfrm>
            <a:off x="2423160" y="5468112"/>
            <a:ext cx="3337560" cy="411480"/>
          </a:xfrm>
          <a:prstGeom prst="rect">
            <a:avLst/>
          </a:prstGeom>
          <a:noFill/>
        </p:spPr>
        <p:txBody>
          <a:bodyPr wrap="square" lIns="0" tIns="0" rIns="0" bIns="0">
            <a:spAutoFit/>
          </a:bodyPr>
          <a:lstStyle/>
          <a:p>
            <a:pPr>
              <a:spcAft>
                <a:spcPts val="700"/>
              </a:spcAft>
              <a:defRPr sz="1200" b="0">
                <a:solidFill>
                  <a:srgbClr val="F3F7F6"/>
                </a:solidFill>
                <a:latin typeface="Aptos"/>
              </a:defRPr>
            </a:pPr>
            <a:r>
              <a:t>Visibility settings, data export, account closure</a:t>
            </a:r>
          </a:p>
        </p:txBody>
      </p:sp>
      <p:sp>
        <p:nvSpPr>
          <p:cNvPr id="28" name="Rounded Rectangle 27"/>
          <p:cNvSpPr/>
          <p:nvPr/>
        </p:nvSpPr>
        <p:spPr>
          <a:xfrm>
            <a:off x="6181344" y="5321808"/>
            <a:ext cx="5431536" cy="6675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55080" y="5440680"/>
            <a:ext cx="1572768" cy="256032"/>
          </a:xfrm>
          <a:prstGeom prst="rect">
            <a:avLst/>
          </a:prstGeom>
          <a:noFill/>
        </p:spPr>
        <p:txBody>
          <a:bodyPr wrap="square" lIns="0" tIns="0" rIns="0" bIns="0">
            <a:spAutoFit/>
          </a:bodyPr>
          <a:lstStyle/>
          <a:p>
            <a:pPr>
              <a:spcAft>
                <a:spcPts val="700"/>
              </a:spcAft>
              <a:defRPr sz="1200" b="1">
                <a:solidFill>
                  <a:srgbClr val="FFCE79"/>
                </a:solidFill>
                <a:latin typeface="Aptos"/>
              </a:defRPr>
            </a:pPr>
            <a:r>
              <a:t>DATA BOUNDARY</a:t>
            </a:r>
          </a:p>
        </p:txBody>
      </p:sp>
      <p:sp>
        <p:nvSpPr>
          <p:cNvPr id="30" name="TextBox 29"/>
          <p:cNvSpPr txBox="1"/>
          <p:nvPr/>
        </p:nvSpPr>
        <p:spPr>
          <a:xfrm>
            <a:off x="8046720" y="5468112"/>
            <a:ext cx="3337560" cy="411480"/>
          </a:xfrm>
          <a:prstGeom prst="rect">
            <a:avLst/>
          </a:prstGeom>
          <a:noFill/>
        </p:spPr>
        <p:txBody>
          <a:bodyPr wrap="square" lIns="0" tIns="0" rIns="0" bIns="0">
            <a:spAutoFit/>
          </a:bodyPr>
          <a:lstStyle/>
          <a:p>
            <a:pPr>
              <a:spcAft>
                <a:spcPts val="700"/>
              </a:spcAft>
              <a:defRPr sz="1200" b="0">
                <a:solidFill>
                  <a:srgbClr val="F3F7F6"/>
                </a:solidFill>
                <a:latin typeface="Aptos"/>
              </a:defRPr>
            </a:pPr>
            <a:r>
              <a:t>No stored full PAN/CVV; validated photo uploads</a:t>
            </a:r>
          </a:p>
        </p:txBody>
      </p:sp>
      <p:sp>
        <p:nvSpPr>
          <p:cNvPr id="31" name="TextBox 30"/>
          <p:cNvSpPr txBox="1"/>
          <p:nvPr/>
        </p:nvSpPr>
        <p:spPr>
          <a:xfrm>
            <a:off x="594360" y="6117336"/>
            <a:ext cx="10972800" cy="219456"/>
          </a:xfrm>
          <a:prstGeom prst="rect">
            <a:avLst/>
          </a:prstGeom>
          <a:noFill/>
        </p:spPr>
        <p:txBody>
          <a:bodyPr wrap="square" lIns="0" tIns="0" rIns="0" bIns="0">
            <a:spAutoFit/>
          </a:bodyPr>
          <a:lstStyle/>
          <a:p>
            <a:pPr>
              <a:spcAft>
                <a:spcPts val="700"/>
              </a:spcAft>
              <a:defRPr sz="1000" b="0">
                <a:solidFill>
                  <a:srgbClr val="A8BCC6"/>
                </a:solidFill>
                <a:latin typeface="Aptos"/>
              </a:defRPr>
            </a:pPr>
            <a:r>
              <a:t>Sandbox only. Provider tools may receive financial context. Independent security/privacy certification and live payment-network integration are outside this project.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650"/>
                                  <p:tgtEl>
                                    <p:spTgt spid="7"/>
                                  </p:tgtEl>
                                </p:cBhvr>
                              </p:animEffect>
                            </p:childTnLst>
                          </p:cTn>
                        </p:par>
                      </p:childTnLst>
                    </p:cTn>
                  </p:par>
                </p:childTnLst>
              </p:cTn>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1E2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700"/>
              </a:spcAft>
              <a:defRPr sz="1000" b="1">
                <a:solidFill>
                  <a:srgbClr val="47DDC0"/>
                </a:solidFill>
                <a:latin typeface="Aptos"/>
              </a:defRPr>
            </a:pPr>
            <a:r>
              <a:t>09 / DEVELOPER INTRODUCTION</a:t>
            </a:r>
          </a:p>
        </p:txBody>
      </p:sp>
      <p:sp>
        <p:nvSpPr>
          <p:cNvPr id="3" name="TextBox 2"/>
          <p:cNvSpPr txBox="1"/>
          <p:nvPr/>
        </p:nvSpPr>
        <p:spPr>
          <a:xfrm>
            <a:off x="502920" y="713232"/>
            <a:ext cx="11064240" cy="492443"/>
          </a:xfrm>
          <a:prstGeom prst="rect">
            <a:avLst/>
          </a:prstGeom>
          <a:noFill/>
        </p:spPr>
        <p:txBody>
          <a:bodyPr wrap="square" lIns="0" tIns="0" rIns="0" bIns="0">
            <a:spAutoFit/>
          </a:bodyPr>
          <a:lstStyle/>
          <a:p>
            <a:pPr>
              <a:spcAft>
                <a:spcPts val="700"/>
              </a:spcAft>
              <a:defRPr sz="3200" b="1">
                <a:solidFill>
                  <a:srgbClr val="F3F7F6"/>
                </a:solidFill>
                <a:latin typeface="Aptos"/>
              </a:defRPr>
            </a:pPr>
            <a:r>
              <a:rPr dirty="0" smtClean="0"/>
              <a:t>Built</a:t>
            </a:r>
            <a:r>
              <a:rPr lang="en-US" dirty="0" smtClean="0"/>
              <a:t> and Tested</a:t>
            </a:r>
            <a:r>
              <a:rPr dirty="0" smtClean="0"/>
              <a:t> </a:t>
            </a:r>
            <a:r>
              <a:rPr dirty="0"/>
              <a:t>by a two-person team</a:t>
            </a:r>
          </a:p>
        </p:txBody>
      </p:sp>
      <p:sp>
        <p:nvSpPr>
          <p:cNvPr id="5" name="Rectangle 4"/>
          <p:cNvSpPr/>
          <p:nvPr/>
        </p:nvSpPr>
        <p:spPr>
          <a:xfrm>
            <a:off x="502920" y="6437376"/>
            <a:ext cx="11155680" cy="10972"/>
          </a:xfrm>
          <a:prstGeom prst="rect">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547104"/>
            <a:ext cx="9144000" cy="182880"/>
          </a:xfrm>
          <a:prstGeom prst="rect">
            <a:avLst/>
          </a:prstGeom>
          <a:noFill/>
        </p:spPr>
        <p:txBody>
          <a:bodyPr wrap="square" lIns="0" tIns="0" rIns="0" bIns="0">
            <a:spAutoFit/>
          </a:bodyPr>
          <a:lstStyle/>
          <a:p>
            <a:pPr>
              <a:spcAft>
                <a:spcPts val="700"/>
              </a:spcAft>
              <a:defRPr sz="900" b="0">
                <a:solidFill>
                  <a:srgbClr val="A8BCC6"/>
                </a:solidFill>
                <a:latin typeface="Aptos"/>
              </a:defRPr>
            </a:pPr>
            <a:r>
              <a:t>FINBRIDGE AI  /  PROJECT PRESENTATION</a:t>
            </a:r>
          </a:p>
        </p:txBody>
      </p:sp>
      <p:sp>
        <p:nvSpPr>
          <p:cNvPr id="7" name="TextBox 6"/>
          <p:cNvSpPr txBox="1"/>
          <p:nvPr/>
        </p:nvSpPr>
        <p:spPr>
          <a:xfrm>
            <a:off x="10698480" y="6510528"/>
            <a:ext cx="914400" cy="228600"/>
          </a:xfrm>
          <a:prstGeom prst="rect">
            <a:avLst/>
          </a:prstGeom>
          <a:noFill/>
        </p:spPr>
        <p:txBody>
          <a:bodyPr wrap="square" lIns="0" tIns="0" rIns="0" bIns="0">
            <a:spAutoFit/>
          </a:bodyPr>
          <a:lstStyle/>
          <a:p>
            <a:pPr algn="r">
              <a:spcAft>
                <a:spcPts val="700"/>
              </a:spcAft>
              <a:defRPr sz="1000" b="0">
                <a:solidFill>
                  <a:srgbClr val="A8BCC6"/>
                </a:solidFill>
                <a:latin typeface="Aptos"/>
              </a:defRPr>
            </a:pPr>
            <a:r>
              <a:t>10 / 10</a:t>
            </a:r>
          </a:p>
        </p:txBody>
      </p:sp>
      <p:pic>
        <p:nvPicPr>
          <p:cNvPr id="8" name="Picture 7" descr="signal-01.gif"/>
          <p:cNvPicPr>
            <a:picLocks noChangeAspect="1"/>
          </p:cNvPicPr>
          <p:nvPr/>
        </p:nvPicPr>
        <p:blipFill>
          <a:blip r:embed="rId3"/>
          <a:stretch>
            <a:fillRect/>
          </a:stretch>
        </p:blipFill>
        <p:spPr>
          <a:xfrm>
            <a:off x="10515600" y="109728"/>
            <a:ext cx="1143000" cy="466344"/>
          </a:xfrm>
          <a:prstGeom prst="rect">
            <a:avLst/>
          </a:prstGeom>
        </p:spPr>
      </p:pic>
      <p:sp>
        <p:nvSpPr>
          <p:cNvPr id="9" name="Rounded Rectangle 8"/>
          <p:cNvSpPr/>
          <p:nvPr/>
        </p:nvSpPr>
        <p:spPr>
          <a:xfrm>
            <a:off x="1143000" y="1938528"/>
            <a:ext cx="4169663" cy="36393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demo-developer-1.png"/>
          <p:cNvPicPr>
            <a:picLocks noChangeAspect="1"/>
          </p:cNvPicPr>
          <p:nvPr/>
        </p:nvPicPr>
        <p:blipFill>
          <a:blip r:embed="rId4"/>
          <a:stretch>
            <a:fillRect/>
          </a:stretch>
        </p:blipFill>
        <p:spPr>
          <a:xfrm>
            <a:off x="2386584" y="2212848"/>
            <a:ext cx="1682496" cy="1682496"/>
          </a:xfrm>
          <a:prstGeom prst="rect">
            <a:avLst/>
          </a:prstGeom>
        </p:spPr>
      </p:pic>
      <p:sp>
        <p:nvSpPr>
          <p:cNvPr id="11" name="TextBox 10"/>
          <p:cNvSpPr txBox="1"/>
          <p:nvPr/>
        </p:nvSpPr>
        <p:spPr>
          <a:xfrm>
            <a:off x="1417320" y="4096512"/>
            <a:ext cx="3621024" cy="438912"/>
          </a:xfrm>
          <a:prstGeom prst="rect">
            <a:avLst/>
          </a:prstGeom>
          <a:noFill/>
        </p:spPr>
        <p:txBody>
          <a:bodyPr wrap="square" lIns="0" tIns="0" rIns="0" bIns="0">
            <a:spAutoFit/>
          </a:bodyPr>
          <a:lstStyle/>
          <a:p>
            <a:pPr algn="ctr">
              <a:spcAft>
                <a:spcPts val="700"/>
              </a:spcAft>
              <a:defRPr sz="2500" b="1">
                <a:solidFill>
                  <a:srgbClr val="F3F7F6"/>
                </a:solidFill>
                <a:latin typeface="Aptos"/>
              </a:defRPr>
            </a:pPr>
            <a:r>
              <a:t>Developer 1</a:t>
            </a:r>
          </a:p>
        </p:txBody>
      </p:sp>
      <p:sp>
        <p:nvSpPr>
          <p:cNvPr id="12" name="TextBox 11"/>
          <p:cNvSpPr txBox="1"/>
          <p:nvPr/>
        </p:nvSpPr>
        <p:spPr>
          <a:xfrm>
            <a:off x="1417320" y="4672584"/>
            <a:ext cx="3621024" cy="329184"/>
          </a:xfrm>
          <a:prstGeom prst="rect">
            <a:avLst/>
          </a:prstGeom>
          <a:noFill/>
        </p:spPr>
        <p:txBody>
          <a:bodyPr wrap="square" lIns="0" tIns="0" rIns="0" bIns="0">
            <a:spAutoFit/>
          </a:bodyPr>
          <a:lstStyle/>
          <a:p>
            <a:pPr algn="ctr">
              <a:spcAft>
                <a:spcPts val="700"/>
              </a:spcAft>
              <a:defRPr sz="1700" b="0">
                <a:solidFill>
                  <a:srgbClr val="47DDC0"/>
                </a:solidFill>
                <a:latin typeface="Aptos"/>
              </a:defRPr>
            </a:pPr>
            <a:r>
              <a:t>Demo role: AI &amp; Backend</a:t>
            </a:r>
          </a:p>
        </p:txBody>
      </p:sp>
      <p:sp>
        <p:nvSpPr>
          <p:cNvPr id="13" name="TextBox 12"/>
          <p:cNvSpPr txBox="1"/>
          <p:nvPr/>
        </p:nvSpPr>
        <p:spPr>
          <a:xfrm>
            <a:off x="1417320" y="5157216"/>
            <a:ext cx="3621024" cy="228600"/>
          </a:xfrm>
          <a:prstGeom prst="rect">
            <a:avLst/>
          </a:prstGeom>
          <a:noFill/>
        </p:spPr>
        <p:txBody>
          <a:bodyPr wrap="square" lIns="0" tIns="0" rIns="0" bIns="0">
            <a:spAutoFit/>
          </a:bodyPr>
          <a:lstStyle/>
          <a:p>
            <a:pPr algn="ctr">
              <a:spcAft>
                <a:spcPts val="700"/>
              </a:spcAft>
              <a:defRPr sz="1100" b="0">
                <a:solidFill>
                  <a:srgbClr val="A8BCC6"/>
                </a:solidFill>
                <a:latin typeface="Aptos"/>
              </a:defRPr>
            </a:pPr>
            <a:r>
              <a:t>Name / photo / role to be replaced</a:t>
            </a:r>
          </a:p>
        </p:txBody>
      </p:sp>
      <p:sp>
        <p:nvSpPr>
          <p:cNvPr id="14" name="Rounded Rectangle 13"/>
          <p:cNvSpPr/>
          <p:nvPr/>
        </p:nvSpPr>
        <p:spPr>
          <a:xfrm>
            <a:off x="6858000" y="1938528"/>
            <a:ext cx="4169663" cy="3639312"/>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demo-developer-2.png"/>
          <p:cNvPicPr>
            <a:picLocks noChangeAspect="1"/>
          </p:cNvPicPr>
          <p:nvPr/>
        </p:nvPicPr>
        <p:blipFill>
          <a:blip r:embed="rId5"/>
          <a:stretch>
            <a:fillRect/>
          </a:stretch>
        </p:blipFill>
        <p:spPr>
          <a:xfrm>
            <a:off x="8101583" y="2212848"/>
            <a:ext cx="1682496" cy="1682496"/>
          </a:xfrm>
          <a:prstGeom prst="rect">
            <a:avLst/>
          </a:prstGeom>
        </p:spPr>
      </p:pic>
      <p:sp>
        <p:nvSpPr>
          <p:cNvPr id="16" name="TextBox 15"/>
          <p:cNvSpPr txBox="1"/>
          <p:nvPr/>
        </p:nvSpPr>
        <p:spPr>
          <a:xfrm>
            <a:off x="7132320" y="4096512"/>
            <a:ext cx="3621024" cy="438912"/>
          </a:xfrm>
          <a:prstGeom prst="rect">
            <a:avLst/>
          </a:prstGeom>
          <a:noFill/>
        </p:spPr>
        <p:txBody>
          <a:bodyPr wrap="square" lIns="0" tIns="0" rIns="0" bIns="0">
            <a:spAutoFit/>
          </a:bodyPr>
          <a:lstStyle/>
          <a:p>
            <a:pPr algn="ctr">
              <a:spcAft>
                <a:spcPts val="700"/>
              </a:spcAft>
              <a:defRPr sz="2500" b="1">
                <a:solidFill>
                  <a:srgbClr val="F3F7F6"/>
                </a:solidFill>
                <a:latin typeface="Aptos"/>
              </a:defRPr>
            </a:pPr>
            <a:r>
              <a:t>Developer 2</a:t>
            </a:r>
          </a:p>
        </p:txBody>
      </p:sp>
      <p:sp>
        <p:nvSpPr>
          <p:cNvPr id="17" name="TextBox 16"/>
          <p:cNvSpPr txBox="1"/>
          <p:nvPr/>
        </p:nvSpPr>
        <p:spPr>
          <a:xfrm>
            <a:off x="7132320" y="4672584"/>
            <a:ext cx="3621024" cy="329184"/>
          </a:xfrm>
          <a:prstGeom prst="rect">
            <a:avLst/>
          </a:prstGeom>
          <a:noFill/>
        </p:spPr>
        <p:txBody>
          <a:bodyPr wrap="square" lIns="0" tIns="0" rIns="0" bIns="0">
            <a:spAutoFit/>
          </a:bodyPr>
          <a:lstStyle/>
          <a:p>
            <a:pPr algn="ctr">
              <a:spcAft>
                <a:spcPts val="700"/>
              </a:spcAft>
              <a:defRPr sz="1700" b="0">
                <a:solidFill>
                  <a:srgbClr val="72A9FF"/>
                </a:solidFill>
                <a:latin typeface="Aptos"/>
              </a:defRPr>
            </a:pPr>
            <a:r>
              <a:t>Demo role: Frontend &amp; UX</a:t>
            </a:r>
          </a:p>
        </p:txBody>
      </p:sp>
      <p:sp>
        <p:nvSpPr>
          <p:cNvPr id="18" name="TextBox 17"/>
          <p:cNvSpPr txBox="1"/>
          <p:nvPr/>
        </p:nvSpPr>
        <p:spPr>
          <a:xfrm>
            <a:off x="7132320" y="5157216"/>
            <a:ext cx="3621024" cy="228600"/>
          </a:xfrm>
          <a:prstGeom prst="rect">
            <a:avLst/>
          </a:prstGeom>
          <a:noFill/>
        </p:spPr>
        <p:txBody>
          <a:bodyPr wrap="square" lIns="0" tIns="0" rIns="0" bIns="0">
            <a:spAutoFit/>
          </a:bodyPr>
          <a:lstStyle/>
          <a:p>
            <a:pPr algn="ctr">
              <a:spcAft>
                <a:spcPts val="700"/>
              </a:spcAft>
              <a:defRPr sz="1100" b="0">
                <a:solidFill>
                  <a:srgbClr val="A8BCC6"/>
                </a:solidFill>
                <a:latin typeface="Aptos"/>
              </a:defRPr>
            </a:pPr>
            <a:r>
              <a:t>Name / photo / role to be replaced</a:t>
            </a:r>
          </a:p>
        </p:txBody>
      </p:sp>
      <p:sp>
        <p:nvSpPr>
          <p:cNvPr id="19" name="Rounded Rectangle 18"/>
          <p:cNvSpPr/>
          <p:nvPr/>
        </p:nvSpPr>
        <p:spPr>
          <a:xfrm>
            <a:off x="548640" y="5669280"/>
            <a:ext cx="3563112" cy="722376"/>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5779008"/>
            <a:ext cx="3380231" cy="219456"/>
          </a:xfrm>
          <a:prstGeom prst="rect">
            <a:avLst/>
          </a:prstGeom>
          <a:noFill/>
        </p:spPr>
        <p:txBody>
          <a:bodyPr wrap="square" lIns="0" tIns="0" rIns="0" bIns="0">
            <a:spAutoFit/>
          </a:bodyPr>
          <a:lstStyle/>
          <a:p>
            <a:pPr algn="ctr">
              <a:spcAft>
                <a:spcPts val="700"/>
              </a:spcAft>
              <a:defRPr sz="1200" b="1">
                <a:solidFill>
                  <a:srgbClr val="F3F7F6"/>
                </a:solidFill>
                <a:latin typeface="Aptos"/>
              </a:defRPr>
            </a:pPr>
            <a:r>
              <a:t>AI + BACKEND</a:t>
            </a:r>
          </a:p>
        </p:txBody>
      </p:sp>
      <p:sp>
        <p:nvSpPr>
          <p:cNvPr id="21" name="TextBox 20"/>
          <p:cNvSpPr txBox="1"/>
          <p:nvPr/>
        </p:nvSpPr>
        <p:spPr>
          <a:xfrm>
            <a:off x="621792" y="6053328"/>
            <a:ext cx="3416807" cy="201168"/>
          </a:xfrm>
          <a:prstGeom prst="rect">
            <a:avLst/>
          </a:prstGeom>
          <a:noFill/>
        </p:spPr>
        <p:txBody>
          <a:bodyPr wrap="square" lIns="0" tIns="0" rIns="0" bIns="0">
            <a:spAutoFit/>
          </a:bodyPr>
          <a:lstStyle/>
          <a:p>
            <a:pPr algn="ctr">
              <a:spcAft>
                <a:spcPts val="700"/>
              </a:spcAft>
              <a:defRPr sz="1000" b="0">
                <a:solidFill>
                  <a:srgbClr val="A8BCC6"/>
                </a:solidFill>
                <a:latin typeface="Aptos"/>
              </a:defRPr>
            </a:pPr>
            <a:r>
              <a:t>Tools, policies, data</a:t>
            </a:r>
          </a:p>
        </p:txBody>
      </p:sp>
      <p:sp>
        <p:nvSpPr>
          <p:cNvPr id="22" name="TextBox 21"/>
          <p:cNvSpPr txBox="1"/>
          <p:nvPr/>
        </p:nvSpPr>
        <p:spPr>
          <a:xfrm>
            <a:off x="4139183" y="5852160"/>
            <a:ext cx="164592" cy="320040"/>
          </a:xfrm>
          <a:prstGeom prst="rect">
            <a:avLst/>
          </a:prstGeom>
          <a:noFill/>
        </p:spPr>
        <p:txBody>
          <a:bodyPr wrap="square" lIns="0" tIns="0" rIns="0" bIns="0">
            <a:spAutoFit/>
          </a:bodyPr>
          <a:lstStyle/>
          <a:p>
            <a:pPr>
              <a:spcAft>
                <a:spcPts val="700"/>
              </a:spcAft>
              <a:defRPr sz="2100" b="0">
                <a:solidFill>
                  <a:srgbClr val="47DDC0"/>
                </a:solidFill>
                <a:latin typeface="Aptos"/>
              </a:defRPr>
            </a:pPr>
            <a:r>
              <a:t>›</a:t>
            </a:r>
          </a:p>
        </p:txBody>
      </p:sp>
      <p:sp>
        <p:nvSpPr>
          <p:cNvPr id="23" name="Rounded Rectangle 22"/>
          <p:cNvSpPr/>
          <p:nvPr/>
        </p:nvSpPr>
        <p:spPr>
          <a:xfrm>
            <a:off x="4322064" y="5669280"/>
            <a:ext cx="3563112" cy="722376"/>
          </a:xfrm>
          <a:prstGeom prst="roundRect">
            <a:avLst>
              <a:gd name="adj" fmla="val 12000"/>
            </a:avLst>
          </a:prstGeom>
          <a:solidFill>
            <a:srgbClr val="19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13504" y="5779008"/>
            <a:ext cx="3380231" cy="219456"/>
          </a:xfrm>
          <a:prstGeom prst="rect">
            <a:avLst/>
          </a:prstGeom>
          <a:noFill/>
        </p:spPr>
        <p:txBody>
          <a:bodyPr wrap="square" lIns="0" tIns="0" rIns="0" bIns="0">
            <a:spAutoFit/>
          </a:bodyPr>
          <a:lstStyle/>
          <a:p>
            <a:pPr algn="ctr">
              <a:spcAft>
                <a:spcPts val="700"/>
              </a:spcAft>
              <a:defRPr sz="1200" b="1">
                <a:solidFill>
                  <a:srgbClr val="F3F7F6"/>
                </a:solidFill>
                <a:latin typeface="Aptos"/>
              </a:defRPr>
            </a:pPr>
            <a:r>
              <a:t>FINBRIDGE AI</a:t>
            </a:r>
          </a:p>
        </p:txBody>
      </p:sp>
      <p:sp>
        <p:nvSpPr>
          <p:cNvPr id="25" name="TextBox 24"/>
          <p:cNvSpPr txBox="1"/>
          <p:nvPr/>
        </p:nvSpPr>
        <p:spPr>
          <a:xfrm>
            <a:off x="4395216" y="6053328"/>
            <a:ext cx="3416807" cy="201168"/>
          </a:xfrm>
          <a:prstGeom prst="rect">
            <a:avLst/>
          </a:prstGeom>
          <a:noFill/>
        </p:spPr>
        <p:txBody>
          <a:bodyPr wrap="square" lIns="0" tIns="0" rIns="0" bIns="0">
            <a:spAutoFit/>
          </a:bodyPr>
          <a:lstStyle/>
          <a:p>
            <a:pPr algn="ctr">
              <a:spcAft>
                <a:spcPts val="700"/>
              </a:spcAft>
              <a:defRPr sz="1000" b="0">
                <a:solidFill>
                  <a:srgbClr val="A8BCC6"/>
                </a:solidFill>
                <a:latin typeface="Aptos"/>
              </a:defRPr>
            </a:pPr>
            <a:r>
              <a:t>A shared product</a:t>
            </a:r>
          </a:p>
        </p:txBody>
      </p:sp>
      <p:sp>
        <p:nvSpPr>
          <p:cNvPr id="26" name="TextBox 25"/>
          <p:cNvSpPr txBox="1"/>
          <p:nvPr/>
        </p:nvSpPr>
        <p:spPr>
          <a:xfrm>
            <a:off x="7912607" y="5852160"/>
            <a:ext cx="164592" cy="320040"/>
          </a:xfrm>
          <a:prstGeom prst="rect">
            <a:avLst/>
          </a:prstGeom>
          <a:noFill/>
        </p:spPr>
        <p:txBody>
          <a:bodyPr wrap="square" lIns="0" tIns="0" rIns="0" bIns="0">
            <a:spAutoFit/>
          </a:bodyPr>
          <a:lstStyle/>
          <a:p>
            <a:pPr>
              <a:spcAft>
                <a:spcPts val="700"/>
              </a:spcAft>
              <a:defRPr sz="2100" b="0">
                <a:solidFill>
                  <a:srgbClr val="47DDC0"/>
                </a:solidFill>
                <a:latin typeface="Aptos"/>
              </a:defRPr>
            </a:pPr>
            <a:r>
              <a:t>›</a:t>
            </a:r>
          </a:p>
        </p:txBody>
      </p:sp>
      <p:sp>
        <p:nvSpPr>
          <p:cNvPr id="27" name="Rounded Rectangle 26"/>
          <p:cNvSpPr/>
          <p:nvPr/>
        </p:nvSpPr>
        <p:spPr>
          <a:xfrm>
            <a:off x="8095488" y="5669280"/>
            <a:ext cx="3563112" cy="722376"/>
          </a:xfrm>
          <a:prstGeom prst="roundRect">
            <a:avLst>
              <a:gd name="adj" fmla="val 12000"/>
            </a:avLst>
          </a:prstGeom>
          <a:solidFill>
            <a:srgbClr val="4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86928" y="5779008"/>
            <a:ext cx="3380231" cy="219456"/>
          </a:xfrm>
          <a:prstGeom prst="rect">
            <a:avLst/>
          </a:prstGeom>
          <a:noFill/>
        </p:spPr>
        <p:txBody>
          <a:bodyPr wrap="square" lIns="0" tIns="0" rIns="0" bIns="0">
            <a:spAutoFit/>
          </a:bodyPr>
          <a:lstStyle/>
          <a:p>
            <a:pPr algn="ctr">
              <a:spcAft>
                <a:spcPts val="700"/>
              </a:spcAft>
              <a:defRPr sz="1200" b="1">
                <a:solidFill>
                  <a:srgbClr val="101E2B"/>
                </a:solidFill>
                <a:latin typeface="Aptos"/>
              </a:defRPr>
            </a:pPr>
            <a:r>
              <a:t>FRONTEND + UX</a:t>
            </a:r>
          </a:p>
        </p:txBody>
      </p:sp>
      <p:sp>
        <p:nvSpPr>
          <p:cNvPr id="29" name="TextBox 28"/>
          <p:cNvSpPr txBox="1"/>
          <p:nvPr/>
        </p:nvSpPr>
        <p:spPr>
          <a:xfrm>
            <a:off x="8168640" y="6053328"/>
            <a:ext cx="3416807" cy="201168"/>
          </a:xfrm>
          <a:prstGeom prst="rect">
            <a:avLst/>
          </a:prstGeom>
          <a:noFill/>
        </p:spPr>
        <p:txBody>
          <a:bodyPr wrap="square" lIns="0" tIns="0" rIns="0" bIns="0">
            <a:spAutoFit/>
          </a:bodyPr>
          <a:lstStyle/>
          <a:p>
            <a:pPr algn="ctr">
              <a:spcAft>
                <a:spcPts val="700"/>
              </a:spcAft>
              <a:defRPr sz="1000" b="0">
                <a:solidFill>
                  <a:srgbClr val="101E2B"/>
                </a:solidFill>
                <a:latin typeface="Aptos"/>
              </a:defRPr>
            </a:pPr>
            <a:r>
              <a:t>Workflows, visuals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650"/>
                                  <p:tgtEl>
                                    <p:spTgt spid="7"/>
                                  </p:tgtEl>
                                </p:cBhvr>
                              </p:animEffect>
                            </p:childTnLst>
                          </p:cTn>
                        </p:par>
                      </p:childTnLst>
                    </p:cTn>
                  </p:par>
                </p:childTnLst>
              </p:cTn>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2662</Words>
  <Application>Microsoft Office PowerPoint</Application>
  <PresentationFormat>Widescreen</PresentationFormat>
  <Paragraphs>257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FinBridge AI | Project Presentation</dc:title>
  <dc:subject>Cross-border and student finance assistant</dc:subject>
  <dc:creator>FinBridge AI Project Team</dc:creator>
  <cp:keywords>student finance, AI copilot, parent controls, sandbox payments</cp:keywords>
  <dc:description>generated using python-pptx</dc:description>
  <cp:lastModifiedBy>WALTON</cp:lastModifiedBy>
  <cp:revision>2</cp:revision>
  <dcterms:created xsi:type="dcterms:W3CDTF">2013-01-27T09:14:16Z</dcterms:created>
  <dcterms:modified xsi:type="dcterms:W3CDTF">2026-10-20T09:40:57Z</dcterms:modified>
  <cp:category/>
</cp:coreProperties>
</file>