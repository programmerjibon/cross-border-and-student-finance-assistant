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2.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3.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1"/>
        <c:ser>
          <c:idx val="0"/>
          <c:order val="0"/>
          <c:tx>
            <c:strRef>
              <c:f>Sheet1!$B$1</c:f>
              <c:strCache>
                <c:ptCount val="1"/>
                <c:pt idx="0">
                  <c:v>Illustrative data</c:v>
                </c:pt>
              </c:strCache>
            </c:strRef>
          </c:tx>
          <c:invertIfNegative val="1"/>
          <c:dPt>
            <c:idx val="0"/>
            <c:invertIfNegative val="1"/>
            <c:bubble3D val="0"/>
            <c:spPr>
              <a:solidFill>
                <a:srgbClr val="102F36"/>
              </a:solidFill>
              <a:ln>
                <a:noFill/>
              </a:ln>
            </c:spPr>
            <c:extLst>
              <c:ext xmlns:c16="http://schemas.microsoft.com/office/drawing/2014/chart" uri="{C3380CC4-5D6E-409C-BE32-E72D297353CC}">
                <c16:uniqueId val="{00000001-CAE0-4496-B94D-9ECF2147E62F}"/>
              </c:ext>
            </c:extLst>
          </c:dPt>
          <c:dPt>
            <c:idx val="1"/>
            <c:invertIfNegative val="1"/>
            <c:bubble3D val="0"/>
            <c:spPr>
              <a:solidFill>
                <a:srgbClr val="57DBBA"/>
              </a:solidFill>
              <a:ln>
                <a:noFill/>
              </a:ln>
            </c:spPr>
            <c:extLst>
              <c:ext xmlns:c16="http://schemas.microsoft.com/office/drawing/2014/chart" uri="{C3380CC4-5D6E-409C-BE32-E72D297353CC}">
                <c16:uniqueId val="{00000003-CAE0-4496-B94D-9ECF2147E62F}"/>
              </c:ext>
            </c:extLst>
          </c:dPt>
          <c:dPt>
            <c:idx val="2"/>
            <c:invertIfNegative val="1"/>
            <c:bubble3D val="0"/>
            <c:spPr>
              <a:solidFill>
                <a:srgbClr val="F1BA61"/>
              </a:solidFill>
              <a:ln>
                <a:noFill/>
              </a:ln>
            </c:spPr>
            <c:extLst>
              <c:ext xmlns:c16="http://schemas.microsoft.com/office/drawing/2014/chart" uri="{C3380CC4-5D6E-409C-BE32-E72D297353CC}">
                <c16:uniqueId val="{00000005-CAE0-4496-B94D-9ECF2147E62F}"/>
              </c:ext>
            </c:extLst>
          </c:dPt>
          <c:dLbls>
            <c:spPr>
              <a:noFill/>
              <a:ln>
                <a:noFill/>
              </a:ln>
              <a:effectLst/>
            </c:spPr>
            <c:txPr>
              <a:bodyPr/>
              <a:lstStyle/>
              <a:p>
                <a:pPr>
                  <a:defRPr sz="1000">
                    <a:solidFill>
                      <a:srgbClr val="102F36"/>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Tuition</c:v>
                </c:pt>
                <c:pt idx="1">
                  <c:v>Available</c:v>
                </c:pt>
                <c:pt idx="2">
                  <c:v>Gap</c:v>
                </c:pt>
              </c:strCache>
            </c:strRef>
          </c:cat>
          <c:val>
            <c:numRef>
              <c:f>Sheet1!$B$2:$B$4</c:f>
              <c:numCache>
                <c:formatCode>General</c:formatCode>
                <c:ptCount val="3"/>
                <c:pt idx="0">
                  <c:v>42000</c:v>
                </c:pt>
                <c:pt idx="1">
                  <c:v>30000</c:v>
                </c:pt>
                <c:pt idx="2">
                  <c:v>12000</c:v>
                </c:pt>
              </c:numCache>
            </c:numRef>
          </c:val>
          <c:extLst>
            <c:ext xmlns:c16="http://schemas.microsoft.com/office/drawing/2014/chart" uri="{C3380CC4-5D6E-409C-BE32-E72D297353CC}">
              <c16:uniqueId val="{00000006-CAE0-4496-B94D-9ECF2147E62F}"/>
            </c:ext>
          </c:extLst>
        </c:ser>
        <c:dLbls>
          <c:dLblPos val="outEnd"/>
          <c:showLegendKey val="0"/>
          <c:showVal val="1"/>
          <c:showCatName val="0"/>
          <c:showSerName val="0"/>
          <c:showPercent val="0"/>
          <c:showBubbleSize val="0"/>
        </c:dLbls>
        <c:gapWidth val="60"/>
        <c:axId val="-2068027336"/>
        <c:axId val="-2113994440"/>
      </c:barChart>
      <c:catAx>
        <c:axId val="-2068027336"/>
        <c:scaling>
          <c:orientation val="minMax"/>
        </c:scaling>
        <c:delete val="0"/>
        <c:axPos val="l"/>
        <c:numFmt formatCode="General" sourceLinked="0"/>
        <c:majorTickMark val="out"/>
        <c:minorTickMark val="none"/>
        <c:tickLblPos val="nextTo"/>
        <c:spPr>
          <a:ln>
            <a:noFill/>
          </a:ln>
        </c:spPr>
        <c:txPr>
          <a:bodyPr/>
          <a:lstStyle/>
          <a:p>
            <a:pPr>
              <a:defRPr sz="1000">
                <a:solidFill>
                  <a:srgbClr val="617579"/>
                </a:solidFill>
              </a:defRPr>
            </a:pPr>
            <a:endParaRPr lang="en-US"/>
          </a:p>
        </c:txPr>
        <c:crossAx val="-2113994440"/>
        <c:crosses val="autoZero"/>
        <c:auto val="1"/>
        <c:lblAlgn val="ctr"/>
        <c:lblOffset val="100"/>
        <c:noMultiLvlLbl val="0"/>
      </c:catAx>
      <c:valAx>
        <c:axId val="-2113994440"/>
        <c:scaling>
          <c:orientation val="minMax"/>
        </c:scaling>
        <c:delete val="1"/>
        <c:axPos val="b"/>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100">
          <a:solidFill>
            <a:srgbClr val="617579"/>
          </a:solidFill>
          <a:latin typeface="Aptos"/>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doughnutChart>
        <c:varyColors val="1"/>
        <c:ser>
          <c:idx val="0"/>
          <c:order val="0"/>
          <c:tx>
            <c:strRef>
              <c:f>Sheet1!$B$1</c:f>
              <c:strCache>
                <c:ptCount val="1"/>
                <c:pt idx="0">
                  <c:v>Illustrative data</c:v>
                </c:pt>
              </c:strCache>
            </c:strRef>
          </c:tx>
          <c:dPt>
            <c:idx val="0"/>
            <c:bubble3D val="0"/>
            <c:spPr>
              <a:solidFill>
                <a:srgbClr val="102F36"/>
              </a:solidFill>
              <a:ln>
                <a:noFill/>
              </a:ln>
            </c:spPr>
            <c:extLst>
              <c:ext xmlns:c16="http://schemas.microsoft.com/office/drawing/2014/chart" uri="{C3380CC4-5D6E-409C-BE32-E72D297353CC}">
                <c16:uniqueId val="{00000001-B89B-471D-969C-B1B512E404A5}"/>
              </c:ext>
            </c:extLst>
          </c:dPt>
          <c:dPt>
            <c:idx val="1"/>
            <c:bubble3D val="0"/>
            <c:spPr>
              <a:solidFill>
                <a:srgbClr val="008D78"/>
              </a:solidFill>
              <a:ln>
                <a:noFill/>
              </a:ln>
            </c:spPr>
            <c:extLst>
              <c:ext xmlns:c16="http://schemas.microsoft.com/office/drawing/2014/chart" uri="{C3380CC4-5D6E-409C-BE32-E72D297353CC}">
                <c16:uniqueId val="{00000003-B89B-471D-969C-B1B512E404A5}"/>
              </c:ext>
            </c:extLst>
          </c:dPt>
          <c:dPt>
            <c:idx val="2"/>
            <c:bubble3D val="0"/>
            <c:spPr>
              <a:solidFill>
                <a:srgbClr val="749FF5"/>
              </a:solidFill>
              <a:ln>
                <a:noFill/>
              </a:ln>
            </c:spPr>
            <c:extLst>
              <c:ext xmlns:c16="http://schemas.microsoft.com/office/drawing/2014/chart" uri="{C3380CC4-5D6E-409C-BE32-E72D297353CC}">
                <c16:uniqueId val="{00000005-B89B-471D-969C-B1B512E404A5}"/>
              </c:ext>
            </c:extLst>
          </c:dPt>
          <c:dPt>
            <c:idx val="3"/>
            <c:bubble3D val="0"/>
            <c:spPr>
              <a:solidFill>
                <a:srgbClr val="F1BA61"/>
              </a:solidFill>
              <a:ln>
                <a:noFill/>
              </a:ln>
            </c:spPr>
            <c:extLst>
              <c:ext xmlns:c16="http://schemas.microsoft.com/office/drawing/2014/chart" uri="{C3380CC4-5D6E-409C-BE32-E72D297353CC}">
                <c16:uniqueId val="{00000007-B89B-471D-969C-B1B512E404A5}"/>
              </c:ext>
            </c:extLst>
          </c:dPt>
          <c:cat>
            <c:strRef>
              <c:f>Sheet1!$A$2:$A$5</c:f>
              <c:strCache>
                <c:ptCount val="4"/>
                <c:pt idx="0">
                  <c:v>Housing</c:v>
                </c:pt>
                <c:pt idx="1">
                  <c:v>Food</c:v>
                </c:pt>
                <c:pt idx="2">
                  <c:v>Transport</c:v>
                </c:pt>
                <c:pt idx="3">
                  <c:v>Savings</c:v>
                </c:pt>
              </c:strCache>
            </c:strRef>
          </c:cat>
          <c:val>
            <c:numRef>
              <c:f>Sheet1!$B$2:$B$5</c:f>
              <c:numCache>
                <c:formatCode>General</c:formatCode>
                <c:ptCount val="4"/>
                <c:pt idx="0">
                  <c:v>45</c:v>
                </c:pt>
                <c:pt idx="1">
                  <c:v>18</c:v>
                </c:pt>
                <c:pt idx="2">
                  <c:v>17</c:v>
                </c:pt>
                <c:pt idx="3">
                  <c:v>20</c:v>
                </c:pt>
              </c:numCache>
            </c:numRef>
          </c:val>
          <c:extLst>
            <c:ext xmlns:c16="http://schemas.microsoft.com/office/drawing/2014/chart" uri="{C3380CC4-5D6E-409C-BE32-E72D297353CC}">
              <c16:uniqueId val="{00000008-B89B-471D-969C-B1B512E404A5}"/>
            </c:ext>
          </c:extLst>
        </c:ser>
        <c:dLbls>
          <c:showLegendKey val="0"/>
          <c:showVal val="0"/>
          <c:showCatName val="0"/>
          <c:showSerName val="0"/>
          <c:showPercent val="0"/>
          <c:showBubbleSize val="0"/>
          <c:showLeaderLines val="1"/>
        </c:dLbls>
        <c:firstSliceAng val="0"/>
        <c:holeSize val="50"/>
      </c:doughnutChart>
    </c:plotArea>
    <c:plotVisOnly val="1"/>
    <c:dispBlanksAs val="gap"/>
    <c:showDLblsOverMax val="0"/>
  </c:chart>
  <c:txPr>
    <a:bodyPr/>
    <a:lstStyle/>
    <a:p>
      <a:pPr>
        <a:defRPr sz="1100">
          <a:solidFill>
            <a:srgbClr val="617579"/>
          </a:solidFill>
          <a:latin typeface="Aptos"/>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Illustrative data</c:v>
                </c:pt>
              </c:strCache>
            </c:strRef>
          </c:tx>
          <c:invertIfNegative val="1"/>
          <c:dPt>
            <c:idx val="0"/>
            <c:invertIfNegative val="1"/>
            <c:bubble3D val="0"/>
            <c:spPr>
              <a:solidFill>
                <a:srgbClr val="F1BA61"/>
              </a:solidFill>
              <a:ln>
                <a:noFill/>
              </a:ln>
            </c:spPr>
            <c:extLst>
              <c:ext xmlns:c16="http://schemas.microsoft.com/office/drawing/2014/chart" uri="{C3380CC4-5D6E-409C-BE32-E72D297353CC}">
                <c16:uniqueId val="{00000001-BF85-4CF0-B5E3-CA63BECAB8E3}"/>
              </c:ext>
            </c:extLst>
          </c:dPt>
          <c:dPt>
            <c:idx val="1"/>
            <c:invertIfNegative val="1"/>
            <c:bubble3D val="0"/>
            <c:spPr>
              <a:solidFill>
                <a:srgbClr val="749FF5"/>
              </a:solidFill>
              <a:ln>
                <a:noFill/>
              </a:ln>
            </c:spPr>
            <c:extLst>
              <c:ext xmlns:c16="http://schemas.microsoft.com/office/drawing/2014/chart" uri="{C3380CC4-5D6E-409C-BE32-E72D297353CC}">
                <c16:uniqueId val="{00000003-BF85-4CF0-B5E3-CA63BECAB8E3}"/>
              </c:ext>
            </c:extLst>
          </c:dPt>
          <c:dPt>
            <c:idx val="2"/>
            <c:invertIfNegative val="1"/>
            <c:bubble3D val="0"/>
            <c:spPr>
              <a:solidFill>
                <a:srgbClr val="008D78"/>
              </a:solidFill>
              <a:ln>
                <a:noFill/>
              </a:ln>
            </c:spPr>
            <c:extLst>
              <c:ext xmlns:c16="http://schemas.microsoft.com/office/drawing/2014/chart" uri="{C3380CC4-5D6E-409C-BE32-E72D297353CC}">
                <c16:uniqueId val="{00000005-BF85-4CF0-B5E3-CA63BECAB8E3}"/>
              </c:ext>
            </c:extLst>
          </c:dPt>
          <c:cat>
            <c:strRef>
              <c:f>Sheet1!$A$2:$A$4</c:f>
              <c:strCache>
                <c:ptCount val="3"/>
                <c:pt idx="0">
                  <c:v>Queued</c:v>
                </c:pt>
                <c:pt idx="1">
                  <c:v>Processing</c:v>
                </c:pt>
                <c:pt idx="2">
                  <c:v>Done</c:v>
                </c:pt>
              </c:strCache>
            </c:strRef>
          </c:cat>
          <c:val>
            <c:numRef>
              <c:f>Sheet1!$B$2:$B$4</c:f>
              <c:numCache>
                <c:formatCode>General</c:formatCode>
                <c:ptCount val="3"/>
                <c:pt idx="0">
                  <c:v>4</c:v>
                </c:pt>
                <c:pt idx="1">
                  <c:v>2</c:v>
                </c:pt>
                <c:pt idx="2">
                  <c:v>8</c:v>
                </c:pt>
              </c:numCache>
            </c:numRef>
          </c:val>
          <c:extLst>
            <c:ext xmlns:c16="http://schemas.microsoft.com/office/drawing/2014/chart" uri="{C3380CC4-5D6E-409C-BE32-E72D297353CC}">
              <c16:uniqueId val="{00000006-BF85-4CF0-B5E3-CA63BECAB8E3}"/>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spPr>
          <a:ln>
            <a:noFill/>
          </a:ln>
        </c:spPr>
        <c:txPr>
          <a:bodyPr/>
          <a:lstStyle/>
          <a:p>
            <a:pPr>
              <a:defRPr sz="1000">
                <a:solidFill>
                  <a:srgbClr val="617579"/>
                </a:solidFill>
              </a:defRPr>
            </a:pPr>
            <a:endParaRPr lang="en-US"/>
          </a:p>
        </c:txPr>
        <c:crossAx val="-2113994440"/>
        <c:crosses val="autoZero"/>
        <c:auto val="1"/>
        <c:lblAlgn val="ctr"/>
        <c:lblOffset val="100"/>
        <c:noMultiLvlLbl val="0"/>
      </c:catAx>
      <c:valAx>
        <c:axId val="-2113994440"/>
        <c:scaling>
          <c:orientation val="minMax"/>
        </c:scaling>
        <c:delete val="0"/>
        <c:axPos val="l"/>
        <c:numFmt formatCode="General" sourceLinked="1"/>
        <c:majorTickMark val="out"/>
        <c:minorTickMark val="none"/>
        <c:tickLblPos val="nextTo"/>
        <c:spPr>
          <a:ln>
            <a:noFill/>
          </a:ln>
        </c:spPr>
        <c:txPr>
          <a:bodyPr/>
          <a:lstStyle/>
          <a:p>
            <a:pPr>
              <a:defRPr sz="900">
                <a:solidFill>
                  <a:srgbClr val="617579"/>
                </a:solidFill>
              </a:defRPr>
            </a:pPr>
            <a:endParaRPr lang="en-US"/>
          </a:p>
        </c:txPr>
        <c:crossAx val="-2068027336"/>
        <c:crosses val="autoZero"/>
        <c:crossBetween val="between"/>
      </c:valAx>
    </c:plotArea>
    <c:plotVisOnly val="1"/>
    <c:dispBlanksAs val="gap"/>
    <c:showDLblsOverMax val="1"/>
  </c:chart>
  <c:txPr>
    <a:bodyPr/>
    <a:lstStyle/>
    <a:p>
      <a:pPr>
        <a:defRPr sz="1100">
          <a:solidFill>
            <a:srgbClr val="617579"/>
          </a:solidFill>
          <a:latin typeface="Aptos"/>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160964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Introduce FinBridge AI as a student and family finance project. It combines planning, simulated remittances and a tool-based AI copilot. All payment flows are sandbox simulations; no real money is moved.</a:t>
            </a:r>
          </a:p>
          <a:p>
            <a:endParaRPr/>
          </a:p>
          <a:p>
            <a:r>
              <a:t>Repository evidence: README.md; public/brand/mark.svg</a:t>
            </a:r>
          </a:p>
          <a:p>
            <a:endParaRPr/>
          </a:p>
          <a:p>
            <a:r>
              <a:t>Redesigned visual edition. The title slide has exactly the product name and a single-sentence description. Large animated bridge visual represents family funding reaching study goals. Illustrative charts are not live financial data or measured product outcomes. Animations: distinct looping conceptual motion graphic plus native staggered entrance effects, with fade transition. Feature labels are concise; this note retains detailed feature coverage.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Frame the problem using the workflows implemented in this repository rather than unsourced market statistics. The project targets international students, parents and educational sponsors.</a:t>
            </a:r>
          </a:p>
          <a:p>
            <a:endParaRPr/>
          </a:p>
          <a:p>
            <a:r>
              <a:t>Repository evidence: README.md; src/services/tuition.service.ts; src/services/remittance.service.ts; src/services/parent-controls.service.ts</a:t>
            </a:r>
          </a:p>
          <a:p>
            <a:endParaRPr/>
          </a:p>
          <a:p>
            <a:r>
              <a:t>Redesigned visual edition. Four disconnected visual nodes represent the actual product design problems, not market survey statistics. Illustrative charts are not live financial data or measured product outcomes. Animations: distinct looping conceptual motion graphic plus native staggered entrance effects, with fade transition. Feature labels are concise; this note retains detailed feature coverage.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same payment backend is reused by student, parent and AI workflows. Shared experience includes onboarding, preferred currency, language, time zone, notifications, theme, search, subscriptions, saved demo cards and personal model settings. The platform is a sandbox with manual external settlement.</a:t>
            </a:r>
          </a:p>
          <a:p>
            <a:endParaRPr/>
          </a:p>
          <a:p>
            <a:r>
              <a:t>Repository evidence: src/actions/dashboard.actions.ts; src/components/layout/shell.tsx; src/actions/preferences.actions.ts; src/services/payment.service.ts; IMPLEMENTATION_STATUS.md</a:t>
            </a:r>
          </a:p>
          <a:p>
            <a:endParaRPr/>
          </a:p>
          <a:p>
            <a:r>
              <a:t>Redesigned visual edition. Shared capabilities: English, Bengali and Chinese; light/dark/system theme; global search; profile, locale, country, currency and time-zone preferences. The orbit diagram places AI at the intersection of the three role experiences. Illustrative charts are not live financial data or measured product outcomes. Animations: distinct looping conceptual motion graphic plus native staggered entrance effects, with fade transition. Feature labels are concise; this note retains detailed feature coverage.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Primary AI capabilities: getStudentProfile, getAccounts, analyseTransactions, calculateTuitionGap, compareRemittance, getFxRates, generateBudgetSuggestion, analyseFinancialHealth, getCreditGuidance, getWorkspaceData, assessPaymentRisk, draftPayment, beneficiary tools, requestAction and respond. The role-checked catalog also supports account, transaction, budget, tuition, alert, credit, family, preference, report and subscription tasks. Financial execution requires explicit UI confirmation. Some approved low-impact tools may create drafts, beneficiaries or alerts; do not claim the model is universally read-only. The chart is a deliberately simplified illustrative plan, not a live account or measured result.</a:t>
            </a:r>
          </a:p>
          <a:p>
            <a:endParaRPr/>
          </a:p>
          <a:p>
            <a:r>
              <a:t>Repository evidence: src/ai/tools/index.ts; src/ai/action-catalog.ts; src/ai/mock-provider.ts; src/ai/gemini-provider.ts; src/ai/openai-provider.ts</a:t>
            </a:r>
          </a:p>
          <a:p>
            <a:endParaRPr/>
          </a:p>
          <a:p>
            <a:r>
              <a:t>Redesigned visual edition. The illustrative chart shows 42,000 CNY tuition, 30,000 CNY available funding and a 12,000 CNY gap. Capabilities also include budget recommendations, FX/provider comparison, financial health, credit guidance, follow-up questions, navigation, payment drafts and role-checked action proposals. The model can prepare drafts and other allowed low-impact tool outputs; financial execution requires confirmation. Illustrative charts are not live financial data or measured product outcomes. Animations: distinct looping conceptual motion graphic plus native staggered entrance effects, with fade transition. Feature labels are concise; this note retains detailed feature coverage.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Server Actions perform authentication, role and ownership checks, strict validation, risk checks and parent controls. Financial mutations reuse payment.service.ts; non-financial confirmations dispatch to existing server actions. Model instructions treat user and tool text as untrusted and prohibit invented balances, IDs and successful results. Secure-input tasks open standard forms. The database schema contains 57 CREATE TABLE definitions. Stack versions reflect package.json. Testing exists at unit, provider-contract, database integration and Playwright levels; this deck does not assert a fresh test run or a security certification.</a:t>
            </a:r>
          </a:p>
          <a:p>
            <a:endParaRPr/>
          </a:p>
          <a:p>
            <a:r>
              <a:t>Repository evidence: package.json; database/schema.sql; src/actions/agent-workflow.actions.ts; src/ai/action-service.ts; src/ai/structured-response.ts; src/services/payment.service.ts; tests/</a:t>
            </a:r>
          </a:p>
          <a:p>
            <a:endParaRPr/>
          </a:p>
          <a:p>
            <a:r>
              <a:t>Redesigned visual edition. The five stages animate from user intent to persisted outcome. Shared payment lifecycle: draft, parent review when required, queued, processing, completed/failed/cancelled. External channels use manual settlement. Confirmations reuse application Server Actions and shared payment services. Database has 57 tables; row locks and idempotency guard against duplicate execution. All monetary activity is sandbox. Illustrative charts are not live financial data or measured product outcomes. Animations: distinct looping conceptual motion graphic plus native staggered entrance effects, with fade transition. Feature labels are concise; this note retains detailed feature coverage.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Student feature inventory: account creation/rename/archive; separate cash and payment wallet semantics; manual categorized transactions and confidence display; pagination/filtering; CSV file and row limits, mapping and preview; budget creation/edit, mixed-currency normalization and AI suggestions; tuition paid and scholarship tracking, monthly funding plans and readiness; educational credit profile and country-specific checklist; FX charts/provider comparisons, locked quotes and reviewed legacy sandbox execution; unified internal/card/manual/external payment requests and beneficiary approvals; saved card management; payment statuses, cancellation, receipts, ledger and audit activity; AI providers, personal keys, selection and tests; family invitation acceptance; automatic alerts and user reminders; subscription quotas, monthly/annual sandbox checkout, change history and cancellation; support reports; profile photo/name/email, password reset/change, locale/country/currency/time zone/theme/notifications; data export and account closure. The mini bars are illustrative visual cues.</a:t>
            </a:r>
          </a:p>
          <a:p>
            <a:endParaRPr/>
          </a:p>
          <a:p>
            <a:r>
              <a:t>Repository evidence: src/actions/; src/components/accounts/; src/components/tuition/; src/components/budget/; src/components/payments/; src/components/layout/utility-pages.tsx; src/components/settings/platform-panels.tsx</a:t>
            </a:r>
          </a:p>
          <a:p>
            <a:endParaRPr/>
          </a:p>
          <a:p>
            <a:r>
              <a:t>Redesigned visual edition. The visible labels cover the student feature families; original detailed inventory is retained above. Manual external channels include bank/wire, PayPal, Alipay, WeChat Pay and UnionPay, alongside internal wallets and demo cards. The native doughnut and animated dashboard are illustrative. Profile/security includes photo/name/email, password change/reset, timezone, notification settings and account closure; subscriptions include monthly/annual sandbox purchase, limits, cancellation and history. Illustrative charts are not live financial data or measured product outcomes. Animations: distinct looping conceptual motion graphic plus native staggered entrance effects, with fade transition. Feature labels are concise; this note retains detailed feature coverage.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Parent functions include linking and revocation, configurable visibility, parent-owned financial accounts and wallet transfers, transaction recording and CSV imports under role ownership, approval decisions and history, beneficiary decisions, controls for tuition/conversion, caps and thresholds, non-beneficiary policy and category limits. Strictest applicable parent policy wins and can only tighten administrator ceilings. Parent AI actions are restricted by the role catalog; the model does not approve by itself. Parent access to automatic alerts respects visibility. Parent subscriptions, cards, models and preferences share the customer workflow. Illustrative bars show nested policy constraints, not measured amounts.</a:t>
            </a:r>
          </a:p>
          <a:p>
            <a:endParaRPr/>
          </a:p>
          <a:p>
            <a:r>
              <a:t>Repository evidence: src/actions/parent.actions.ts; src/services/parent-controls.service.ts; src/services/payment.service.ts; src/ai/action-catalog.ts; src/components/family/family-page.tsx; src/services/automatic-alerts.service.ts</a:t>
            </a:r>
          </a:p>
          <a:p>
            <a:endParaRPr/>
          </a:p>
          <a:p>
            <a:r>
              <a:t>Redesigned visual edition. Illustrated sliders are policy controls, not measured values. Parents can only tighten platform ceilings. Multiple parent policies use the strictest applicable cap. Shared account features include localization/themes, preferences, subscription history/cancellation and data export. Parent AI cannot approve requests by itself. Illustrative charts are not live financial data or measured product outcomes. Animations: distinct looping conceptual motion graphic plus native staggered entrance effects, with fade transition. Feature labels are concise; this note retains detailed feature coverage.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Administrator features verified against admin.actions.ts, platform.actions.ts, payment.actions.ts, admin-page.tsx and financial-config.tsx. Moderator delegations cover reports, team, agent, models, users, finance and catalog; access is individually checked. Team editing includes publishing, designation and CEO designation, profile photo and limited moderator self-edit. Settlement actions are role restricted. Financial controls include risk caps, provider and route settings and country-specific credit education. Reporting and evidence are application artifacts, not independent compliance certification.</a:t>
            </a:r>
          </a:p>
          <a:p>
            <a:endParaRPr/>
          </a:p>
          <a:p>
            <a:r>
              <a:t>Repository evidence: src/actions/admin.actions.ts; src/actions/platform.actions.ts; src/actions/payment.actions.ts; src/components/admin/; src/lib/admin-permissions.ts; src/components/layout/evidence-page.tsx</a:t>
            </a:r>
          </a:p>
          <a:p>
            <a:endParaRPr/>
          </a:p>
          <a:p>
            <a:r>
              <a:t>Redesigned visual edition. The three queue totals are illustrative and do not come from a running database. Team features include publishing, designations, CEO selection and limited moderator self-editing. Moderation scopes: reports, team, agent, models, users, finance and catalog. Illustrative charts are not live financial data or measured product outcomes. Animations: distinct looping conceptual motion graphic plus native staggered entrance effects, with fade transition. Feature labels are concise; this note retains detailed feature coverage.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Security claims are code-level controls, not a certification. session.ts uses HS256, 8-hour JWT expiry, httpOnly, SameSite lax and production secure cookies; auth.ts verifies session_version. Passwords use bcrypt. secrets.ts encrypts AI keys using AES-256-GCM. Parent permissions govern disclosure. Avatar validation in current src/lib/avatar.ts accepts PNG/JPEG/WebP data URLs, checks signatures and enforces 300,000 bytes; README describes a different limit, so the slide deliberately makes no size claim. Profile export is capped per table and is not an exhaustive privacy portability certification. Account closure changes status and revokes sessions/links; it is not an erasure promise. AI adapters send selected conversational/tool context to the configured provider. No claim is made that all financial data is encrypted at rest. Legacy sandbox transfer uses locked quotes and single-use execution tokens. Unified payment path uses idempotency, transactional locking and policy checks. No fresh audit was run for this deck.</a:t>
            </a:r>
          </a:p>
          <a:p>
            <a:endParaRPr/>
          </a:p>
          <a:p>
            <a:r>
              <a:t>Repository evidence: src/lib/session.ts; src/lib/auth.ts; src/lib/secrets.ts; src/lib/avatar.ts; src/lib/permissions.ts; src/lib/risk-engine.ts; src/actions/user.actions.ts; src/services/sandbox-payment.service.ts; src/services/payment.service.ts; src/ai/</a:t>
            </a:r>
          </a:p>
          <a:p>
            <a:endParaRPr/>
          </a:p>
          <a:p>
            <a:r>
              <a:t>Redesigned visual edition. The shield diagram shows layered code-level controls. This is not independent certification. AI providers may receive selected financial/tool context. No full PAN/CVV is stored. Profile photos are validated. Account closure is not an erasure promise. No assertion of encryption of all financial data at rest is made. Illustrative charts are not live financial data or measured product outcomes. Animations: distinct looping conceptual motion graphic plus native staggered entrance effects, with fade transition. Feature labels are concise; this note retains detailed feature coverage.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are demo avatars and suggested role placeholders, explicitly requested by the user. They do not identify actual repository contributors and must not be presented as verified authorship. To replace a portrait, select the circular picture and use Change Picture. The PNG contains a circular portrait with transparent corners; apply Crop to Shape &gt; Oval to any replacement photo. All name and role fields are normal editable PowerPoint text boxes.</a:t>
            </a:r>
          </a:p>
          <a:p>
            <a:endParaRPr/>
          </a:p>
          <a:p>
            <a:r>
              <a:t>Repository evidence: User instruction: keep developer details demo for manual replacement; README.md project identity</a:t>
            </a:r>
          </a:p>
          <a:p>
            <a:endParaRPr/>
          </a:p>
          <a:p>
            <a:r>
              <a:t>Redesigned visual edition. User explicitly requested demo details to replace manually. Suggested roles are placeholders, not verified contributor roles. Replace portraits with Change Picture; crop any replacement to an oval. Names and roles remain editable text. Illustrative charts are not live financial data or measured product outcomes. Animations: distinct looping conceptual motion graphic plus native staggered entrance effects, with fade transition. Feature labels are concise; this note retains detailed feature coverage.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10/20/2026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10/20/2026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10/20/2026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chart" Target="../charts/chart1.xml"/></Relationships>
</file>

<file path=ppt/slides/_rels/slide5.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6.gif"/><Relationship Id="rId7"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chart" Target="../charts/chart2.xml"/><Relationship Id="rId9" Type="http://schemas.openxmlformats.org/officeDocument/2006/relationships/image" Target="../media/image11.png"/></Relationships>
</file>

<file path=ppt/slides/_rels/slide7.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3.gif"/><Relationship Id="rId7"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1.png"/><Relationship Id="rId9" Type="http://schemas.openxmlformats.org/officeDocument/2006/relationships/image" Target="../media/image12.png"/></Relationships>
</file>

<file path=ppt/slides/_rels/slide8.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7.gif"/><Relationship Id="rId7"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11.png"/><Relationship Id="rId10" Type="http://schemas.openxmlformats.org/officeDocument/2006/relationships/image" Target="../media/image12.png"/><Relationship Id="rId4" Type="http://schemas.openxmlformats.org/officeDocument/2006/relationships/chart" Target="../charts/chart3.xml"/><Relationship Id="rId9"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8.gif"/><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image" Target="../media/image21.gif"/><Relationship Id="rId4"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02F36"/>
        </a:solidFill>
        <a:effectLst/>
      </p:bgPr>
    </p:bg>
    <p:spTree>
      <p:nvGrpSpPr>
        <p:cNvPr id="1" name=""/>
        <p:cNvGrpSpPr/>
        <p:nvPr/>
      </p:nvGrpSpPr>
      <p:grpSpPr>
        <a:xfrm>
          <a:off x="0" y="0"/>
          <a:ext cx="0" cy="0"/>
          <a:chOff x="0" y="0"/>
          <a:chExt cx="0" cy="0"/>
        </a:xfrm>
      </p:grpSpPr>
      <p:sp>
        <p:nvSpPr>
          <p:cNvPr id="2" name="reveal_01"/>
          <p:cNvSpPr txBox="1"/>
          <p:nvPr/>
        </p:nvSpPr>
        <p:spPr>
          <a:xfrm>
            <a:off x="640080" y="1874519"/>
            <a:ext cx="5577840" cy="868680"/>
          </a:xfrm>
          <a:prstGeom prst="rect">
            <a:avLst/>
          </a:prstGeom>
          <a:noFill/>
        </p:spPr>
        <p:txBody>
          <a:bodyPr wrap="square" lIns="0" tIns="0" rIns="0" bIns="0">
            <a:spAutoFit/>
          </a:bodyPr>
          <a:lstStyle/>
          <a:p>
            <a:pPr>
              <a:spcAft>
                <a:spcPts val="400"/>
              </a:spcAft>
              <a:defRPr sz="5000" b="1">
                <a:solidFill>
                  <a:srgbClr val="FFFFFF"/>
                </a:solidFill>
                <a:latin typeface="Aptos"/>
              </a:defRPr>
            </a:pPr>
            <a:r>
              <a:t>FinBridge AI</a:t>
            </a:r>
          </a:p>
        </p:txBody>
      </p:sp>
      <p:sp>
        <p:nvSpPr>
          <p:cNvPr id="3" name="reveal_02"/>
          <p:cNvSpPr txBox="1"/>
          <p:nvPr/>
        </p:nvSpPr>
        <p:spPr>
          <a:xfrm>
            <a:off x="676656" y="2926080"/>
            <a:ext cx="5303520" cy="1234440"/>
          </a:xfrm>
          <a:prstGeom prst="rect">
            <a:avLst/>
          </a:prstGeom>
          <a:noFill/>
        </p:spPr>
        <p:txBody>
          <a:bodyPr wrap="square" lIns="0" tIns="0" rIns="0" bIns="0">
            <a:spAutoFit/>
          </a:bodyPr>
          <a:lstStyle/>
          <a:p>
            <a:pPr>
              <a:spcAft>
                <a:spcPts val="400"/>
              </a:spcAft>
              <a:defRPr sz="2400" b="0">
                <a:solidFill>
                  <a:srgbClr val="B4D0CF"/>
                </a:solidFill>
                <a:latin typeface="Aptos"/>
              </a:defRPr>
            </a:pPr>
            <a:r>
              <a:t>An AI copilot for student money,</a:t>
            </a:r>
          </a:p>
          <a:p>
            <a:pPr>
              <a:spcAft>
                <a:spcPts val="400"/>
              </a:spcAft>
              <a:defRPr sz="2400" b="0">
                <a:solidFill>
                  <a:srgbClr val="B4D0CF"/>
                </a:solidFill>
                <a:latin typeface="Aptos"/>
              </a:defRPr>
            </a:pPr>
            <a:r>
              <a:t>family funding and cross-border finance.</a:t>
            </a:r>
          </a:p>
        </p:txBody>
      </p:sp>
      <p:pic>
        <p:nvPicPr>
          <p:cNvPr id="4" name="reveal_03" descr="01-bridge.gif"/>
          <p:cNvPicPr>
            <a:picLocks noChangeAspect="1"/>
          </p:cNvPicPr>
          <p:nvPr/>
        </p:nvPicPr>
        <p:blipFill>
          <a:blip r:embed="rId3"/>
          <a:stretch>
            <a:fillRect/>
          </a:stretch>
        </p:blipFill>
        <p:spPr>
          <a:xfrm>
            <a:off x="5989320" y="960120"/>
            <a:ext cx="5852160" cy="438912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380"/>
                                        <p:tgtEl>
                                          <p:spTgt spid="2"/>
                                        </p:tgtEl>
                                      </p:cBhvr>
                                    </p:animEffect>
                                  </p:childTnLst>
                                </p:cTn>
                              </p:par>
                            </p:childTnLst>
                          </p:cTn>
                        </p:par>
                        <p:par>
                          <p:cTn id="8" fill="hold">
                            <p:stCondLst>
                              <p:cond delay="380"/>
                            </p:stCondLst>
                            <p:childTnLst>
                              <p:par>
                                <p:cTn id="9" presetID="10" presetClass="entr" presetSubtype="0"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380"/>
                                        <p:tgtEl>
                                          <p:spTgt spid="3"/>
                                        </p:tgtEl>
                                      </p:cBhvr>
                                    </p:animEffect>
                                  </p:childTnLst>
                                </p:cTn>
                              </p:par>
                            </p:childTnLst>
                          </p:cTn>
                        </p:par>
                        <p:par>
                          <p:cTn id="12" fill="hold">
                            <p:stCondLst>
                              <p:cond delay="760"/>
                            </p:stCondLst>
                            <p:childTnLst>
                              <p:par>
                                <p:cTn id="13" presetID="10" presetClass="entr" presetSubtype="0" fill="hold"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38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6F1"/>
        </a:solidFill>
        <a:effectLst/>
      </p:bgPr>
    </p:bg>
    <p:spTree>
      <p:nvGrpSpPr>
        <p:cNvPr id="1" name=""/>
        <p:cNvGrpSpPr/>
        <p:nvPr/>
      </p:nvGrpSpPr>
      <p:grpSpPr>
        <a:xfrm>
          <a:off x="0" y="0"/>
          <a:ext cx="0" cy="0"/>
          <a:chOff x="0" y="0"/>
          <a:chExt cx="0" cy="0"/>
        </a:xfrm>
      </p:grpSpPr>
      <p:sp>
        <p:nvSpPr>
          <p:cNvPr id="2" name="TextBox 1"/>
          <p:cNvSpPr txBox="1"/>
          <p:nvPr/>
        </p:nvSpPr>
        <p:spPr>
          <a:xfrm>
            <a:off x="594360" y="384048"/>
            <a:ext cx="10058400" cy="228600"/>
          </a:xfrm>
          <a:prstGeom prst="rect">
            <a:avLst/>
          </a:prstGeom>
          <a:noFill/>
        </p:spPr>
        <p:txBody>
          <a:bodyPr wrap="square" lIns="0" tIns="0" rIns="0" bIns="0">
            <a:spAutoFit/>
          </a:bodyPr>
          <a:lstStyle/>
          <a:p>
            <a:pPr>
              <a:spcAft>
                <a:spcPts val="400"/>
              </a:spcAft>
              <a:defRPr sz="1000" b="1">
                <a:solidFill>
                  <a:srgbClr val="008D78"/>
                </a:solidFill>
                <a:latin typeface="Aptos"/>
              </a:defRPr>
            </a:pPr>
            <a:r>
              <a:t>PROBLEM STATEMENT</a:t>
            </a:r>
          </a:p>
        </p:txBody>
      </p:sp>
      <p:sp>
        <p:nvSpPr>
          <p:cNvPr id="3" name="reveal_01"/>
          <p:cNvSpPr txBox="1"/>
          <p:nvPr/>
        </p:nvSpPr>
        <p:spPr>
          <a:xfrm>
            <a:off x="594360" y="859536"/>
            <a:ext cx="10972800" cy="914400"/>
          </a:xfrm>
          <a:prstGeom prst="rect">
            <a:avLst/>
          </a:prstGeom>
          <a:noFill/>
        </p:spPr>
        <p:txBody>
          <a:bodyPr wrap="square" lIns="0" tIns="0" rIns="0" bIns="0">
            <a:spAutoFit/>
          </a:bodyPr>
          <a:lstStyle/>
          <a:p>
            <a:pPr>
              <a:spcAft>
                <a:spcPts val="400"/>
              </a:spcAft>
              <a:defRPr sz="3400" b="1">
                <a:solidFill>
                  <a:srgbClr val="102F36"/>
                </a:solidFill>
                <a:latin typeface="Aptos"/>
              </a:defRPr>
            </a:pPr>
            <a:r>
              <a:t>Money is connected. The tools aren’t.</a:t>
            </a:r>
          </a:p>
        </p:txBody>
      </p:sp>
      <p:sp>
        <p:nvSpPr>
          <p:cNvPr id="4" name="TextBox 3"/>
          <p:cNvSpPr txBox="1"/>
          <p:nvPr/>
        </p:nvSpPr>
        <p:spPr>
          <a:xfrm>
            <a:off x="594360" y="6446520"/>
            <a:ext cx="2743200" cy="210312"/>
          </a:xfrm>
          <a:prstGeom prst="rect">
            <a:avLst/>
          </a:prstGeom>
          <a:noFill/>
        </p:spPr>
        <p:txBody>
          <a:bodyPr wrap="square" lIns="0" tIns="0" rIns="0" bIns="0">
            <a:spAutoFit/>
          </a:bodyPr>
          <a:lstStyle/>
          <a:p>
            <a:pPr>
              <a:spcAft>
                <a:spcPts val="400"/>
              </a:spcAft>
              <a:defRPr sz="1000" b="0">
                <a:solidFill>
                  <a:srgbClr val="617579"/>
                </a:solidFill>
                <a:latin typeface="Aptos"/>
              </a:defRPr>
            </a:pPr>
            <a:r>
              <a:t>FinBridge AI</a:t>
            </a:r>
          </a:p>
        </p:txBody>
      </p:sp>
      <p:sp>
        <p:nvSpPr>
          <p:cNvPr id="5" name="TextBox 4"/>
          <p:cNvSpPr txBox="1"/>
          <p:nvPr/>
        </p:nvSpPr>
        <p:spPr>
          <a:xfrm>
            <a:off x="10991088" y="6391656"/>
            <a:ext cx="594360" cy="274320"/>
          </a:xfrm>
          <a:prstGeom prst="rect">
            <a:avLst/>
          </a:prstGeom>
          <a:noFill/>
        </p:spPr>
        <p:txBody>
          <a:bodyPr wrap="square" lIns="0" tIns="0" rIns="0" bIns="0">
            <a:spAutoFit/>
          </a:bodyPr>
          <a:lstStyle/>
          <a:p>
            <a:pPr algn="r">
              <a:spcAft>
                <a:spcPts val="400"/>
              </a:spcAft>
              <a:defRPr sz="1200" b="1">
                <a:solidFill>
                  <a:srgbClr val="008D78"/>
                </a:solidFill>
                <a:latin typeface="Aptos"/>
              </a:defRPr>
            </a:pPr>
            <a:r>
              <a:t>02</a:t>
            </a:r>
          </a:p>
        </p:txBody>
      </p:sp>
      <p:pic>
        <p:nvPicPr>
          <p:cNvPr id="6" name="reveal_02" descr="02-problem.gif"/>
          <p:cNvPicPr>
            <a:picLocks noChangeAspect="1"/>
          </p:cNvPicPr>
          <p:nvPr/>
        </p:nvPicPr>
        <p:blipFill>
          <a:blip r:embed="rId3"/>
          <a:stretch>
            <a:fillRect/>
          </a:stretch>
        </p:blipFill>
        <p:spPr>
          <a:xfrm>
            <a:off x="5961888" y="1828800"/>
            <a:ext cx="5632704" cy="4224528"/>
          </a:xfrm>
          <a:prstGeom prst="rect">
            <a:avLst/>
          </a:prstGeom>
        </p:spPr>
      </p:pic>
      <p:sp>
        <p:nvSpPr>
          <p:cNvPr id="7" name="Oval 6"/>
          <p:cNvSpPr/>
          <p:nvPr/>
        </p:nvSpPr>
        <p:spPr>
          <a:xfrm>
            <a:off x="658368" y="2011679"/>
            <a:ext cx="320040" cy="320040"/>
          </a:xfrm>
          <a:prstGeom prst="ellipse">
            <a:avLst/>
          </a:prstGeom>
          <a:solidFill>
            <a:srgbClr val="008D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67512" y="2052828"/>
            <a:ext cx="301752" cy="201168"/>
          </a:xfrm>
          <a:prstGeom prst="rect">
            <a:avLst/>
          </a:prstGeom>
          <a:noFill/>
        </p:spPr>
        <p:txBody>
          <a:bodyPr wrap="square" lIns="0" tIns="0" rIns="0" bIns="0">
            <a:spAutoFit/>
          </a:bodyPr>
          <a:lstStyle/>
          <a:p>
            <a:pPr algn="ctr">
              <a:spcAft>
                <a:spcPts val="400"/>
              </a:spcAft>
              <a:defRPr sz="1000" b="1">
                <a:solidFill>
                  <a:srgbClr val="FFFFFF"/>
                </a:solidFill>
                <a:latin typeface="Aptos"/>
              </a:defRPr>
            </a:pPr>
            <a:r>
              <a:t>1</a:t>
            </a:r>
          </a:p>
        </p:txBody>
      </p:sp>
      <p:sp>
        <p:nvSpPr>
          <p:cNvPr id="9" name="reveal_03"/>
          <p:cNvSpPr txBox="1"/>
          <p:nvPr/>
        </p:nvSpPr>
        <p:spPr>
          <a:xfrm>
            <a:off x="1170432" y="1984248"/>
            <a:ext cx="4471416" cy="365760"/>
          </a:xfrm>
          <a:prstGeom prst="rect">
            <a:avLst/>
          </a:prstGeom>
          <a:noFill/>
        </p:spPr>
        <p:txBody>
          <a:bodyPr wrap="square" lIns="0" tIns="0" rIns="0" bIns="0">
            <a:spAutoFit/>
          </a:bodyPr>
          <a:lstStyle/>
          <a:p>
            <a:pPr>
              <a:spcAft>
                <a:spcPts val="400"/>
              </a:spcAft>
              <a:defRPr sz="2300" b="1">
                <a:solidFill>
                  <a:srgbClr val="102F36"/>
                </a:solidFill>
                <a:latin typeface="Aptos"/>
              </a:defRPr>
            </a:pPr>
            <a:r>
              <a:t>Scattered balances</a:t>
            </a:r>
          </a:p>
        </p:txBody>
      </p:sp>
      <p:sp>
        <p:nvSpPr>
          <p:cNvPr id="10" name="reveal_03"/>
          <p:cNvSpPr txBox="1"/>
          <p:nvPr/>
        </p:nvSpPr>
        <p:spPr>
          <a:xfrm>
            <a:off x="1170432" y="2432304"/>
            <a:ext cx="4471416" cy="475488"/>
          </a:xfrm>
          <a:prstGeom prst="rect">
            <a:avLst/>
          </a:prstGeom>
          <a:noFill/>
        </p:spPr>
        <p:txBody>
          <a:bodyPr wrap="square" lIns="0" tIns="0" rIns="0" bIns="0">
            <a:spAutoFit/>
          </a:bodyPr>
          <a:lstStyle/>
          <a:p>
            <a:pPr>
              <a:spcAft>
                <a:spcPts val="400"/>
              </a:spcAft>
              <a:defRPr sz="1500" b="0">
                <a:solidFill>
                  <a:srgbClr val="617579"/>
                </a:solidFill>
                <a:latin typeface="Aptos"/>
              </a:defRPr>
            </a:pPr>
            <a:r>
              <a:t>Accounts and currencies</a:t>
            </a:r>
          </a:p>
        </p:txBody>
      </p:sp>
      <p:sp>
        <p:nvSpPr>
          <p:cNvPr id="11" name="Oval 10"/>
          <p:cNvSpPr/>
          <p:nvPr/>
        </p:nvSpPr>
        <p:spPr>
          <a:xfrm>
            <a:off x="658368" y="3017520"/>
            <a:ext cx="320040" cy="320040"/>
          </a:xfrm>
          <a:prstGeom prst="ellipse">
            <a:avLst/>
          </a:prstGeom>
          <a:solidFill>
            <a:srgbClr val="008D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67512" y="3058668"/>
            <a:ext cx="301752" cy="201168"/>
          </a:xfrm>
          <a:prstGeom prst="rect">
            <a:avLst/>
          </a:prstGeom>
          <a:noFill/>
        </p:spPr>
        <p:txBody>
          <a:bodyPr wrap="square" lIns="0" tIns="0" rIns="0" bIns="0">
            <a:spAutoFit/>
          </a:bodyPr>
          <a:lstStyle/>
          <a:p>
            <a:pPr algn="ctr">
              <a:spcAft>
                <a:spcPts val="400"/>
              </a:spcAft>
              <a:defRPr sz="1000" b="1">
                <a:solidFill>
                  <a:srgbClr val="FFFFFF"/>
                </a:solidFill>
                <a:latin typeface="Aptos"/>
              </a:defRPr>
            </a:pPr>
            <a:r>
              <a:t>2</a:t>
            </a:r>
          </a:p>
        </p:txBody>
      </p:sp>
      <p:sp>
        <p:nvSpPr>
          <p:cNvPr id="13" name="reveal_04"/>
          <p:cNvSpPr txBox="1"/>
          <p:nvPr/>
        </p:nvSpPr>
        <p:spPr>
          <a:xfrm>
            <a:off x="1170432" y="2990088"/>
            <a:ext cx="4471416" cy="365760"/>
          </a:xfrm>
          <a:prstGeom prst="rect">
            <a:avLst/>
          </a:prstGeom>
          <a:noFill/>
        </p:spPr>
        <p:txBody>
          <a:bodyPr wrap="square" lIns="0" tIns="0" rIns="0" bIns="0">
            <a:spAutoFit/>
          </a:bodyPr>
          <a:lstStyle/>
          <a:p>
            <a:pPr>
              <a:spcAft>
                <a:spcPts val="400"/>
              </a:spcAft>
              <a:defRPr sz="2300" b="1">
                <a:solidFill>
                  <a:srgbClr val="102F36"/>
                </a:solidFill>
                <a:latin typeface="Aptos"/>
              </a:defRPr>
            </a:pPr>
            <a:r>
              <a:t>Tuition uncertainty</a:t>
            </a:r>
          </a:p>
        </p:txBody>
      </p:sp>
      <p:sp>
        <p:nvSpPr>
          <p:cNvPr id="14" name="reveal_04"/>
          <p:cNvSpPr txBox="1"/>
          <p:nvPr/>
        </p:nvSpPr>
        <p:spPr>
          <a:xfrm>
            <a:off x="1170432" y="3438144"/>
            <a:ext cx="4471416" cy="475488"/>
          </a:xfrm>
          <a:prstGeom prst="rect">
            <a:avLst/>
          </a:prstGeom>
          <a:noFill/>
        </p:spPr>
        <p:txBody>
          <a:bodyPr wrap="square" lIns="0" tIns="0" rIns="0" bIns="0">
            <a:spAutoFit/>
          </a:bodyPr>
          <a:lstStyle/>
          <a:p>
            <a:pPr>
              <a:spcAft>
                <a:spcPts val="400"/>
              </a:spcAft>
              <a:defRPr sz="1500" b="0">
                <a:solidFill>
                  <a:srgbClr val="617579"/>
                </a:solidFill>
                <a:latin typeface="Aptos"/>
              </a:defRPr>
            </a:pPr>
            <a:r>
              <a:t>Deadlines and living costs</a:t>
            </a:r>
          </a:p>
        </p:txBody>
      </p:sp>
      <p:sp>
        <p:nvSpPr>
          <p:cNvPr id="15" name="Oval 14"/>
          <p:cNvSpPr/>
          <p:nvPr/>
        </p:nvSpPr>
        <p:spPr>
          <a:xfrm>
            <a:off x="658368" y="4023360"/>
            <a:ext cx="320040" cy="320040"/>
          </a:xfrm>
          <a:prstGeom prst="ellipse">
            <a:avLst/>
          </a:prstGeom>
          <a:solidFill>
            <a:srgbClr val="008D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67512" y="4064508"/>
            <a:ext cx="301752" cy="201168"/>
          </a:xfrm>
          <a:prstGeom prst="rect">
            <a:avLst/>
          </a:prstGeom>
          <a:noFill/>
        </p:spPr>
        <p:txBody>
          <a:bodyPr wrap="square" lIns="0" tIns="0" rIns="0" bIns="0">
            <a:spAutoFit/>
          </a:bodyPr>
          <a:lstStyle/>
          <a:p>
            <a:pPr algn="ctr">
              <a:spcAft>
                <a:spcPts val="400"/>
              </a:spcAft>
              <a:defRPr sz="1000" b="1">
                <a:solidFill>
                  <a:srgbClr val="FFFFFF"/>
                </a:solidFill>
                <a:latin typeface="Aptos"/>
              </a:defRPr>
            </a:pPr>
            <a:r>
              <a:t>3</a:t>
            </a:r>
          </a:p>
        </p:txBody>
      </p:sp>
      <p:sp>
        <p:nvSpPr>
          <p:cNvPr id="17" name="reveal_05"/>
          <p:cNvSpPr txBox="1"/>
          <p:nvPr/>
        </p:nvSpPr>
        <p:spPr>
          <a:xfrm>
            <a:off x="1170432" y="3995928"/>
            <a:ext cx="4471416" cy="365760"/>
          </a:xfrm>
          <a:prstGeom prst="rect">
            <a:avLst/>
          </a:prstGeom>
          <a:noFill/>
        </p:spPr>
        <p:txBody>
          <a:bodyPr wrap="square" lIns="0" tIns="0" rIns="0" bIns="0">
            <a:spAutoFit/>
          </a:bodyPr>
          <a:lstStyle/>
          <a:p>
            <a:pPr>
              <a:spcAft>
                <a:spcPts val="400"/>
              </a:spcAft>
              <a:defRPr sz="2300" b="1">
                <a:solidFill>
                  <a:srgbClr val="102F36"/>
                </a:solidFill>
                <a:latin typeface="Aptos"/>
              </a:defRPr>
            </a:pPr>
            <a:r>
              <a:t>Hidden transfer costs</a:t>
            </a:r>
          </a:p>
        </p:txBody>
      </p:sp>
      <p:sp>
        <p:nvSpPr>
          <p:cNvPr id="18" name="reveal_05"/>
          <p:cNvSpPr txBox="1"/>
          <p:nvPr/>
        </p:nvSpPr>
        <p:spPr>
          <a:xfrm>
            <a:off x="1170432" y="4443984"/>
            <a:ext cx="4471416" cy="475488"/>
          </a:xfrm>
          <a:prstGeom prst="rect">
            <a:avLst/>
          </a:prstGeom>
          <a:noFill/>
        </p:spPr>
        <p:txBody>
          <a:bodyPr wrap="square" lIns="0" tIns="0" rIns="0" bIns="0">
            <a:spAutoFit/>
          </a:bodyPr>
          <a:lstStyle/>
          <a:p>
            <a:pPr>
              <a:spcAft>
                <a:spcPts val="400"/>
              </a:spcAft>
              <a:defRPr sz="1500" b="0">
                <a:solidFill>
                  <a:srgbClr val="617579"/>
                </a:solidFill>
                <a:latin typeface="Aptos"/>
              </a:defRPr>
            </a:pPr>
            <a:r>
              <a:t>Fees and exchange spreads</a:t>
            </a:r>
          </a:p>
        </p:txBody>
      </p:sp>
      <p:sp>
        <p:nvSpPr>
          <p:cNvPr id="19" name="Oval 18"/>
          <p:cNvSpPr/>
          <p:nvPr/>
        </p:nvSpPr>
        <p:spPr>
          <a:xfrm>
            <a:off x="658368" y="5029200"/>
            <a:ext cx="320040" cy="320040"/>
          </a:xfrm>
          <a:prstGeom prst="ellipse">
            <a:avLst/>
          </a:prstGeom>
          <a:solidFill>
            <a:srgbClr val="008D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67512" y="5070348"/>
            <a:ext cx="301752" cy="201168"/>
          </a:xfrm>
          <a:prstGeom prst="rect">
            <a:avLst/>
          </a:prstGeom>
          <a:noFill/>
        </p:spPr>
        <p:txBody>
          <a:bodyPr wrap="square" lIns="0" tIns="0" rIns="0" bIns="0">
            <a:spAutoFit/>
          </a:bodyPr>
          <a:lstStyle/>
          <a:p>
            <a:pPr algn="ctr">
              <a:spcAft>
                <a:spcPts val="400"/>
              </a:spcAft>
              <a:defRPr sz="1000" b="1">
                <a:solidFill>
                  <a:srgbClr val="FFFFFF"/>
                </a:solidFill>
                <a:latin typeface="Aptos"/>
              </a:defRPr>
            </a:pPr>
            <a:r>
              <a:t>4</a:t>
            </a:r>
          </a:p>
        </p:txBody>
      </p:sp>
      <p:sp>
        <p:nvSpPr>
          <p:cNvPr id="21" name="reveal_06"/>
          <p:cNvSpPr txBox="1"/>
          <p:nvPr/>
        </p:nvSpPr>
        <p:spPr>
          <a:xfrm>
            <a:off x="1170432" y="5001768"/>
            <a:ext cx="4471416" cy="365760"/>
          </a:xfrm>
          <a:prstGeom prst="rect">
            <a:avLst/>
          </a:prstGeom>
          <a:noFill/>
        </p:spPr>
        <p:txBody>
          <a:bodyPr wrap="square" lIns="0" tIns="0" rIns="0" bIns="0">
            <a:spAutoFit/>
          </a:bodyPr>
          <a:lstStyle/>
          <a:p>
            <a:pPr>
              <a:spcAft>
                <a:spcPts val="400"/>
              </a:spcAft>
              <a:defRPr sz="2300" b="1">
                <a:solidFill>
                  <a:srgbClr val="102F36"/>
                </a:solidFill>
                <a:latin typeface="Aptos"/>
              </a:defRPr>
            </a:pPr>
            <a:r>
              <a:t>Family coordination</a:t>
            </a:r>
          </a:p>
        </p:txBody>
      </p:sp>
      <p:sp>
        <p:nvSpPr>
          <p:cNvPr id="22" name="reveal_06"/>
          <p:cNvSpPr txBox="1"/>
          <p:nvPr/>
        </p:nvSpPr>
        <p:spPr>
          <a:xfrm>
            <a:off x="1170432" y="5449824"/>
            <a:ext cx="4471416" cy="475488"/>
          </a:xfrm>
          <a:prstGeom prst="rect">
            <a:avLst/>
          </a:prstGeom>
          <a:noFill/>
        </p:spPr>
        <p:txBody>
          <a:bodyPr wrap="square" lIns="0" tIns="0" rIns="0" bIns="0">
            <a:spAutoFit/>
          </a:bodyPr>
          <a:lstStyle/>
          <a:p>
            <a:pPr>
              <a:spcAft>
                <a:spcPts val="400"/>
              </a:spcAft>
              <a:defRPr sz="1500" b="0">
                <a:solidFill>
                  <a:srgbClr val="617579"/>
                </a:solidFill>
                <a:latin typeface="Aptos"/>
              </a:defRPr>
            </a:pPr>
            <a:r>
              <a:t>Visibility and approvals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380"/>
                                        <p:tgtEl>
                                          <p:spTgt spid="3"/>
                                        </p:tgtEl>
                                      </p:cBhvr>
                                    </p:animEffect>
                                  </p:childTnLst>
                                </p:cTn>
                              </p:par>
                            </p:childTnLst>
                          </p:cTn>
                        </p:par>
                        <p:par>
                          <p:cTn id="8" fill="hold">
                            <p:stCondLst>
                              <p:cond delay="380"/>
                            </p:stCondLst>
                            <p:childTnLst>
                              <p:par>
                                <p:cTn id="9" presetID="10" presetClass="entr" presetSubtype="0"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380"/>
                                        <p:tgtEl>
                                          <p:spTgt spid="6"/>
                                        </p:tgtEl>
                                      </p:cBhvr>
                                    </p:animEffect>
                                  </p:childTnLst>
                                </p:cTn>
                              </p:par>
                            </p:childTnLst>
                          </p:cTn>
                        </p:par>
                        <p:par>
                          <p:cTn id="12" fill="hold">
                            <p:stCondLst>
                              <p:cond delay="760"/>
                            </p:stCondLst>
                            <p:childTnLst>
                              <p:par>
                                <p:cTn id="13" presetID="10" presetClass="entr" presetSubtype="0" fill="hold" grpId="0"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380"/>
                                        <p:tgtEl>
                                          <p:spTgt spid="1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380"/>
                                        <p:tgtEl>
                                          <p:spTgt spid="9"/>
                                        </p:tgtEl>
                                      </p:cBhvr>
                                    </p:animEffect>
                                  </p:childTnLst>
                                </p:cTn>
                              </p:par>
                            </p:childTnLst>
                          </p:cTn>
                        </p:par>
                        <p:par>
                          <p:cTn id="19" fill="hold">
                            <p:stCondLst>
                              <p:cond delay="1140"/>
                            </p:stCondLst>
                            <p:childTnLst>
                              <p:par>
                                <p:cTn id="20" presetID="10" presetClass="entr" presetSubtype="0" fill="hold" grpId="0" nodeType="after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380"/>
                                        <p:tgtEl>
                                          <p:spTgt spid="14"/>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380"/>
                                        <p:tgtEl>
                                          <p:spTgt spid="13"/>
                                        </p:tgtEl>
                                      </p:cBhvr>
                                    </p:animEffect>
                                  </p:childTnLst>
                                </p:cTn>
                              </p:par>
                            </p:childTnLst>
                          </p:cTn>
                        </p:par>
                        <p:par>
                          <p:cTn id="26" fill="hold">
                            <p:stCondLst>
                              <p:cond delay="1520"/>
                            </p:stCondLst>
                            <p:childTnLst>
                              <p:par>
                                <p:cTn id="27" presetID="10" presetClass="entr" presetSubtype="0" fill="hold" grpId="0" nodeType="afterEffect">
                                  <p:stCondLst>
                                    <p:cond delay="0"/>
                                  </p:stCondLst>
                                  <p:childTnLst>
                                    <p:set>
                                      <p:cBhvr>
                                        <p:cTn id="28" dur="1" fill="hold">
                                          <p:stCondLst>
                                            <p:cond delay="0"/>
                                          </p:stCondLst>
                                        </p:cTn>
                                        <p:tgtEl>
                                          <p:spTgt spid="18"/>
                                        </p:tgtEl>
                                        <p:attrNameLst>
                                          <p:attrName>style.visibility</p:attrName>
                                        </p:attrNameLst>
                                      </p:cBhvr>
                                      <p:to>
                                        <p:strVal val="visible"/>
                                      </p:to>
                                    </p:set>
                                    <p:animEffect transition="in" filter="fade">
                                      <p:cBhvr>
                                        <p:cTn id="29" dur="380"/>
                                        <p:tgtEl>
                                          <p:spTgt spid="1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380"/>
                                        <p:tgtEl>
                                          <p:spTgt spid="17"/>
                                        </p:tgtEl>
                                      </p:cBhvr>
                                    </p:animEffect>
                                  </p:childTnLst>
                                </p:cTn>
                              </p:par>
                            </p:childTnLst>
                          </p:cTn>
                        </p:par>
                        <p:par>
                          <p:cTn id="33" fill="hold">
                            <p:stCondLst>
                              <p:cond delay="1900"/>
                            </p:stCondLst>
                            <p:childTnLst>
                              <p:par>
                                <p:cTn id="34" presetID="10" presetClass="entr" presetSubtype="0" fill="hold" grpId="0" nodeType="afterEffect">
                                  <p:stCondLst>
                                    <p:cond delay="0"/>
                                  </p:stCondLst>
                                  <p:childTnLst>
                                    <p:set>
                                      <p:cBhvr>
                                        <p:cTn id="35" dur="1" fill="hold">
                                          <p:stCondLst>
                                            <p:cond delay="0"/>
                                          </p:stCondLst>
                                        </p:cTn>
                                        <p:tgtEl>
                                          <p:spTgt spid="22"/>
                                        </p:tgtEl>
                                        <p:attrNameLst>
                                          <p:attrName>style.visibility</p:attrName>
                                        </p:attrNameLst>
                                      </p:cBhvr>
                                      <p:to>
                                        <p:strVal val="visible"/>
                                      </p:to>
                                    </p:set>
                                    <p:animEffect transition="in" filter="fade">
                                      <p:cBhvr>
                                        <p:cTn id="36" dur="380"/>
                                        <p:tgtEl>
                                          <p:spTgt spid="22"/>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1"/>
                                        </p:tgtEl>
                                        <p:attrNameLst>
                                          <p:attrName>style.visibility</p:attrName>
                                        </p:attrNameLst>
                                      </p:cBhvr>
                                      <p:to>
                                        <p:strVal val="visible"/>
                                      </p:to>
                                    </p:set>
                                    <p:animEffect transition="in" filter="fade">
                                      <p:cBhvr>
                                        <p:cTn id="39" dur="38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9" grpId="0"/>
      <p:bldP spid="10" grpId="0"/>
      <p:bldP spid="13" grpId="0"/>
      <p:bldP spid="14" grpId="0"/>
      <p:bldP spid="17" grpId="0"/>
      <p:bldP spid="18" grpId="0"/>
      <p:bldP spid="21" grpId="0"/>
      <p:bldP spid="22"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6F1"/>
        </a:solidFill>
        <a:effectLst/>
      </p:bgPr>
    </p:bg>
    <p:spTree>
      <p:nvGrpSpPr>
        <p:cNvPr id="1" name=""/>
        <p:cNvGrpSpPr/>
        <p:nvPr/>
      </p:nvGrpSpPr>
      <p:grpSpPr>
        <a:xfrm>
          <a:off x="0" y="0"/>
          <a:ext cx="0" cy="0"/>
          <a:chOff x="0" y="0"/>
          <a:chExt cx="0" cy="0"/>
        </a:xfrm>
      </p:grpSpPr>
      <p:sp>
        <p:nvSpPr>
          <p:cNvPr id="2" name="TextBox 1"/>
          <p:cNvSpPr txBox="1"/>
          <p:nvPr/>
        </p:nvSpPr>
        <p:spPr>
          <a:xfrm>
            <a:off x="594360" y="384048"/>
            <a:ext cx="10058400" cy="228600"/>
          </a:xfrm>
          <a:prstGeom prst="rect">
            <a:avLst/>
          </a:prstGeom>
          <a:noFill/>
        </p:spPr>
        <p:txBody>
          <a:bodyPr wrap="square" lIns="0" tIns="0" rIns="0" bIns="0">
            <a:spAutoFit/>
          </a:bodyPr>
          <a:lstStyle/>
          <a:p>
            <a:pPr>
              <a:spcAft>
                <a:spcPts val="400"/>
              </a:spcAft>
              <a:defRPr sz="1000" b="1">
                <a:solidFill>
                  <a:srgbClr val="008D78"/>
                </a:solidFill>
                <a:latin typeface="Aptos"/>
              </a:defRPr>
            </a:pPr>
            <a:r>
              <a:t>OUR SOLUTION</a:t>
            </a:r>
          </a:p>
        </p:txBody>
      </p:sp>
      <p:sp>
        <p:nvSpPr>
          <p:cNvPr id="3" name="reveal_01"/>
          <p:cNvSpPr txBox="1"/>
          <p:nvPr/>
        </p:nvSpPr>
        <p:spPr>
          <a:xfrm>
            <a:off x="594360" y="859536"/>
            <a:ext cx="10972800" cy="914400"/>
          </a:xfrm>
          <a:prstGeom prst="rect">
            <a:avLst/>
          </a:prstGeom>
          <a:noFill/>
        </p:spPr>
        <p:txBody>
          <a:bodyPr wrap="square" lIns="0" tIns="0" rIns="0" bIns="0">
            <a:spAutoFit/>
          </a:bodyPr>
          <a:lstStyle/>
          <a:p>
            <a:pPr>
              <a:spcAft>
                <a:spcPts val="400"/>
              </a:spcAft>
              <a:defRPr sz="3400" b="1">
                <a:solidFill>
                  <a:srgbClr val="102F36"/>
                </a:solidFill>
                <a:latin typeface="Aptos"/>
              </a:defRPr>
            </a:pPr>
            <a:r>
              <a:t>One financial picture. Three connected roles.</a:t>
            </a:r>
          </a:p>
        </p:txBody>
      </p:sp>
      <p:sp>
        <p:nvSpPr>
          <p:cNvPr id="4" name="TextBox 3"/>
          <p:cNvSpPr txBox="1"/>
          <p:nvPr/>
        </p:nvSpPr>
        <p:spPr>
          <a:xfrm>
            <a:off x="594360" y="6446520"/>
            <a:ext cx="2743200" cy="210312"/>
          </a:xfrm>
          <a:prstGeom prst="rect">
            <a:avLst/>
          </a:prstGeom>
          <a:noFill/>
        </p:spPr>
        <p:txBody>
          <a:bodyPr wrap="square" lIns="0" tIns="0" rIns="0" bIns="0">
            <a:spAutoFit/>
          </a:bodyPr>
          <a:lstStyle/>
          <a:p>
            <a:pPr>
              <a:spcAft>
                <a:spcPts val="400"/>
              </a:spcAft>
              <a:defRPr sz="1000" b="0">
                <a:solidFill>
                  <a:srgbClr val="617579"/>
                </a:solidFill>
                <a:latin typeface="Aptos"/>
              </a:defRPr>
            </a:pPr>
            <a:r>
              <a:t>FinBridge AI</a:t>
            </a:r>
          </a:p>
        </p:txBody>
      </p:sp>
      <p:sp>
        <p:nvSpPr>
          <p:cNvPr id="5" name="TextBox 4"/>
          <p:cNvSpPr txBox="1"/>
          <p:nvPr/>
        </p:nvSpPr>
        <p:spPr>
          <a:xfrm>
            <a:off x="10991088" y="6391656"/>
            <a:ext cx="594360" cy="274320"/>
          </a:xfrm>
          <a:prstGeom prst="rect">
            <a:avLst/>
          </a:prstGeom>
          <a:noFill/>
        </p:spPr>
        <p:txBody>
          <a:bodyPr wrap="square" lIns="0" tIns="0" rIns="0" bIns="0">
            <a:spAutoFit/>
          </a:bodyPr>
          <a:lstStyle/>
          <a:p>
            <a:pPr algn="r">
              <a:spcAft>
                <a:spcPts val="400"/>
              </a:spcAft>
              <a:defRPr sz="1200" b="1">
                <a:solidFill>
                  <a:srgbClr val="008D78"/>
                </a:solidFill>
                <a:latin typeface="Aptos"/>
              </a:defRPr>
            </a:pPr>
            <a:r>
              <a:t>03</a:t>
            </a:r>
          </a:p>
        </p:txBody>
      </p:sp>
      <p:pic>
        <p:nvPicPr>
          <p:cNvPr id="6" name="reveal_02" descr="03-solution.gif"/>
          <p:cNvPicPr>
            <a:picLocks noChangeAspect="1"/>
          </p:cNvPicPr>
          <p:nvPr/>
        </p:nvPicPr>
        <p:blipFill>
          <a:blip r:embed="rId3"/>
          <a:stretch>
            <a:fillRect/>
          </a:stretch>
        </p:blipFill>
        <p:spPr>
          <a:xfrm>
            <a:off x="5961888" y="1828800"/>
            <a:ext cx="5632704" cy="4224528"/>
          </a:xfrm>
          <a:prstGeom prst="rect">
            <a:avLst/>
          </a:prstGeom>
        </p:spPr>
      </p:pic>
      <p:sp>
        <p:nvSpPr>
          <p:cNvPr id="7" name="Oval 6"/>
          <p:cNvSpPr/>
          <p:nvPr/>
        </p:nvSpPr>
        <p:spPr>
          <a:xfrm>
            <a:off x="658368" y="2103120"/>
            <a:ext cx="320040" cy="320040"/>
          </a:xfrm>
          <a:prstGeom prst="ellipse">
            <a:avLst/>
          </a:prstGeom>
          <a:solidFill>
            <a:srgbClr val="008D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67512" y="2144268"/>
            <a:ext cx="301752" cy="201168"/>
          </a:xfrm>
          <a:prstGeom prst="rect">
            <a:avLst/>
          </a:prstGeom>
          <a:noFill/>
        </p:spPr>
        <p:txBody>
          <a:bodyPr wrap="square" lIns="0" tIns="0" rIns="0" bIns="0">
            <a:spAutoFit/>
          </a:bodyPr>
          <a:lstStyle/>
          <a:p>
            <a:pPr algn="ctr">
              <a:spcAft>
                <a:spcPts val="400"/>
              </a:spcAft>
              <a:defRPr sz="1000" b="1">
                <a:solidFill>
                  <a:srgbClr val="FFFFFF"/>
                </a:solidFill>
                <a:latin typeface="Aptos"/>
              </a:defRPr>
            </a:pPr>
            <a:r>
              <a:t>1</a:t>
            </a:r>
          </a:p>
        </p:txBody>
      </p:sp>
      <p:sp>
        <p:nvSpPr>
          <p:cNvPr id="9" name="reveal_03"/>
          <p:cNvSpPr txBox="1"/>
          <p:nvPr/>
        </p:nvSpPr>
        <p:spPr>
          <a:xfrm>
            <a:off x="1170432" y="2075688"/>
            <a:ext cx="4562856" cy="365760"/>
          </a:xfrm>
          <a:prstGeom prst="rect">
            <a:avLst/>
          </a:prstGeom>
          <a:noFill/>
        </p:spPr>
        <p:txBody>
          <a:bodyPr wrap="square" lIns="0" tIns="0" rIns="0" bIns="0">
            <a:spAutoFit/>
          </a:bodyPr>
          <a:lstStyle/>
          <a:p>
            <a:pPr>
              <a:spcAft>
                <a:spcPts val="400"/>
              </a:spcAft>
              <a:defRPr sz="2300" b="1">
                <a:solidFill>
                  <a:srgbClr val="102F36"/>
                </a:solidFill>
                <a:latin typeface="Aptos"/>
              </a:defRPr>
            </a:pPr>
            <a:r>
              <a:t>Students plan</a:t>
            </a:r>
          </a:p>
        </p:txBody>
      </p:sp>
      <p:sp>
        <p:nvSpPr>
          <p:cNvPr id="10" name="reveal_03"/>
          <p:cNvSpPr txBox="1"/>
          <p:nvPr/>
        </p:nvSpPr>
        <p:spPr>
          <a:xfrm>
            <a:off x="1170432" y="2523744"/>
            <a:ext cx="4562856" cy="475488"/>
          </a:xfrm>
          <a:prstGeom prst="rect">
            <a:avLst/>
          </a:prstGeom>
          <a:noFill/>
        </p:spPr>
        <p:txBody>
          <a:bodyPr wrap="square" lIns="0" tIns="0" rIns="0" bIns="0">
            <a:spAutoFit/>
          </a:bodyPr>
          <a:lstStyle/>
          <a:p>
            <a:pPr>
              <a:spcAft>
                <a:spcPts val="400"/>
              </a:spcAft>
              <a:defRPr sz="1500" b="0">
                <a:solidFill>
                  <a:srgbClr val="617579"/>
                </a:solidFill>
                <a:latin typeface="Aptos"/>
              </a:defRPr>
            </a:pPr>
            <a:r>
              <a:t>Money, spending and tuition</a:t>
            </a:r>
          </a:p>
        </p:txBody>
      </p:sp>
      <p:sp>
        <p:nvSpPr>
          <p:cNvPr id="11" name="Oval 10"/>
          <p:cNvSpPr/>
          <p:nvPr/>
        </p:nvSpPr>
        <p:spPr>
          <a:xfrm>
            <a:off x="658368" y="3300984"/>
            <a:ext cx="320040" cy="320040"/>
          </a:xfrm>
          <a:prstGeom prst="ellipse">
            <a:avLst/>
          </a:prstGeom>
          <a:solidFill>
            <a:srgbClr val="008D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67512" y="3342132"/>
            <a:ext cx="301752" cy="201168"/>
          </a:xfrm>
          <a:prstGeom prst="rect">
            <a:avLst/>
          </a:prstGeom>
          <a:noFill/>
        </p:spPr>
        <p:txBody>
          <a:bodyPr wrap="square" lIns="0" tIns="0" rIns="0" bIns="0">
            <a:spAutoFit/>
          </a:bodyPr>
          <a:lstStyle/>
          <a:p>
            <a:pPr algn="ctr">
              <a:spcAft>
                <a:spcPts val="400"/>
              </a:spcAft>
              <a:defRPr sz="1000" b="1">
                <a:solidFill>
                  <a:srgbClr val="FFFFFF"/>
                </a:solidFill>
                <a:latin typeface="Aptos"/>
              </a:defRPr>
            </a:pPr>
            <a:r>
              <a:t>2</a:t>
            </a:r>
          </a:p>
        </p:txBody>
      </p:sp>
      <p:sp>
        <p:nvSpPr>
          <p:cNvPr id="13" name="reveal_04"/>
          <p:cNvSpPr txBox="1"/>
          <p:nvPr/>
        </p:nvSpPr>
        <p:spPr>
          <a:xfrm>
            <a:off x="1170432" y="3273552"/>
            <a:ext cx="4562856" cy="365760"/>
          </a:xfrm>
          <a:prstGeom prst="rect">
            <a:avLst/>
          </a:prstGeom>
          <a:noFill/>
        </p:spPr>
        <p:txBody>
          <a:bodyPr wrap="square" lIns="0" tIns="0" rIns="0" bIns="0">
            <a:spAutoFit/>
          </a:bodyPr>
          <a:lstStyle/>
          <a:p>
            <a:pPr>
              <a:spcAft>
                <a:spcPts val="400"/>
              </a:spcAft>
              <a:defRPr sz="2300" b="1">
                <a:solidFill>
                  <a:srgbClr val="102F36"/>
                </a:solidFill>
                <a:latin typeface="Aptos"/>
              </a:defRPr>
            </a:pPr>
            <a:r>
              <a:t>Parents support</a:t>
            </a:r>
          </a:p>
        </p:txBody>
      </p:sp>
      <p:sp>
        <p:nvSpPr>
          <p:cNvPr id="14" name="reveal_04"/>
          <p:cNvSpPr txBox="1"/>
          <p:nvPr/>
        </p:nvSpPr>
        <p:spPr>
          <a:xfrm>
            <a:off x="1170432" y="3721608"/>
            <a:ext cx="4562856" cy="475488"/>
          </a:xfrm>
          <a:prstGeom prst="rect">
            <a:avLst/>
          </a:prstGeom>
          <a:noFill/>
        </p:spPr>
        <p:txBody>
          <a:bodyPr wrap="square" lIns="0" tIns="0" rIns="0" bIns="0">
            <a:spAutoFit/>
          </a:bodyPr>
          <a:lstStyle/>
          <a:p>
            <a:pPr>
              <a:spcAft>
                <a:spcPts val="400"/>
              </a:spcAft>
              <a:defRPr sz="1500" b="0">
                <a:solidFill>
                  <a:srgbClr val="617579"/>
                </a:solidFill>
                <a:latin typeface="Aptos"/>
              </a:defRPr>
            </a:pPr>
            <a:r>
              <a:t>Funding, visibility and limits</a:t>
            </a:r>
          </a:p>
        </p:txBody>
      </p:sp>
      <p:sp>
        <p:nvSpPr>
          <p:cNvPr id="15" name="Oval 14"/>
          <p:cNvSpPr/>
          <p:nvPr/>
        </p:nvSpPr>
        <p:spPr>
          <a:xfrm>
            <a:off x="658368" y="4498848"/>
            <a:ext cx="320040" cy="320040"/>
          </a:xfrm>
          <a:prstGeom prst="ellipse">
            <a:avLst/>
          </a:prstGeom>
          <a:solidFill>
            <a:srgbClr val="008D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67512" y="4539996"/>
            <a:ext cx="301752" cy="201168"/>
          </a:xfrm>
          <a:prstGeom prst="rect">
            <a:avLst/>
          </a:prstGeom>
          <a:noFill/>
        </p:spPr>
        <p:txBody>
          <a:bodyPr wrap="square" lIns="0" tIns="0" rIns="0" bIns="0">
            <a:spAutoFit/>
          </a:bodyPr>
          <a:lstStyle/>
          <a:p>
            <a:pPr algn="ctr">
              <a:spcAft>
                <a:spcPts val="400"/>
              </a:spcAft>
              <a:defRPr sz="1000" b="1">
                <a:solidFill>
                  <a:srgbClr val="FFFFFF"/>
                </a:solidFill>
                <a:latin typeface="Aptos"/>
              </a:defRPr>
            </a:pPr>
            <a:r>
              <a:t>3</a:t>
            </a:r>
          </a:p>
        </p:txBody>
      </p:sp>
      <p:sp>
        <p:nvSpPr>
          <p:cNvPr id="17" name="reveal_05"/>
          <p:cNvSpPr txBox="1"/>
          <p:nvPr/>
        </p:nvSpPr>
        <p:spPr>
          <a:xfrm>
            <a:off x="1170432" y="4471416"/>
            <a:ext cx="4562856" cy="365760"/>
          </a:xfrm>
          <a:prstGeom prst="rect">
            <a:avLst/>
          </a:prstGeom>
          <a:noFill/>
        </p:spPr>
        <p:txBody>
          <a:bodyPr wrap="square" lIns="0" tIns="0" rIns="0" bIns="0">
            <a:spAutoFit/>
          </a:bodyPr>
          <a:lstStyle/>
          <a:p>
            <a:pPr>
              <a:spcAft>
                <a:spcPts val="400"/>
              </a:spcAft>
              <a:defRPr sz="2300" b="1">
                <a:solidFill>
                  <a:srgbClr val="102F36"/>
                </a:solidFill>
                <a:latin typeface="Aptos"/>
              </a:defRPr>
            </a:pPr>
            <a:r>
              <a:t>Admins oversee</a:t>
            </a:r>
          </a:p>
        </p:txBody>
      </p:sp>
      <p:sp>
        <p:nvSpPr>
          <p:cNvPr id="18" name="reveal_05"/>
          <p:cNvSpPr txBox="1"/>
          <p:nvPr/>
        </p:nvSpPr>
        <p:spPr>
          <a:xfrm>
            <a:off x="1170432" y="4919472"/>
            <a:ext cx="4562856" cy="475488"/>
          </a:xfrm>
          <a:prstGeom prst="rect">
            <a:avLst/>
          </a:prstGeom>
          <a:noFill/>
        </p:spPr>
        <p:txBody>
          <a:bodyPr wrap="square" lIns="0" tIns="0" rIns="0" bIns="0">
            <a:spAutoFit/>
          </a:bodyPr>
          <a:lstStyle/>
          <a:p>
            <a:pPr>
              <a:spcAft>
                <a:spcPts val="400"/>
              </a:spcAft>
              <a:defRPr sz="1500" b="0">
                <a:solidFill>
                  <a:srgbClr val="617579"/>
                </a:solidFill>
                <a:latin typeface="Aptos"/>
              </a:defRPr>
            </a:pPr>
            <a:r>
              <a:t>Policies, settlements and evidence</a:t>
            </a:r>
          </a:p>
        </p:txBody>
      </p:sp>
      <p:sp>
        <p:nvSpPr>
          <p:cNvPr id="19" name="reveal_06"/>
          <p:cNvSpPr txBox="1"/>
          <p:nvPr/>
        </p:nvSpPr>
        <p:spPr>
          <a:xfrm>
            <a:off x="1170432" y="5806440"/>
            <a:ext cx="4709160" cy="365760"/>
          </a:xfrm>
          <a:prstGeom prst="rect">
            <a:avLst/>
          </a:prstGeom>
          <a:noFill/>
        </p:spPr>
        <p:txBody>
          <a:bodyPr wrap="square" lIns="0" tIns="0" rIns="0" bIns="0">
            <a:spAutoFit/>
          </a:bodyPr>
          <a:lstStyle/>
          <a:p>
            <a:pPr>
              <a:spcAft>
                <a:spcPts val="400"/>
              </a:spcAft>
              <a:defRPr sz="1700" b="1">
                <a:solidFill>
                  <a:srgbClr val="008D78"/>
                </a:solidFill>
                <a:latin typeface="Aptos"/>
              </a:defRPr>
            </a:pPr>
            <a:r>
              <a:t>AI connects insight to reviewed action.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380"/>
                                        <p:tgtEl>
                                          <p:spTgt spid="3"/>
                                        </p:tgtEl>
                                      </p:cBhvr>
                                    </p:animEffect>
                                  </p:childTnLst>
                                </p:cTn>
                              </p:par>
                            </p:childTnLst>
                          </p:cTn>
                        </p:par>
                        <p:par>
                          <p:cTn id="8" fill="hold">
                            <p:stCondLst>
                              <p:cond delay="380"/>
                            </p:stCondLst>
                            <p:childTnLst>
                              <p:par>
                                <p:cTn id="9" presetID="10" presetClass="entr" presetSubtype="0"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380"/>
                                        <p:tgtEl>
                                          <p:spTgt spid="6"/>
                                        </p:tgtEl>
                                      </p:cBhvr>
                                    </p:animEffect>
                                  </p:childTnLst>
                                </p:cTn>
                              </p:par>
                            </p:childTnLst>
                          </p:cTn>
                        </p:par>
                        <p:par>
                          <p:cTn id="12" fill="hold">
                            <p:stCondLst>
                              <p:cond delay="760"/>
                            </p:stCondLst>
                            <p:childTnLst>
                              <p:par>
                                <p:cTn id="13" presetID="10" presetClass="entr" presetSubtype="0" fill="hold" grpId="0"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380"/>
                                        <p:tgtEl>
                                          <p:spTgt spid="1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380"/>
                                        <p:tgtEl>
                                          <p:spTgt spid="9"/>
                                        </p:tgtEl>
                                      </p:cBhvr>
                                    </p:animEffect>
                                  </p:childTnLst>
                                </p:cTn>
                              </p:par>
                            </p:childTnLst>
                          </p:cTn>
                        </p:par>
                        <p:par>
                          <p:cTn id="19" fill="hold">
                            <p:stCondLst>
                              <p:cond delay="1140"/>
                            </p:stCondLst>
                            <p:childTnLst>
                              <p:par>
                                <p:cTn id="20" presetID="10" presetClass="entr" presetSubtype="0" fill="hold" grpId="0" nodeType="after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380"/>
                                        <p:tgtEl>
                                          <p:spTgt spid="14"/>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380"/>
                                        <p:tgtEl>
                                          <p:spTgt spid="13"/>
                                        </p:tgtEl>
                                      </p:cBhvr>
                                    </p:animEffect>
                                  </p:childTnLst>
                                </p:cTn>
                              </p:par>
                            </p:childTnLst>
                          </p:cTn>
                        </p:par>
                        <p:par>
                          <p:cTn id="26" fill="hold">
                            <p:stCondLst>
                              <p:cond delay="1520"/>
                            </p:stCondLst>
                            <p:childTnLst>
                              <p:par>
                                <p:cTn id="27" presetID="10" presetClass="entr" presetSubtype="0" fill="hold" grpId="0" nodeType="afterEffect">
                                  <p:stCondLst>
                                    <p:cond delay="0"/>
                                  </p:stCondLst>
                                  <p:childTnLst>
                                    <p:set>
                                      <p:cBhvr>
                                        <p:cTn id="28" dur="1" fill="hold">
                                          <p:stCondLst>
                                            <p:cond delay="0"/>
                                          </p:stCondLst>
                                        </p:cTn>
                                        <p:tgtEl>
                                          <p:spTgt spid="18"/>
                                        </p:tgtEl>
                                        <p:attrNameLst>
                                          <p:attrName>style.visibility</p:attrName>
                                        </p:attrNameLst>
                                      </p:cBhvr>
                                      <p:to>
                                        <p:strVal val="visible"/>
                                      </p:to>
                                    </p:set>
                                    <p:animEffect transition="in" filter="fade">
                                      <p:cBhvr>
                                        <p:cTn id="29" dur="380"/>
                                        <p:tgtEl>
                                          <p:spTgt spid="1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380"/>
                                        <p:tgtEl>
                                          <p:spTgt spid="17"/>
                                        </p:tgtEl>
                                      </p:cBhvr>
                                    </p:animEffect>
                                  </p:childTnLst>
                                </p:cTn>
                              </p:par>
                            </p:childTnLst>
                          </p:cTn>
                        </p:par>
                        <p:par>
                          <p:cTn id="33" fill="hold">
                            <p:stCondLst>
                              <p:cond delay="1900"/>
                            </p:stCondLst>
                            <p:childTnLst>
                              <p:par>
                                <p:cTn id="34" presetID="10" presetClass="entr" presetSubtype="0" fill="hold" grpId="0" nodeType="afterEffect">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fade">
                                      <p:cBhvr>
                                        <p:cTn id="36" dur="38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9" grpId="0"/>
      <p:bldP spid="10" grpId="0"/>
      <p:bldP spid="13" grpId="0"/>
      <p:bldP spid="14" grpId="0"/>
      <p:bldP spid="17" grpId="0"/>
      <p:bldP spid="18" grpId="0"/>
      <p:bldP spid="19"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6F1"/>
        </a:solidFill>
        <a:effectLst/>
      </p:bgPr>
    </p:bg>
    <p:spTree>
      <p:nvGrpSpPr>
        <p:cNvPr id="1" name=""/>
        <p:cNvGrpSpPr/>
        <p:nvPr/>
      </p:nvGrpSpPr>
      <p:grpSpPr>
        <a:xfrm>
          <a:off x="0" y="0"/>
          <a:ext cx="0" cy="0"/>
          <a:chOff x="0" y="0"/>
          <a:chExt cx="0" cy="0"/>
        </a:xfrm>
      </p:grpSpPr>
      <p:sp>
        <p:nvSpPr>
          <p:cNvPr id="2" name="TextBox 1"/>
          <p:cNvSpPr txBox="1"/>
          <p:nvPr/>
        </p:nvSpPr>
        <p:spPr>
          <a:xfrm>
            <a:off x="594360" y="384048"/>
            <a:ext cx="10058400" cy="228600"/>
          </a:xfrm>
          <a:prstGeom prst="rect">
            <a:avLst/>
          </a:prstGeom>
          <a:noFill/>
        </p:spPr>
        <p:txBody>
          <a:bodyPr wrap="square" lIns="0" tIns="0" rIns="0" bIns="0">
            <a:spAutoFit/>
          </a:bodyPr>
          <a:lstStyle/>
          <a:p>
            <a:pPr>
              <a:spcAft>
                <a:spcPts val="400"/>
              </a:spcAft>
              <a:defRPr sz="1000" b="1">
                <a:solidFill>
                  <a:srgbClr val="008D78"/>
                </a:solidFill>
                <a:latin typeface="Aptos"/>
              </a:defRPr>
            </a:pPr>
            <a:r>
              <a:t>OUR IMPLEMENTATION / AI COPILOT</a:t>
            </a:r>
          </a:p>
        </p:txBody>
      </p:sp>
      <p:sp>
        <p:nvSpPr>
          <p:cNvPr id="3" name="reveal_01"/>
          <p:cNvSpPr txBox="1"/>
          <p:nvPr/>
        </p:nvSpPr>
        <p:spPr>
          <a:xfrm>
            <a:off x="594360" y="859536"/>
            <a:ext cx="10972800" cy="914400"/>
          </a:xfrm>
          <a:prstGeom prst="rect">
            <a:avLst/>
          </a:prstGeom>
          <a:noFill/>
        </p:spPr>
        <p:txBody>
          <a:bodyPr wrap="square" lIns="0" tIns="0" rIns="0" bIns="0">
            <a:spAutoFit/>
          </a:bodyPr>
          <a:lstStyle/>
          <a:p>
            <a:pPr>
              <a:spcAft>
                <a:spcPts val="400"/>
              </a:spcAft>
              <a:defRPr sz="3400" b="1">
                <a:solidFill>
                  <a:srgbClr val="102F36"/>
                </a:solidFill>
                <a:latin typeface="Aptos"/>
              </a:defRPr>
            </a:pPr>
            <a:r>
              <a:t>Ask. Understand. Act.</a:t>
            </a:r>
          </a:p>
        </p:txBody>
      </p:sp>
      <p:sp>
        <p:nvSpPr>
          <p:cNvPr id="4" name="TextBox 3"/>
          <p:cNvSpPr txBox="1"/>
          <p:nvPr/>
        </p:nvSpPr>
        <p:spPr>
          <a:xfrm>
            <a:off x="594360" y="6446520"/>
            <a:ext cx="2743200" cy="210312"/>
          </a:xfrm>
          <a:prstGeom prst="rect">
            <a:avLst/>
          </a:prstGeom>
          <a:noFill/>
        </p:spPr>
        <p:txBody>
          <a:bodyPr wrap="square" lIns="0" tIns="0" rIns="0" bIns="0">
            <a:spAutoFit/>
          </a:bodyPr>
          <a:lstStyle/>
          <a:p>
            <a:pPr>
              <a:spcAft>
                <a:spcPts val="400"/>
              </a:spcAft>
              <a:defRPr sz="1000" b="0">
                <a:solidFill>
                  <a:srgbClr val="617579"/>
                </a:solidFill>
                <a:latin typeface="Aptos"/>
              </a:defRPr>
            </a:pPr>
            <a:r>
              <a:t>FinBridge AI</a:t>
            </a:r>
          </a:p>
        </p:txBody>
      </p:sp>
      <p:sp>
        <p:nvSpPr>
          <p:cNvPr id="5" name="TextBox 4"/>
          <p:cNvSpPr txBox="1"/>
          <p:nvPr/>
        </p:nvSpPr>
        <p:spPr>
          <a:xfrm>
            <a:off x="10991088" y="6391656"/>
            <a:ext cx="594360" cy="274320"/>
          </a:xfrm>
          <a:prstGeom prst="rect">
            <a:avLst/>
          </a:prstGeom>
          <a:noFill/>
        </p:spPr>
        <p:txBody>
          <a:bodyPr wrap="square" lIns="0" tIns="0" rIns="0" bIns="0">
            <a:spAutoFit/>
          </a:bodyPr>
          <a:lstStyle/>
          <a:p>
            <a:pPr algn="r">
              <a:spcAft>
                <a:spcPts val="400"/>
              </a:spcAft>
              <a:defRPr sz="1200" b="1">
                <a:solidFill>
                  <a:srgbClr val="008D78"/>
                </a:solidFill>
                <a:latin typeface="Aptos"/>
              </a:defRPr>
            </a:pPr>
            <a:r>
              <a:t>04</a:t>
            </a:r>
          </a:p>
        </p:txBody>
      </p:sp>
      <p:pic>
        <p:nvPicPr>
          <p:cNvPr id="6" name="reveal_02" descr="04-ai.gif"/>
          <p:cNvPicPr>
            <a:picLocks noChangeAspect="1"/>
          </p:cNvPicPr>
          <p:nvPr/>
        </p:nvPicPr>
        <p:blipFill>
          <a:blip r:embed="rId3"/>
          <a:stretch>
            <a:fillRect/>
          </a:stretch>
        </p:blipFill>
        <p:spPr>
          <a:xfrm>
            <a:off x="594360" y="1856231"/>
            <a:ext cx="5486400" cy="4114800"/>
          </a:xfrm>
          <a:prstGeom prst="rect">
            <a:avLst/>
          </a:prstGeom>
        </p:spPr>
      </p:pic>
      <p:sp>
        <p:nvSpPr>
          <p:cNvPr id="7" name="reveal_03"/>
          <p:cNvSpPr txBox="1"/>
          <p:nvPr/>
        </p:nvSpPr>
        <p:spPr>
          <a:xfrm>
            <a:off x="6428232" y="1901952"/>
            <a:ext cx="5120640" cy="594360"/>
          </a:xfrm>
          <a:prstGeom prst="rect">
            <a:avLst/>
          </a:prstGeom>
          <a:noFill/>
        </p:spPr>
        <p:txBody>
          <a:bodyPr wrap="square" lIns="0" tIns="0" rIns="0" bIns="0">
            <a:spAutoFit/>
          </a:bodyPr>
          <a:lstStyle/>
          <a:p>
            <a:pPr>
              <a:spcAft>
                <a:spcPts val="400"/>
              </a:spcAft>
              <a:defRPr sz="2400" b="1">
                <a:solidFill>
                  <a:srgbClr val="102F36"/>
                </a:solidFill>
                <a:latin typeface="Aptos"/>
              </a:defRPr>
            </a:pPr>
            <a:r>
              <a:t>“Can I afford next semester?”</a:t>
            </a:r>
          </a:p>
        </p:txBody>
      </p:sp>
      <p:sp>
        <p:nvSpPr>
          <p:cNvPr id="8" name="reveal_04"/>
          <p:cNvSpPr txBox="1"/>
          <p:nvPr/>
        </p:nvSpPr>
        <p:spPr>
          <a:xfrm>
            <a:off x="6446520" y="2697480"/>
            <a:ext cx="4983480" cy="758952"/>
          </a:xfrm>
          <a:prstGeom prst="rect">
            <a:avLst/>
          </a:prstGeom>
          <a:noFill/>
        </p:spPr>
        <p:txBody>
          <a:bodyPr wrap="square" lIns="0" tIns="0" rIns="0" bIns="0">
            <a:spAutoFit/>
          </a:bodyPr>
          <a:lstStyle/>
          <a:p>
            <a:pPr>
              <a:spcAft>
                <a:spcPts val="400"/>
              </a:spcAft>
              <a:defRPr sz="1900" b="0">
                <a:solidFill>
                  <a:srgbClr val="617579"/>
                </a:solidFill>
                <a:latin typeface="Aptos"/>
              </a:defRPr>
            </a:pPr>
            <a:r>
              <a:t>Reads your data → calculates the gap</a:t>
            </a:r>
          </a:p>
          <a:p>
            <a:pPr>
              <a:spcAft>
                <a:spcPts val="400"/>
              </a:spcAft>
              <a:defRPr sz="1900" b="0">
                <a:solidFill>
                  <a:srgbClr val="617579"/>
                </a:solidFill>
                <a:latin typeface="Aptos"/>
              </a:defRPr>
            </a:pPr>
            <a:r>
              <a:t>→ prepares a plan for your review.</a:t>
            </a:r>
          </a:p>
        </p:txBody>
      </p:sp>
      <p:sp>
        <p:nvSpPr>
          <p:cNvPr id="9" name="TextBox 8"/>
          <p:cNvSpPr txBox="1"/>
          <p:nvPr/>
        </p:nvSpPr>
        <p:spPr>
          <a:xfrm>
            <a:off x="6446520" y="3703320"/>
            <a:ext cx="4983480" cy="256032"/>
          </a:xfrm>
          <a:prstGeom prst="rect">
            <a:avLst/>
          </a:prstGeom>
          <a:noFill/>
        </p:spPr>
        <p:txBody>
          <a:bodyPr wrap="square" lIns="0" tIns="0" rIns="0" bIns="0">
            <a:spAutoFit/>
          </a:bodyPr>
          <a:lstStyle/>
          <a:p>
            <a:pPr>
              <a:spcAft>
                <a:spcPts val="400"/>
              </a:spcAft>
              <a:defRPr sz="1100" b="1">
                <a:solidFill>
                  <a:srgbClr val="008D78"/>
                </a:solidFill>
                <a:latin typeface="Aptos"/>
              </a:defRPr>
            </a:pPr>
            <a:r>
              <a:t>Illustrative tuition plan · CNY</a:t>
            </a:r>
          </a:p>
        </p:txBody>
      </p:sp>
      <p:graphicFrame>
        <p:nvGraphicFramePr>
          <p:cNvPr id="10" name="reveal_05"/>
          <p:cNvGraphicFramePr>
            <a:graphicFrameLocks noGrp="1"/>
          </p:cNvGraphicFramePr>
          <p:nvPr/>
        </p:nvGraphicFramePr>
        <p:xfrm>
          <a:off x="6364224" y="4041648"/>
          <a:ext cx="5166360" cy="1389888"/>
        </p:xfrm>
        <a:graphic>
          <a:graphicData uri="http://schemas.openxmlformats.org/drawingml/2006/chart">
            <c:chart xmlns:c="http://schemas.openxmlformats.org/drawingml/2006/chart" xmlns:r="http://schemas.openxmlformats.org/officeDocument/2006/relationships" r:id="rId4"/>
          </a:graphicData>
        </a:graphic>
      </p:graphicFrame>
      <p:sp>
        <p:nvSpPr>
          <p:cNvPr id="11" name="reveal_06"/>
          <p:cNvSpPr txBox="1"/>
          <p:nvPr/>
        </p:nvSpPr>
        <p:spPr>
          <a:xfrm>
            <a:off x="6446520" y="5769864"/>
            <a:ext cx="5120640" cy="320040"/>
          </a:xfrm>
          <a:prstGeom prst="rect">
            <a:avLst/>
          </a:prstGeom>
          <a:noFill/>
        </p:spPr>
        <p:txBody>
          <a:bodyPr wrap="square" lIns="0" tIns="0" rIns="0" bIns="0">
            <a:spAutoFit/>
          </a:bodyPr>
          <a:lstStyle/>
          <a:p>
            <a:pPr>
              <a:spcAft>
                <a:spcPts val="400"/>
              </a:spcAft>
              <a:defRPr sz="1500" b="1">
                <a:solidFill>
                  <a:srgbClr val="008D78"/>
                </a:solidFill>
                <a:latin typeface="Aptos"/>
              </a:defRPr>
            </a:pPr>
            <a:r>
              <a:t>Gemini  /  OpenAI  /  local mock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380"/>
                                        <p:tgtEl>
                                          <p:spTgt spid="3"/>
                                        </p:tgtEl>
                                      </p:cBhvr>
                                    </p:animEffect>
                                  </p:childTnLst>
                                </p:cTn>
                              </p:par>
                            </p:childTnLst>
                          </p:cTn>
                        </p:par>
                        <p:par>
                          <p:cTn id="8" fill="hold">
                            <p:stCondLst>
                              <p:cond delay="380"/>
                            </p:stCondLst>
                            <p:childTnLst>
                              <p:par>
                                <p:cTn id="9" presetID="10" presetClass="entr" presetSubtype="0"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380"/>
                                        <p:tgtEl>
                                          <p:spTgt spid="6"/>
                                        </p:tgtEl>
                                      </p:cBhvr>
                                    </p:animEffect>
                                  </p:childTnLst>
                                </p:cTn>
                              </p:par>
                            </p:childTnLst>
                          </p:cTn>
                        </p:par>
                        <p:par>
                          <p:cTn id="12" fill="hold">
                            <p:stCondLst>
                              <p:cond delay="760"/>
                            </p:stCondLst>
                            <p:childTnLst>
                              <p:par>
                                <p:cTn id="13" presetID="10" presetClass="entr" presetSubtype="0" fill="hold" grpId="0" nodeType="after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380"/>
                                        <p:tgtEl>
                                          <p:spTgt spid="7"/>
                                        </p:tgtEl>
                                      </p:cBhvr>
                                    </p:animEffect>
                                  </p:childTnLst>
                                </p:cTn>
                              </p:par>
                            </p:childTnLst>
                          </p:cTn>
                        </p:par>
                        <p:par>
                          <p:cTn id="16" fill="hold">
                            <p:stCondLst>
                              <p:cond delay="1140"/>
                            </p:stCondLst>
                            <p:childTnLst>
                              <p:par>
                                <p:cTn id="17" presetID="10" presetClass="entr" presetSubtype="0" fill="hold" grpId="0" nodeType="after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380"/>
                                        <p:tgtEl>
                                          <p:spTgt spid="8"/>
                                        </p:tgtEl>
                                      </p:cBhvr>
                                    </p:animEffect>
                                  </p:childTnLst>
                                </p:cTn>
                              </p:par>
                            </p:childTnLst>
                          </p:cTn>
                        </p:par>
                        <p:par>
                          <p:cTn id="20" fill="hold">
                            <p:stCondLst>
                              <p:cond delay="1520"/>
                            </p:stCondLst>
                            <p:childTnLst>
                              <p:par>
                                <p:cTn id="21" presetID="10" presetClass="entr" presetSubtype="0" fill="hold" grpId="0" nodeType="after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380"/>
                                        <p:tgtEl>
                                          <p:spTgt spid="10"/>
                                        </p:tgtEl>
                                      </p:cBhvr>
                                    </p:animEffect>
                                  </p:childTnLst>
                                </p:cTn>
                              </p:par>
                            </p:childTnLst>
                          </p:cTn>
                        </p:par>
                        <p:par>
                          <p:cTn id="24" fill="hold">
                            <p:stCondLst>
                              <p:cond delay="1900"/>
                            </p:stCondLst>
                            <p:childTnLst>
                              <p:par>
                                <p:cTn id="25" presetID="10" presetClass="entr" presetSubtype="0" fill="hold" grpId="0" nodeType="after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38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p:bldP spid="8" grpId="0"/>
      <p:bldGraphic spid="10" grpId="0">
        <p:bldAsOne/>
      </p:bldGraphic>
      <p:bldP spid="11"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6F1"/>
        </a:solidFill>
        <a:effectLst/>
      </p:bgPr>
    </p:bg>
    <p:spTree>
      <p:nvGrpSpPr>
        <p:cNvPr id="1" name=""/>
        <p:cNvGrpSpPr/>
        <p:nvPr/>
      </p:nvGrpSpPr>
      <p:grpSpPr>
        <a:xfrm>
          <a:off x="0" y="0"/>
          <a:ext cx="0" cy="0"/>
          <a:chOff x="0" y="0"/>
          <a:chExt cx="0" cy="0"/>
        </a:xfrm>
      </p:grpSpPr>
      <p:sp>
        <p:nvSpPr>
          <p:cNvPr id="2" name="TextBox 1"/>
          <p:cNvSpPr txBox="1"/>
          <p:nvPr/>
        </p:nvSpPr>
        <p:spPr>
          <a:xfrm>
            <a:off x="594360" y="384048"/>
            <a:ext cx="10058400" cy="228600"/>
          </a:xfrm>
          <a:prstGeom prst="rect">
            <a:avLst/>
          </a:prstGeom>
          <a:noFill/>
        </p:spPr>
        <p:txBody>
          <a:bodyPr wrap="square" lIns="0" tIns="0" rIns="0" bIns="0">
            <a:spAutoFit/>
          </a:bodyPr>
          <a:lstStyle/>
          <a:p>
            <a:pPr>
              <a:spcAft>
                <a:spcPts val="400"/>
              </a:spcAft>
              <a:defRPr sz="1000" b="1">
                <a:solidFill>
                  <a:srgbClr val="008D78"/>
                </a:solidFill>
                <a:latin typeface="Aptos"/>
              </a:defRPr>
            </a:pPr>
            <a:r>
              <a:t>OUR IMPLEMENTATION / EXECUTION FLOW</a:t>
            </a:r>
          </a:p>
        </p:txBody>
      </p:sp>
      <p:sp>
        <p:nvSpPr>
          <p:cNvPr id="3" name="reveal_01"/>
          <p:cNvSpPr txBox="1"/>
          <p:nvPr/>
        </p:nvSpPr>
        <p:spPr>
          <a:xfrm>
            <a:off x="594360" y="859536"/>
            <a:ext cx="10972800" cy="914400"/>
          </a:xfrm>
          <a:prstGeom prst="rect">
            <a:avLst/>
          </a:prstGeom>
          <a:noFill/>
        </p:spPr>
        <p:txBody>
          <a:bodyPr wrap="square" lIns="0" tIns="0" rIns="0" bIns="0">
            <a:spAutoFit/>
          </a:bodyPr>
          <a:lstStyle/>
          <a:p>
            <a:pPr>
              <a:spcAft>
                <a:spcPts val="400"/>
              </a:spcAft>
              <a:defRPr sz="3400" b="1">
                <a:solidFill>
                  <a:srgbClr val="102F36"/>
                </a:solidFill>
                <a:latin typeface="Aptos"/>
              </a:defRPr>
            </a:pPr>
            <a:r>
              <a:t>AI proposes. People approve. The server verifies.</a:t>
            </a:r>
          </a:p>
        </p:txBody>
      </p:sp>
      <p:sp>
        <p:nvSpPr>
          <p:cNvPr id="4" name="TextBox 3"/>
          <p:cNvSpPr txBox="1"/>
          <p:nvPr/>
        </p:nvSpPr>
        <p:spPr>
          <a:xfrm>
            <a:off x="594360" y="6446520"/>
            <a:ext cx="2743200" cy="210312"/>
          </a:xfrm>
          <a:prstGeom prst="rect">
            <a:avLst/>
          </a:prstGeom>
          <a:noFill/>
        </p:spPr>
        <p:txBody>
          <a:bodyPr wrap="square" lIns="0" tIns="0" rIns="0" bIns="0">
            <a:spAutoFit/>
          </a:bodyPr>
          <a:lstStyle/>
          <a:p>
            <a:pPr>
              <a:spcAft>
                <a:spcPts val="400"/>
              </a:spcAft>
              <a:defRPr sz="1000" b="0">
                <a:solidFill>
                  <a:srgbClr val="617579"/>
                </a:solidFill>
                <a:latin typeface="Aptos"/>
              </a:defRPr>
            </a:pPr>
            <a:r>
              <a:t>FinBridge AI</a:t>
            </a:r>
          </a:p>
        </p:txBody>
      </p:sp>
      <p:sp>
        <p:nvSpPr>
          <p:cNvPr id="5" name="TextBox 4"/>
          <p:cNvSpPr txBox="1"/>
          <p:nvPr/>
        </p:nvSpPr>
        <p:spPr>
          <a:xfrm>
            <a:off x="10991088" y="6391656"/>
            <a:ext cx="594360" cy="274320"/>
          </a:xfrm>
          <a:prstGeom prst="rect">
            <a:avLst/>
          </a:prstGeom>
          <a:noFill/>
        </p:spPr>
        <p:txBody>
          <a:bodyPr wrap="square" lIns="0" tIns="0" rIns="0" bIns="0">
            <a:spAutoFit/>
          </a:bodyPr>
          <a:lstStyle/>
          <a:p>
            <a:pPr algn="r">
              <a:spcAft>
                <a:spcPts val="400"/>
              </a:spcAft>
              <a:defRPr sz="1200" b="1">
                <a:solidFill>
                  <a:srgbClr val="008D78"/>
                </a:solidFill>
                <a:latin typeface="Aptos"/>
              </a:defRPr>
            </a:pPr>
            <a:r>
              <a:t>05</a:t>
            </a:r>
          </a:p>
        </p:txBody>
      </p:sp>
      <p:pic>
        <p:nvPicPr>
          <p:cNvPr id="6" name="reveal_02" descr="05-pipeline.gif"/>
          <p:cNvPicPr>
            <a:picLocks noChangeAspect="1"/>
          </p:cNvPicPr>
          <p:nvPr/>
        </p:nvPicPr>
        <p:blipFill>
          <a:blip r:embed="rId3"/>
          <a:stretch>
            <a:fillRect/>
          </a:stretch>
        </p:blipFill>
        <p:spPr>
          <a:xfrm>
            <a:off x="594360" y="1874519"/>
            <a:ext cx="11000232" cy="3977639"/>
          </a:xfrm>
          <a:prstGeom prst="rect">
            <a:avLst/>
          </a:prstGeom>
        </p:spPr>
      </p:pic>
      <p:sp>
        <p:nvSpPr>
          <p:cNvPr id="7" name="reveal_03"/>
          <p:cNvSpPr txBox="1"/>
          <p:nvPr/>
        </p:nvSpPr>
        <p:spPr>
          <a:xfrm>
            <a:off x="817915" y="4818888"/>
            <a:ext cx="1828800" cy="320040"/>
          </a:xfrm>
          <a:prstGeom prst="rect">
            <a:avLst/>
          </a:prstGeom>
          <a:noFill/>
        </p:spPr>
        <p:txBody>
          <a:bodyPr wrap="square" lIns="0" tIns="0" rIns="0" bIns="0">
            <a:spAutoFit/>
          </a:bodyPr>
          <a:lstStyle/>
          <a:p>
            <a:pPr algn="ctr">
              <a:spcAft>
                <a:spcPts val="400"/>
              </a:spcAft>
              <a:defRPr sz="2000" b="1">
                <a:solidFill>
                  <a:srgbClr val="FFFFFF"/>
                </a:solidFill>
                <a:latin typeface="Aptos"/>
              </a:defRPr>
            </a:pPr>
            <a:r>
              <a:t>Request</a:t>
            </a:r>
          </a:p>
        </p:txBody>
      </p:sp>
      <p:sp>
        <p:nvSpPr>
          <p:cNvPr id="8" name="reveal_03"/>
          <p:cNvSpPr txBox="1"/>
          <p:nvPr/>
        </p:nvSpPr>
        <p:spPr>
          <a:xfrm>
            <a:off x="772195" y="5285232"/>
            <a:ext cx="1920240" cy="274320"/>
          </a:xfrm>
          <a:prstGeom prst="rect">
            <a:avLst/>
          </a:prstGeom>
          <a:noFill/>
        </p:spPr>
        <p:txBody>
          <a:bodyPr wrap="square" lIns="0" tIns="0" rIns="0" bIns="0">
            <a:spAutoFit/>
          </a:bodyPr>
          <a:lstStyle/>
          <a:p>
            <a:pPr algn="ctr">
              <a:spcAft>
                <a:spcPts val="400"/>
              </a:spcAft>
              <a:defRPr sz="1100" b="0">
                <a:solidFill>
                  <a:srgbClr val="B4D0CF"/>
                </a:solidFill>
                <a:latin typeface="Aptos"/>
              </a:defRPr>
            </a:pPr>
            <a:r>
              <a:t>Student / parent</a:t>
            </a:r>
          </a:p>
        </p:txBody>
      </p:sp>
      <p:sp>
        <p:nvSpPr>
          <p:cNvPr id="9" name="reveal_04"/>
          <p:cNvSpPr txBox="1"/>
          <p:nvPr/>
        </p:nvSpPr>
        <p:spPr>
          <a:xfrm>
            <a:off x="2998995" y="4818888"/>
            <a:ext cx="1828800" cy="320040"/>
          </a:xfrm>
          <a:prstGeom prst="rect">
            <a:avLst/>
          </a:prstGeom>
          <a:noFill/>
        </p:spPr>
        <p:txBody>
          <a:bodyPr wrap="square" lIns="0" tIns="0" rIns="0" bIns="0">
            <a:spAutoFit/>
          </a:bodyPr>
          <a:lstStyle/>
          <a:p>
            <a:pPr algn="ctr">
              <a:spcAft>
                <a:spcPts val="400"/>
              </a:spcAft>
              <a:defRPr sz="2000" b="1">
                <a:solidFill>
                  <a:srgbClr val="FFFFFF"/>
                </a:solidFill>
                <a:latin typeface="Aptos"/>
              </a:defRPr>
            </a:pPr>
            <a:r>
              <a:t>AI tools</a:t>
            </a:r>
          </a:p>
        </p:txBody>
      </p:sp>
      <p:sp>
        <p:nvSpPr>
          <p:cNvPr id="10" name="reveal_04"/>
          <p:cNvSpPr txBox="1"/>
          <p:nvPr/>
        </p:nvSpPr>
        <p:spPr>
          <a:xfrm>
            <a:off x="2953275" y="5285232"/>
            <a:ext cx="1920240" cy="274320"/>
          </a:xfrm>
          <a:prstGeom prst="rect">
            <a:avLst/>
          </a:prstGeom>
          <a:noFill/>
        </p:spPr>
        <p:txBody>
          <a:bodyPr wrap="square" lIns="0" tIns="0" rIns="0" bIns="0">
            <a:spAutoFit/>
          </a:bodyPr>
          <a:lstStyle/>
          <a:p>
            <a:pPr algn="ctr">
              <a:spcAft>
                <a:spcPts val="400"/>
              </a:spcAft>
              <a:defRPr sz="1100" b="0">
                <a:solidFill>
                  <a:srgbClr val="B4D0CF"/>
                </a:solidFill>
                <a:latin typeface="Aptos"/>
              </a:defRPr>
            </a:pPr>
            <a:r>
              <a:t>Structured schemas</a:t>
            </a:r>
          </a:p>
        </p:txBody>
      </p:sp>
      <p:sp>
        <p:nvSpPr>
          <p:cNvPr id="11" name="reveal_05"/>
          <p:cNvSpPr txBox="1"/>
          <p:nvPr/>
        </p:nvSpPr>
        <p:spPr>
          <a:xfrm>
            <a:off x="5180076" y="4818888"/>
            <a:ext cx="1828800" cy="320040"/>
          </a:xfrm>
          <a:prstGeom prst="rect">
            <a:avLst/>
          </a:prstGeom>
          <a:noFill/>
        </p:spPr>
        <p:txBody>
          <a:bodyPr wrap="square" lIns="0" tIns="0" rIns="0" bIns="0">
            <a:spAutoFit/>
          </a:bodyPr>
          <a:lstStyle/>
          <a:p>
            <a:pPr algn="ctr">
              <a:spcAft>
                <a:spcPts val="400"/>
              </a:spcAft>
              <a:defRPr sz="2000" b="1">
                <a:solidFill>
                  <a:srgbClr val="FFFFFF"/>
                </a:solidFill>
                <a:latin typeface="Aptos"/>
              </a:defRPr>
            </a:pPr>
            <a:r>
              <a:t>Review</a:t>
            </a:r>
          </a:p>
        </p:txBody>
      </p:sp>
      <p:sp>
        <p:nvSpPr>
          <p:cNvPr id="12" name="reveal_05"/>
          <p:cNvSpPr txBox="1"/>
          <p:nvPr/>
        </p:nvSpPr>
        <p:spPr>
          <a:xfrm>
            <a:off x="5134356" y="5285232"/>
            <a:ext cx="1920240" cy="274320"/>
          </a:xfrm>
          <a:prstGeom prst="rect">
            <a:avLst/>
          </a:prstGeom>
          <a:noFill/>
        </p:spPr>
        <p:txBody>
          <a:bodyPr wrap="square" lIns="0" tIns="0" rIns="0" bIns="0">
            <a:spAutoFit/>
          </a:bodyPr>
          <a:lstStyle/>
          <a:p>
            <a:pPr algn="ctr">
              <a:spcAft>
                <a:spcPts val="400"/>
              </a:spcAft>
              <a:defRPr sz="1100" b="0">
                <a:solidFill>
                  <a:srgbClr val="B4D0CF"/>
                </a:solidFill>
                <a:latin typeface="Aptos"/>
              </a:defRPr>
            </a:pPr>
            <a:r>
              <a:t>User confirmation</a:t>
            </a:r>
          </a:p>
        </p:txBody>
      </p:sp>
      <p:sp>
        <p:nvSpPr>
          <p:cNvPr id="13" name="reveal_06"/>
          <p:cNvSpPr txBox="1"/>
          <p:nvPr/>
        </p:nvSpPr>
        <p:spPr>
          <a:xfrm>
            <a:off x="7361156" y="4818888"/>
            <a:ext cx="1828800" cy="320040"/>
          </a:xfrm>
          <a:prstGeom prst="rect">
            <a:avLst/>
          </a:prstGeom>
          <a:noFill/>
        </p:spPr>
        <p:txBody>
          <a:bodyPr wrap="square" lIns="0" tIns="0" rIns="0" bIns="0">
            <a:spAutoFit/>
          </a:bodyPr>
          <a:lstStyle/>
          <a:p>
            <a:pPr algn="ctr">
              <a:spcAft>
                <a:spcPts val="400"/>
              </a:spcAft>
              <a:defRPr sz="2000" b="1">
                <a:solidFill>
                  <a:srgbClr val="FFFFFF"/>
                </a:solidFill>
                <a:latin typeface="Aptos"/>
              </a:defRPr>
            </a:pPr>
            <a:r>
              <a:t>Server</a:t>
            </a:r>
          </a:p>
        </p:txBody>
      </p:sp>
      <p:sp>
        <p:nvSpPr>
          <p:cNvPr id="14" name="reveal_06"/>
          <p:cNvSpPr txBox="1"/>
          <p:nvPr/>
        </p:nvSpPr>
        <p:spPr>
          <a:xfrm>
            <a:off x="7315436" y="5285232"/>
            <a:ext cx="1920240" cy="274320"/>
          </a:xfrm>
          <a:prstGeom prst="rect">
            <a:avLst/>
          </a:prstGeom>
          <a:noFill/>
        </p:spPr>
        <p:txBody>
          <a:bodyPr wrap="square" lIns="0" tIns="0" rIns="0" bIns="0">
            <a:spAutoFit/>
          </a:bodyPr>
          <a:lstStyle/>
          <a:p>
            <a:pPr algn="ctr">
              <a:spcAft>
                <a:spcPts val="400"/>
              </a:spcAft>
              <a:defRPr sz="1100" b="0">
                <a:solidFill>
                  <a:srgbClr val="B4D0CF"/>
                </a:solidFill>
                <a:latin typeface="Aptos"/>
              </a:defRPr>
            </a:pPr>
            <a:r>
              <a:t>Auth + risk + policy</a:t>
            </a:r>
          </a:p>
        </p:txBody>
      </p:sp>
      <p:sp>
        <p:nvSpPr>
          <p:cNvPr id="15" name="reveal_07"/>
          <p:cNvSpPr txBox="1"/>
          <p:nvPr/>
        </p:nvSpPr>
        <p:spPr>
          <a:xfrm>
            <a:off x="9542236" y="4818888"/>
            <a:ext cx="1828800" cy="320040"/>
          </a:xfrm>
          <a:prstGeom prst="rect">
            <a:avLst/>
          </a:prstGeom>
          <a:noFill/>
        </p:spPr>
        <p:txBody>
          <a:bodyPr wrap="square" lIns="0" tIns="0" rIns="0" bIns="0">
            <a:spAutoFit/>
          </a:bodyPr>
          <a:lstStyle/>
          <a:p>
            <a:pPr algn="ctr">
              <a:spcAft>
                <a:spcPts val="400"/>
              </a:spcAft>
              <a:defRPr sz="2000" b="1">
                <a:solidFill>
                  <a:srgbClr val="FFFFFF"/>
                </a:solidFill>
                <a:latin typeface="Aptos"/>
              </a:defRPr>
            </a:pPr>
            <a:r>
              <a:t>Ledger</a:t>
            </a:r>
          </a:p>
        </p:txBody>
      </p:sp>
      <p:sp>
        <p:nvSpPr>
          <p:cNvPr id="16" name="reveal_07"/>
          <p:cNvSpPr txBox="1"/>
          <p:nvPr/>
        </p:nvSpPr>
        <p:spPr>
          <a:xfrm>
            <a:off x="9496516" y="5285232"/>
            <a:ext cx="1920240" cy="274320"/>
          </a:xfrm>
          <a:prstGeom prst="rect">
            <a:avLst/>
          </a:prstGeom>
          <a:noFill/>
        </p:spPr>
        <p:txBody>
          <a:bodyPr wrap="square" lIns="0" tIns="0" rIns="0" bIns="0">
            <a:spAutoFit/>
          </a:bodyPr>
          <a:lstStyle/>
          <a:p>
            <a:pPr algn="ctr">
              <a:spcAft>
                <a:spcPts val="400"/>
              </a:spcAft>
              <a:defRPr sz="1100" b="0">
                <a:solidFill>
                  <a:srgbClr val="B4D0CF"/>
                </a:solidFill>
                <a:latin typeface="Aptos"/>
              </a:defRPr>
            </a:pPr>
            <a:r>
              <a:t>Atomic commit</a:t>
            </a:r>
          </a:p>
        </p:txBody>
      </p:sp>
      <p:sp>
        <p:nvSpPr>
          <p:cNvPr id="17" name="TextBox 16"/>
          <p:cNvSpPr txBox="1"/>
          <p:nvPr/>
        </p:nvSpPr>
        <p:spPr>
          <a:xfrm>
            <a:off x="658368" y="6007608"/>
            <a:ext cx="2743200" cy="292608"/>
          </a:xfrm>
          <a:prstGeom prst="rect">
            <a:avLst/>
          </a:prstGeom>
          <a:noFill/>
        </p:spPr>
        <p:txBody>
          <a:bodyPr wrap="square" lIns="0" tIns="0" rIns="0" bIns="0">
            <a:spAutoFit/>
          </a:bodyPr>
          <a:lstStyle/>
          <a:p>
            <a:pPr>
              <a:spcAft>
                <a:spcPts val="400"/>
              </a:spcAft>
              <a:defRPr sz="1400" b="1">
                <a:solidFill>
                  <a:srgbClr val="008D78"/>
                </a:solidFill>
                <a:latin typeface="Aptos"/>
              </a:defRPr>
            </a:pPr>
            <a:r>
              <a:t>Next.js + React</a:t>
            </a:r>
          </a:p>
        </p:txBody>
      </p:sp>
      <p:sp>
        <p:nvSpPr>
          <p:cNvPr id="18" name="TextBox 17"/>
          <p:cNvSpPr txBox="1"/>
          <p:nvPr/>
        </p:nvSpPr>
        <p:spPr>
          <a:xfrm>
            <a:off x="3657600" y="6007608"/>
            <a:ext cx="2743200" cy="292608"/>
          </a:xfrm>
          <a:prstGeom prst="rect">
            <a:avLst/>
          </a:prstGeom>
          <a:noFill/>
        </p:spPr>
        <p:txBody>
          <a:bodyPr wrap="square" lIns="0" tIns="0" rIns="0" bIns="0">
            <a:spAutoFit/>
          </a:bodyPr>
          <a:lstStyle/>
          <a:p>
            <a:pPr>
              <a:spcAft>
                <a:spcPts val="400"/>
              </a:spcAft>
              <a:defRPr sz="1400" b="1">
                <a:solidFill>
                  <a:srgbClr val="008D78"/>
                </a:solidFill>
                <a:latin typeface="Aptos"/>
              </a:defRPr>
            </a:pPr>
            <a:r>
              <a:t>TypeScript + Zod</a:t>
            </a:r>
          </a:p>
        </p:txBody>
      </p:sp>
      <p:sp>
        <p:nvSpPr>
          <p:cNvPr id="19" name="TextBox 18"/>
          <p:cNvSpPr txBox="1"/>
          <p:nvPr/>
        </p:nvSpPr>
        <p:spPr>
          <a:xfrm>
            <a:off x="7315200" y="6007608"/>
            <a:ext cx="4206240" cy="292608"/>
          </a:xfrm>
          <a:prstGeom prst="rect">
            <a:avLst/>
          </a:prstGeom>
          <a:noFill/>
        </p:spPr>
        <p:txBody>
          <a:bodyPr wrap="square" lIns="0" tIns="0" rIns="0" bIns="0">
            <a:spAutoFit/>
          </a:bodyPr>
          <a:lstStyle/>
          <a:p>
            <a:pPr algn="r">
              <a:spcAft>
                <a:spcPts val="400"/>
              </a:spcAft>
              <a:defRPr sz="1400" b="1">
                <a:solidFill>
                  <a:srgbClr val="008D78"/>
                </a:solidFill>
                <a:latin typeface="Aptos"/>
              </a:defRPr>
            </a:pPr>
            <a:r>
              <a:t>MySQL + Decimal.js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380"/>
                                        <p:tgtEl>
                                          <p:spTgt spid="3"/>
                                        </p:tgtEl>
                                      </p:cBhvr>
                                    </p:animEffect>
                                  </p:childTnLst>
                                </p:cTn>
                              </p:par>
                            </p:childTnLst>
                          </p:cTn>
                        </p:par>
                        <p:par>
                          <p:cTn id="8" fill="hold">
                            <p:stCondLst>
                              <p:cond delay="380"/>
                            </p:stCondLst>
                            <p:childTnLst>
                              <p:par>
                                <p:cTn id="9" presetID="10" presetClass="entr" presetSubtype="0"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380"/>
                                        <p:tgtEl>
                                          <p:spTgt spid="6"/>
                                        </p:tgtEl>
                                      </p:cBhvr>
                                    </p:animEffect>
                                  </p:childTnLst>
                                </p:cTn>
                              </p:par>
                            </p:childTnLst>
                          </p:cTn>
                        </p:par>
                        <p:par>
                          <p:cTn id="12" fill="hold">
                            <p:stCondLst>
                              <p:cond delay="760"/>
                            </p:stCondLst>
                            <p:childTnLst>
                              <p:par>
                                <p:cTn id="13" presetID="10" presetClass="entr" presetSubtype="0" fill="hold" grpId="0"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380"/>
                                        <p:tgtEl>
                                          <p:spTgt spid="8"/>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380"/>
                                        <p:tgtEl>
                                          <p:spTgt spid="7"/>
                                        </p:tgtEl>
                                      </p:cBhvr>
                                    </p:animEffect>
                                  </p:childTnLst>
                                </p:cTn>
                              </p:par>
                            </p:childTnLst>
                          </p:cTn>
                        </p:par>
                        <p:par>
                          <p:cTn id="19" fill="hold">
                            <p:stCondLst>
                              <p:cond delay="1140"/>
                            </p:stCondLst>
                            <p:childTnLst>
                              <p:par>
                                <p:cTn id="20" presetID="10" presetClass="entr" presetSubtype="0" fill="hold" grpId="0" nodeType="after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380"/>
                                        <p:tgtEl>
                                          <p:spTgt spid="1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380"/>
                                        <p:tgtEl>
                                          <p:spTgt spid="9"/>
                                        </p:tgtEl>
                                      </p:cBhvr>
                                    </p:animEffect>
                                  </p:childTnLst>
                                </p:cTn>
                              </p:par>
                            </p:childTnLst>
                          </p:cTn>
                        </p:par>
                        <p:par>
                          <p:cTn id="26" fill="hold">
                            <p:stCondLst>
                              <p:cond delay="1520"/>
                            </p:stCondLst>
                            <p:childTnLst>
                              <p:par>
                                <p:cTn id="27" presetID="10" presetClass="entr" presetSubtype="0" fill="hold" grpId="0" nodeType="after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38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380"/>
                                        <p:tgtEl>
                                          <p:spTgt spid="11"/>
                                        </p:tgtEl>
                                      </p:cBhvr>
                                    </p:animEffect>
                                  </p:childTnLst>
                                </p:cTn>
                              </p:par>
                            </p:childTnLst>
                          </p:cTn>
                        </p:par>
                        <p:par>
                          <p:cTn id="33" fill="hold">
                            <p:stCondLst>
                              <p:cond delay="1900"/>
                            </p:stCondLst>
                            <p:childTnLst>
                              <p:par>
                                <p:cTn id="34" presetID="10" presetClass="entr" presetSubtype="0" fill="hold" grpId="0" nodeType="after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380"/>
                                        <p:tgtEl>
                                          <p:spTgt spid="14"/>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380"/>
                                        <p:tgtEl>
                                          <p:spTgt spid="13"/>
                                        </p:tgtEl>
                                      </p:cBhvr>
                                    </p:animEffect>
                                  </p:childTnLst>
                                </p:cTn>
                              </p:par>
                            </p:childTnLst>
                          </p:cTn>
                        </p:par>
                        <p:par>
                          <p:cTn id="40" fill="hold">
                            <p:stCondLst>
                              <p:cond delay="2280"/>
                            </p:stCondLst>
                            <p:childTnLst>
                              <p:par>
                                <p:cTn id="41" presetID="10" presetClass="entr" presetSubtype="0" fill="hold" grpId="0" nodeType="after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380"/>
                                        <p:tgtEl>
                                          <p:spTgt spid="16"/>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38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p:bldP spid="8" grpId="0"/>
      <p:bldP spid="9" grpId="0"/>
      <p:bldP spid="10" grpId="0"/>
      <p:bldP spid="11" grpId="0"/>
      <p:bldP spid="12" grpId="0"/>
      <p:bldP spid="13" grpId="0"/>
      <p:bldP spid="14" grpId="0"/>
      <p:bldP spid="15" grpId="0"/>
      <p:bldP spid="16"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6F1"/>
        </a:solidFill>
        <a:effectLst/>
      </p:bgPr>
    </p:bg>
    <p:spTree>
      <p:nvGrpSpPr>
        <p:cNvPr id="1" name=""/>
        <p:cNvGrpSpPr/>
        <p:nvPr/>
      </p:nvGrpSpPr>
      <p:grpSpPr>
        <a:xfrm>
          <a:off x="0" y="0"/>
          <a:ext cx="0" cy="0"/>
          <a:chOff x="0" y="0"/>
          <a:chExt cx="0" cy="0"/>
        </a:xfrm>
      </p:grpSpPr>
      <p:sp>
        <p:nvSpPr>
          <p:cNvPr id="2" name="TextBox 1"/>
          <p:cNvSpPr txBox="1"/>
          <p:nvPr/>
        </p:nvSpPr>
        <p:spPr>
          <a:xfrm>
            <a:off x="594360" y="384048"/>
            <a:ext cx="10058400" cy="228600"/>
          </a:xfrm>
          <a:prstGeom prst="rect">
            <a:avLst/>
          </a:prstGeom>
          <a:noFill/>
        </p:spPr>
        <p:txBody>
          <a:bodyPr wrap="square" lIns="0" tIns="0" rIns="0" bIns="0">
            <a:spAutoFit/>
          </a:bodyPr>
          <a:lstStyle/>
          <a:p>
            <a:pPr>
              <a:spcAft>
                <a:spcPts val="400"/>
              </a:spcAft>
              <a:defRPr sz="1000" b="1">
                <a:solidFill>
                  <a:srgbClr val="008D78"/>
                </a:solidFill>
                <a:latin typeface="Aptos"/>
              </a:defRPr>
            </a:pPr>
            <a:r>
              <a:t>FEATURES / STUDENT</a:t>
            </a:r>
          </a:p>
        </p:txBody>
      </p:sp>
      <p:sp>
        <p:nvSpPr>
          <p:cNvPr id="3" name="reveal_01"/>
          <p:cNvSpPr txBox="1"/>
          <p:nvPr/>
        </p:nvSpPr>
        <p:spPr>
          <a:xfrm>
            <a:off x="594360" y="859536"/>
            <a:ext cx="10972800" cy="914400"/>
          </a:xfrm>
          <a:prstGeom prst="rect">
            <a:avLst/>
          </a:prstGeom>
          <a:noFill/>
        </p:spPr>
        <p:txBody>
          <a:bodyPr wrap="square" lIns="0" tIns="0" rIns="0" bIns="0">
            <a:spAutoFit/>
          </a:bodyPr>
          <a:lstStyle/>
          <a:p>
            <a:pPr>
              <a:spcAft>
                <a:spcPts val="400"/>
              </a:spcAft>
              <a:defRPr sz="3400" b="1">
                <a:solidFill>
                  <a:srgbClr val="102F36"/>
                </a:solidFill>
                <a:latin typeface="Aptos"/>
              </a:defRPr>
            </a:pPr>
            <a:r>
              <a:t>Student features</a:t>
            </a:r>
          </a:p>
        </p:txBody>
      </p:sp>
      <p:sp>
        <p:nvSpPr>
          <p:cNvPr id="4" name="TextBox 3"/>
          <p:cNvSpPr txBox="1"/>
          <p:nvPr/>
        </p:nvSpPr>
        <p:spPr>
          <a:xfrm>
            <a:off x="594360" y="6446520"/>
            <a:ext cx="2743200" cy="210312"/>
          </a:xfrm>
          <a:prstGeom prst="rect">
            <a:avLst/>
          </a:prstGeom>
          <a:noFill/>
        </p:spPr>
        <p:txBody>
          <a:bodyPr wrap="square" lIns="0" tIns="0" rIns="0" bIns="0">
            <a:spAutoFit/>
          </a:bodyPr>
          <a:lstStyle/>
          <a:p>
            <a:pPr>
              <a:spcAft>
                <a:spcPts val="400"/>
              </a:spcAft>
              <a:defRPr sz="1000" b="0">
                <a:solidFill>
                  <a:srgbClr val="617579"/>
                </a:solidFill>
                <a:latin typeface="Aptos"/>
              </a:defRPr>
            </a:pPr>
            <a:r>
              <a:t>FinBridge AI</a:t>
            </a:r>
          </a:p>
        </p:txBody>
      </p:sp>
      <p:sp>
        <p:nvSpPr>
          <p:cNvPr id="5" name="TextBox 4"/>
          <p:cNvSpPr txBox="1"/>
          <p:nvPr/>
        </p:nvSpPr>
        <p:spPr>
          <a:xfrm>
            <a:off x="10991088" y="6391656"/>
            <a:ext cx="594360" cy="274320"/>
          </a:xfrm>
          <a:prstGeom prst="rect">
            <a:avLst/>
          </a:prstGeom>
          <a:noFill/>
        </p:spPr>
        <p:txBody>
          <a:bodyPr wrap="square" lIns="0" tIns="0" rIns="0" bIns="0">
            <a:spAutoFit/>
          </a:bodyPr>
          <a:lstStyle/>
          <a:p>
            <a:pPr algn="r">
              <a:spcAft>
                <a:spcPts val="400"/>
              </a:spcAft>
              <a:defRPr sz="1200" b="1">
                <a:solidFill>
                  <a:srgbClr val="008D78"/>
                </a:solidFill>
                <a:latin typeface="Aptos"/>
              </a:defRPr>
            </a:pPr>
            <a:r>
              <a:t>06</a:t>
            </a:r>
          </a:p>
        </p:txBody>
      </p:sp>
      <p:pic>
        <p:nvPicPr>
          <p:cNvPr id="6" name="reveal_02" descr="06-student.gif"/>
          <p:cNvPicPr>
            <a:picLocks noChangeAspect="1"/>
          </p:cNvPicPr>
          <p:nvPr/>
        </p:nvPicPr>
        <p:blipFill>
          <a:blip r:embed="rId3"/>
          <a:stretch>
            <a:fillRect/>
          </a:stretch>
        </p:blipFill>
        <p:spPr>
          <a:xfrm>
            <a:off x="594360" y="1865376"/>
            <a:ext cx="3858768" cy="2894076"/>
          </a:xfrm>
          <a:prstGeom prst="rect">
            <a:avLst/>
          </a:prstGeom>
        </p:spPr>
      </p:pic>
      <p:sp>
        <p:nvSpPr>
          <p:cNvPr id="7" name="reveal_03"/>
          <p:cNvSpPr txBox="1"/>
          <p:nvPr/>
        </p:nvSpPr>
        <p:spPr>
          <a:xfrm>
            <a:off x="658368" y="5001768"/>
            <a:ext cx="3794760" cy="502920"/>
          </a:xfrm>
          <a:prstGeom prst="rect">
            <a:avLst/>
          </a:prstGeom>
          <a:noFill/>
        </p:spPr>
        <p:txBody>
          <a:bodyPr wrap="square" lIns="0" tIns="0" rIns="0" bIns="0">
            <a:spAutoFit/>
          </a:bodyPr>
          <a:lstStyle/>
          <a:p>
            <a:pPr>
              <a:spcAft>
                <a:spcPts val="400"/>
              </a:spcAft>
              <a:defRPr sz="2400" b="1">
                <a:solidFill>
                  <a:srgbClr val="102F36"/>
                </a:solidFill>
                <a:latin typeface="Aptos"/>
              </a:defRPr>
            </a:pPr>
            <a:r>
              <a:t>Plan every semester.</a:t>
            </a:r>
          </a:p>
        </p:txBody>
      </p:sp>
      <p:graphicFrame>
        <p:nvGraphicFramePr>
          <p:cNvPr id="8" name="reveal_04"/>
          <p:cNvGraphicFramePr>
            <a:graphicFrameLocks noGrp="1"/>
          </p:cNvGraphicFramePr>
          <p:nvPr/>
        </p:nvGraphicFramePr>
        <p:xfrm>
          <a:off x="603504" y="5541264"/>
          <a:ext cx="1051560" cy="685800"/>
        </p:xfrm>
        <a:graphic>
          <a:graphicData uri="http://schemas.openxmlformats.org/drawingml/2006/chart">
            <c:chart xmlns:c="http://schemas.openxmlformats.org/drawingml/2006/chart" xmlns:r="http://schemas.openxmlformats.org/officeDocument/2006/relationships" r:id="rId4"/>
          </a:graphicData>
        </a:graphic>
      </p:graphicFrame>
      <p:sp>
        <p:nvSpPr>
          <p:cNvPr id="9" name="TextBox 8"/>
          <p:cNvSpPr txBox="1"/>
          <p:nvPr/>
        </p:nvSpPr>
        <p:spPr>
          <a:xfrm>
            <a:off x="1755648" y="5596128"/>
            <a:ext cx="2560320" cy="512064"/>
          </a:xfrm>
          <a:prstGeom prst="rect">
            <a:avLst/>
          </a:prstGeom>
          <a:noFill/>
        </p:spPr>
        <p:txBody>
          <a:bodyPr wrap="square" lIns="0" tIns="0" rIns="0" bIns="0">
            <a:spAutoFit/>
          </a:bodyPr>
          <a:lstStyle/>
          <a:p>
            <a:pPr>
              <a:spcAft>
                <a:spcPts val="400"/>
              </a:spcAft>
              <a:defRPr sz="1200" b="0">
                <a:solidFill>
                  <a:srgbClr val="617579"/>
                </a:solidFill>
                <a:latin typeface="Aptos"/>
              </a:defRPr>
            </a:pPr>
            <a:r>
              <a:t>Budget mix</a:t>
            </a:r>
          </a:p>
          <a:p>
            <a:pPr>
              <a:spcAft>
                <a:spcPts val="400"/>
              </a:spcAft>
              <a:defRPr sz="1200" b="0">
                <a:solidFill>
                  <a:srgbClr val="617579"/>
                </a:solidFill>
                <a:latin typeface="Aptos"/>
              </a:defRPr>
            </a:pPr>
            <a:r>
              <a:t>Illustrative</a:t>
            </a:r>
          </a:p>
        </p:txBody>
      </p:sp>
      <p:pic>
        <p:nvPicPr>
          <p:cNvPr id="10" name="reveal_03" descr="icon-wallet.png"/>
          <p:cNvPicPr>
            <a:picLocks noChangeAspect="1"/>
          </p:cNvPicPr>
          <p:nvPr/>
        </p:nvPicPr>
        <p:blipFill>
          <a:blip r:embed="rId5"/>
          <a:stretch>
            <a:fillRect/>
          </a:stretch>
        </p:blipFill>
        <p:spPr>
          <a:xfrm>
            <a:off x="4892040" y="1938528"/>
            <a:ext cx="320040" cy="320040"/>
          </a:xfrm>
          <a:prstGeom prst="rect">
            <a:avLst/>
          </a:prstGeom>
        </p:spPr>
      </p:pic>
      <p:sp>
        <p:nvSpPr>
          <p:cNvPr id="11" name="reveal_03"/>
          <p:cNvSpPr txBox="1"/>
          <p:nvPr/>
        </p:nvSpPr>
        <p:spPr>
          <a:xfrm>
            <a:off x="5330952" y="1947672"/>
            <a:ext cx="2779776" cy="320040"/>
          </a:xfrm>
          <a:prstGeom prst="rect">
            <a:avLst/>
          </a:prstGeom>
          <a:noFill/>
        </p:spPr>
        <p:txBody>
          <a:bodyPr wrap="square" lIns="0" tIns="0" rIns="0" bIns="0">
            <a:spAutoFit/>
          </a:bodyPr>
          <a:lstStyle/>
          <a:p>
            <a:pPr>
              <a:spcAft>
                <a:spcPts val="400"/>
              </a:spcAft>
              <a:defRPr sz="1600" b="1">
                <a:solidFill>
                  <a:srgbClr val="102F36"/>
                </a:solidFill>
                <a:latin typeface="Aptos"/>
              </a:defRPr>
            </a:pPr>
            <a:r>
              <a:t>Money &amp; transactions</a:t>
            </a:r>
          </a:p>
        </p:txBody>
      </p:sp>
      <p:sp>
        <p:nvSpPr>
          <p:cNvPr id="12" name="reveal_03"/>
          <p:cNvSpPr txBox="1"/>
          <p:nvPr/>
        </p:nvSpPr>
        <p:spPr>
          <a:xfrm>
            <a:off x="5330952" y="2386584"/>
            <a:ext cx="2779776" cy="914400"/>
          </a:xfrm>
          <a:prstGeom prst="rect">
            <a:avLst/>
          </a:prstGeom>
          <a:noFill/>
        </p:spPr>
        <p:txBody>
          <a:bodyPr wrap="square" lIns="0" tIns="0" rIns="0" bIns="0">
            <a:spAutoFit/>
          </a:bodyPr>
          <a:lstStyle/>
          <a:p>
            <a:pPr>
              <a:spcAft>
                <a:spcPts val="400"/>
              </a:spcAft>
              <a:defRPr sz="1250" b="0">
                <a:solidFill>
                  <a:srgbClr val="617579"/>
                </a:solidFill>
                <a:latin typeface="Aptos"/>
              </a:defRPr>
            </a:pPr>
            <a:r>
              <a:t>Multi-currency wallets; cash; income/expenses; categories; search/filter; CSV mapping and preview.</a:t>
            </a:r>
          </a:p>
        </p:txBody>
      </p:sp>
      <p:pic>
        <p:nvPicPr>
          <p:cNvPr id="13" name="reveal_04" descr="icon-tuition.png"/>
          <p:cNvPicPr>
            <a:picLocks noChangeAspect="1"/>
          </p:cNvPicPr>
          <p:nvPr/>
        </p:nvPicPr>
        <p:blipFill>
          <a:blip r:embed="rId6"/>
          <a:stretch>
            <a:fillRect/>
          </a:stretch>
        </p:blipFill>
        <p:spPr>
          <a:xfrm>
            <a:off x="8293608" y="1938528"/>
            <a:ext cx="320040" cy="320040"/>
          </a:xfrm>
          <a:prstGeom prst="rect">
            <a:avLst/>
          </a:prstGeom>
        </p:spPr>
      </p:pic>
      <p:sp>
        <p:nvSpPr>
          <p:cNvPr id="14" name="reveal_04"/>
          <p:cNvSpPr txBox="1"/>
          <p:nvPr/>
        </p:nvSpPr>
        <p:spPr>
          <a:xfrm>
            <a:off x="8732520" y="1947672"/>
            <a:ext cx="2779776" cy="320040"/>
          </a:xfrm>
          <a:prstGeom prst="rect">
            <a:avLst/>
          </a:prstGeom>
          <a:noFill/>
        </p:spPr>
        <p:txBody>
          <a:bodyPr wrap="square" lIns="0" tIns="0" rIns="0" bIns="0">
            <a:spAutoFit/>
          </a:bodyPr>
          <a:lstStyle/>
          <a:p>
            <a:pPr>
              <a:spcAft>
                <a:spcPts val="400"/>
              </a:spcAft>
              <a:defRPr sz="1600" b="1">
                <a:solidFill>
                  <a:srgbClr val="102F36"/>
                </a:solidFill>
                <a:latin typeface="Aptos"/>
              </a:defRPr>
            </a:pPr>
            <a:r>
              <a:t>Tuition &amp; budgets</a:t>
            </a:r>
          </a:p>
        </p:txBody>
      </p:sp>
      <p:sp>
        <p:nvSpPr>
          <p:cNvPr id="15" name="reveal_04"/>
          <p:cNvSpPr txBox="1"/>
          <p:nvPr/>
        </p:nvSpPr>
        <p:spPr>
          <a:xfrm>
            <a:off x="8732520" y="2386584"/>
            <a:ext cx="2779776" cy="914400"/>
          </a:xfrm>
          <a:prstGeom prst="rect">
            <a:avLst/>
          </a:prstGeom>
          <a:noFill/>
        </p:spPr>
        <p:txBody>
          <a:bodyPr wrap="square" lIns="0" tIns="0" rIns="0" bIns="0">
            <a:spAutoFit/>
          </a:bodyPr>
          <a:lstStyle/>
          <a:p>
            <a:pPr>
              <a:spcAft>
                <a:spcPts val="400"/>
              </a:spcAft>
              <a:defRPr sz="1250" b="0">
                <a:solidFill>
                  <a:srgbClr val="617579"/>
                </a:solidFill>
                <a:latin typeface="Aptos"/>
              </a:defRPr>
            </a:pPr>
            <a:r>
              <a:t>Invoices; scholarships; deadlines; savings targets; funding scenarios; category budgets; credit checklist.</a:t>
            </a:r>
          </a:p>
        </p:txBody>
      </p:sp>
      <p:pic>
        <p:nvPicPr>
          <p:cNvPr id="16" name="reveal_05" descr="icon-transfer.png"/>
          <p:cNvPicPr>
            <a:picLocks noChangeAspect="1"/>
          </p:cNvPicPr>
          <p:nvPr/>
        </p:nvPicPr>
        <p:blipFill>
          <a:blip r:embed="rId7"/>
          <a:stretch>
            <a:fillRect/>
          </a:stretch>
        </p:blipFill>
        <p:spPr>
          <a:xfrm>
            <a:off x="4892040" y="3328416"/>
            <a:ext cx="320040" cy="320040"/>
          </a:xfrm>
          <a:prstGeom prst="rect">
            <a:avLst/>
          </a:prstGeom>
        </p:spPr>
      </p:pic>
      <p:sp>
        <p:nvSpPr>
          <p:cNvPr id="17" name="reveal_05"/>
          <p:cNvSpPr txBox="1"/>
          <p:nvPr/>
        </p:nvSpPr>
        <p:spPr>
          <a:xfrm>
            <a:off x="5330952" y="3337560"/>
            <a:ext cx="2779776" cy="320040"/>
          </a:xfrm>
          <a:prstGeom prst="rect">
            <a:avLst/>
          </a:prstGeom>
          <a:noFill/>
        </p:spPr>
        <p:txBody>
          <a:bodyPr wrap="square" lIns="0" tIns="0" rIns="0" bIns="0">
            <a:spAutoFit/>
          </a:bodyPr>
          <a:lstStyle/>
          <a:p>
            <a:pPr>
              <a:spcAft>
                <a:spcPts val="400"/>
              </a:spcAft>
              <a:defRPr sz="1600" b="1">
                <a:solidFill>
                  <a:srgbClr val="102F36"/>
                </a:solidFill>
                <a:latin typeface="Aptos"/>
              </a:defRPr>
            </a:pPr>
            <a:r>
              <a:t>Transfers &amp; payments</a:t>
            </a:r>
          </a:p>
        </p:txBody>
      </p:sp>
      <p:sp>
        <p:nvSpPr>
          <p:cNvPr id="18" name="reveal_05"/>
          <p:cNvSpPr txBox="1"/>
          <p:nvPr/>
        </p:nvSpPr>
        <p:spPr>
          <a:xfrm>
            <a:off x="5330952" y="3776472"/>
            <a:ext cx="2779776" cy="914400"/>
          </a:xfrm>
          <a:prstGeom prst="rect">
            <a:avLst/>
          </a:prstGeom>
          <a:noFill/>
        </p:spPr>
        <p:txBody>
          <a:bodyPr wrap="square" lIns="0" tIns="0" rIns="0" bIns="0">
            <a:spAutoFit/>
          </a:bodyPr>
          <a:lstStyle/>
          <a:p>
            <a:pPr>
              <a:spcAft>
                <a:spcPts val="400"/>
              </a:spcAft>
              <a:defRPr sz="1250" b="0">
                <a:solidFill>
                  <a:srgbClr val="617579"/>
                </a:solidFill>
                <a:latin typeface="Aptos"/>
              </a:defRPr>
            </a:pPr>
            <a:r>
              <a:t>FX/provider comparison; locked quotes; sends, deposits, top-ups, withdrawals; beneficiaries; receipts.</a:t>
            </a:r>
          </a:p>
        </p:txBody>
      </p:sp>
      <p:pic>
        <p:nvPicPr>
          <p:cNvPr id="19" name="reveal_06" descr="icon-ai.png"/>
          <p:cNvPicPr>
            <a:picLocks noChangeAspect="1"/>
          </p:cNvPicPr>
          <p:nvPr/>
        </p:nvPicPr>
        <p:blipFill>
          <a:blip r:embed="rId8"/>
          <a:stretch>
            <a:fillRect/>
          </a:stretch>
        </p:blipFill>
        <p:spPr>
          <a:xfrm>
            <a:off x="8293608" y="3328416"/>
            <a:ext cx="320040" cy="320040"/>
          </a:xfrm>
          <a:prstGeom prst="rect">
            <a:avLst/>
          </a:prstGeom>
        </p:spPr>
      </p:pic>
      <p:sp>
        <p:nvSpPr>
          <p:cNvPr id="20" name="reveal_06"/>
          <p:cNvSpPr txBox="1"/>
          <p:nvPr/>
        </p:nvSpPr>
        <p:spPr>
          <a:xfrm>
            <a:off x="8732520" y="3337560"/>
            <a:ext cx="2779776" cy="320040"/>
          </a:xfrm>
          <a:prstGeom prst="rect">
            <a:avLst/>
          </a:prstGeom>
          <a:noFill/>
        </p:spPr>
        <p:txBody>
          <a:bodyPr wrap="square" lIns="0" tIns="0" rIns="0" bIns="0">
            <a:spAutoFit/>
          </a:bodyPr>
          <a:lstStyle/>
          <a:p>
            <a:pPr>
              <a:spcAft>
                <a:spcPts val="400"/>
              </a:spcAft>
              <a:defRPr sz="1600" b="1">
                <a:solidFill>
                  <a:srgbClr val="102F36"/>
                </a:solidFill>
                <a:latin typeface="Aptos"/>
              </a:defRPr>
            </a:pPr>
            <a:r>
              <a:t>AI copilot</a:t>
            </a:r>
          </a:p>
        </p:txBody>
      </p:sp>
      <p:sp>
        <p:nvSpPr>
          <p:cNvPr id="21" name="reveal_06"/>
          <p:cNvSpPr txBox="1"/>
          <p:nvPr/>
        </p:nvSpPr>
        <p:spPr>
          <a:xfrm>
            <a:off x="8732520" y="3776472"/>
            <a:ext cx="2779776" cy="914400"/>
          </a:xfrm>
          <a:prstGeom prst="rect">
            <a:avLst/>
          </a:prstGeom>
          <a:noFill/>
        </p:spPr>
        <p:txBody>
          <a:bodyPr wrap="square" lIns="0" tIns="0" rIns="0" bIns="0">
            <a:spAutoFit/>
          </a:bodyPr>
          <a:lstStyle/>
          <a:p>
            <a:pPr>
              <a:spcAft>
                <a:spcPts val="400"/>
              </a:spcAft>
              <a:defRPr sz="1250" b="0">
                <a:solidFill>
                  <a:srgbClr val="617579"/>
                </a:solidFill>
                <a:latin typeface="Aptos"/>
              </a:defRPr>
            </a:pPr>
            <a:r>
              <a:t>Chat and tool history; funding/budget advice; follow-ups; navigation; reviewed actions; model selection.</a:t>
            </a:r>
          </a:p>
        </p:txBody>
      </p:sp>
      <p:pic>
        <p:nvPicPr>
          <p:cNvPr id="22" name="reveal_07" descr="icon-family.png"/>
          <p:cNvPicPr>
            <a:picLocks noChangeAspect="1"/>
          </p:cNvPicPr>
          <p:nvPr/>
        </p:nvPicPr>
        <p:blipFill>
          <a:blip r:embed="rId9"/>
          <a:stretch>
            <a:fillRect/>
          </a:stretch>
        </p:blipFill>
        <p:spPr>
          <a:xfrm>
            <a:off x="4892040" y="4718304"/>
            <a:ext cx="320040" cy="320040"/>
          </a:xfrm>
          <a:prstGeom prst="rect">
            <a:avLst/>
          </a:prstGeom>
        </p:spPr>
      </p:pic>
      <p:sp>
        <p:nvSpPr>
          <p:cNvPr id="23" name="reveal_07"/>
          <p:cNvSpPr txBox="1"/>
          <p:nvPr/>
        </p:nvSpPr>
        <p:spPr>
          <a:xfrm>
            <a:off x="5330952" y="4727448"/>
            <a:ext cx="2779776" cy="320040"/>
          </a:xfrm>
          <a:prstGeom prst="rect">
            <a:avLst/>
          </a:prstGeom>
          <a:noFill/>
        </p:spPr>
        <p:txBody>
          <a:bodyPr wrap="square" lIns="0" tIns="0" rIns="0" bIns="0">
            <a:spAutoFit/>
          </a:bodyPr>
          <a:lstStyle/>
          <a:p>
            <a:pPr>
              <a:spcAft>
                <a:spcPts val="400"/>
              </a:spcAft>
              <a:defRPr sz="1600" b="1">
                <a:solidFill>
                  <a:srgbClr val="102F36"/>
                </a:solidFill>
                <a:latin typeface="Aptos"/>
              </a:defRPr>
            </a:pPr>
            <a:r>
              <a:t>Family &amp; alerts</a:t>
            </a:r>
          </a:p>
        </p:txBody>
      </p:sp>
      <p:sp>
        <p:nvSpPr>
          <p:cNvPr id="24" name="reveal_07"/>
          <p:cNvSpPr txBox="1"/>
          <p:nvPr/>
        </p:nvSpPr>
        <p:spPr>
          <a:xfrm>
            <a:off x="5330952" y="5166360"/>
            <a:ext cx="2779776" cy="914400"/>
          </a:xfrm>
          <a:prstGeom prst="rect">
            <a:avLst/>
          </a:prstGeom>
          <a:noFill/>
        </p:spPr>
        <p:txBody>
          <a:bodyPr wrap="square" lIns="0" tIns="0" rIns="0" bIns="0">
            <a:spAutoFit/>
          </a:bodyPr>
          <a:lstStyle/>
          <a:p>
            <a:pPr>
              <a:spcAft>
                <a:spcPts val="400"/>
              </a:spcAft>
              <a:defRPr sz="1250" b="0">
                <a:solidFill>
                  <a:srgbClr val="617579"/>
                </a:solidFill>
                <a:latin typeface="Aptos"/>
              </a:defRPr>
            </a:pPr>
            <a:r>
              <a:t>Invitations; recipient/transfer approvals; reminders; automatic alerts; snooze/dismiss; activity and ledger.</a:t>
            </a:r>
          </a:p>
        </p:txBody>
      </p:sp>
      <p:pic>
        <p:nvPicPr>
          <p:cNvPr id="25" name="reveal_08" descr="icon-document.png"/>
          <p:cNvPicPr>
            <a:picLocks noChangeAspect="1"/>
          </p:cNvPicPr>
          <p:nvPr/>
        </p:nvPicPr>
        <p:blipFill>
          <a:blip r:embed="rId10"/>
          <a:stretch>
            <a:fillRect/>
          </a:stretch>
        </p:blipFill>
        <p:spPr>
          <a:xfrm>
            <a:off x="8293608" y="4718304"/>
            <a:ext cx="320040" cy="320040"/>
          </a:xfrm>
          <a:prstGeom prst="rect">
            <a:avLst/>
          </a:prstGeom>
        </p:spPr>
      </p:pic>
      <p:sp>
        <p:nvSpPr>
          <p:cNvPr id="26" name="reveal_08"/>
          <p:cNvSpPr txBox="1"/>
          <p:nvPr/>
        </p:nvSpPr>
        <p:spPr>
          <a:xfrm>
            <a:off x="8732520" y="4727448"/>
            <a:ext cx="2779776" cy="320040"/>
          </a:xfrm>
          <a:prstGeom prst="rect">
            <a:avLst/>
          </a:prstGeom>
          <a:noFill/>
        </p:spPr>
        <p:txBody>
          <a:bodyPr wrap="square" lIns="0" tIns="0" rIns="0" bIns="0">
            <a:spAutoFit/>
          </a:bodyPr>
          <a:lstStyle/>
          <a:p>
            <a:pPr>
              <a:spcAft>
                <a:spcPts val="400"/>
              </a:spcAft>
              <a:defRPr sz="1600" b="1">
                <a:solidFill>
                  <a:srgbClr val="102F36"/>
                </a:solidFill>
                <a:latin typeface="Aptos"/>
              </a:defRPr>
            </a:pPr>
            <a:r>
              <a:t>Account &amp; preferences</a:t>
            </a:r>
          </a:p>
        </p:txBody>
      </p:sp>
      <p:sp>
        <p:nvSpPr>
          <p:cNvPr id="27" name="reveal_08"/>
          <p:cNvSpPr txBox="1"/>
          <p:nvPr/>
        </p:nvSpPr>
        <p:spPr>
          <a:xfrm>
            <a:off x="8732520" y="5166360"/>
            <a:ext cx="2779776" cy="914400"/>
          </a:xfrm>
          <a:prstGeom prst="rect">
            <a:avLst/>
          </a:prstGeom>
          <a:noFill/>
        </p:spPr>
        <p:txBody>
          <a:bodyPr wrap="square" lIns="0" tIns="0" rIns="0" bIns="0">
            <a:spAutoFit/>
          </a:bodyPr>
          <a:lstStyle/>
          <a:p>
            <a:pPr>
              <a:spcAft>
                <a:spcPts val="400"/>
              </a:spcAft>
              <a:defRPr sz="1250" b="0">
                <a:solidFill>
                  <a:srgbClr val="617579"/>
                </a:solidFill>
                <a:latin typeface="Aptos"/>
              </a:defRPr>
            </a:pPr>
            <a:r>
              <a:t>Plans/quotas; checkout/history; saved cards/models; profile/security; reports; data export and closure.</a:t>
            </a:r>
          </a:p>
        </p:txBody>
      </p:sp>
      <p:sp>
        <p:nvSpPr>
          <p:cNvPr id="28" name="TextBox 27"/>
          <p:cNvSpPr txBox="1"/>
          <p:nvPr/>
        </p:nvSpPr>
        <p:spPr>
          <a:xfrm>
            <a:off x="5330952" y="6181344"/>
            <a:ext cx="6217920" cy="210312"/>
          </a:xfrm>
          <a:prstGeom prst="rect">
            <a:avLst/>
          </a:prstGeom>
          <a:noFill/>
        </p:spPr>
        <p:txBody>
          <a:bodyPr wrap="square" lIns="0" tIns="0" rIns="0" bIns="0">
            <a:spAutoFit/>
          </a:bodyPr>
          <a:lstStyle/>
          <a:p>
            <a:pPr>
              <a:spcAft>
                <a:spcPts val="400"/>
              </a:spcAft>
              <a:defRPr sz="1000" b="0">
                <a:solidFill>
                  <a:srgbClr val="008D78"/>
                </a:solidFill>
                <a:latin typeface="Aptos"/>
              </a:defRPr>
            </a:pPr>
            <a:r>
              <a:t>English / Bengali / Chinese   ·   Themes   ·   Search   ·   Country &amp; currency</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380"/>
                                        <p:tgtEl>
                                          <p:spTgt spid="3"/>
                                        </p:tgtEl>
                                      </p:cBhvr>
                                    </p:animEffect>
                                  </p:childTnLst>
                                </p:cTn>
                              </p:par>
                            </p:childTnLst>
                          </p:cTn>
                        </p:par>
                        <p:par>
                          <p:cTn id="8" fill="hold">
                            <p:stCondLst>
                              <p:cond delay="380"/>
                            </p:stCondLst>
                            <p:childTnLst>
                              <p:par>
                                <p:cTn id="9" presetID="10" presetClass="entr" presetSubtype="0"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380"/>
                                        <p:tgtEl>
                                          <p:spTgt spid="6"/>
                                        </p:tgtEl>
                                      </p:cBhvr>
                                    </p:animEffect>
                                  </p:childTnLst>
                                </p:cTn>
                              </p:par>
                            </p:childTnLst>
                          </p:cTn>
                        </p:par>
                        <p:par>
                          <p:cTn id="12" fill="hold">
                            <p:stCondLst>
                              <p:cond delay="760"/>
                            </p:stCondLst>
                            <p:childTnLst>
                              <p:par>
                                <p:cTn id="13" presetID="10" presetClass="entr" presetSubtype="0" fill="hold" grpId="0" nodeType="after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380"/>
                                        <p:tgtEl>
                                          <p:spTgt spid="11"/>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380"/>
                                        <p:tgtEl>
                                          <p:spTgt spid="12"/>
                                        </p:tgtEl>
                                      </p:cBhvr>
                                    </p:animEffect>
                                  </p:childTnLst>
                                </p:cTn>
                              </p:par>
                              <p:par>
                                <p:cTn id="19" presetID="10" presetClass="entr" presetSubtype="0" fill="hold"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380"/>
                                        <p:tgtEl>
                                          <p:spTgt spid="1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380"/>
                                        <p:tgtEl>
                                          <p:spTgt spid="7"/>
                                        </p:tgtEl>
                                      </p:cBhvr>
                                    </p:animEffect>
                                  </p:childTnLst>
                                </p:cTn>
                              </p:par>
                            </p:childTnLst>
                          </p:cTn>
                        </p:par>
                        <p:par>
                          <p:cTn id="25" fill="hold">
                            <p:stCondLst>
                              <p:cond delay="1140"/>
                            </p:stCondLst>
                            <p:childTnLst>
                              <p:par>
                                <p:cTn id="26" presetID="10" presetClass="entr" presetSubtype="0" fill="hold" grpId="0" nodeType="after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fade">
                                      <p:cBhvr>
                                        <p:cTn id="28" dur="380"/>
                                        <p:tgtEl>
                                          <p:spTgt spid="14"/>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380"/>
                                        <p:tgtEl>
                                          <p:spTgt spid="15"/>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fade">
                                      <p:cBhvr>
                                        <p:cTn id="34" dur="380"/>
                                        <p:tgtEl>
                                          <p:spTgt spid="8"/>
                                        </p:tgtEl>
                                      </p:cBhvr>
                                    </p:animEffect>
                                  </p:childTnLst>
                                </p:cTn>
                              </p:par>
                              <p:par>
                                <p:cTn id="35" presetID="10" presetClass="entr" presetSubtype="0" fill="hold" nodeType="with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380"/>
                                        <p:tgtEl>
                                          <p:spTgt spid="13"/>
                                        </p:tgtEl>
                                      </p:cBhvr>
                                    </p:animEffect>
                                  </p:childTnLst>
                                </p:cTn>
                              </p:par>
                            </p:childTnLst>
                          </p:cTn>
                        </p:par>
                        <p:par>
                          <p:cTn id="38" fill="hold">
                            <p:stCondLst>
                              <p:cond delay="1520"/>
                            </p:stCondLst>
                            <p:childTnLst>
                              <p:par>
                                <p:cTn id="39" presetID="10" presetClass="entr" presetSubtype="0" fill="hold" grpId="0" nodeType="after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380"/>
                                        <p:tgtEl>
                                          <p:spTgt spid="18"/>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380"/>
                                        <p:tgtEl>
                                          <p:spTgt spid="17"/>
                                        </p:tgtEl>
                                      </p:cBhvr>
                                    </p:animEffect>
                                  </p:childTnLst>
                                </p:cTn>
                              </p:par>
                              <p:par>
                                <p:cTn id="45" presetID="10" presetClass="entr" presetSubtype="0" fill="hold" nodeType="with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fade">
                                      <p:cBhvr>
                                        <p:cTn id="47" dur="380"/>
                                        <p:tgtEl>
                                          <p:spTgt spid="16"/>
                                        </p:tgtEl>
                                      </p:cBhvr>
                                    </p:animEffect>
                                  </p:childTnLst>
                                </p:cTn>
                              </p:par>
                            </p:childTnLst>
                          </p:cTn>
                        </p:par>
                        <p:par>
                          <p:cTn id="48" fill="hold">
                            <p:stCondLst>
                              <p:cond delay="1900"/>
                            </p:stCondLst>
                            <p:childTnLst>
                              <p:par>
                                <p:cTn id="49" presetID="10" presetClass="entr" presetSubtype="0" fill="hold" grpId="0" nodeType="afterEffect">
                                  <p:stCondLst>
                                    <p:cond delay="0"/>
                                  </p:stCondLst>
                                  <p:childTnLst>
                                    <p:set>
                                      <p:cBhvr>
                                        <p:cTn id="50" dur="1" fill="hold">
                                          <p:stCondLst>
                                            <p:cond delay="0"/>
                                          </p:stCondLst>
                                        </p:cTn>
                                        <p:tgtEl>
                                          <p:spTgt spid="21"/>
                                        </p:tgtEl>
                                        <p:attrNameLst>
                                          <p:attrName>style.visibility</p:attrName>
                                        </p:attrNameLst>
                                      </p:cBhvr>
                                      <p:to>
                                        <p:strVal val="visible"/>
                                      </p:to>
                                    </p:set>
                                    <p:animEffect transition="in" filter="fade">
                                      <p:cBhvr>
                                        <p:cTn id="51" dur="380"/>
                                        <p:tgtEl>
                                          <p:spTgt spid="21"/>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0"/>
                                        </p:tgtEl>
                                        <p:attrNameLst>
                                          <p:attrName>style.visibility</p:attrName>
                                        </p:attrNameLst>
                                      </p:cBhvr>
                                      <p:to>
                                        <p:strVal val="visible"/>
                                      </p:to>
                                    </p:set>
                                    <p:animEffect transition="in" filter="fade">
                                      <p:cBhvr>
                                        <p:cTn id="54" dur="380"/>
                                        <p:tgtEl>
                                          <p:spTgt spid="20"/>
                                        </p:tgtEl>
                                      </p:cBhvr>
                                    </p:animEffect>
                                  </p:childTnLst>
                                </p:cTn>
                              </p:par>
                              <p:par>
                                <p:cTn id="55" presetID="10" presetClass="entr" presetSubtype="0" fill="hold" nodeType="withEffect">
                                  <p:stCondLst>
                                    <p:cond delay="0"/>
                                  </p:stCondLst>
                                  <p:childTnLst>
                                    <p:set>
                                      <p:cBhvr>
                                        <p:cTn id="56" dur="1" fill="hold">
                                          <p:stCondLst>
                                            <p:cond delay="0"/>
                                          </p:stCondLst>
                                        </p:cTn>
                                        <p:tgtEl>
                                          <p:spTgt spid="19"/>
                                        </p:tgtEl>
                                        <p:attrNameLst>
                                          <p:attrName>style.visibility</p:attrName>
                                        </p:attrNameLst>
                                      </p:cBhvr>
                                      <p:to>
                                        <p:strVal val="visible"/>
                                      </p:to>
                                    </p:set>
                                    <p:animEffect transition="in" filter="fade">
                                      <p:cBhvr>
                                        <p:cTn id="57" dur="380"/>
                                        <p:tgtEl>
                                          <p:spTgt spid="19"/>
                                        </p:tgtEl>
                                      </p:cBhvr>
                                    </p:animEffect>
                                  </p:childTnLst>
                                </p:cTn>
                              </p:par>
                            </p:childTnLst>
                          </p:cTn>
                        </p:par>
                        <p:par>
                          <p:cTn id="58" fill="hold">
                            <p:stCondLst>
                              <p:cond delay="2280"/>
                            </p:stCondLst>
                            <p:childTnLst>
                              <p:par>
                                <p:cTn id="59" presetID="10" presetClass="entr" presetSubtype="0" fill="hold" grpId="0" nodeType="afterEffect">
                                  <p:stCondLst>
                                    <p:cond delay="0"/>
                                  </p:stCondLst>
                                  <p:childTnLst>
                                    <p:set>
                                      <p:cBhvr>
                                        <p:cTn id="60" dur="1" fill="hold">
                                          <p:stCondLst>
                                            <p:cond delay="0"/>
                                          </p:stCondLst>
                                        </p:cTn>
                                        <p:tgtEl>
                                          <p:spTgt spid="24"/>
                                        </p:tgtEl>
                                        <p:attrNameLst>
                                          <p:attrName>style.visibility</p:attrName>
                                        </p:attrNameLst>
                                      </p:cBhvr>
                                      <p:to>
                                        <p:strVal val="visible"/>
                                      </p:to>
                                    </p:set>
                                    <p:animEffect transition="in" filter="fade">
                                      <p:cBhvr>
                                        <p:cTn id="61" dur="380"/>
                                        <p:tgtEl>
                                          <p:spTgt spid="24"/>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3"/>
                                        </p:tgtEl>
                                        <p:attrNameLst>
                                          <p:attrName>style.visibility</p:attrName>
                                        </p:attrNameLst>
                                      </p:cBhvr>
                                      <p:to>
                                        <p:strVal val="visible"/>
                                      </p:to>
                                    </p:set>
                                    <p:animEffect transition="in" filter="fade">
                                      <p:cBhvr>
                                        <p:cTn id="64" dur="380"/>
                                        <p:tgtEl>
                                          <p:spTgt spid="23"/>
                                        </p:tgtEl>
                                      </p:cBhvr>
                                    </p:animEffect>
                                  </p:childTnLst>
                                </p:cTn>
                              </p:par>
                              <p:par>
                                <p:cTn id="65" presetID="10" presetClass="entr" presetSubtype="0" fill="hold" nodeType="withEffect">
                                  <p:stCondLst>
                                    <p:cond delay="0"/>
                                  </p:stCondLst>
                                  <p:childTnLst>
                                    <p:set>
                                      <p:cBhvr>
                                        <p:cTn id="66" dur="1" fill="hold">
                                          <p:stCondLst>
                                            <p:cond delay="0"/>
                                          </p:stCondLst>
                                        </p:cTn>
                                        <p:tgtEl>
                                          <p:spTgt spid="22"/>
                                        </p:tgtEl>
                                        <p:attrNameLst>
                                          <p:attrName>style.visibility</p:attrName>
                                        </p:attrNameLst>
                                      </p:cBhvr>
                                      <p:to>
                                        <p:strVal val="visible"/>
                                      </p:to>
                                    </p:set>
                                    <p:animEffect transition="in" filter="fade">
                                      <p:cBhvr>
                                        <p:cTn id="67" dur="380"/>
                                        <p:tgtEl>
                                          <p:spTgt spid="22"/>
                                        </p:tgtEl>
                                      </p:cBhvr>
                                    </p:animEffect>
                                  </p:childTnLst>
                                </p:cTn>
                              </p:par>
                            </p:childTnLst>
                          </p:cTn>
                        </p:par>
                        <p:par>
                          <p:cTn id="68" fill="hold">
                            <p:stCondLst>
                              <p:cond delay="2660"/>
                            </p:stCondLst>
                            <p:childTnLst>
                              <p:par>
                                <p:cTn id="69" presetID="10" presetClass="entr" presetSubtype="0" fill="hold" grpId="0" nodeType="afterEffect">
                                  <p:stCondLst>
                                    <p:cond delay="0"/>
                                  </p:stCondLst>
                                  <p:childTnLst>
                                    <p:set>
                                      <p:cBhvr>
                                        <p:cTn id="70" dur="1" fill="hold">
                                          <p:stCondLst>
                                            <p:cond delay="0"/>
                                          </p:stCondLst>
                                        </p:cTn>
                                        <p:tgtEl>
                                          <p:spTgt spid="27"/>
                                        </p:tgtEl>
                                        <p:attrNameLst>
                                          <p:attrName>style.visibility</p:attrName>
                                        </p:attrNameLst>
                                      </p:cBhvr>
                                      <p:to>
                                        <p:strVal val="visible"/>
                                      </p:to>
                                    </p:set>
                                    <p:animEffect transition="in" filter="fade">
                                      <p:cBhvr>
                                        <p:cTn id="71" dur="380"/>
                                        <p:tgtEl>
                                          <p:spTgt spid="27"/>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6"/>
                                        </p:tgtEl>
                                        <p:attrNameLst>
                                          <p:attrName>style.visibility</p:attrName>
                                        </p:attrNameLst>
                                      </p:cBhvr>
                                      <p:to>
                                        <p:strVal val="visible"/>
                                      </p:to>
                                    </p:set>
                                    <p:animEffect transition="in" filter="fade">
                                      <p:cBhvr>
                                        <p:cTn id="74" dur="380"/>
                                        <p:tgtEl>
                                          <p:spTgt spid="26"/>
                                        </p:tgtEl>
                                      </p:cBhvr>
                                    </p:animEffect>
                                  </p:childTnLst>
                                </p:cTn>
                              </p:par>
                              <p:par>
                                <p:cTn id="75" presetID="10" presetClass="entr" presetSubtype="0" fill="hold" nodeType="withEffect">
                                  <p:stCondLst>
                                    <p:cond delay="0"/>
                                  </p:stCondLst>
                                  <p:childTnLst>
                                    <p:set>
                                      <p:cBhvr>
                                        <p:cTn id="76" dur="1" fill="hold">
                                          <p:stCondLst>
                                            <p:cond delay="0"/>
                                          </p:stCondLst>
                                        </p:cTn>
                                        <p:tgtEl>
                                          <p:spTgt spid="25"/>
                                        </p:tgtEl>
                                        <p:attrNameLst>
                                          <p:attrName>style.visibility</p:attrName>
                                        </p:attrNameLst>
                                      </p:cBhvr>
                                      <p:to>
                                        <p:strVal val="visible"/>
                                      </p:to>
                                    </p:set>
                                    <p:animEffect transition="in" filter="fade">
                                      <p:cBhvr>
                                        <p:cTn id="77" dur="38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p:bldGraphic spid="8" grpId="0">
        <p:bldAsOne/>
      </p:bldGraphic>
      <p:bldP spid="11" grpId="0"/>
      <p:bldP spid="12" grpId="0"/>
      <p:bldP spid="14" grpId="0"/>
      <p:bldP spid="15" grpId="0"/>
      <p:bldP spid="17" grpId="0"/>
      <p:bldP spid="18" grpId="0"/>
      <p:bldP spid="20" grpId="0"/>
      <p:bldP spid="21" grpId="0"/>
      <p:bldP spid="23" grpId="0"/>
      <p:bldP spid="24" grpId="0"/>
      <p:bldP spid="26" grpId="0"/>
      <p:bldP spid="27"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6F1"/>
        </a:solidFill>
        <a:effectLst/>
      </p:bgPr>
    </p:bg>
    <p:spTree>
      <p:nvGrpSpPr>
        <p:cNvPr id="1" name=""/>
        <p:cNvGrpSpPr/>
        <p:nvPr/>
      </p:nvGrpSpPr>
      <p:grpSpPr>
        <a:xfrm>
          <a:off x="0" y="0"/>
          <a:ext cx="0" cy="0"/>
          <a:chOff x="0" y="0"/>
          <a:chExt cx="0" cy="0"/>
        </a:xfrm>
      </p:grpSpPr>
      <p:sp>
        <p:nvSpPr>
          <p:cNvPr id="2" name="TextBox 1"/>
          <p:cNvSpPr txBox="1"/>
          <p:nvPr/>
        </p:nvSpPr>
        <p:spPr>
          <a:xfrm>
            <a:off x="594360" y="384048"/>
            <a:ext cx="10058400" cy="228600"/>
          </a:xfrm>
          <a:prstGeom prst="rect">
            <a:avLst/>
          </a:prstGeom>
          <a:noFill/>
        </p:spPr>
        <p:txBody>
          <a:bodyPr wrap="square" lIns="0" tIns="0" rIns="0" bIns="0">
            <a:spAutoFit/>
          </a:bodyPr>
          <a:lstStyle/>
          <a:p>
            <a:pPr>
              <a:spcAft>
                <a:spcPts val="400"/>
              </a:spcAft>
              <a:defRPr sz="1000" b="1">
                <a:solidFill>
                  <a:srgbClr val="008D78"/>
                </a:solidFill>
                <a:latin typeface="Aptos"/>
              </a:defRPr>
            </a:pPr>
            <a:r>
              <a:t>FEATURES / PARENT</a:t>
            </a:r>
          </a:p>
        </p:txBody>
      </p:sp>
      <p:sp>
        <p:nvSpPr>
          <p:cNvPr id="3" name="reveal_01"/>
          <p:cNvSpPr txBox="1"/>
          <p:nvPr/>
        </p:nvSpPr>
        <p:spPr>
          <a:xfrm>
            <a:off x="594360" y="859536"/>
            <a:ext cx="10972800" cy="914400"/>
          </a:xfrm>
          <a:prstGeom prst="rect">
            <a:avLst/>
          </a:prstGeom>
          <a:noFill/>
        </p:spPr>
        <p:txBody>
          <a:bodyPr wrap="square" lIns="0" tIns="0" rIns="0" bIns="0">
            <a:spAutoFit/>
          </a:bodyPr>
          <a:lstStyle/>
          <a:p>
            <a:pPr>
              <a:spcAft>
                <a:spcPts val="400"/>
              </a:spcAft>
              <a:defRPr sz="3400" b="1">
                <a:solidFill>
                  <a:srgbClr val="102F36"/>
                </a:solidFill>
                <a:latin typeface="Aptos"/>
              </a:defRPr>
            </a:pPr>
            <a:r>
              <a:t>Parent features</a:t>
            </a:r>
          </a:p>
        </p:txBody>
      </p:sp>
      <p:sp>
        <p:nvSpPr>
          <p:cNvPr id="4" name="TextBox 3"/>
          <p:cNvSpPr txBox="1"/>
          <p:nvPr/>
        </p:nvSpPr>
        <p:spPr>
          <a:xfrm>
            <a:off x="594360" y="6446520"/>
            <a:ext cx="2743200" cy="210312"/>
          </a:xfrm>
          <a:prstGeom prst="rect">
            <a:avLst/>
          </a:prstGeom>
          <a:noFill/>
        </p:spPr>
        <p:txBody>
          <a:bodyPr wrap="square" lIns="0" tIns="0" rIns="0" bIns="0">
            <a:spAutoFit/>
          </a:bodyPr>
          <a:lstStyle/>
          <a:p>
            <a:pPr>
              <a:spcAft>
                <a:spcPts val="400"/>
              </a:spcAft>
              <a:defRPr sz="1000" b="0">
                <a:solidFill>
                  <a:srgbClr val="617579"/>
                </a:solidFill>
                <a:latin typeface="Aptos"/>
              </a:defRPr>
            </a:pPr>
            <a:r>
              <a:t>FinBridge AI</a:t>
            </a:r>
          </a:p>
        </p:txBody>
      </p:sp>
      <p:sp>
        <p:nvSpPr>
          <p:cNvPr id="5" name="TextBox 4"/>
          <p:cNvSpPr txBox="1"/>
          <p:nvPr/>
        </p:nvSpPr>
        <p:spPr>
          <a:xfrm>
            <a:off x="10991088" y="6391656"/>
            <a:ext cx="594360" cy="274320"/>
          </a:xfrm>
          <a:prstGeom prst="rect">
            <a:avLst/>
          </a:prstGeom>
          <a:noFill/>
        </p:spPr>
        <p:txBody>
          <a:bodyPr wrap="square" lIns="0" tIns="0" rIns="0" bIns="0">
            <a:spAutoFit/>
          </a:bodyPr>
          <a:lstStyle/>
          <a:p>
            <a:pPr algn="r">
              <a:spcAft>
                <a:spcPts val="400"/>
              </a:spcAft>
              <a:defRPr sz="1200" b="1">
                <a:solidFill>
                  <a:srgbClr val="008D78"/>
                </a:solidFill>
                <a:latin typeface="Aptos"/>
              </a:defRPr>
            </a:pPr>
            <a:r>
              <a:t>07</a:t>
            </a:r>
          </a:p>
        </p:txBody>
      </p:sp>
      <p:pic>
        <p:nvPicPr>
          <p:cNvPr id="6" name="reveal_02" descr="07-parent.gif"/>
          <p:cNvPicPr>
            <a:picLocks noChangeAspect="1"/>
          </p:cNvPicPr>
          <p:nvPr/>
        </p:nvPicPr>
        <p:blipFill>
          <a:blip r:embed="rId3"/>
          <a:stretch>
            <a:fillRect/>
          </a:stretch>
        </p:blipFill>
        <p:spPr>
          <a:xfrm>
            <a:off x="594360" y="1865376"/>
            <a:ext cx="3858768" cy="2894076"/>
          </a:xfrm>
          <a:prstGeom prst="rect">
            <a:avLst/>
          </a:prstGeom>
        </p:spPr>
      </p:pic>
      <p:sp>
        <p:nvSpPr>
          <p:cNvPr id="7" name="reveal_03"/>
          <p:cNvSpPr txBox="1"/>
          <p:nvPr/>
        </p:nvSpPr>
        <p:spPr>
          <a:xfrm>
            <a:off x="658368" y="5001768"/>
            <a:ext cx="3794760" cy="502920"/>
          </a:xfrm>
          <a:prstGeom prst="rect">
            <a:avLst/>
          </a:prstGeom>
          <a:noFill/>
        </p:spPr>
        <p:txBody>
          <a:bodyPr wrap="square" lIns="0" tIns="0" rIns="0" bIns="0">
            <a:spAutoFit/>
          </a:bodyPr>
          <a:lstStyle/>
          <a:p>
            <a:pPr>
              <a:spcAft>
                <a:spcPts val="400"/>
              </a:spcAft>
              <a:defRPr sz="2400" b="1">
                <a:solidFill>
                  <a:srgbClr val="102F36"/>
                </a:solidFill>
                <a:latin typeface="Aptos"/>
              </a:defRPr>
            </a:pPr>
            <a:r>
              <a:t>Support with guardrails.</a:t>
            </a:r>
          </a:p>
        </p:txBody>
      </p:sp>
      <p:sp>
        <p:nvSpPr>
          <p:cNvPr id="8" name="TextBox 7"/>
          <p:cNvSpPr txBox="1"/>
          <p:nvPr/>
        </p:nvSpPr>
        <p:spPr>
          <a:xfrm>
            <a:off x="676656" y="5660136"/>
            <a:ext cx="1371600" cy="228600"/>
          </a:xfrm>
          <a:prstGeom prst="rect">
            <a:avLst/>
          </a:prstGeom>
          <a:noFill/>
        </p:spPr>
        <p:txBody>
          <a:bodyPr wrap="square" lIns="0" tIns="0" rIns="0" bIns="0">
            <a:spAutoFit/>
          </a:bodyPr>
          <a:lstStyle/>
          <a:p>
            <a:pPr>
              <a:spcAft>
                <a:spcPts val="400"/>
              </a:spcAft>
              <a:defRPr sz="1100" b="0">
                <a:solidFill>
                  <a:srgbClr val="617579"/>
                </a:solidFill>
                <a:latin typeface="Aptos"/>
              </a:defRPr>
            </a:pPr>
            <a:r>
              <a:t>Platform ceiling</a:t>
            </a:r>
          </a:p>
        </p:txBody>
      </p:sp>
      <p:sp>
        <p:nvSpPr>
          <p:cNvPr id="9" name="TextBox 8"/>
          <p:cNvSpPr txBox="1"/>
          <p:nvPr/>
        </p:nvSpPr>
        <p:spPr>
          <a:xfrm>
            <a:off x="2276856" y="5660136"/>
            <a:ext cx="1371600" cy="228600"/>
          </a:xfrm>
          <a:prstGeom prst="rect">
            <a:avLst/>
          </a:prstGeom>
          <a:noFill/>
        </p:spPr>
        <p:txBody>
          <a:bodyPr wrap="square" lIns="0" tIns="0" rIns="0" bIns="0">
            <a:spAutoFit/>
          </a:bodyPr>
          <a:lstStyle/>
          <a:p>
            <a:pPr>
              <a:spcAft>
                <a:spcPts val="400"/>
              </a:spcAft>
              <a:defRPr sz="1100" b="0">
                <a:solidFill>
                  <a:srgbClr val="617579"/>
                </a:solidFill>
                <a:latin typeface="Aptos"/>
              </a:defRPr>
            </a:pPr>
            <a:r>
              <a:t>Parent limit</a:t>
            </a:r>
          </a:p>
        </p:txBody>
      </p:sp>
      <p:sp>
        <p:nvSpPr>
          <p:cNvPr id="10" name="Rectangle 9"/>
          <p:cNvSpPr/>
          <p:nvPr/>
        </p:nvSpPr>
        <p:spPr>
          <a:xfrm>
            <a:off x="676656" y="6025896"/>
            <a:ext cx="1362456" cy="91440"/>
          </a:xfrm>
          <a:prstGeom prst="rect">
            <a:avLst/>
          </a:prstGeom>
          <a:solidFill>
            <a:srgbClr val="749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2276856" y="6025896"/>
            <a:ext cx="896112" cy="91440"/>
          </a:xfrm>
          <a:prstGeom prst="rect">
            <a:avLst/>
          </a:prstGeom>
          <a:solidFill>
            <a:srgbClr val="008D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reveal_03" descr="icon-family.png"/>
          <p:cNvPicPr>
            <a:picLocks noChangeAspect="1"/>
          </p:cNvPicPr>
          <p:nvPr/>
        </p:nvPicPr>
        <p:blipFill>
          <a:blip r:embed="rId4"/>
          <a:stretch>
            <a:fillRect/>
          </a:stretch>
        </p:blipFill>
        <p:spPr>
          <a:xfrm>
            <a:off x="4892040" y="1938528"/>
            <a:ext cx="320040" cy="320040"/>
          </a:xfrm>
          <a:prstGeom prst="rect">
            <a:avLst/>
          </a:prstGeom>
        </p:spPr>
      </p:pic>
      <p:sp>
        <p:nvSpPr>
          <p:cNvPr id="13" name="reveal_03"/>
          <p:cNvSpPr txBox="1"/>
          <p:nvPr/>
        </p:nvSpPr>
        <p:spPr>
          <a:xfrm>
            <a:off x="5330952" y="1947672"/>
            <a:ext cx="2779776" cy="320040"/>
          </a:xfrm>
          <a:prstGeom prst="rect">
            <a:avLst/>
          </a:prstGeom>
          <a:noFill/>
        </p:spPr>
        <p:txBody>
          <a:bodyPr wrap="square" lIns="0" tIns="0" rIns="0" bIns="0">
            <a:spAutoFit/>
          </a:bodyPr>
          <a:lstStyle/>
          <a:p>
            <a:pPr>
              <a:spcAft>
                <a:spcPts val="400"/>
              </a:spcAft>
              <a:defRPr sz="1600" b="1">
                <a:solidFill>
                  <a:srgbClr val="102F36"/>
                </a:solidFill>
                <a:latin typeface="Aptos"/>
              </a:defRPr>
            </a:pPr>
            <a:r>
              <a:t>Family circle</a:t>
            </a:r>
          </a:p>
        </p:txBody>
      </p:sp>
      <p:sp>
        <p:nvSpPr>
          <p:cNvPr id="14" name="reveal_03"/>
          <p:cNvSpPr txBox="1"/>
          <p:nvPr/>
        </p:nvSpPr>
        <p:spPr>
          <a:xfrm>
            <a:off x="5330952" y="2386584"/>
            <a:ext cx="2779776" cy="914400"/>
          </a:xfrm>
          <a:prstGeom prst="rect">
            <a:avLst/>
          </a:prstGeom>
          <a:noFill/>
        </p:spPr>
        <p:txBody>
          <a:bodyPr wrap="square" lIns="0" tIns="0" rIns="0" bIns="0">
            <a:spAutoFit/>
          </a:bodyPr>
          <a:lstStyle/>
          <a:p>
            <a:pPr>
              <a:spcAft>
                <a:spcPts val="400"/>
              </a:spcAft>
              <a:defRPr sz="1250" b="0">
                <a:solidFill>
                  <a:srgbClr val="617579"/>
                </a:solidFill>
                <a:latin typeface="Aptos"/>
              </a:defRPr>
            </a:pPr>
            <a:r>
              <a:t>Invite/link students; manage or revoke relationships; review linked-student finances.</a:t>
            </a:r>
          </a:p>
        </p:txBody>
      </p:sp>
      <p:pic>
        <p:nvPicPr>
          <p:cNvPr id="15" name="reveal_04" descr="icon-globe.png"/>
          <p:cNvPicPr>
            <a:picLocks noChangeAspect="1"/>
          </p:cNvPicPr>
          <p:nvPr/>
        </p:nvPicPr>
        <p:blipFill>
          <a:blip r:embed="rId5"/>
          <a:stretch>
            <a:fillRect/>
          </a:stretch>
        </p:blipFill>
        <p:spPr>
          <a:xfrm>
            <a:off x="8293608" y="1938528"/>
            <a:ext cx="320040" cy="320040"/>
          </a:xfrm>
          <a:prstGeom prst="rect">
            <a:avLst/>
          </a:prstGeom>
        </p:spPr>
      </p:pic>
      <p:sp>
        <p:nvSpPr>
          <p:cNvPr id="16" name="reveal_04"/>
          <p:cNvSpPr txBox="1"/>
          <p:nvPr/>
        </p:nvSpPr>
        <p:spPr>
          <a:xfrm>
            <a:off x="8732520" y="1947672"/>
            <a:ext cx="2779776" cy="320040"/>
          </a:xfrm>
          <a:prstGeom prst="rect">
            <a:avLst/>
          </a:prstGeom>
          <a:noFill/>
        </p:spPr>
        <p:txBody>
          <a:bodyPr wrap="square" lIns="0" tIns="0" rIns="0" bIns="0">
            <a:spAutoFit/>
          </a:bodyPr>
          <a:lstStyle/>
          <a:p>
            <a:pPr>
              <a:spcAft>
                <a:spcPts val="400"/>
              </a:spcAft>
              <a:defRPr sz="1600" b="1">
                <a:solidFill>
                  <a:srgbClr val="102F36"/>
                </a:solidFill>
                <a:latin typeface="Aptos"/>
              </a:defRPr>
            </a:pPr>
            <a:r>
              <a:t>Visibility controls</a:t>
            </a:r>
          </a:p>
        </p:txBody>
      </p:sp>
      <p:sp>
        <p:nvSpPr>
          <p:cNvPr id="17" name="reveal_04"/>
          <p:cNvSpPr txBox="1"/>
          <p:nvPr/>
        </p:nvSpPr>
        <p:spPr>
          <a:xfrm>
            <a:off x="8732520" y="2386584"/>
            <a:ext cx="2779776" cy="914400"/>
          </a:xfrm>
          <a:prstGeom prst="rect">
            <a:avLst/>
          </a:prstGeom>
          <a:noFill/>
        </p:spPr>
        <p:txBody>
          <a:bodyPr wrap="square" lIns="0" tIns="0" rIns="0" bIns="0">
            <a:spAutoFit/>
          </a:bodyPr>
          <a:lstStyle/>
          <a:p>
            <a:pPr>
              <a:spcAft>
                <a:spcPts val="400"/>
              </a:spcAft>
              <a:defRPr sz="1250" b="0">
                <a:solidFill>
                  <a:srgbClr val="617579"/>
                </a:solidFill>
                <a:latin typeface="Aptos"/>
              </a:defRPr>
            </a:pPr>
            <a:r>
              <a:t>Balances; categories; descriptions; tuition; budgets; permission-aware alerts.</a:t>
            </a:r>
          </a:p>
        </p:txBody>
      </p:sp>
      <p:pic>
        <p:nvPicPr>
          <p:cNvPr id="18" name="reveal_05" descr="icon-check.png"/>
          <p:cNvPicPr>
            <a:picLocks noChangeAspect="1"/>
          </p:cNvPicPr>
          <p:nvPr/>
        </p:nvPicPr>
        <p:blipFill>
          <a:blip r:embed="rId6"/>
          <a:stretch>
            <a:fillRect/>
          </a:stretch>
        </p:blipFill>
        <p:spPr>
          <a:xfrm>
            <a:off x="4892040" y="3328416"/>
            <a:ext cx="320040" cy="320040"/>
          </a:xfrm>
          <a:prstGeom prst="rect">
            <a:avLst/>
          </a:prstGeom>
        </p:spPr>
      </p:pic>
      <p:sp>
        <p:nvSpPr>
          <p:cNvPr id="19" name="reveal_05"/>
          <p:cNvSpPr txBox="1"/>
          <p:nvPr/>
        </p:nvSpPr>
        <p:spPr>
          <a:xfrm>
            <a:off x="5330952" y="3337560"/>
            <a:ext cx="2779776" cy="320040"/>
          </a:xfrm>
          <a:prstGeom prst="rect">
            <a:avLst/>
          </a:prstGeom>
          <a:noFill/>
        </p:spPr>
        <p:txBody>
          <a:bodyPr wrap="square" lIns="0" tIns="0" rIns="0" bIns="0">
            <a:spAutoFit/>
          </a:bodyPr>
          <a:lstStyle/>
          <a:p>
            <a:pPr>
              <a:spcAft>
                <a:spcPts val="400"/>
              </a:spcAft>
              <a:defRPr sz="1600" b="1">
                <a:solidFill>
                  <a:srgbClr val="102F36"/>
                </a:solidFill>
                <a:latin typeface="Aptos"/>
              </a:defRPr>
            </a:pPr>
            <a:r>
              <a:t>Approval center</a:t>
            </a:r>
          </a:p>
        </p:txBody>
      </p:sp>
      <p:sp>
        <p:nvSpPr>
          <p:cNvPr id="20" name="reveal_05"/>
          <p:cNvSpPr txBox="1"/>
          <p:nvPr/>
        </p:nvSpPr>
        <p:spPr>
          <a:xfrm>
            <a:off x="5330952" y="3776472"/>
            <a:ext cx="2779776" cy="914400"/>
          </a:xfrm>
          <a:prstGeom prst="rect">
            <a:avLst/>
          </a:prstGeom>
          <a:noFill/>
        </p:spPr>
        <p:txBody>
          <a:bodyPr wrap="square" lIns="0" tIns="0" rIns="0" bIns="0">
            <a:spAutoFit/>
          </a:bodyPr>
          <a:lstStyle/>
          <a:p>
            <a:pPr>
              <a:spcAft>
                <a:spcPts val="400"/>
              </a:spcAft>
              <a:defRPr sz="1250" b="0">
                <a:solidFill>
                  <a:srgbClr val="617579"/>
                </a:solidFill>
                <a:latin typeface="Aptos"/>
              </a:defRPr>
            </a:pPr>
            <a:r>
              <a:t>Approve/reject requests and beneficiaries; reasons/history; tuition and conversion sign-off.</a:t>
            </a:r>
          </a:p>
        </p:txBody>
      </p:sp>
      <p:pic>
        <p:nvPicPr>
          <p:cNvPr id="21" name="reveal_06" descr="icon-shield.png"/>
          <p:cNvPicPr>
            <a:picLocks noChangeAspect="1"/>
          </p:cNvPicPr>
          <p:nvPr/>
        </p:nvPicPr>
        <p:blipFill>
          <a:blip r:embed="rId7"/>
          <a:stretch>
            <a:fillRect/>
          </a:stretch>
        </p:blipFill>
        <p:spPr>
          <a:xfrm>
            <a:off x="8293608" y="3328416"/>
            <a:ext cx="320040" cy="320040"/>
          </a:xfrm>
          <a:prstGeom prst="rect">
            <a:avLst/>
          </a:prstGeom>
        </p:spPr>
      </p:pic>
      <p:sp>
        <p:nvSpPr>
          <p:cNvPr id="22" name="reveal_06"/>
          <p:cNvSpPr txBox="1"/>
          <p:nvPr/>
        </p:nvSpPr>
        <p:spPr>
          <a:xfrm>
            <a:off x="8732520" y="3337560"/>
            <a:ext cx="2779776" cy="320040"/>
          </a:xfrm>
          <a:prstGeom prst="rect">
            <a:avLst/>
          </a:prstGeom>
          <a:noFill/>
        </p:spPr>
        <p:txBody>
          <a:bodyPr wrap="square" lIns="0" tIns="0" rIns="0" bIns="0">
            <a:spAutoFit/>
          </a:bodyPr>
          <a:lstStyle/>
          <a:p>
            <a:pPr>
              <a:spcAft>
                <a:spcPts val="400"/>
              </a:spcAft>
              <a:defRPr sz="1600" b="1">
                <a:solidFill>
                  <a:srgbClr val="102F36"/>
                </a:solidFill>
                <a:latin typeface="Aptos"/>
              </a:defRPr>
            </a:pPr>
            <a:r>
              <a:t>Spending limits</a:t>
            </a:r>
          </a:p>
        </p:txBody>
      </p:sp>
      <p:sp>
        <p:nvSpPr>
          <p:cNvPr id="23" name="reveal_06"/>
          <p:cNvSpPr txBox="1"/>
          <p:nvPr/>
        </p:nvSpPr>
        <p:spPr>
          <a:xfrm>
            <a:off x="8732520" y="3776472"/>
            <a:ext cx="2779776" cy="914400"/>
          </a:xfrm>
          <a:prstGeom prst="rect">
            <a:avLst/>
          </a:prstGeom>
          <a:noFill/>
        </p:spPr>
        <p:txBody>
          <a:bodyPr wrap="square" lIns="0" tIns="0" rIns="0" bIns="0">
            <a:spAutoFit/>
          </a:bodyPr>
          <a:lstStyle/>
          <a:p>
            <a:pPr>
              <a:spcAft>
                <a:spcPts val="400"/>
              </a:spcAft>
              <a:defRPr sz="1250" b="0">
                <a:solidFill>
                  <a:srgbClr val="617579"/>
                </a:solidFill>
                <a:latin typeface="Aptos"/>
              </a:defRPr>
            </a:pPr>
            <a:r>
              <a:t>Thresholds; per-transfer/daily/monthly caps; categories; auto-approval; one-time recipients.</a:t>
            </a:r>
          </a:p>
        </p:txBody>
      </p:sp>
      <p:pic>
        <p:nvPicPr>
          <p:cNvPr id="24" name="reveal_07" descr="icon-wallet.png"/>
          <p:cNvPicPr>
            <a:picLocks noChangeAspect="1"/>
          </p:cNvPicPr>
          <p:nvPr/>
        </p:nvPicPr>
        <p:blipFill>
          <a:blip r:embed="rId8"/>
          <a:stretch>
            <a:fillRect/>
          </a:stretch>
        </p:blipFill>
        <p:spPr>
          <a:xfrm>
            <a:off x="4892040" y="4718304"/>
            <a:ext cx="320040" cy="320040"/>
          </a:xfrm>
          <a:prstGeom prst="rect">
            <a:avLst/>
          </a:prstGeom>
        </p:spPr>
      </p:pic>
      <p:sp>
        <p:nvSpPr>
          <p:cNvPr id="25" name="reveal_07"/>
          <p:cNvSpPr txBox="1"/>
          <p:nvPr/>
        </p:nvSpPr>
        <p:spPr>
          <a:xfrm>
            <a:off x="5330952" y="4727448"/>
            <a:ext cx="2779776" cy="320040"/>
          </a:xfrm>
          <a:prstGeom prst="rect">
            <a:avLst/>
          </a:prstGeom>
          <a:noFill/>
        </p:spPr>
        <p:txBody>
          <a:bodyPr wrap="square" lIns="0" tIns="0" rIns="0" bIns="0">
            <a:spAutoFit/>
          </a:bodyPr>
          <a:lstStyle/>
          <a:p>
            <a:pPr>
              <a:spcAft>
                <a:spcPts val="400"/>
              </a:spcAft>
              <a:defRPr sz="1600" b="1">
                <a:solidFill>
                  <a:srgbClr val="102F36"/>
                </a:solidFill>
                <a:latin typeface="Aptos"/>
              </a:defRPr>
            </a:pPr>
            <a:r>
              <a:t>Parent money &amp; AI</a:t>
            </a:r>
          </a:p>
        </p:txBody>
      </p:sp>
      <p:sp>
        <p:nvSpPr>
          <p:cNvPr id="26" name="reveal_07"/>
          <p:cNvSpPr txBox="1"/>
          <p:nvPr/>
        </p:nvSpPr>
        <p:spPr>
          <a:xfrm>
            <a:off x="5330952" y="5166360"/>
            <a:ext cx="2779776" cy="914400"/>
          </a:xfrm>
          <a:prstGeom prst="rect">
            <a:avLst/>
          </a:prstGeom>
          <a:noFill/>
        </p:spPr>
        <p:txBody>
          <a:bodyPr wrap="square" lIns="0" tIns="0" rIns="0" bIns="0">
            <a:spAutoFit/>
          </a:bodyPr>
          <a:lstStyle/>
          <a:p>
            <a:pPr>
              <a:spcAft>
                <a:spcPts val="400"/>
              </a:spcAft>
              <a:defRPr sz="1250" b="0">
                <a:solidFill>
                  <a:srgbClr val="617579"/>
                </a:solidFill>
                <a:latin typeface="Aptos"/>
              </a:defRPr>
            </a:pPr>
            <a:r>
              <a:t>Own wallets; fund students; deposits/payments; transactions/CSV; beneficiaries; reviewed AI actions.</a:t>
            </a:r>
          </a:p>
        </p:txBody>
      </p:sp>
      <p:pic>
        <p:nvPicPr>
          <p:cNvPr id="27" name="reveal_08" descr="icon-document.png"/>
          <p:cNvPicPr>
            <a:picLocks noChangeAspect="1"/>
          </p:cNvPicPr>
          <p:nvPr/>
        </p:nvPicPr>
        <p:blipFill>
          <a:blip r:embed="rId9"/>
          <a:stretch>
            <a:fillRect/>
          </a:stretch>
        </p:blipFill>
        <p:spPr>
          <a:xfrm>
            <a:off x="8293608" y="4718304"/>
            <a:ext cx="320040" cy="320040"/>
          </a:xfrm>
          <a:prstGeom prst="rect">
            <a:avLst/>
          </a:prstGeom>
        </p:spPr>
      </p:pic>
      <p:sp>
        <p:nvSpPr>
          <p:cNvPr id="28" name="reveal_08"/>
          <p:cNvSpPr txBox="1"/>
          <p:nvPr/>
        </p:nvSpPr>
        <p:spPr>
          <a:xfrm>
            <a:off x="8732520" y="4727448"/>
            <a:ext cx="2779776" cy="320040"/>
          </a:xfrm>
          <a:prstGeom prst="rect">
            <a:avLst/>
          </a:prstGeom>
          <a:noFill/>
        </p:spPr>
        <p:txBody>
          <a:bodyPr wrap="square" lIns="0" tIns="0" rIns="0" bIns="0">
            <a:spAutoFit/>
          </a:bodyPr>
          <a:lstStyle/>
          <a:p>
            <a:pPr>
              <a:spcAft>
                <a:spcPts val="400"/>
              </a:spcAft>
              <a:defRPr sz="1600" b="1">
                <a:solidFill>
                  <a:srgbClr val="102F36"/>
                </a:solidFill>
                <a:latin typeface="Aptos"/>
              </a:defRPr>
            </a:pPr>
            <a:r>
              <a:t>Shared account tools</a:t>
            </a:r>
          </a:p>
        </p:txBody>
      </p:sp>
      <p:sp>
        <p:nvSpPr>
          <p:cNvPr id="29" name="reveal_08"/>
          <p:cNvSpPr txBox="1"/>
          <p:nvPr/>
        </p:nvSpPr>
        <p:spPr>
          <a:xfrm>
            <a:off x="8732520" y="5166360"/>
            <a:ext cx="2779776" cy="914400"/>
          </a:xfrm>
          <a:prstGeom prst="rect">
            <a:avLst/>
          </a:prstGeom>
          <a:noFill/>
        </p:spPr>
        <p:txBody>
          <a:bodyPr wrap="square" lIns="0" tIns="0" rIns="0" bIns="0">
            <a:spAutoFit/>
          </a:bodyPr>
          <a:lstStyle/>
          <a:p>
            <a:pPr>
              <a:spcAft>
                <a:spcPts val="400"/>
              </a:spcAft>
              <a:defRPr sz="1250" b="0">
                <a:solidFill>
                  <a:srgbClr val="617579"/>
                </a:solidFill>
                <a:latin typeface="Aptos"/>
              </a:defRPr>
            </a:pPr>
            <a:r>
              <a:t>Plans; saved cards/models; reports; alerts; profile/security; preferences; export and closure.</a:t>
            </a:r>
          </a:p>
        </p:txBody>
      </p:sp>
      <p:sp>
        <p:nvSpPr>
          <p:cNvPr id="30" name="TextBox 29"/>
          <p:cNvSpPr txBox="1"/>
          <p:nvPr/>
        </p:nvSpPr>
        <p:spPr>
          <a:xfrm>
            <a:off x="5330952" y="6181344"/>
            <a:ext cx="6217920" cy="210312"/>
          </a:xfrm>
          <a:prstGeom prst="rect">
            <a:avLst/>
          </a:prstGeom>
          <a:noFill/>
        </p:spPr>
        <p:txBody>
          <a:bodyPr wrap="square" lIns="0" tIns="0" rIns="0" bIns="0">
            <a:spAutoFit/>
          </a:bodyPr>
          <a:lstStyle/>
          <a:p>
            <a:pPr>
              <a:spcAft>
                <a:spcPts val="400"/>
              </a:spcAft>
              <a:defRPr sz="1000" b="0">
                <a:solidFill>
                  <a:srgbClr val="008D78"/>
                </a:solidFill>
                <a:latin typeface="Aptos"/>
              </a:defRPr>
            </a:pPr>
            <a:r>
              <a:t>The strictest applicable limit wins.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380"/>
                                        <p:tgtEl>
                                          <p:spTgt spid="3"/>
                                        </p:tgtEl>
                                      </p:cBhvr>
                                    </p:animEffect>
                                  </p:childTnLst>
                                </p:cTn>
                              </p:par>
                            </p:childTnLst>
                          </p:cTn>
                        </p:par>
                        <p:par>
                          <p:cTn id="8" fill="hold">
                            <p:stCondLst>
                              <p:cond delay="380"/>
                            </p:stCondLst>
                            <p:childTnLst>
                              <p:par>
                                <p:cTn id="9" presetID="10" presetClass="entr" presetSubtype="0"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380"/>
                                        <p:tgtEl>
                                          <p:spTgt spid="6"/>
                                        </p:tgtEl>
                                      </p:cBhvr>
                                    </p:animEffect>
                                  </p:childTnLst>
                                </p:cTn>
                              </p:par>
                            </p:childTnLst>
                          </p:cTn>
                        </p:par>
                        <p:par>
                          <p:cTn id="12" fill="hold">
                            <p:stCondLst>
                              <p:cond delay="760"/>
                            </p:stCondLst>
                            <p:childTnLst>
                              <p:par>
                                <p:cTn id="13" presetID="10" presetClass="entr" presetSubtype="0" fill="hold" grpId="0" nodeType="after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380"/>
                                        <p:tgtEl>
                                          <p:spTgt spid="13"/>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380"/>
                                        <p:tgtEl>
                                          <p:spTgt spid="14"/>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380"/>
                                        <p:tgtEl>
                                          <p:spTgt spid="7"/>
                                        </p:tgtEl>
                                      </p:cBhvr>
                                    </p:animEffect>
                                  </p:childTnLst>
                                </p:cTn>
                              </p:par>
                              <p:par>
                                <p:cTn id="22" presetID="10" presetClass="entr" presetSubtype="0" fill="hold" nodeType="with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380"/>
                                        <p:tgtEl>
                                          <p:spTgt spid="12"/>
                                        </p:tgtEl>
                                      </p:cBhvr>
                                    </p:animEffect>
                                  </p:childTnLst>
                                </p:cTn>
                              </p:par>
                            </p:childTnLst>
                          </p:cTn>
                        </p:par>
                        <p:par>
                          <p:cTn id="25" fill="hold">
                            <p:stCondLst>
                              <p:cond delay="1140"/>
                            </p:stCondLst>
                            <p:childTnLst>
                              <p:par>
                                <p:cTn id="26" presetID="10" presetClass="entr" presetSubtype="0" fill="hold" grpId="0" nodeType="after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380"/>
                                        <p:tgtEl>
                                          <p:spTgt spid="17"/>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fade">
                                      <p:cBhvr>
                                        <p:cTn id="31" dur="380"/>
                                        <p:tgtEl>
                                          <p:spTgt spid="16"/>
                                        </p:tgtEl>
                                      </p:cBhvr>
                                    </p:animEffect>
                                  </p:childTnLst>
                                </p:cTn>
                              </p:par>
                              <p:par>
                                <p:cTn id="32" presetID="10" presetClass="entr" presetSubtype="0" fill="hold"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380"/>
                                        <p:tgtEl>
                                          <p:spTgt spid="15"/>
                                        </p:tgtEl>
                                      </p:cBhvr>
                                    </p:animEffect>
                                  </p:childTnLst>
                                </p:cTn>
                              </p:par>
                            </p:childTnLst>
                          </p:cTn>
                        </p:par>
                        <p:par>
                          <p:cTn id="35" fill="hold">
                            <p:stCondLst>
                              <p:cond delay="1520"/>
                            </p:stCondLst>
                            <p:childTnLst>
                              <p:par>
                                <p:cTn id="36" presetID="10" presetClass="entr" presetSubtype="0" fill="hold" grpId="0" nodeType="afterEffect">
                                  <p:stCondLst>
                                    <p:cond delay="0"/>
                                  </p:stCondLst>
                                  <p:childTnLst>
                                    <p:set>
                                      <p:cBhvr>
                                        <p:cTn id="37" dur="1" fill="hold">
                                          <p:stCondLst>
                                            <p:cond delay="0"/>
                                          </p:stCondLst>
                                        </p:cTn>
                                        <p:tgtEl>
                                          <p:spTgt spid="20"/>
                                        </p:tgtEl>
                                        <p:attrNameLst>
                                          <p:attrName>style.visibility</p:attrName>
                                        </p:attrNameLst>
                                      </p:cBhvr>
                                      <p:to>
                                        <p:strVal val="visible"/>
                                      </p:to>
                                    </p:set>
                                    <p:animEffect transition="in" filter="fade">
                                      <p:cBhvr>
                                        <p:cTn id="38" dur="380"/>
                                        <p:tgtEl>
                                          <p:spTgt spid="20"/>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9"/>
                                        </p:tgtEl>
                                        <p:attrNameLst>
                                          <p:attrName>style.visibility</p:attrName>
                                        </p:attrNameLst>
                                      </p:cBhvr>
                                      <p:to>
                                        <p:strVal val="visible"/>
                                      </p:to>
                                    </p:set>
                                    <p:animEffect transition="in" filter="fade">
                                      <p:cBhvr>
                                        <p:cTn id="41" dur="380"/>
                                        <p:tgtEl>
                                          <p:spTgt spid="19"/>
                                        </p:tgtEl>
                                      </p:cBhvr>
                                    </p:animEffect>
                                  </p:childTnLst>
                                </p:cTn>
                              </p:par>
                              <p:par>
                                <p:cTn id="42" presetID="10" presetClass="entr" presetSubtype="0" fill="hold"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380"/>
                                        <p:tgtEl>
                                          <p:spTgt spid="18"/>
                                        </p:tgtEl>
                                      </p:cBhvr>
                                    </p:animEffect>
                                  </p:childTnLst>
                                </p:cTn>
                              </p:par>
                            </p:childTnLst>
                          </p:cTn>
                        </p:par>
                        <p:par>
                          <p:cTn id="45" fill="hold">
                            <p:stCondLst>
                              <p:cond delay="1900"/>
                            </p:stCondLst>
                            <p:childTnLst>
                              <p:par>
                                <p:cTn id="46" presetID="10" presetClass="entr" presetSubtype="0" fill="hold" grpId="0" nodeType="afterEffect">
                                  <p:stCondLst>
                                    <p:cond delay="0"/>
                                  </p:stCondLst>
                                  <p:childTnLst>
                                    <p:set>
                                      <p:cBhvr>
                                        <p:cTn id="47" dur="1" fill="hold">
                                          <p:stCondLst>
                                            <p:cond delay="0"/>
                                          </p:stCondLst>
                                        </p:cTn>
                                        <p:tgtEl>
                                          <p:spTgt spid="23"/>
                                        </p:tgtEl>
                                        <p:attrNameLst>
                                          <p:attrName>style.visibility</p:attrName>
                                        </p:attrNameLst>
                                      </p:cBhvr>
                                      <p:to>
                                        <p:strVal val="visible"/>
                                      </p:to>
                                    </p:set>
                                    <p:animEffect transition="in" filter="fade">
                                      <p:cBhvr>
                                        <p:cTn id="48" dur="380"/>
                                        <p:tgtEl>
                                          <p:spTgt spid="23"/>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380"/>
                                        <p:tgtEl>
                                          <p:spTgt spid="22"/>
                                        </p:tgtEl>
                                      </p:cBhvr>
                                    </p:animEffect>
                                  </p:childTnLst>
                                </p:cTn>
                              </p:par>
                              <p:par>
                                <p:cTn id="52" presetID="10" presetClass="entr" presetSubtype="0" fill="hold" nodeType="with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380"/>
                                        <p:tgtEl>
                                          <p:spTgt spid="21"/>
                                        </p:tgtEl>
                                      </p:cBhvr>
                                    </p:animEffect>
                                  </p:childTnLst>
                                </p:cTn>
                              </p:par>
                            </p:childTnLst>
                          </p:cTn>
                        </p:par>
                        <p:par>
                          <p:cTn id="55" fill="hold">
                            <p:stCondLst>
                              <p:cond delay="2280"/>
                            </p:stCondLst>
                            <p:childTnLst>
                              <p:par>
                                <p:cTn id="56" presetID="10" presetClass="entr" presetSubtype="0" fill="hold" grpId="0" nodeType="afterEffect">
                                  <p:stCondLst>
                                    <p:cond delay="0"/>
                                  </p:stCondLst>
                                  <p:childTnLst>
                                    <p:set>
                                      <p:cBhvr>
                                        <p:cTn id="57" dur="1" fill="hold">
                                          <p:stCondLst>
                                            <p:cond delay="0"/>
                                          </p:stCondLst>
                                        </p:cTn>
                                        <p:tgtEl>
                                          <p:spTgt spid="26"/>
                                        </p:tgtEl>
                                        <p:attrNameLst>
                                          <p:attrName>style.visibility</p:attrName>
                                        </p:attrNameLst>
                                      </p:cBhvr>
                                      <p:to>
                                        <p:strVal val="visible"/>
                                      </p:to>
                                    </p:set>
                                    <p:animEffect transition="in" filter="fade">
                                      <p:cBhvr>
                                        <p:cTn id="58" dur="380"/>
                                        <p:tgtEl>
                                          <p:spTgt spid="26"/>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5"/>
                                        </p:tgtEl>
                                        <p:attrNameLst>
                                          <p:attrName>style.visibility</p:attrName>
                                        </p:attrNameLst>
                                      </p:cBhvr>
                                      <p:to>
                                        <p:strVal val="visible"/>
                                      </p:to>
                                    </p:set>
                                    <p:animEffect transition="in" filter="fade">
                                      <p:cBhvr>
                                        <p:cTn id="61" dur="380"/>
                                        <p:tgtEl>
                                          <p:spTgt spid="25"/>
                                        </p:tgtEl>
                                      </p:cBhvr>
                                    </p:animEffect>
                                  </p:childTnLst>
                                </p:cTn>
                              </p:par>
                              <p:par>
                                <p:cTn id="62" presetID="10" presetClass="entr" presetSubtype="0" fill="hold" nodeType="withEffect">
                                  <p:stCondLst>
                                    <p:cond delay="0"/>
                                  </p:stCondLst>
                                  <p:childTnLst>
                                    <p:set>
                                      <p:cBhvr>
                                        <p:cTn id="63" dur="1" fill="hold">
                                          <p:stCondLst>
                                            <p:cond delay="0"/>
                                          </p:stCondLst>
                                        </p:cTn>
                                        <p:tgtEl>
                                          <p:spTgt spid="24"/>
                                        </p:tgtEl>
                                        <p:attrNameLst>
                                          <p:attrName>style.visibility</p:attrName>
                                        </p:attrNameLst>
                                      </p:cBhvr>
                                      <p:to>
                                        <p:strVal val="visible"/>
                                      </p:to>
                                    </p:set>
                                    <p:animEffect transition="in" filter="fade">
                                      <p:cBhvr>
                                        <p:cTn id="64" dur="380"/>
                                        <p:tgtEl>
                                          <p:spTgt spid="24"/>
                                        </p:tgtEl>
                                      </p:cBhvr>
                                    </p:animEffect>
                                  </p:childTnLst>
                                </p:cTn>
                              </p:par>
                            </p:childTnLst>
                          </p:cTn>
                        </p:par>
                        <p:par>
                          <p:cTn id="65" fill="hold">
                            <p:stCondLst>
                              <p:cond delay="2660"/>
                            </p:stCondLst>
                            <p:childTnLst>
                              <p:par>
                                <p:cTn id="66" presetID="10" presetClass="entr" presetSubtype="0" fill="hold" grpId="0" nodeType="afterEffect">
                                  <p:stCondLst>
                                    <p:cond delay="0"/>
                                  </p:stCondLst>
                                  <p:childTnLst>
                                    <p:set>
                                      <p:cBhvr>
                                        <p:cTn id="67" dur="1" fill="hold">
                                          <p:stCondLst>
                                            <p:cond delay="0"/>
                                          </p:stCondLst>
                                        </p:cTn>
                                        <p:tgtEl>
                                          <p:spTgt spid="29"/>
                                        </p:tgtEl>
                                        <p:attrNameLst>
                                          <p:attrName>style.visibility</p:attrName>
                                        </p:attrNameLst>
                                      </p:cBhvr>
                                      <p:to>
                                        <p:strVal val="visible"/>
                                      </p:to>
                                    </p:set>
                                    <p:animEffect transition="in" filter="fade">
                                      <p:cBhvr>
                                        <p:cTn id="68" dur="380"/>
                                        <p:tgtEl>
                                          <p:spTgt spid="29"/>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28"/>
                                        </p:tgtEl>
                                        <p:attrNameLst>
                                          <p:attrName>style.visibility</p:attrName>
                                        </p:attrNameLst>
                                      </p:cBhvr>
                                      <p:to>
                                        <p:strVal val="visible"/>
                                      </p:to>
                                    </p:set>
                                    <p:animEffect transition="in" filter="fade">
                                      <p:cBhvr>
                                        <p:cTn id="71" dur="380"/>
                                        <p:tgtEl>
                                          <p:spTgt spid="28"/>
                                        </p:tgtEl>
                                      </p:cBhvr>
                                    </p:animEffect>
                                  </p:childTnLst>
                                </p:cTn>
                              </p:par>
                              <p:par>
                                <p:cTn id="72" presetID="10" presetClass="entr" presetSubtype="0" fill="hold" nodeType="withEffect">
                                  <p:stCondLst>
                                    <p:cond delay="0"/>
                                  </p:stCondLst>
                                  <p:childTnLst>
                                    <p:set>
                                      <p:cBhvr>
                                        <p:cTn id="73" dur="1" fill="hold">
                                          <p:stCondLst>
                                            <p:cond delay="0"/>
                                          </p:stCondLst>
                                        </p:cTn>
                                        <p:tgtEl>
                                          <p:spTgt spid="27"/>
                                        </p:tgtEl>
                                        <p:attrNameLst>
                                          <p:attrName>style.visibility</p:attrName>
                                        </p:attrNameLst>
                                      </p:cBhvr>
                                      <p:to>
                                        <p:strVal val="visible"/>
                                      </p:to>
                                    </p:set>
                                    <p:animEffect transition="in" filter="fade">
                                      <p:cBhvr>
                                        <p:cTn id="74" dur="38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p:bldP spid="13" grpId="0"/>
      <p:bldP spid="14" grpId="0"/>
      <p:bldP spid="16" grpId="0"/>
      <p:bldP spid="17" grpId="0"/>
      <p:bldP spid="19" grpId="0"/>
      <p:bldP spid="20" grpId="0"/>
      <p:bldP spid="22" grpId="0"/>
      <p:bldP spid="23" grpId="0"/>
      <p:bldP spid="25" grpId="0"/>
      <p:bldP spid="26" grpId="0"/>
      <p:bldP spid="28" grpId="0"/>
      <p:bldP spid="29"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6F1"/>
        </a:solidFill>
        <a:effectLst/>
      </p:bgPr>
    </p:bg>
    <p:spTree>
      <p:nvGrpSpPr>
        <p:cNvPr id="1" name=""/>
        <p:cNvGrpSpPr/>
        <p:nvPr/>
      </p:nvGrpSpPr>
      <p:grpSpPr>
        <a:xfrm>
          <a:off x="0" y="0"/>
          <a:ext cx="0" cy="0"/>
          <a:chOff x="0" y="0"/>
          <a:chExt cx="0" cy="0"/>
        </a:xfrm>
      </p:grpSpPr>
      <p:sp>
        <p:nvSpPr>
          <p:cNvPr id="2" name="TextBox 1"/>
          <p:cNvSpPr txBox="1"/>
          <p:nvPr/>
        </p:nvSpPr>
        <p:spPr>
          <a:xfrm>
            <a:off x="594360" y="384048"/>
            <a:ext cx="10058400" cy="228600"/>
          </a:xfrm>
          <a:prstGeom prst="rect">
            <a:avLst/>
          </a:prstGeom>
          <a:noFill/>
        </p:spPr>
        <p:txBody>
          <a:bodyPr wrap="square" lIns="0" tIns="0" rIns="0" bIns="0">
            <a:spAutoFit/>
          </a:bodyPr>
          <a:lstStyle/>
          <a:p>
            <a:pPr>
              <a:spcAft>
                <a:spcPts val="400"/>
              </a:spcAft>
              <a:defRPr sz="1000" b="1">
                <a:solidFill>
                  <a:srgbClr val="008D78"/>
                </a:solidFill>
                <a:latin typeface="Aptos"/>
              </a:defRPr>
            </a:pPr>
            <a:r>
              <a:t>FEATURES / ADMIN &amp; MODERATOR</a:t>
            </a:r>
          </a:p>
        </p:txBody>
      </p:sp>
      <p:sp>
        <p:nvSpPr>
          <p:cNvPr id="3" name="reveal_01"/>
          <p:cNvSpPr txBox="1"/>
          <p:nvPr/>
        </p:nvSpPr>
        <p:spPr>
          <a:xfrm>
            <a:off x="594360" y="859536"/>
            <a:ext cx="10972800" cy="914400"/>
          </a:xfrm>
          <a:prstGeom prst="rect">
            <a:avLst/>
          </a:prstGeom>
          <a:noFill/>
        </p:spPr>
        <p:txBody>
          <a:bodyPr wrap="square" lIns="0" tIns="0" rIns="0" bIns="0">
            <a:spAutoFit/>
          </a:bodyPr>
          <a:lstStyle/>
          <a:p>
            <a:pPr>
              <a:spcAft>
                <a:spcPts val="400"/>
              </a:spcAft>
              <a:defRPr sz="3400" b="1">
                <a:solidFill>
                  <a:srgbClr val="102F36"/>
                </a:solidFill>
                <a:latin typeface="Aptos"/>
              </a:defRPr>
            </a:pPr>
            <a:r>
              <a:t>Admin features</a:t>
            </a:r>
          </a:p>
        </p:txBody>
      </p:sp>
      <p:sp>
        <p:nvSpPr>
          <p:cNvPr id="4" name="TextBox 3"/>
          <p:cNvSpPr txBox="1"/>
          <p:nvPr/>
        </p:nvSpPr>
        <p:spPr>
          <a:xfrm>
            <a:off x="594360" y="6446520"/>
            <a:ext cx="2743200" cy="210312"/>
          </a:xfrm>
          <a:prstGeom prst="rect">
            <a:avLst/>
          </a:prstGeom>
          <a:noFill/>
        </p:spPr>
        <p:txBody>
          <a:bodyPr wrap="square" lIns="0" tIns="0" rIns="0" bIns="0">
            <a:spAutoFit/>
          </a:bodyPr>
          <a:lstStyle/>
          <a:p>
            <a:pPr>
              <a:spcAft>
                <a:spcPts val="400"/>
              </a:spcAft>
              <a:defRPr sz="1000" b="0">
                <a:solidFill>
                  <a:srgbClr val="617579"/>
                </a:solidFill>
                <a:latin typeface="Aptos"/>
              </a:defRPr>
            </a:pPr>
            <a:r>
              <a:t>FinBridge AI</a:t>
            </a:r>
          </a:p>
        </p:txBody>
      </p:sp>
      <p:sp>
        <p:nvSpPr>
          <p:cNvPr id="5" name="TextBox 4"/>
          <p:cNvSpPr txBox="1"/>
          <p:nvPr/>
        </p:nvSpPr>
        <p:spPr>
          <a:xfrm>
            <a:off x="10991088" y="6391656"/>
            <a:ext cx="594360" cy="274320"/>
          </a:xfrm>
          <a:prstGeom prst="rect">
            <a:avLst/>
          </a:prstGeom>
          <a:noFill/>
        </p:spPr>
        <p:txBody>
          <a:bodyPr wrap="square" lIns="0" tIns="0" rIns="0" bIns="0">
            <a:spAutoFit/>
          </a:bodyPr>
          <a:lstStyle/>
          <a:p>
            <a:pPr algn="r">
              <a:spcAft>
                <a:spcPts val="400"/>
              </a:spcAft>
              <a:defRPr sz="1200" b="1">
                <a:solidFill>
                  <a:srgbClr val="008D78"/>
                </a:solidFill>
                <a:latin typeface="Aptos"/>
              </a:defRPr>
            </a:pPr>
            <a:r>
              <a:t>08</a:t>
            </a:r>
          </a:p>
        </p:txBody>
      </p:sp>
      <p:pic>
        <p:nvPicPr>
          <p:cNvPr id="6" name="reveal_02" descr="08-admin.gif"/>
          <p:cNvPicPr>
            <a:picLocks noChangeAspect="1"/>
          </p:cNvPicPr>
          <p:nvPr/>
        </p:nvPicPr>
        <p:blipFill>
          <a:blip r:embed="rId3"/>
          <a:stretch>
            <a:fillRect/>
          </a:stretch>
        </p:blipFill>
        <p:spPr>
          <a:xfrm>
            <a:off x="594360" y="1865376"/>
            <a:ext cx="3858768" cy="2894076"/>
          </a:xfrm>
          <a:prstGeom prst="rect">
            <a:avLst/>
          </a:prstGeom>
        </p:spPr>
      </p:pic>
      <p:sp>
        <p:nvSpPr>
          <p:cNvPr id="7" name="reveal_03"/>
          <p:cNvSpPr txBox="1"/>
          <p:nvPr/>
        </p:nvSpPr>
        <p:spPr>
          <a:xfrm>
            <a:off x="658368" y="5001768"/>
            <a:ext cx="3794760" cy="502920"/>
          </a:xfrm>
          <a:prstGeom prst="rect">
            <a:avLst/>
          </a:prstGeom>
          <a:noFill/>
        </p:spPr>
        <p:txBody>
          <a:bodyPr wrap="square" lIns="0" tIns="0" rIns="0" bIns="0">
            <a:spAutoFit/>
          </a:bodyPr>
          <a:lstStyle/>
          <a:p>
            <a:pPr>
              <a:spcAft>
                <a:spcPts val="400"/>
              </a:spcAft>
              <a:defRPr sz="2400" b="1">
                <a:solidFill>
                  <a:srgbClr val="102F36"/>
                </a:solidFill>
                <a:latin typeface="Aptos"/>
              </a:defRPr>
            </a:pPr>
            <a:r>
              <a:t>Operate with evidence.</a:t>
            </a:r>
          </a:p>
        </p:txBody>
      </p:sp>
      <p:graphicFrame>
        <p:nvGraphicFramePr>
          <p:cNvPr id="8" name="reveal_04"/>
          <p:cNvGraphicFramePr>
            <a:graphicFrameLocks noGrp="1"/>
          </p:cNvGraphicFramePr>
          <p:nvPr/>
        </p:nvGraphicFramePr>
        <p:xfrm>
          <a:off x="585216" y="5504688"/>
          <a:ext cx="3566160" cy="777240"/>
        </p:xfrm>
        <a:graphic>
          <a:graphicData uri="http://schemas.openxmlformats.org/drawingml/2006/chart">
            <c:chart xmlns:c="http://schemas.openxmlformats.org/drawingml/2006/chart" xmlns:r="http://schemas.openxmlformats.org/officeDocument/2006/relationships" r:id="rId4"/>
          </a:graphicData>
        </a:graphic>
      </p:graphicFrame>
      <p:sp>
        <p:nvSpPr>
          <p:cNvPr id="9" name="TextBox 8"/>
          <p:cNvSpPr txBox="1"/>
          <p:nvPr/>
        </p:nvSpPr>
        <p:spPr>
          <a:xfrm>
            <a:off x="685800" y="6245352"/>
            <a:ext cx="3657600" cy="164592"/>
          </a:xfrm>
          <a:prstGeom prst="rect">
            <a:avLst/>
          </a:prstGeom>
          <a:noFill/>
        </p:spPr>
        <p:txBody>
          <a:bodyPr wrap="square" lIns="0" tIns="0" rIns="0" bIns="0">
            <a:spAutoFit/>
          </a:bodyPr>
          <a:lstStyle/>
          <a:p>
            <a:pPr>
              <a:spcAft>
                <a:spcPts val="400"/>
              </a:spcAft>
              <a:defRPr sz="900" b="0">
                <a:solidFill>
                  <a:srgbClr val="617579"/>
                </a:solidFill>
                <a:latin typeface="Aptos"/>
              </a:defRPr>
            </a:pPr>
            <a:r>
              <a:t>Illustrative settlement queue</a:t>
            </a:r>
          </a:p>
        </p:txBody>
      </p:sp>
      <p:pic>
        <p:nvPicPr>
          <p:cNvPr id="10" name="reveal_03" descr="icon-family.png"/>
          <p:cNvPicPr>
            <a:picLocks noChangeAspect="1"/>
          </p:cNvPicPr>
          <p:nvPr/>
        </p:nvPicPr>
        <p:blipFill>
          <a:blip r:embed="rId5"/>
          <a:stretch>
            <a:fillRect/>
          </a:stretch>
        </p:blipFill>
        <p:spPr>
          <a:xfrm>
            <a:off x="4892040" y="1938528"/>
            <a:ext cx="320040" cy="320040"/>
          </a:xfrm>
          <a:prstGeom prst="rect">
            <a:avLst/>
          </a:prstGeom>
        </p:spPr>
      </p:pic>
      <p:sp>
        <p:nvSpPr>
          <p:cNvPr id="11" name="reveal_03"/>
          <p:cNvSpPr txBox="1"/>
          <p:nvPr/>
        </p:nvSpPr>
        <p:spPr>
          <a:xfrm>
            <a:off x="5330952" y="1947672"/>
            <a:ext cx="2779776" cy="320040"/>
          </a:xfrm>
          <a:prstGeom prst="rect">
            <a:avLst/>
          </a:prstGeom>
          <a:noFill/>
        </p:spPr>
        <p:txBody>
          <a:bodyPr wrap="square" lIns="0" tIns="0" rIns="0" bIns="0">
            <a:spAutoFit/>
          </a:bodyPr>
          <a:lstStyle/>
          <a:p>
            <a:pPr>
              <a:spcAft>
                <a:spcPts val="400"/>
              </a:spcAft>
              <a:defRPr sz="1600" b="1">
                <a:solidFill>
                  <a:srgbClr val="102F36"/>
                </a:solidFill>
                <a:latin typeface="Aptos"/>
              </a:defRPr>
            </a:pPr>
            <a:r>
              <a:t>Users &amp; moderation</a:t>
            </a:r>
          </a:p>
        </p:txBody>
      </p:sp>
      <p:sp>
        <p:nvSpPr>
          <p:cNvPr id="12" name="reveal_03"/>
          <p:cNvSpPr txBox="1"/>
          <p:nvPr/>
        </p:nvSpPr>
        <p:spPr>
          <a:xfrm>
            <a:off x="5330952" y="2386584"/>
            <a:ext cx="2779776" cy="914400"/>
          </a:xfrm>
          <a:prstGeom prst="rect">
            <a:avLst/>
          </a:prstGeom>
          <a:noFill/>
        </p:spPr>
        <p:txBody>
          <a:bodyPr wrap="square" lIns="0" tIns="0" rIns="0" bIns="0">
            <a:spAutoFit/>
          </a:bodyPr>
          <a:lstStyle/>
          <a:p>
            <a:pPr>
              <a:spcAft>
                <a:spcPts val="400"/>
              </a:spcAft>
              <a:defRPr sz="1250" b="0">
                <a:solidFill>
                  <a:srgbClr val="617579"/>
                </a:solidFill>
                <a:latin typeface="Aptos"/>
              </a:defRPr>
            </a:pPr>
            <a:r>
              <a:t>Users/roles; suspend/reactivate; metrics; delegated moderator sections; account oversight.</a:t>
            </a:r>
          </a:p>
        </p:txBody>
      </p:sp>
      <p:pic>
        <p:nvPicPr>
          <p:cNvPr id="13" name="reveal_04" descr="icon-transfer.png"/>
          <p:cNvPicPr>
            <a:picLocks noChangeAspect="1"/>
          </p:cNvPicPr>
          <p:nvPr/>
        </p:nvPicPr>
        <p:blipFill>
          <a:blip r:embed="rId6"/>
          <a:stretch>
            <a:fillRect/>
          </a:stretch>
        </p:blipFill>
        <p:spPr>
          <a:xfrm>
            <a:off x="8293608" y="1938528"/>
            <a:ext cx="320040" cy="320040"/>
          </a:xfrm>
          <a:prstGeom prst="rect">
            <a:avLst/>
          </a:prstGeom>
        </p:spPr>
      </p:pic>
      <p:sp>
        <p:nvSpPr>
          <p:cNvPr id="14" name="reveal_04"/>
          <p:cNvSpPr txBox="1"/>
          <p:nvPr/>
        </p:nvSpPr>
        <p:spPr>
          <a:xfrm>
            <a:off x="8732520" y="1947672"/>
            <a:ext cx="2779776" cy="320040"/>
          </a:xfrm>
          <a:prstGeom prst="rect">
            <a:avLst/>
          </a:prstGeom>
          <a:noFill/>
        </p:spPr>
        <p:txBody>
          <a:bodyPr wrap="square" lIns="0" tIns="0" rIns="0" bIns="0">
            <a:spAutoFit/>
          </a:bodyPr>
          <a:lstStyle/>
          <a:p>
            <a:pPr>
              <a:spcAft>
                <a:spcPts val="400"/>
              </a:spcAft>
              <a:defRPr sz="1600" b="1">
                <a:solidFill>
                  <a:srgbClr val="102F36"/>
                </a:solidFill>
                <a:latin typeface="Aptos"/>
              </a:defRPr>
            </a:pPr>
            <a:r>
              <a:t>Settlements</a:t>
            </a:r>
          </a:p>
        </p:txBody>
      </p:sp>
      <p:sp>
        <p:nvSpPr>
          <p:cNvPr id="15" name="reveal_04"/>
          <p:cNvSpPr txBox="1"/>
          <p:nvPr/>
        </p:nvSpPr>
        <p:spPr>
          <a:xfrm>
            <a:off x="8732520" y="2386584"/>
            <a:ext cx="2779776" cy="914400"/>
          </a:xfrm>
          <a:prstGeom prst="rect">
            <a:avLst/>
          </a:prstGeom>
          <a:noFill/>
        </p:spPr>
        <p:txBody>
          <a:bodyPr wrap="square" lIns="0" tIns="0" rIns="0" bIns="0">
            <a:spAutoFit/>
          </a:bodyPr>
          <a:lstStyle/>
          <a:p>
            <a:pPr>
              <a:spcAft>
                <a:spcPts val="400"/>
              </a:spcAft>
              <a:defRPr sz="1250" b="0">
                <a:solidFill>
                  <a:srgbClr val="617579"/>
                </a:solidFill>
                <a:latin typeface="Aptos"/>
              </a:defRPr>
            </a:pPr>
            <a:r>
              <a:t>Review/process/complete/fail; payout refs; held funds/refunds; channels and receiving details.</a:t>
            </a:r>
          </a:p>
        </p:txBody>
      </p:sp>
      <p:pic>
        <p:nvPicPr>
          <p:cNvPr id="16" name="reveal_05" descr="icon-shield.png"/>
          <p:cNvPicPr>
            <a:picLocks noChangeAspect="1"/>
          </p:cNvPicPr>
          <p:nvPr/>
        </p:nvPicPr>
        <p:blipFill>
          <a:blip r:embed="rId7"/>
          <a:stretch>
            <a:fillRect/>
          </a:stretch>
        </p:blipFill>
        <p:spPr>
          <a:xfrm>
            <a:off x="4892040" y="3328416"/>
            <a:ext cx="320040" cy="320040"/>
          </a:xfrm>
          <a:prstGeom prst="rect">
            <a:avLst/>
          </a:prstGeom>
        </p:spPr>
      </p:pic>
      <p:sp>
        <p:nvSpPr>
          <p:cNvPr id="17" name="reveal_05"/>
          <p:cNvSpPr txBox="1"/>
          <p:nvPr/>
        </p:nvSpPr>
        <p:spPr>
          <a:xfrm>
            <a:off x="5330952" y="3337560"/>
            <a:ext cx="2779776" cy="320040"/>
          </a:xfrm>
          <a:prstGeom prst="rect">
            <a:avLst/>
          </a:prstGeom>
          <a:noFill/>
        </p:spPr>
        <p:txBody>
          <a:bodyPr wrap="square" lIns="0" tIns="0" rIns="0" bIns="0">
            <a:spAutoFit/>
          </a:bodyPr>
          <a:lstStyle/>
          <a:p>
            <a:pPr>
              <a:spcAft>
                <a:spcPts val="400"/>
              </a:spcAft>
              <a:defRPr sz="1600" b="1">
                <a:solidFill>
                  <a:srgbClr val="102F36"/>
                </a:solidFill>
                <a:latin typeface="Aptos"/>
              </a:defRPr>
            </a:pPr>
            <a:r>
              <a:t>Financial policy</a:t>
            </a:r>
          </a:p>
        </p:txBody>
      </p:sp>
      <p:sp>
        <p:nvSpPr>
          <p:cNvPr id="18" name="reveal_05"/>
          <p:cNvSpPr txBox="1"/>
          <p:nvPr/>
        </p:nvSpPr>
        <p:spPr>
          <a:xfrm>
            <a:off x="5330952" y="3776472"/>
            <a:ext cx="2779776" cy="914400"/>
          </a:xfrm>
          <a:prstGeom prst="rect">
            <a:avLst/>
          </a:prstGeom>
          <a:noFill/>
        </p:spPr>
        <p:txBody>
          <a:bodyPr wrap="square" lIns="0" tIns="0" rIns="0" bIns="0">
            <a:spAutoFit/>
          </a:bodyPr>
          <a:lstStyle/>
          <a:p>
            <a:pPr>
              <a:spcAft>
                <a:spcPts val="400"/>
              </a:spcAft>
              <a:defRPr sz="1250" b="0">
                <a:solidFill>
                  <a:srgbClr val="617579"/>
                </a:solidFill>
                <a:latin typeface="Aptos"/>
              </a:defRPr>
            </a:pPr>
            <a:r>
              <a:t>Risk/frequency/review limits; FX rates; providers, fees, spreads and routes; credit guidance.</a:t>
            </a:r>
          </a:p>
        </p:txBody>
      </p:sp>
      <p:pic>
        <p:nvPicPr>
          <p:cNvPr id="19" name="reveal_06" descr="icon-globe.png"/>
          <p:cNvPicPr>
            <a:picLocks noChangeAspect="1"/>
          </p:cNvPicPr>
          <p:nvPr/>
        </p:nvPicPr>
        <p:blipFill>
          <a:blip r:embed="rId8"/>
          <a:stretch>
            <a:fillRect/>
          </a:stretch>
        </p:blipFill>
        <p:spPr>
          <a:xfrm>
            <a:off x="8293608" y="3328416"/>
            <a:ext cx="320040" cy="320040"/>
          </a:xfrm>
          <a:prstGeom prst="rect">
            <a:avLst/>
          </a:prstGeom>
        </p:spPr>
      </p:pic>
      <p:sp>
        <p:nvSpPr>
          <p:cNvPr id="20" name="reveal_06"/>
          <p:cNvSpPr txBox="1"/>
          <p:nvPr/>
        </p:nvSpPr>
        <p:spPr>
          <a:xfrm>
            <a:off x="8732520" y="3337560"/>
            <a:ext cx="2779776" cy="320040"/>
          </a:xfrm>
          <a:prstGeom prst="rect">
            <a:avLst/>
          </a:prstGeom>
          <a:noFill/>
        </p:spPr>
        <p:txBody>
          <a:bodyPr wrap="square" lIns="0" tIns="0" rIns="0" bIns="0">
            <a:spAutoFit/>
          </a:bodyPr>
          <a:lstStyle/>
          <a:p>
            <a:pPr>
              <a:spcAft>
                <a:spcPts val="400"/>
              </a:spcAft>
              <a:defRPr sz="1600" b="1">
                <a:solidFill>
                  <a:srgbClr val="102F36"/>
                </a:solidFill>
                <a:latin typeface="Aptos"/>
              </a:defRPr>
            </a:pPr>
            <a:r>
              <a:t>Catalog &amp; plans</a:t>
            </a:r>
          </a:p>
        </p:txBody>
      </p:sp>
      <p:sp>
        <p:nvSpPr>
          <p:cNvPr id="21" name="reveal_06"/>
          <p:cNvSpPr txBox="1"/>
          <p:nvPr/>
        </p:nvSpPr>
        <p:spPr>
          <a:xfrm>
            <a:off x="8732520" y="3776472"/>
            <a:ext cx="2779776" cy="914400"/>
          </a:xfrm>
          <a:prstGeom prst="rect">
            <a:avLst/>
          </a:prstGeom>
          <a:noFill/>
        </p:spPr>
        <p:txBody>
          <a:bodyPr wrap="square" lIns="0" tIns="0" rIns="0" bIns="0">
            <a:spAutoFit/>
          </a:bodyPr>
          <a:lstStyle/>
          <a:p>
            <a:pPr>
              <a:spcAft>
                <a:spcPts val="400"/>
              </a:spcAft>
              <a:defRPr sz="1250" b="0">
                <a:solidFill>
                  <a:srgbClr val="617579"/>
                </a:solidFill>
                <a:latin typeface="Aptos"/>
              </a:defRPr>
            </a:pPr>
            <a:r>
              <a:t>Countries/currencies; defaults/settings; subscription pricing, quotas and feature limits.</a:t>
            </a:r>
          </a:p>
        </p:txBody>
      </p:sp>
      <p:pic>
        <p:nvPicPr>
          <p:cNvPr id="22" name="reveal_07" descr="icon-ai.png"/>
          <p:cNvPicPr>
            <a:picLocks noChangeAspect="1"/>
          </p:cNvPicPr>
          <p:nvPr/>
        </p:nvPicPr>
        <p:blipFill>
          <a:blip r:embed="rId9"/>
          <a:stretch>
            <a:fillRect/>
          </a:stretch>
        </p:blipFill>
        <p:spPr>
          <a:xfrm>
            <a:off x="4892040" y="4718304"/>
            <a:ext cx="320040" cy="320040"/>
          </a:xfrm>
          <a:prstGeom prst="rect">
            <a:avLst/>
          </a:prstGeom>
        </p:spPr>
      </p:pic>
      <p:sp>
        <p:nvSpPr>
          <p:cNvPr id="23" name="reveal_07"/>
          <p:cNvSpPr txBox="1"/>
          <p:nvPr/>
        </p:nvSpPr>
        <p:spPr>
          <a:xfrm>
            <a:off x="5330952" y="4727448"/>
            <a:ext cx="2779776" cy="320040"/>
          </a:xfrm>
          <a:prstGeom prst="rect">
            <a:avLst/>
          </a:prstGeom>
          <a:noFill/>
        </p:spPr>
        <p:txBody>
          <a:bodyPr wrap="square" lIns="0" tIns="0" rIns="0" bIns="0">
            <a:spAutoFit/>
          </a:bodyPr>
          <a:lstStyle/>
          <a:p>
            <a:pPr>
              <a:spcAft>
                <a:spcPts val="400"/>
              </a:spcAft>
              <a:defRPr sz="1600" b="1">
                <a:solidFill>
                  <a:srgbClr val="102F36"/>
                </a:solidFill>
                <a:latin typeface="Aptos"/>
              </a:defRPr>
            </a:pPr>
            <a:r>
              <a:t>AI &amp; team</a:t>
            </a:r>
          </a:p>
        </p:txBody>
      </p:sp>
      <p:sp>
        <p:nvSpPr>
          <p:cNvPr id="24" name="reveal_07"/>
          <p:cNvSpPr txBox="1"/>
          <p:nvPr/>
        </p:nvSpPr>
        <p:spPr>
          <a:xfrm>
            <a:off x="5330952" y="5166360"/>
            <a:ext cx="2779776" cy="914400"/>
          </a:xfrm>
          <a:prstGeom prst="rect">
            <a:avLst/>
          </a:prstGeom>
          <a:noFill/>
        </p:spPr>
        <p:txBody>
          <a:bodyPr wrap="square" lIns="0" tIns="0" rIns="0" bIns="0">
            <a:spAutoFit/>
          </a:bodyPr>
          <a:lstStyle/>
          <a:p>
            <a:pPr>
              <a:spcAft>
                <a:spcPts val="400"/>
              </a:spcAft>
              <a:defRPr sz="1250" b="0">
                <a:solidFill>
                  <a:srgbClr val="617579"/>
                </a:solidFill>
                <a:latin typeface="Aptos"/>
              </a:defRPr>
            </a:pPr>
            <a:r>
              <a:t>Shared models/keys; connection tests; run/tool logs; published team profiles and permissions.</a:t>
            </a:r>
          </a:p>
        </p:txBody>
      </p:sp>
      <p:pic>
        <p:nvPicPr>
          <p:cNvPr id="25" name="reveal_08" descr="icon-document.png"/>
          <p:cNvPicPr>
            <a:picLocks noChangeAspect="1"/>
          </p:cNvPicPr>
          <p:nvPr/>
        </p:nvPicPr>
        <p:blipFill>
          <a:blip r:embed="rId10"/>
          <a:stretch>
            <a:fillRect/>
          </a:stretch>
        </p:blipFill>
        <p:spPr>
          <a:xfrm>
            <a:off x="8293608" y="4718304"/>
            <a:ext cx="320040" cy="320040"/>
          </a:xfrm>
          <a:prstGeom prst="rect">
            <a:avLst/>
          </a:prstGeom>
        </p:spPr>
      </p:pic>
      <p:sp>
        <p:nvSpPr>
          <p:cNvPr id="26" name="reveal_08"/>
          <p:cNvSpPr txBox="1"/>
          <p:nvPr/>
        </p:nvSpPr>
        <p:spPr>
          <a:xfrm>
            <a:off x="8732520" y="4727448"/>
            <a:ext cx="2779776" cy="320040"/>
          </a:xfrm>
          <a:prstGeom prst="rect">
            <a:avLst/>
          </a:prstGeom>
          <a:noFill/>
        </p:spPr>
        <p:txBody>
          <a:bodyPr wrap="square" lIns="0" tIns="0" rIns="0" bIns="0">
            <a:spAutoFit/>
          </a:bodyPr>
          <a:lstStyle/>
          <a:p>
            <a:pPr>
              <a:spcAft>
                <a:spcPts val="400"/>
              </a:spcAft>
              <a:defRPr sz="1600" b="1">
                <a:solidFill>
                  <a:srgbClr val="102F36"/>
                </a:solidFill>
                <a:latin typeface="Aptos"/>
              </a:defRPr>
            </a:pPr>
            <a:r>
              <a:t>Reports &amp; evidence</a:t>
            </a:r>
          </a:p>
        </p:txBody>
      </p:sp>
      <p:sp>
        <p:nvSpPr>
          <p:cNvPr id="27" name="reveal_08"/>
          <p:cNvSpPr txBox="1"/>
          <p:nvPr/>
        </p:nvSpPr>
        <p:spPr>
          <a:xfrm>
            <a:off x="8732520" y="5166360"/>
            <a:ext cx="2779776" cy="914400"/>
          </a:xfrm>
          <a:prstGeom prst="rect">
            <a:avLst/>
          </a:prstGeom>
          <a:noFill/>
        </p:spPr>
        <p:txBody>
          <a:bodyPr wrap="square" lIns="0" tIns="0" rIns="0" bIns="0">
            <a:spAutoFit/>
          </a:bodyPr>
          <a:lstStyle/>
          <a:p>
            <a:pPr>
              <a:spcAft>
                <a:spcPts val="400"/>
              </a:spcAft>
              <a:defRPr sz="1250" b="0">
                <a:solidFill>
                  <a:srgbClr val="617579"/>
                </a:solidFill>
                <a:latin typeface="Aptos"/>
              </a:defRPr>
            </a:pPr>
            <a:r>
              <a:t>Resolve reports; audit logs; transfer records/receipts; project and security evidence exports.</a:t>
            </a:r>
          </a:p>
        </p:txBody>
      </p:sp>
      <p:sp>
        <p:nvSpPr>
          <p:cNvPr id="28" name="TextBox 27"/>
          <p:cNvSpPr txBox="1"/>
          <p:nvPr/>
        </p:nvSpPr>
        <p:spPr>
          <a:xfrm>
            <a:off x="5330952" y="6181344"/>
            <a:ext cx="6217920" cy="210312"/>
          </a:xfrm>
          <a:prstGeom prst="rect">
            <a:avLst/>
          </a:prstGeom>
          <a:noFill/>
        </p:spPr>
        <p:txBody>
          <a:bodyPr wrap="square" lIns="0" tIns="0" rIns="0" bIns="0">
            <a:spAutoFit/>
          </a:bodyPr>
          <a:lstStyle/>
          <a:p>
            <a:pPr>
              <a:spcAft>
                <a:spcPts val="400"/>
              </a:spcAft>
              <a:defRPr sz="1000" b="0">
                <a:solidFill>
                  <a:srgbClr val="008D78"/>
                </a:solidFill>
                <a:latin typeface="Aptos"/>
              </a:defRPr>
            </a:pPr>
            <a:r>
              <a:t>Moderators receive access only to assigned sections.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380"/>
                                        <p:tgtEl>
                                          <p:spTgt spid="3"/>
                                        </p:tgtEl>
                                      </p:cBhvr>
                                    </p:animEffect>
                                  </p:childTnLst>
                                </p:cTn>
                              </p:par>
                            </p:childTnLst>
                          </p:cTn>
                        </p:par>
                        <p:par>
                          <p:cTn id="8" fill="hold">
                            <p:stCondLst>
                              <p:cond delay="380"/>
                            </p:stCondLst>
                            <p:childTnLst>
                              <p:par>
                                <p:cTn id="9" presetID="10" presetClass="entr" presetSubtype="0"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380"/>
                                        <p:tgtEl>
                                          <p:spTgt spid="6"/>
                                        </p:tgtEl>
                                      </p:cBhvr>
                                    </p:animEffect>
                                  </p:childTnLst>
                                </p:cTn>
                              </p:par>
                            </p:childTnLst>
                          </p:cTn>
                        </p:par>
                        <p:par>
                          <p:cTn id="12" fill="hold">
                            <p:stCondLst>
                              <p:cond delay="760"/>
                            </p:stCondLst>
                            <p:childTnLst>
                              <p:par>
                                <p:cTn id="13" presetID="10" presetClass="entr" presetSubtype="0" fill="hold" grpId="0" nodeType="after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380"/>
                                        <p:tgtEl>
                                          <p:spTgt spid="11"/>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380"/>
                                        <p:tgtEl>
                                          <p:spTgt spid="12"/>
                                        </p:tgtEl>
                                      </p:cBhvr>
                                    </p:animEffect>
                                  </p:childTnLst>
                                </p:cTn>
                              </p:par>
                              <p:par>
                                <p:cTn id="19" presetID="10" presetClass="entr" presetSubtype="0" fill="hold"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380"/>
                                        <p:tgtEl>
                                          <p:spTgt spid="1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380"/>
                                        <p:tgtEl>
                                          <p:spTgt spid="7"/>
                                        </p:tgtEl>
                                      </p:cBhvr>
                                    </p:animEffect>
                                  </p:childTnLst>
                                </p:cTn>
                              </p:par>
                            </p:childTnLst>
                          </p:cTn>
                        </p:par>
                        <p:par>
                          <p:cTn id="25" fill="hold">
                            <p:stCondLst>
                              <p:cond delay="1140"/>
                            </p:stCondLst>
                            <p:childTnLst>
                              <p:par>
                                <p:cTn id="26" presetID="10" presetClass="entr" presetSubtype="0" fill="hold" grpId="0" nodeType="after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fade">
                                      <p:cBhvr>
                                        <p:cTn id="28" dur="380"/>
                                        <p:tgtEl>
                                          <p:spTgt spid="14"/>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380"/>
                                        <p:tgtEl>
                                          <p:spTgt spid="15"/>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fade">
                                      <p:cBhvr>
                                        <p:cTn id="34" dur="380"/>
                                        <p:tgtEl>
                                          <p:spTgt spid="8"/>
                                        </p:tgtEl>
                                      </p:cBhvr>
                                    </p:animEffect>
                                  </p:childTnLst>
                                </p:cTn>
                              </p:par>
                              <p:par>
                                <p:cTn id="35" presetID="10" presetClass="entr" presetSubtype="0" fill="hold" nodeType="with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380"/>
                                        <p:tgtEl>
                                          <p:spTgt spid="13"/>
                                        </p:tgtEl>
                                      </p:cBhvr>
                                    </p:animEffect>
                                  </p:childTnLst>
                                </p:cTn>
                              </p:par>
                            </p:childTnLst>
                          </p:cTn>
                        </p:par>
                        <p:par>
                          <p:cTn id="38" fill="hold">
                            <p:stCondLst>
                              <p:cond delay="1520"/>
                            </p:stCondLst>
                            <p:childTnLst>
                              <p:par>
                                <p:cTn id="39" presetID="10" presetClass="entr" presetSubtype="0" fill="hold" grpId="0" nodeType="after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380"/>
                                        <p:tgtEl>
                                          <p:spTgt spid="18"/>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380"/>
                                        <p:tgtEl>
                                          <p:spTgt spid="17"/>
                                        </p:tgtEl>
                                      </p:cBhvr>
                                    </p:animEffect>
                                  </p:childTnLst>
                                </p:cTn>
                              </p:par>
                              <p:par>
                                <p:cTn id="45" presetID="10" presetClass="entr" presetSubtype="0" fill="hold" nodeType="with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fade">
                                      <p:cBhvr>
                                        <p:cTn id="47" dur="380"/>
                                        <p:tgtEl>
                                          <p:spTgt spid="16"/>
                                        </p:tgtEl>
                                      </p:cBhvr>
                                    </p:animEffect>
                                  </p:childTnLst>
                                </p:cTn>
                              </p:par>
                            </p:childTnLst>
                          </p:cTn>
                        </p:par>
                        <p:par>
                          <p:cTn id="48" fill="hold">
                            <p:stCondLst>
                              <p:cond delay="1900"/>
                            </p:stCondLst>
                            <p:childTnLst>
                              <p:par>
                                <p:cTn id="49" presetID="10" presetClass="entr" presetSubtype="0" fill="hold" grpId="0" nodeType="afterEffect">
                                  <p:stCondLst>
                                    <p:cond delay="0"/>
                                  </p:stCondLst>
                                  <p:childTnLst>
                                    <p:set>
                                      <p:cBhvr>
                                        <p:cTn id="50" dur="1" fill="hold">
                                          <p:stCondLst>
                                            <p:cond delay="0"/>
                                          </p:stCondLst>
                                        </p:cTn>
                                        <p:tgtEl>
                                          <p:spTgt spid="21"/>
                                        </p:tgtEl>
                                        <p:attrNameLst>
                                          <p:attrName>style.visibility</p:attrName>
                                        </p:attrNameLst>
                                      </p:cBhvr>
                                      <p:to>
                                        <p:strVal val="visible"/>
                                      </p:to>
                                    </p:set>
                                    <p:animEffect transition="in" filter="fade">
                                      <p:cBhvr>
                                        <p:cTn id="51" dur="380"/>
                                        <p:tgtEl>
                                          <p:spTgt spid="21"/>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0"/>
                                        </p:tgtEl>
                                        <p:attrNameLst>
                                          <p:attrName>style.visibility</p:attrName>
                                        </p:attrNameLst>
                                      </p:cBhvr>
                                      <p:to>
                                        <p:strVal val="visible"/>
                                      </p:to>
                                    </p:set>
                                    <p:animEffect transition="in" filter="fade">
                                      <p:cBhvr>
                                        <p:cTn id="54" dur="380"/>
                                        <p:tgtEl>
                                          <p:spTgt spid="20"/>
                                        </p:tgtEl>
                                      </p:cBhvr>
                                    </p:animEffect>
                                  </p:childTnLst>
                                </p:cTn>
                              </p:par>
                              <p:par>
                                <p:cTn id="55" presetID="10" presetClass="entr" presetSubtype="0" fill="hold" nodeType="withEffect">
                                  <p:stCondLst>
                                    <p:cond delay="0"/>
                                  </p:stCondLst>
                                  <p:childTnLst>
                                    <p:set>
                                      <p:cBhvr>
                                        <p:cTn id="56" dur="1" fill="hold">
                                          <p:stCondLst>
                                            <p:cond delay="0"/>
                                          </p:stCondLst>
                                        </p:cTn>
                                        <p:tgtEl>
                                          <p:spTgt spid="19"/>
                                        </p:tgtEl>
                                        <p:attrNameLst>
                                          <p:attrName>style.visibility</p:attrName>
                                        </p:attrNameLst>
                                      </p:cBhvr>
                                      <p:to>
                                        <p:strVal val="visible"/>
                                      </p:to>
                                    </p:set>
                                    <p:animEffect transition="in" filter="fade">
                                      <p:cBhvr>
                                        <p:cTn id="57" dur="380"/>
                                        <p:tgtEl>
                                          <p:spTgt spid="19"/>
                                        </p:tgtEl>
                                      </p:cBhvr>
                                    </p:animEffect>
                                  </p:childTnLst>
                                </p:cTn>
                              </p:par>
                            </p:childTnLst>
                          </p:cTn>
                        </p:par>
                        <p:par>
                          <p:cTn id="58" fill="hold">
                            <p:stCondLst>
                              <p:cond delay="2280"/>
                            </p:stCondLst>
                            <p:childTnLst>
                              <p:par>
                                <p:cTn id="59" presetID="10" presetClass="entr" presetSubtype="0" fill="hold" grpId="0" nodeType="afterEffect">
                                  <p:stCondLst>
                                    <p:cond delay="0"/>
                                  </p:stCondLst>
                                  <p:childTnLst>
                                    <p:set>
                                      <p:cBhvr>
                                        <p:cTn id="60" dur="1" fill="hold">
                                          <p:stCondLst>
                                            <p:cond delay="0"/>
                                          </p:stCondLst>
                                        </p:cTn>
                                        <p:tgtEl>
                                          <p:spTgt spid="24"/>
                                        </p:tgtEl>
                                        <p:attrNameLst>
                                          <p:attrName>style.visibility</p:attrName>
                                        </p:attrNameLst>
                                      </p:cBhvr>
                                      <p:to>
                                        <p:strVal val="visible"/>
                                      </p:to>
                                    </p:set>
                                    <p:animEffect transition="in" filter="fade">
                                      <p:cBhvr>
                                        <p:cTn id="61" dur="380"/>
                                        <p:tgtEl>
                                          <p:spTgt spid="24"/>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3"/>
                                        </p:tgtEl>
                                        <p:attrNameLst>
                                          <p:attrName>style.visibility</p:attrName>
                                        </p:attrNameLst>
                                      </p:cBhvr>
                                      <p:to>
                                        <p:strVal val="visible"/>
                                      </p:to>
                                    </p:set>
                                    <p:animEffect transition="in" filter="fade">
                                      <p:cBhvr>
                                        <p:cTn id="64" dur="380"/>
                                        <p:tgtEl>
                                          <p:spTgt spid="23"/>
                                        </p:tgtEl>
                                      </p:cBhvr>
                                    </p:animEffect>
                                  </p:childTnLst>
                                </p:cTn>
                              </p:par>
                              <p:par>
                                <p:cTn id="65" presetID="10" presetClass="entr" presetSubtype="0" fill="hold" nodeType="withEffect">
                                  <p:stCondLst>
                                    <p:cond delay="0"/>
                                  </p:stCondLst>
                                  <p:childTnLst>
                                    <p:set>
                                      <p:cBhvr>
                                        <p:cTn id="66" dur="1" fill="hold">
                                          <p:stCondLst>
                                            <p:cond delay="0"/>
                                          </p:stCondLst>
                                        </p:cTn>
                                        <p:tgtEl>
                                          <p:spTgt spid="22"/>
                                        </p:tgtEl>
                                        <p:attrNameLst>
                                          <p:attrName>style.visibility</p:attrName>
                                        </p:attrNameLst>
                                      </p:cBhvr>
                                      <p:to>
                                        <p:strVal val="visible"/>
                                      </p:to>
                                    </p:set>
                                    <p:animEffect transition="in" filter="fade">
                                      <p:cBhvr>
                                        <p:cTn id="67" dur="380"/>
                                        <p:tgtEl>
                                          <p:spTgt spid="22"/>
                                        </p:tgtEl>
                                      </p:cBhvr>
                                    </p:animEffect>
                                  </p:childTnLst>
                                </p:cTn>
                              </p:par>
                            </p:childTnLst>
                          </p:cTn>
                        </p:par>
                        <p:par>
                          <p:cTn id="68" fill="hold">
                            <p:stCondLst>
                              <p:cond delay="2660"/>
                            </p:stCondLst>
                            <p:childTnLst>
                              <p:par>
                                <p:cTn id="69" presetID="10" presetClass="entr" presetSubtype="0" fill="hold" grpId="0" nodeType="afterEffect">
                                  <p:stCondLst>
                                    <p:cond delay="0"/>
                                  </p:stCondLst>
                                  <p:childTnLst>
                                    <p:set>
                                      <p:cBhvr>
                                        <p:cTn id="70" dur="1" fill="hold">
                                          <p:stCondLst>
                                            <p:cond delay="0"/>
                                          </p:stCondLst>
                                        </p:cTn>
                                        <p:tgtEl>
                                          <p:spTgt spid="27"/>
                                        </p:tgtEl>
                                        <p:attrNameLst>
                                          <p:attrName>style.visibility</p:attrName>
                                        </p:attrNameLst>
                                      </p:cBhvr>
                                      <p:to>
                                        <p:strVal val="visible"/>
                                      </p:to>
                                    </p:set>
                                    <p:animEffect transition="in" filter="fade">
                                      <p:cBhvr>
                                        <p:cTn id="71" dur="380"/>
                                        <p:tgtEl>
                                          <p:spTgt spid="27"/>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6"/>
                                        </p:tgtEl>
                                        <p:attrNameLst>
                                          <p:attrName>style.visibility</p:attrName>
                                        </p:attrNameLst>
                                      </p:cBhvr>
                                      <p:to>
                                        <p:strVal val="visible"/>
                                      </p:to>
                                    </p:set>
                                    <p:animEffect transition="in" filter="fade">
                                      <p:cBhvr>
                                        <p:cTn id="74" dur="380"/>
                                        <p:tgtEl>
                                          <p:spTgt spid="26"/>
                                        </p:tgtEl>
                                      </p:cBhvr>
                                    </p:animEffect>
                                  </p:childTnLst>
                                </p:cTn>
                              </p:par>
                              <p:par>
                                <p:cTn id="75" presetID="10" presetClass="entr" presetSubtype="0" fill="hold" nodeType="withEffect">
                                  <p:stCondLst>
                                    <p:cond delay="0"/>
                                  </p:stCondLst>
                                  <p:childTnLst>
                                    <p:set>
                                      <p:cBhvr>
                                        <p:cTn id="76" dur="1" fill="hold">
                                          <p:stCondLst>
                                            <p:cond delay="0"/>
                                          </p:stCondLst>
                                        </p:cTn>
                                        <p:tgtEl>
                                          <p:spTgt spid="25"/>
                                        </p:tgtEl>
                                        <p:attrNameLst>
                                          <p:attrName>style.visibility</p:attrName>
                                        </p:attrNameLst>
                                      </p:cBhvr>
                                      <p:to>
                                        <p:strVal val="visible"/>
                                      </p:to>
                                    </p:set>
                                    <p:animEffect transition="in" filter="fade">
                                      <p:cBhvr>
                                        <p:cTn id="77" dur="38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p:bldGraphic spid="8" grpId="0">
        <p:bldAsOne/>
      </p:bldGraphic>
      <p:bldP spid="11" grpId="0"/>
      <p:bldP spid="12" grpId="0"/>
      <p:bldP spid="14" grpId="0"/>
      <p:bldP spid="15" grpId="0"/>
      <p:bldP spid="17" grpId="0"/>
      <p:bldP spid="18" grpId="0"/>
      <p:bldP spid="20" grpId="0"/>
      <p:bldP spid="21" grpId="0"/>
      <p:bldP spid="23" grpId="0"/>
      <p:bldP spid="24" grpId="0"/>
      <p:bldP spid="26" grpId="0"/>
      <p:bldP spid="27"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6F1"/>
        </a:solidFill>
        <a:effectLst/>
      </p:bgPr>
    </p:bg>
    <p:spTree>
      <p:nvGrpSpPr>
        <p:cNvPr id="1" name=""/>
        <p:cNvGrpSpPr/>
        <p:nvPr/>
      </p:nvGrpSpPr>
      <p:grpSpPr>
        <a:xfrm>
          <a:off x="0" y="0"/>
          <a:ext cx="0" cy="0"/>
          <a:chOff x="0" y="0"/>
          <a:chExt cx="0" cy="0"/>
        </a:xfrm>
      </p:grpSpPr>
      <p:sp>
        <p:nvSpPr>
          <p:cNvPr id="2" name="TextBox 1"/>
          <p:cNvSpPr txBox="1"/>
          <p:nvPr/>
        </p:nvSpPr>
        <p:spPr>
          <a:xfrm>
            <a:off x="594360" y="384048"/>
            <a:ext cx="10058400" cy="228600"/>
          </a:xfrm>
          <a:prstGeom prst="rect">
            <a:avLst/>
          </a:prstGeom>
          <a:noFill/>
        </p:spPr>
        <p:txBody>
          <a:bodyPr wrap="square" lIns="0" tIns="0" rIns="0" bIns="0">
            <a:spAutoFit/>
          </a:bodyPr>
          <a:lstStyle/>
          <a:p>
            <a:pPr>
              <a:spcAft>
                <a:spcPts val="400"/>
              </a:spcAft>
              <a:defRPr sz="1000" b="1">
                <a:solidFill>
                  <a:srgbClr val="008D78"/>
                </a:solidFill>
                <a:latin typeface="Aptos"/>
              </a:defRPr>
            </a:pPr>
            <a:r>
              <a:t>SECURITY &amp; PRIVACY</a:t>
            </a:r>
          </a:p>
        </p:txBody>
      </p:sp>
      <p:sp>
        <p:nvSpPr>
          <p:cNvPr id="3" name="reveal_01"/>
          <p:cNvSpPr txBox="1"/>
          <p:nvPr/>
        </p:nvSpPr>
        <p:spPr>
          <a:xfrm>
            <a:off x="594360" y="859536"/>
            <a:ext cx="10972800" cy="914400"/>
          </a:xfrm>
          <a:prstGeom prst="rect">
            <a:avLst/>
          </a:prstGeom>
          <a:noFill/>
        </p:spPr>
        <p:txBody>
          <a:bodyPr wrap="square" lIns="0" tIns="0" rIns="0" bIns="0">
            <a:spAutoFit/>
          </a:bodyPr>
          <a:lstStyle/>
          <a:p>
            <a:pPr>
              <a:spcAft>
                <a:spcPts val="400"/>
              </a:spcAft>
              <a:defRPr sz="3400" b="1">
                <a:solidFill>
                  <a:srgbClr val="102F36"/>
                </a:solidFill>
                <a:latin typeface="Aptos"/>
              </a:defRPr>
            </a:pPr>
            <a:r>
              <a:t>Security &amp; privacy, at every step.</a:t>
            </a:r>
          </a:p>
        </p:txBody>
      </p:sp>
      <p:sp>
        <p:nvSpPr>
          <p:cNvPr id="4" name="TextBox 3"/>
          <p:cNvSpPr txBox="1"/>
          <p:nvPr/>
        </p:nvSpPr>
        <p:spPr>
          <a:xfrm>
            <a:off x="594360" y="6446520"/>
            <a:ext cx="2743200" cy="210312"/>
          </a:xfrm>
          <a:prstGeom prst="rect">
            <a:avLst/>
          </a:prstGeom>
          <a:noFill/>
        </p:spPr>
        <p:txBody>
          <a:bodyPr wrap="square" lIns="0" tIns="0" rIns="0" bIns="0">
            <a:spAutoFit/>
          </a:bodyPr>
          <a:lstStyle/>
          <a:p>
            <a:pPr>
              <a:spcAft>
                <a:spcPts val="400"/>
              </a:spcAft>
              <a:defRPr sz="1000" b="0">
                <a:solidFill>
                  <a:srgbClr val="617579"/>
                </a:solidFill>
                <a:latin typeface="Aptos"/>
              </a:defRPr>
            </a:pPr>
            <a:r>
              <a:t>FinBridge AI</a:t>
            </a:r>
          </a:p>
        </p:txBody>
      </p:sp>
      <p:sp>
        <p:nvSpPr>
          <p:cNvPr id="5" name="TextBox 4"/>
          <p:cNvSpPr txBox="1"/>
          <p:nvPr/>
        </p:nvSpPr>
        <p:spPr>
          <a:xfrm>
            <a:off x="10991088" y="6391656"/>
            <a:ext cx="594360" cy="274320"/>
          </a:xfrm>
          <a:prstGeom prst="rect">
            <a:avLst/>
          </a:prstGeom>
          <a:noFill/>
        </p:spPr>
        <p:txBody>
          <a:bodyPr wrap="square" lIns="0" tIns="0" rIns="0" bIns="0">
            <a:spAutoFit/>
          </a:bodyPr>
          <a:lstStyle/>
          <a:p>
            <a:pPr algn="r">
              <a:spcAft>
                <a:spcPts val="400"/>
              </a:spcAft>
              <a:defRPr sz="1200" b="1">
                <a:solidFill>
                  <a:srgbClr val="008D78"/>
                </a:solidFill>
                <a:latin typeface="Aptos"/>
              </a:defRPr>
            </a:pPr>
            <a:r>
              <a:t>09</a:t>
            </a:r>
          </a:p>
        </p:txBody>
      </p:sp>
      <p:pic>
        <p:nvPicPr>
          <p:cNvPr id="6" name="reveal_02" descr="09-security.gif"/>
          <p:cNvPicPr>
            <a:picLocks noChangeAspect="1"/>
          </p:cNvPicPr>
          <p:nvPr/>
        </p:nvPicPr>
        <p:blipFill>
          <a:blip r:embed="rId3"/>
          <a:stretch>
            <a:fillRect/>
          </a:stretch>
        </p:blipFill>
        <p:spPr>
          <a:xfrm>
            <a:off x="594360" y="1865376"/>
            <a:ext cx="5486400" cy="4114800"/>
          </a:xfrm>
          <a:prstGeom prst="rect">
            <a:avLst/>
          </a:prstGeom>
        </p:spPr>
      </p:pic>
      <p:sp>
        <p:nvSpPr>
          <p:cNvPr id="7" name="Oval 6"/>
          <p:cNvSpPr/>
          <p:nvPr/>
        </p:nvSpPr>
        <p:spPr>
          <a:xfrm>
            <a:off x="6419088" y="1938527"/>
            <a:ext cx="320040" cy="320040"/>
          </a:xfrm>
          <a:prstGeom prst="ellipse">
            <a:avLst/>
          </a:prstGeom>
          <a:solidFill>
            <a:srgbClr val="008D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28231" y="1979676"/>
            <a:ext cx="301752" cy="201168"/>
          </a:xfrm>
          <a:prstGeom prst="rect">
            <a:avLst/>
          </a:prstGeom>
          <a:noFill/>
        </p:spPr>
        <p:txBody>
          <a:bodyPr wrap="square" lIns="0" tIns="0" rIns="0" bIns="0">
            <a:spAutoFit/>
          </a:bodyPr>
          <a:lstStyle/>
          <a:p>
            <a:pPr algn="ctr">
              <a:spcAft>
                <a:spcPts val="400"/>
              </a:spcAft>
              <a:defRPr sz="1000" b="1">
                <a:solidFill>
                  <a:srgbClr val="FFFFFF"/>
                </a:solidFill>
                <a:latin typeface="Aptos"/>
              </a:defRPr>
            </a:pPr>
            <a:r>
              <a:t>1</a:t>
            </a:r>
          </a:p>
        </p:txBody>
      </p:sp>
      <p:sp>
        <p:nvSpPr>
          <p:cNvPr id="9" name="reveal_03"/>
          <p:cNvSpPr txBox="1"/>
          <p:nvPr/>
        </p:nvSpPr>
        <p:spPr>
          <a:xfrm>
            <a:off x="6931152" y="1911095"/>
            <a:ext cx="4572000" cy="365760"/>
          </a:xfrm>
          <a:prstGeom prst="rect">
            <a:avLst/>
          </a:prstGeom>
          <a:noFill/>
        </p:spPr>
        <p:txBody>
          <a:bodyPr wrap="square" lIns="0" tIns="0" rIns="0" bIns="0">
            <a:spAutoFit/>
          </a:bodyPr>
          <a:lstStyle/>
          <a:p>
            <a:pPr>
              <a:spcAft>
                <a:spcPts val="400"/>
              </a:spcAft>
              <a:defRPr sz="2300" b="1">
                <a:solidFill>
                  <a:srgbClr val="102F36"/>
                </a:solidFill>
                <a:latin typeface="Aptos"/>
              </a:defRPr>
            </a:pPr>
            <a:r>
              <a:t>Identity</a:t>
            </a:r>
          </a:p>
        </p:txBody>
      </p:sp>
      <p:sp>
        <p:nvSpPr>
          <p:cNvPr id="10" name="reveal_03"/>
          <p:cNvSpPr txBox="1"/>
          <p:nvPr/>
        </p:nvSpPr>
        <p:spPr>
          <a:xfrm>
            <a:off x="6931152" y="2359152"/>
            <a:ext cx="4572000" cy="548640"/>
          </a:xfrm>
          <a:prstGeom prst="rect">
            <a:avLst/>
          </a:prstGeom>
          <a:noFill/>
        </p:spPr>
        <p:txBody>
          <a:bodyPr wrap="square" lIns="0" tIns="0" rIns="0" bIns="0">
            <a:spAutoFit/>
          </a:bodyPr>
          <a:lstStyle/>
          <a:p>
            <a:pPr>
              <a:spcAft>
                <a:spcPts val="400"/>
              </a:spcAft>
              <a:defRPr sz="1500" b="0">
                <a:solidFill>
                  <a:srgbClr val="617579"/>
                </a:solidFill>
                <a:latin typeface="Aptos"/>
              </a:defRPr>
            </a:pPr>
            <a:r>
              <a:t>Hashed passwords; signed sessions</a:t>
            </a:r>
          </a:p>
          <a:p>
            <a:pPr>
              <a:spcAft>
                <a:spcPts val="400"/>
              </a:spcAft>
              <a:defRPr sz="1500" b="0">
                <a:solidFill>
                  <a:srgbClr val="617579"/>
                </a:solidFill>
                <a:latin typeface="Aptos"/>
              </a:defRPr>
            </a:pPr>
            <a:r>
              <a:t>and revocation.</a:t>
            </a:r>
          </a:p>
        </p:txBody>
      </p:sp>
      <p:sp>
        <p:nvSpPr>
          <p:cNvPr id="11" name="Oval 10"/>
          <p:cNvSpPr/>
          <p:nvPr/>
        </p:nvSpPr>
        <p:spPr>
          <a:xfrm>
            <a:off x="6419088" y="2926079"/>
            <a:ext cx="320040" cy="320040"/>
          </a:xfrm>
          <a:prstGeom prst="ellipse">
            <a:avLst/>
          </a:prstGeom>
          <a:solidFill>
            <a:srgbClr val="008D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28231" y="2967228"/>
            <a:ext cx="301752" cy="201168"/>
          </a:xfrm>
          <a:prstGeom prst="rect">
            <a:avLst/>
          </a:prstGeom>
          <a:noFill/>
        </p:spPr>
        <p:txBody>
          <a:bodyPr wrap="square" lIns="0" tIns="0" rIns="0" bIns="0">
            <a:spAutoFit/>
          </a:bodyPr>
          <a:lstStyle/>
          <a:p>
            <a:pPr algn="ctr">
              <a:spcAft>
                <a:spcPts val="400"/>
              </a:spcAft>
              <a:defRPr sz="1000" b="1">
                <a:solidFill>
                  <a:srgbClr val="FFFFFF"/>
                </a:solidFill>
                <a:latin typeface="Aptos"/>
              </a:defRPr>
            </a:pPr>
            <a:r>
              <a:t>2</a:t>
            </a:r>
          </a:p>
        </p:txBody>
      </p:sp>
      <p:sp>
        <p:nvSpPr>
          <p:cNvPr id="13" name="reveal_04"/>
          <p:cNvSpPr txBox="1"/>
          <p:nvPr/>
        </p:nvSpPr>
        <p:spPr>
          <a:xfrm>
            <a:off x="6931152" y="2898648"/>
            <a:ext cx="4572000" cy="365760"/>
          </a:xfrm>
          <a:prstGeom prst="rect">
            <a:avLst/>
          </a:prstGeom>
          <a:noFill/>
        </p:spPr>
        <p:txBody>
          <a:bodyPr wrap="square" lIns="0" tIns="0" rIns="0" bIns="0">
            <a:spAutoFit/>
          </a:bodyPr>
          <a:lstStyle/>
          <a:p>
            <a:pPr>
              <a:spcAft>
                <a:spcPts val="400"/>
              </a:spcAft>
              <a:defRPr sz="2300" b="1">
                <a:solidFill>
                  <a:srgbClr val="102F36"/>
                </a:solidFill>
                <a:latin typeface="Aptos"/>
              </a:defRPr>
            </a:pPr>
            <a:r>
              <a:t>Access</a:t>
            </a:r>
          </a:p>
        </p:txBody>
      </p:sp>
      <p:sp>
        <p:nvSpPr>
          <p:cNvPr id="14" name="reveal_04"/>
          <p:cNvSpPr txBox="1"/>
          <p:nvPr/>
        </p:nvSpPr>
        <p:spPr>
          <a:xfrm>
            <a:off x="6931152" y="3346704"/>
            <a:ext cx="4572000" cy="548640"/>
          </a:xfrm>
          <a:prstGeom prst="rect">
            <a:avLst/>
          </a:prstGeom>
          <a:noFill/>
        </p:spPr>
        <p:txBody>
          <a:bodyPr wrap="square" lIns="0" tIns="0" rIns="0" bIns="0">
            <a:spAutoFit/>
          </a:bodyPr>
          <a:lstStyle/>
          <a:p>
            <a:pPr>
              <a:spcAft>
                <a:spcPts val="400"/>
              </a:spcAft>
              <a:defRPr sz="1500" b="0">
                <a:solidFill>
                  <a:srgbClr val="617579"/>
                </a:solidFill>
                <a:latin typeface="Aptos"/>
              </a:defRPr>
            </a:pPr>
            <a:r>
              <a:t>Role, ownership and family visibility</a:t>
            </a:r>
          </a:p>
          <a:p>
            <a:pPr>
              <a:spcAft>
                <a:spcPts val="400"/>
              </a:spcAft>
              <a:defRPr sz="1500" b="0">
                <a:solidFill>
                  <a:srgbClr val="617579"/>
                </a:solidFill>
                <a:latin typeface="Aptos"/>
              </a:defRPr>
            </a:pPr>
            <a:r>
              <a:t>checked on the server.</a:t>
            </a:r>
          </a:p>
        </p:txBody>
      </p:sp>
      <p:sp>
        <p:nvSpPr>
          <p:cNvPr id="15" name="Oval 14"/>
          <p:cNvSpPr/>
          <p:nvPr/>
        </p:nvSpPr>
        <p:spPr>
          <a:xfrm>
            <a:off x="6419088" y="3913632"/>
            <a:ext cx="320040" cy="320040"/>
          </a:xfrm>
          <a:prstGeom prst="ellipse">
            <a:avLst/>
          </a:prstGeom>
          <a:solidFill>
            <a:srgbClr val="008D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28231" y="3954780"/>
            <a:ext cx="301752" cy="201168"/>
          </a:xfrm>
          <a:prstGeom prst="rect">
            <a:avLst/>
          </a:prstGeom>
          <a:noFill/>
        </p:spPr>
        <p:txBody>
          <a:bodyPr wrap="square" lIns="0" tIns="0" rIns="0" bIns="0">
            <a:spAutoFit/>
          </a:bodyPr>
          <a:lstStyle/>
          <a:p>
            <a:pPr algn="ctr">
              <a:spcAft>
                <a:spcPts val="400"/>
              </a:spcAft>
              <a:defRPr sz="1000" b="1">
                <a:solidFill>
                  <a:srgbClr val="FFFFFF"/>
                </a:solidFill>
                <a:latin typeface="Aptos"/>
              </a:defRPr>
            </a:pPr>
            <a:r>
              <a:t>3</a:t>
            </a:r>
          </a:p>
        </p:txBody>
      </p:sp>
      <p:sp>
        <p:nvSpPr>
          <p:cNvPr id="17" name="reveal_05"/>
          <p:cNvSpPr txBox="1"/>
          <p:nvPr/>
        </p:nvSpPr>
        <p:spPr>
          <a:xfrm>
            <a:off x="6931152" y="3886200"/>
            <a:ext cx="4572000" cy="365760"/>
          </a:xfrm>
          <a:prstGeom prst="rect">
            <a:avLst/>
          </a:prstGeom>
          <a:noFill/>
        </p:spPr>
        <p:txBody>
          <a:bodyPr wrap="square" lIns="0" tIns="0" rIns="0" bIns="0">
            <a:spAutoFit/>
          </a:bodyPr>
          <a:lstStyle/>
          <a:p>
            <a:pPr>
              <a:spcAft>
                <a:spcPts val="400"/>
              </a:spcAft>
              <a:defRPr sz="2300" b="1">
                <a:solidFill>
                  <a:srgbClr val="102F36"/>
                </a:solidFill>
                <a:latin typeface="Aptos"/>
              </a:defRPr>
            </a:pPr>
            <a:r>
              <a:t>Data &amp; AI</a:t>
            </a:r>
          </a:p>
        </p:txBody>
      </p:sp>
      <p:sp>
        <p:nvSpPr>
          <p:cNvPr id="18" name="reveal_05"/>
          <p:cNvSpPr txBox="1"/>
          <p:nvPr/>
        </p:nvSpPr>
        <p:spPr>
          <a:xfrm>
            <a:off x="6931152" y="4334256"/>
            <a:ext cx="4572000" cy="548640"/>
          </a:xfrm>
          <a:prstGeom prst="rect">
            <a:avLst/>
          </a:prstGeom>
          <a:noFill/>
        </p:spPr>
        <p:txBody>
          <a:bodyPr wrap="square" lIns="0" tIns="0" rIns="0" bIns="0">
            <a:spAutoFit/>
          </a:bodyPr>
          <a:lstStyle/>
          <a:p>
            <a:pPr>
              <a:spcAft>
                <a:spcPts val="400"/>
              </a:spcAft>
              <a:defRPr sz="1500" b="0">
                <a:solidFill>
                  <a:srgbClr val="617579"/>
                </a:solidFill>
                <a:latin typeface="Aptos"/>
              </a:defRPr>
            </a:pPr>
            <a:r>
              <a:t>Encrypted model keys; validated tools;</a:t>
            </a:r>
          </a:p>
          <a:p>
            <a:pPr>
              <a:spcAft>
                <a:spcPts val="400"/>
              </a:spcAft>
              <a:defRPr sz="1500" b="0">
                <a:solidFill>
                  <a:srgbClr val="617579"/>
                </a:solidFill>
                <a:latin typeface="Aptos"/>
              </a:defRPr>
            </a:pPr>
            <a:r>
              <a:t>credentials entered in secure forms.</a:t>
            </a:r>
          </a:p>
        </p:txBody>
      </p:sp>
      <p:sp>
        <p:nvSpPr>
          <p:cNvPr id="19" name="Oval 18"/>
          <p:cNvSpPr/>
          <p:nvPr/>
        </p:nvSpPr>
        <p:spPr>
          <a:xfrm>
            <a:off x="6419088" y="4901184"/>
            <a:ext cx="320040" cy="320040"/>
          </a:xfrm>
          <a:prstGeom prst="ellipse">
            <a:avLst/>
          </a:prstGeom>
          <a:solidFill>
            <a:srgbClr val="008D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28231" y="4942332"/>
            <a:ext cx="301752" cy="201168"/>
          </a:xfrm>
          <a:prstGeom prst="rect">
            <a:avLst/>
          </a:prstGeom>
          <a:noFill/>
        </p:spPr>
        <p:txBody>
          <a:bodyPr wrap="square" lIns="0" tIns="0" rIns="0" bIns="0">
            <a:spAutoFit/>
          </a:bodyPr>
          <a:lstStyle/>
          <a:p>
            <a:pPr algn="ctr">
              <a:spcAft>
                <a:spcPts val="400"/>
              </a:spcAft>
              <a:defRPr sz="1000" b="1">
                <a:solidFill>
                  <a:srgbClr val="FFFFFF"/>
                </a:solidFill>
                <a:latin typeface="Aptos"/>
              </a:defRPr>
            </a:pPr>
            <a:r>
              <a:t>4</a:t>
            </a:r>
          </a:p>
        </p:txBody>
      </p:sp>
      <p:sp>
        <p:nvSpPr>
          <p:cNvPr id="21" name="reveal_06"/>
          <p:cNvSpPr txBox="1"/>
          <p:nvPr/>
        </p:nvSpPr>
        <p:spPr>
          <a:xfrm>
            <a:off x="6931152" y="4873752"/>
            <a:ext cx="4572000" cy="365760"/>
          </a:xfrm>
          <a:prstGeom prst="rect">
            <a:avLst/>
          </a:prstGeom>
          <a:noFill/>
        </p:spPr>
        <p:txBody>
          <a:bodyPr wrap="square" lIns="0" tIns="0" rIns="0" bIns="0">
            <a:spAutoFit/>
          </a:bodyPr>
          <a:lstStyle/>
          <a:p>
            <a:pPr>
              <a:spcAft>
                <a:spcPts val="400"/>
              </a:spcAft>
              <a:defRPr sz="2300" b="1">
                <a:solidFill>
                  <a:srgbClr val="102F36"/>
                </a:solidFill>
                <a:latin typeface="Aptos"/>
              </a:defRPr>
            </a:pPr>
            <a:r>
              <a:t>Money integrity</a:t>
            </a:r>
          </a:p>
        </p:txBody>
      </p:sp>
      <p:sp>
        <p:nvSpPr>
          <p:cNvPr id="22" name="reveal_06"/>
          <p:cNvSpPr txBox="1"/>
          <p:nvPr/>
        </p:nvSpPr>
        <p:spPr>
          <a:xfrm>
            <a:off x="6931152" y="5321808"/>
            <a:ext cx="4572000" cy="548640"/>
          </a:xfrm>
          <a:prstGeom prst="rect">
            <a:avLst/>
          </a:prstGeom>
          <a:noFill/>
        </p:spPr>
        <p:txBody>
          <a:bodyPr wrap="square" lIns="0" tIns="0" rIns="0" bIns="0">
            <a:spAutoFit/>
          </a:bodyPr>
          <a:lstStyle/>
          <a:p>
            <a:pPr>
              <a:spcAft>
                <a:spcPts val="400"/>
              </a:spcAft>
              <a:defRPr sz="1500" b="0">
                <a:solidFill>
                  <a:srgbClr val="617579"/>
                </a:solidFill>
                <a:latin typeface="Aptos"/>
              </a:defRPr>
            </a:pPr>
            <a:r>
              <a:t>Confirmation, expiring tokens, locks,</a:t>
            </a:r>
          </a:p>
          <a:p>
            <a:pPr>
              <a:spcAft>
                <a:spcPts val="400"/>
              </a:spcAft>
              <a:defRPr sz="1500" b="0">
                <a:solidFill>
                  <a:srgbClr val="617579"/>
                </a:solidFill>
                <a:latin typeface="Aptos"/>
              </a:defRPr>
            </a:pPr>
            <a:r>
              <a:t>idempotency and balanced ledger.</a:t>
            </a:r>
          </a:p>
        </p:txBody>
      </p:sp>
      <p:sp>
        <p:nvSpPr>
          <p:cNvPr id="23" name="TextBox 22"/>
          <p:cNvSpPr txBox="1"/>
          <p:nvPr/>
        </p:nvSpPr>
        <p:spPr>
          <a:xfrm>
            <a:off x="667512" y="6108192"/>
            <a:ext cx="7589520" cy="246888"/>
          </a:xfrm>
          <a:prstGeom prst="rect">
            <a:avLst/>
          </a:prstGeom>
          <a:noFill/>
        </p:spPr>
        <p:txBody>
          <a:bodyPr wrap="square" lIns="0" tIns="0" rIns="0" bIns="0">
            <a:spAutoFit/>
          </a:bodyPr>
          <a:lstStyle/>
          <a:p>
            <a:pPr>
              <a:spcAft>
                <a:spcPts val="400"/>
              </a:spcAft>
              <a:defRPr sz="1200" b="1">
                <a:solidFill>
                  <a:srgbClr val="008D78"/>
                </a:solidFill>
                <a:latin typeface="Aptos"/>
              </a:defRPr>
            </a:pPr>
            <a:r>
              <a:t>Visibility settings  ·  Data export  ·  Account closure</a:t>
            </a:r>
          </a:p>
        </p:txBody>
      </p:sp>
      <p:sp>
        <p:nvSpPr>
          <p:cNvPr id="24" name="TextBox 23"/>
          <p:cNvSpPr txBox="1"/>
          <p:nvPr/>
        </p:nvSpPr>
        <p:spPr>
          <a:xfrm>
            <a:off x="8878824" y="6108192"/>
            <a:ext cx="2651760" cy="246888"/>
          </a:xfrm>
          <a:prstGeom prst="rect">
            <a:avLst/>
          </a:prstGeom>
          <a:noFill/>
        </p:spPr>
        <p:txBody>
          <a:bodyPr wrap="square" lIns="0" tIns="0" rIns="0" bIns="0">
            <a:spAutoFit/>
          </a:bodyPr>
          <a:lstStyle/>
          <a:p>
            <a:pPr algn="r">
              <a:spcAft>
                <a:spcPts val="400"/>
              </a:spcAft>
              <a:defRPr sz="1200" b="0">
                <a:solidFill>
                  <a:srgbClr val="617579"/>
                </a:solidFill>
                <a:latin typeface="Aptos"/>
              </a:defRPr>
            </a:pPr>
            <a:r>
              <a:t>Sandbox payments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380"/>
                                        <p:tgtEl>
                                          <p:spTgt spid="3"/>
                                        </p:tgtEl>
                                      </p:cBhvr>
                                    </p:animEffect>
                                  </p:childTnLst>
                                </p:cTn>
                              </p:par>
                            </p:childTnLst>
                          </p:cTn>
                        </p:par>
                        <p:par>
                          <p:cTn id="8" fill="hold">
                            <p:stCondLst>
                              <p:cond delay="380"/>
                            </p:stCondLst>
                            <p:childTnLst>
                              <p:par>
                                <p:cTn id="9" presetID="10" presetClass="entr" presetSubtype="0"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380"/>
                                        <p:tgtEl>
                                          <p:spTgt spid="6"/>
                                        </p:tgtEl>
                                      </p:cBhvr>
                                    </p:animEffect>
                                  </p:childTnLst>
                                </p:cTn>
                              </p:par>
                            </p:childTnLst>
                          </p:cTn>
                        </p:par>
                        <p:par>
                          <p:cTn id="12" fill="hold">
                            <p:stCondLst>
                              <p:cond delay="760"/>
                            </p:stCondLst>
                            <p:childTnLst>
                              <p:par>
                                <p:cTn id="13" presetID="10" presetClass="entr" presetSubtype="0" fill="hold" grpId="0"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380"/>
                                        <p:tgtEl>
                                          <p:spTgt spid="1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380"/>
                                        <p:tgtEl>
                                          <p:spTgt spid="9"/>
                                        </p:tgtEl>
                                      </p:cBhvr>
                                    </p:animEffect>
                                  </p:childTnLst>
                                </p:cTn>
                              </p:par>
                            </p:childTnLst>
                          </p:cTn>
                        </p:par>
                        <p:par>
                          <p:cTn id="19" fill="hold">
                            <p:stCondLst>
                              <p:cond delay="1140"/>
                            </p:stCondLst>
                            <p:childTnLst>
                              <p:par>
                                <p:cTn id="20" presetID="10" presetClass="entr" presetSubtype="0" fill="hold" grpId="0" nodeType="after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380"/>
                                        <p:tgtEl>
                                          <p:spTgt spid="14"/>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380"/>
                                        <p:tgtEl>
                                          <p:spTgt spid="13"/>
                                        </p:tgtEl>
                                      </p:cBhvr>
                                    </p:animEffect>
                                  </p:childTnLst>
                                </p:cTn>
                              </p:par>
                            </p:childTnLst>
                          </p:cTn>
                        </p:par>
                        <p:par>
                          <p:cTn id="26" fill="hold">
                            <p:stCondLst>
                              <p:cond delay="1520"/>
                            </p:stCondLst>
                            <p:childTnLst>
                              <p:par>
                                <p:cTn id="27" presetID="10" presetClass="entr" presetSubtype="0" fill="hold" grpId="0" nodeType="afterEffect">
                                  <p:stCondLst>
                                    <p:cond delay="0"/>
                                  </p:stCondLst>
                                  <p:childTnLst>
                                    <p:set>
                                      <p:cBhvr>
                                        <p:cTn id="28" dur="1" fill="hold">
                                          <p:stCondLst>
                                            <p:cond delay="0"/>
                                          </p:stCondLst>
                                        </p:cTn>
                                        <p:tgtEl>
                                          <p:spTgt spid="18"/>
                                        </p:tgtEl>
                                        <p:attrNameLst>
                                          <p:attrName>style.visibility</p:attrName>
                                        </p:attrNameLst>
                                      </p:cBhvr>
                                      <p:to>
                                        <p:strVal val="visible"/>
                                      </p:to>
                                    </p:set>
                                    <p:animEffect transition="in" filter="fade">
                                      <p:cBhvr>
                                        <p:cTn id="29" dur="380"/>
                                        <p:tgtEl>
                                          <p:spTgt spid="1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380"/>
                                        <p:tgtEl>
                                          <p:spTgt spid="17"/>
                                        </p:tgtEl>
                                      </p:cBhvr>
                                    </p:animEffect>
                                  </p:childTnLst>
                                </p:cTn>
                              </p:par>
                            </p:childTnLst>
                          </p:cTn>
                        </p:par>
                        <p:par>
                          <p:cTn id="33" fill="hold">
                            <p:stCondLst>
                              <p:cond delay="1900"/>
                            </p:stCondLst>
                            <p:childTnLst>
                              <p:par>
                                <p:cTn id="34" presetID="10" presetClass="entr" presetSubtype="0" fill="hold" grpId="0" nodeType="afterEffect">
                                  <p:stCondLst>
                                    <p:cond delay="0"/>
                                  </p:stCondLst>
                                  <p:childTnLst>
                                    <p:set>
                                      <p:cBhvr>
                                        <p:cTn id="35" dur="1" fill="hold">
                                          <p:stCondLst>
                                            <p:cond delay="0"/>
                                          </p:stCondLst>
                                        </p:cTn>
                                        <p:tgtEl>
                                          <p:spTgt spid="22"/>
                                        </p:tgtEl>
                                        <p:attrNameLst>
                                          <p:attrName>style.visibility</p:attrName>
                                        </p:attrNameLst>
                                      </p:cBhvr>
                                      <p:to>
                                        <p:strVal val="visible"/>
                                      </p:to>
                                    </p:set>
                                    <p:animEffect transition="in" filter="fade">
                                      <p:cBhvr>
                                        <p:cTn id="36" dur="380"/>
                                        <p:tgtEl>
                                          <p:spTgt spid="22"/>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1"/>
                                        </p:tgtEl>
                                        <p:attrNameLst>
                                          <p:attrName>style.visibility</p:attrName>
                                        </p:attrNameLst>
                                      </p:cBhvr>
                                      <p:to>
                                        <p:strVal val="visible"/>
                                      </p:to>
                                    </p:set>
                                    <p:animEffect transition="in" filter="fade">
                                      <p:cBhvr>
                                        <p:cTn id="39" dur="38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9" grpId="0"/>
      <p:bldP spid="10" grpId="0"/>
      <p:bldP spid="13" grpId="0"/>
      <p:bldP spid="14" grpId="0"/>
      <p:bldP spid="17" grpId="0"/>
      <p:bldP spid="18" grpId="0"/>
      <p:bldP spid="21" grpId="0"/>
      <p:bldP spid="22"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6F1"/>
        </a:solidFill>
        <a:effectLst/>
      </p:bgPr>
    </p:bg>
    <p:spTree>
      <p:nvGrpSpPr>
        <p:cNvPr id="1" name=""/>
        <p:cNvGrpSpPr/>
        <p:nvPr/>
      </p:nvGrpSpPr>
      <p:grpSpPr>
        <a:xfrm>
          <a:off x="0" y="0"/>
          <a:ext cx="0" cy="0"/>
          <a:chOff x="0" y="0"/>
          <a:chExt cx="0" cy="0"/>
        </a:xfrm>
      </p:grpSpPr>
      <p:sp>
        <p:nvSpPr>
          <p:cNvPr id="2" name="TextBox 1"/>
          <p:cNvSpPr txBox="1"/>
          <p:nvPr/>
        </p:nvSpPr>
        <p:spPr>
          <a:xfrm>
            <a:off x="594360" y="384048"/>
            <a:ext cx="10058400" cy="228600"/>
          </a:xfrm>
          <a:prstGeom prst="rect">
            <a:avLst/>
          </a:prstGeom>
          <a:noFill/>
        </p:spPr>
        <p:txBody>
          <a:bodyPr wrap="square" lIns="0" tIns="0" rIns="0" bIns="0">
            <a:spAutoFit/>
          </a:bodyPr>
          <a:lstStyle/>
          <a:p>
            <a:pPr>
              <a:spcAft>
                <a:spcPts val="400"/>
              </a:spcAft>
              <a:defRPr sz="1000" b="1">
                <a:solidFill>
                  <a:srgbClr val="008D78"/>
                </a:solidFill>
                <a:latin typeface="Aptos"/>
              </a:defRPr>
            </a:pPr>
            <a:r>
              <a:t>DEVELOPER INTRODUCTION</a:t>
            </a:r>
          </a:p>
        </p:txBody>
      </p:sp>
      <p:sp>
        <p:nvSpPr>
          <p:cNvPr id="3" name="reveal_01"/>
          <p:cNvSpPr txBox="1"/>
          <p:nvPr/>
        </p:nvSpPr>
        <p:spPr>
          <a:xfrm>
            <a:off x="594360" y="859536"/>
            <a:ext cx="10972800" cy="914400"/>
          </a:xfrm>
          <a:prstGeom prst="rect">
            <a:avLst/>
          </a:prstGeom>
          <a:noFill/>
        </p:spPr>
        <p:txBody>
          <a:bodyPr wrap="square" lIns="0" tIns="0" rIns="0" bIns="0">
            <a:spAutoFit/>
          </a:bodyPr>
          <a:lstStyle/>
          <a:p>
            <a:pPr>
              <a:spcAft>
                <a:spcPts val="400"/>
              </a:spcAft>
              <a:defRPr sz="3400" b="1">
                <a:solidFill>
                  <a:srgbClr val="102F36"/>
                </a:solidFill>
                <a:latin typeface="Aptos"/>
              </a:defRPr>
            </a:pPr>
            <a:r>
              <a:t>The people behind FinBridge AI</a:t>
            </a:r>
          </a:p>
        </p:txBody>
      </p:sp>
      <p:sp>
        <p:nvSpPr>
          <p:cNvPr id="4" name="TextBox 3"/>
          <p:cNvSpPr txBox="1"/>
          <p:nvPr/>
        </p:nvSpPr>
        <p:spPr>
          <a:xfrm>
            <a:off x="594360" y="6446520"/>
            <a:ext cx="2743200" cy="210312"/>
          </a:xfrm>
          <a:prstGeom prst="rect">
            <a:avLst/>
          </a:prstGeom>
          <a:noFill/>
        </p:spPr>
        <p:txBody>
          <a:bodyPr wrap="square" lIns="0" tIns="0" rIns="0" bIns="0">
            <a:spAutoFit/>
          </a:bodyPr>
          <a:lstStyle/>
          <a:p>
            <a:pPr>
              <a:spcAft>
                <a:spcPts val="400"/>
              </a:spcAft>
              <a:defRPr sz="1000" b="0">
                <a:solidFill>
                  <a:srgbClr val="617579"/>
                </a:solidFill>
                <a:latin typeface="Aptos"/>
              </a:defRPr>
            </a:pPr>
            <a:r>
              <a:t>FinBridge AI</a:t>
            </a:r>
          </a:p>
        </p:txBody>
      </p:sp>
      <p:sp>
        <p:nvSpPr>
          <p:cNvPr id="5" name="TextBox 4"/>
          <p:cNvSpPr txBox="1"/>
          <p:nvPr/>
        </p:nvSpPr>
        <p:spPr>
          <a:xfrm>
            <a:off x="10991088" y="6391656"/>
            <a:ext cx="594360" cy="274320"/>
          </a:xfrm>
          <a:prstGeom prst="rect">
            <a:avLst/>
          </a:prstGeom>
          <a:noFill/>
        </p:spPr>
        <p:txBody>
          <a:bodyPr wrap="square" lIns="0" tIns="0" rIns="0" bIns="0">
            <a:spAutoFit/>
          </a:bodyPr>
          <a:lstStyle/>
          <a:p>
            <a:pPr algn="r">
              <a:spcAft>
                <a:spcPts val="400"/>
              </a:spcAft>
              <a:defRPr sz="1200" b="1">
                <a:solidFill>
                  <a:srgbClr val="008D78"/>
                </a:solidFill>
                <a:latin typeface="Aptos"/>
              </a:defRPr>
            </a:pPr>
            <a:r>
              <a:t>10</a:t>
            </a:r>
          </a:p>
        </p:txBody>
      </p:sp>
      <p:pic>
        <p:nvPicPr>
          <p:cNvPr id="6" name="reveal_02" descr="demo-developer-1.png"/>
          <p:cNvPicPr>
            <a:picLocks noChangeAspect="1"/>
          </p:cNvPicPr>
          <p:nvPr/>
        </p:nvPicPr>
        <p:blipFill>
          <a:blip r:embed="rId3"/>
          <a:stretch>
            <a:fillRect/>
          </a:stretch>
        </p:blipFill>
        <p:spPr>
          <a:xfrm>
            <a:off x="1792224" y="1984248"/>
            <a:ext cx="2157984" cy="2157984"/>
          </a:xfrm>
          <a:prstGeom prst="rect">
            <a:avLst/>
          </a:prstGeom>
        </p:spPr>
      </p:pic>
      <p:sp>
        <p:nvSpPr>
          <p:cNvPr id="7" name="reveal_04"/>
          <p:cNvSpPr txBox="1"/>
          <p:nvPr/>
        </p:nvSpPr>
        <p:spPr>
          <a:xfrm>
            <a:off x="1207008" y="4462272"/>
            <a:ext cx="3383280" cy="502920"/>
          </a:xfrm>
          <a:prstGeom prst="rect">
            <a:avLst/>
          </a:prstGeom>
          <a:noFill/>
        </p:spPr>
        <p:txBody>
          <a:bodyPr wrap="square" lIns="0" tIns="0" rIns="0" bIns="0">
            <a:spAutoFit/>
          </a:bodyPr>
          <a:lstStyle/>
          <a:p>
            <a:pPr algn="ctr">
              <a:spcAft>
                <a:spcPts val="400"/>
              </a:spcAft>
              <a:defRPr sz="2900" b="1">
                <a:solidFill>
                  <a:srgbClr val="102F36"/>
                </a:solidFill>
                <a:latin typeface="Aptos"/>
              </a:defRPr>
            </a:pPr>
            <a:r>
              <a:t>Developer 1</a:t>
            </a:r>
          </a:p>
        </p:txBody>
      </p:sp>
      <p:sp>
        <p:nvSpPr>
          <p:cNvPr id="8" name="reveal_04"/>
          <p:cNvSpPr txBox="1"/>
          <p:nvPr/>
        </p:nvSpPr>
        <p:spPr>
          <a:xfrm>
            <a:off x="1207008" y="5148072"/>
            <a:ext cx="3383280" cy="411480"/>
          </a:xfrm>
          <a:prstGeom prst="rect">
            <a:avLst/>
          </a:prstGeom>
          <a:noFill/>
        </p:spPr>
        <p:txBody>
          <a:bodyPr wrap="square" lIns="0" tIns="0" rIns="0" bIns="0">
            <a:spAutoFit/>
          </a:bodyPr>
          <a:lstStyle/>
          <a:p>
            <a:pPr algn="ctr">
              <a:spcAft>
                <a:spcPts val="400"/>
              </a:spcAft>
              <a:defRPr sz="1800" b="0">
                <a:solidFill>
                  <a:srgbClr val="008D78"/>
                </a:solidFill>
                <a:latin typeface="Aptos"/>
              </a:defRPr>
            </a:pPr>
            <a:r>
              <a:t>AI &amp; Backend</a:t>
            </a:r>
          </a:p>
        </p:txBody>
      </p:sp>
      <p:pic>
        <p:nvPicPr>
          <p:cNvPr id="9" name="reveal_03" descr="demo-developer-2.png"/>
          <p:cNvPicPr>
            <a:picLocks noChangeAspect="1"/>
          </p:cNvPicPr>
          <p:nvPr/>
        </p:nvPicPr>
        <p:blipFill>
          <a:blip r:embed="rId4"/>
          <a:stretch>
            <a:fillRect/>
          </a:stretch>
        </p:blipFill>
        <p:spPr>
          <a:xfrm>
            <a:off x="7799832" y="1984248"/>
            <a:ext cx="2157984" cy="2157984"/>
          </a:xfrm>
          <a:prstGeom prst="rect">
            <a:avLst/>
          </a:prstGeom>
        </p:spPr>
      </p:pic>
      <p:sp>
        <p:nvSpPr>
          <p:cNvPr id="10" name="reveal_05"/>
          <p:cNvSpPr txBox="1"/>
          <p:nvPr/>
        </p:nvSpPr>
        <p:spPr>
          <a:xfrm>
            <a:off x="7214616" y="4462272"/>
            <a:ext cx="3383280" cy="502920"/>
          </a:xfrm>
          <a:prstGeom prst="rect">
            <a:avLst/>
          </a:prstGeom>
          <a:noFill/>
        </p:spPr>
        <p:txBody>
          <a:bodyPr wrap="square" lIns="0" tIns="0" rIns="0" bIns="0">
            <a:spAutoFit/>
          </a:bodyPr>
          <a:lstStyle/>
          <a:p>
            <a:pPr algn="ctr">
              <a:spcAft>
                <a:spcPts val="400"/>
              </a:spcAft>
              <a:defRPr sz="2900" b="1">
                <a:solidFill>
                  <a:srgbClr val="102F36"/>
                </a:solidFill>
                <a:latin typeface="Aptos"/>
              </a:defRPr>
            </a:pPr>
            <a:r>
              <a:t>Developer 2</a:t>
            </a:r>
          </a:p>
        </p:txBody>
      </p:sp>
      <p:sp>
        <p:nvSpPr>
          <p:cNvPr id="11" name="reveal_05"/>
          <p:cNvSpPr txBox="1"/>
          <p:nvPr/>
        </p:nvSpPr>
        <p:spPr>
          <a:xfrm>
            <a:off x="7214616" y="5148072"/>
            <a:ext cx="3383280" cy="411480"/>
          </a:xfrm>
          <a:prstGeom prst="rect">
            <a:avLst/>
          </a:prstGeom>
          <a:noFill/>
        </p:spPr>
        <p:txBody>
          <a:bodyPr wrap="square" lIns="0" tIns="0" rIns="0" bIns="0">
            <a:spAutoFit/>
          </a:bodyPr>
          <a:lstStyle/>
          <a:p>
            <a:pPr algn="ctr">
              <a:spcAft>
                <a:spcPts val="400"/>
              </a:spcAft>
              <a:defRPr sz="1800" b="0">
                <a:solidFill>
                  <a:srgbClr val="008D78"/>
                </a:solidFill>
                <a:latin typeface="Aptos"/>
              </a:defRPr>
            </a:pPr>
            <a:r>
              <a:t>Frontend &amp; UX</a:t>
            </a:r>
          </a:p>
        </p:txBody>
      </p:sp>
      <p:pic>
        <p:nvPicPr>
          <p:cNvPr id="12" name="reveal_06" descr="10-team.gif"/>
          <p:cNvPicPr>
            <a:picLocks noChangeAspect="1"/>
          </p:cNvPicPr>
          <p:nvPr/>
        </p:nvPicPr>
        <p:blipFill>
          <a:blip r:embed="rId5"/>
          <a:stretch>
            <a:fillRect/>
          </a:stretch>
        </p:blipFill>
        <p:spPr>
          <a:xfrm>
            <a:off x="4992624" y="2761488"/>
            <a:ext cx="2176272" cy="1636776"/>
          </a:xfrm>
          <a:prstGeom prst="rect">
            <a:avLst/>
          </a:prstGeom>
        </p:spPr>
      </p:pic>
      <p:sp>
        <p:nvSpPr>
          <p:cNvPr id="13" name="TextBox 12"/>
          <p:cNvSpPr txBox="1"/>
          <p:nvPr/>
        </p:nvSpPr>
        <p:spPr>
          <a:xfrm>
            <a:off x="640080" y="6071616"/>
            <a:ext cx="10881360" cy="274320"/>
          </a:xfrm>
          <a:prstGeom prst="rect">
            <a:avLst/>
          </a:prstGeom>
          <a:noFill/>
        </p:spPr>
        <p:txBody>
          <a:bodyPr wrap="square" lIns="0" tIns="0" rIns="0" bIns="0">
            <a:spAutoFit/>
          </a:bodyPr>
          <a:lstStyle/>
          <a:p>
            <a:pPr algn="ctr">
              <a:spcAft>
                <a:spcPts val="400"/>
              </a:spcAft>
              <a:defRPr sz="1200" b="0">
                <a:solidFill>
                  <a:srgbClr val="617579"/>
                </a:solidFill>
                <a:latin typeface="Aptos"/>
              </a:defRPr>
            </a:pPr>
            <a:r>
              <a:t>Demo portraits, names and roles — replace with your team.</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380"/>
                                        <p:tgtEl>
                                          <p:spTgt spid="3"/>
                                        </p:tgtEl>
                                      </p:cBhvr>
                                    </p:animEffect>
                                  </p:childTnLst>
                                </p:cTn>
                              </p:par>
                            </p:childTnLst>
                          </p:cTn>
                        </p:par>
                        <p:par>
                          <p:cTn id="8" fill="hold">
                            <p:stCondLst>
                              <p:cond delay="380"/>
                            </p:stCondLst>
                            <p:childTnLst>
                              <p:par>
                                <p:cTn id="9" presetID="10" presetClass="entr" presetSubtype="0"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380"/>
                                        <p:tgtEl>
                                          <p:spTgt spid="6"/>
                                        </p:tgtEl>
                                      </p:cBhvr>
                                    </p:animEffect>
                                  </p:childTnLst>
                                </p:cTn>
                              </p:par>
                            </p:childTnLst>
                          </p:cTn>
                        </p:par>
                        <p:par>
                          <p:cTn id="12" fill="hold">
                            <p:stCondLst>
                              <p:cond delay="760"/>
                            </p:stCondLst>
                            <p:childTnLst>
                              <p:par>
                                <p:cTn id="13" presetID="10" presetClass="entr" presetSubtype="0" fill="hold" nodeType="after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380"/>
                                        <p:tgtEl>
                                          <p:spTgt spid="9"/>
                                        </p:tgtEl>
                                      </p:cBhvr>
                                    </p:animEffect>
                                  </p:childTnLst>
                                </p:cTn>
                              </p:par>
                            </p:childTnLst>
                          </p:cTn>
                        </p:par>
                        <p:par>
                          <p:cTn id="16" fill="hold">
                            <p:stCondLst>
                              <p:cond delay="1140"/>
                            </p:stCondLst>
                            <p:childTnLst>
                              <p:par>
                                <p:cTn id="17" presetID="10" presetClass="entr" presetSubtype="0" fill="hold" grpId="0" nodeType="after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380"/>
                                        <p:tgtEl>
                                          <p:spTgt spid="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380"/>
                                        <p:tgtEl>
                                          <p:spTgt spid="7"/>
                                        </p:tgtEl>
                                      </p:cBhvr>
                                    </p:animEffect>
                                  </p:childTnLst>
                                </p:cTn>
                              </p:par>
                            </p:childTnLst>
                          </p:cTn>
                        </p:par>
                        <p:par>
                          <p:cTn id="23" fill="hold">
                            <p:stCondLst>
                              <p:cond delay="1520"/>
                            </p:stCondLst>
                            <p:childTnLst>
                              <p:par>
                                <p:cTn id="24" presetID="10" presetClass="entr" presetSubtype="0" fill="hold" grpId="0" nodeType="after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380"/>
                                        <p:tgtEl>
                                          <p:spTgt spid="11"/>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380"/>
                                        <p:tgtEl>
                                          <p:spTgt spid="10"/>
                                        </p:tgtEl>
                                      </p:cBhvr>
                                    </p:animEffect>
                                  </p:childTnLst>
                                </p:cTn>
                              </p:par>
                            </p:childTnLst>
                          </p:cTn>
                        </p:par>
                        <p:par>
                          <p:cTn id="30" fill="hold">
                            <p:stCondLst>
                              <p:cond delay="1900"/>
                            </p:stCondLst>
                            <p:childTnLst>
                              <p:par>
                                <p:cTn id="31" presetID="10" presetClass="entr" presetSubtype="0" fill="hold" nodeType="after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38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p:bldP spid="8" grpId="0"/>
      <p:bldP spid="10" grpId="0"/>
      <p:bldP spid="11"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2667</Words>
  <Application>Microsoft Office PowerPoint</Application>
  <PresentationFormat>Widescreen</PresentationFormat>
  <Paragraphs>199</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FinBridge AI</dc:title>
  <dc:subject>Visual project presentation</dc:subject>
  <dc:creator>FinBridge AI Project Team</dc:creator>
  <cp:keywords/>
  <dc:description>generated using python-pptx</dc:description>
  <cp:lastModifiedBy>WALTON</cp:lastModifiedBy>
  <cp:revision>4</cp:revision>
  <dcterms:created xsi:type="dcterms:W3CDTF">2013-01-27T09:14:16Z</dcterms:created>
  <dcterms:modified xsi:type="dcterms:W3CDTF">2026-10-20T09:49:09Z</dcterms:modified>
  <cp:category/>
</cp:coreProperties>
</file>