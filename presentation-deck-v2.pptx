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5" r:id="rId3"/>
    <p:sldId id="257" r:id="rId4"/>
    <p:sldId id="258" r:id="rId5"/>
    <p:sldId id="259" r:id="rId6"/>
    <p:sldId id="260" r:id="rId7"/>
    <p:sldId id="261" r:id="rId8"/>
    <p:sldId id="262" r:id="rId9"/>
    <p:sldId id="263" r:id="rId10"/>
    <p:sldId id="266" r:id="rId11"/>
    <p:sldId id="264"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Projected funds</c:v>
                </c:pt>
              </c:strCache>
            </c:strRef>
          </c:tx>
          <c:spPr>
            <a:ln w="38100">
              <a:solidFill>
                <a:srgbClr val="63E6BE"/>
              </a:solidFill>
            </a:ln>
          </c:spPr>
          <c:marker>
            <c:symbol val="none"/>
          </c:marker>
          <c:cat>
            <c:strRef>
              <c:f>Sheet1!$A$2:$A$4</c:f>
              <c:strCache>
                <c:ptCount val="3"/>
                <c:pt idx="0">
                  <c:v>Now</c:v>
                </c:pt>
                <c:pt idx="1">
                  <c:v>Month 1</c:v>
                </c:pt>
                <c:pt idx="2">
                  <c:v>Tuition due</c:v>
                </c:pt>
              </c:strCache>
            </c:strRef>
          </c:cat>
          <c:val>
            <c:numRef>
              <c:f>Sheet1!$B$2:$B$4</c:f>
              <c:numCache>
                <c:formatCode>General</c:formatCode>
                <c:ptCount val="3"/>
                <c:pt idx="0">
                  <c:v>27500</c:v>
                </c:pt>
                <c:pt idx="1">
                  <c:v>30375</c:v>
                </c:pt>
                <c:pt idx="2">
                  <c:v>33250</c:v>
                </c:pt>
              </c:numCache>
            </c:numRef>
          </c:val>
          <c:smooth val="0"/>
          <c:extLst>
            <c:ext xmlns:c16="http://schemas.microsoft.com/office/drawing/2014/chart" uri="{C3380CC4-5D6E-409C-BE32-E72D297353CC}">
              <c16:uniqueId val="{00000000-120E-4D1A-A0E1-E910A6F614F6}"/>
            </c:ext>
          </c:extLst>
        </c:ser>
        <c:ser>
          <c:idx val="1"/>
          <c:order val="1"/>
          <c:tx>
            <c:strRef>
              <c:f>Sheet1!$C$1</c:f>
              <c:strCache>
                <c:ptCount val="1"/>
                <c:pt idx="0">
                  <c:v>Tuition required</c:v>
                </c:pt>
              </c:strCache>
            </c:strRef>
          </c:tx>
          <c:spPr>
            <a:ln w="38100">
              <a:solidFill>
                <a:srgbClr val="F3C969"/>
              </a:solidFill>
            </a:ln>
          </c:spPr>
          <c:marker>
            <c:symbol val="none"/>
          </c:marker>
          <c:cat>
            <c:strRef>
              <c:f>Sheet1!$A$2:$A$4</c:f>
              <c:strCache>
                <c:ptCount val="3"/>
                <c:pt idx="0">
                  <c:v>Now</c:v>
                </c:pt>
                <c:pt idx="1">
                  <c:v>Month 1</c:v>
                </c:pt>
                <c:pt idx="2">
                  <c:v>Tuition due</c:v>
                </c:pt>
              </c:strCache>
            </c:strRef>
          </c:cat>
          <c:val>
            <c:numRef>
              <c:f>Sheet1!$C$2:$C$4</c:f>
              <c:numCache>
                <c:formatCode>General</c:formatCode>
                <c:ptCount val="3"/>
                <c:pt idx="0">
                  <c:v>40000</c:v>
                </c:pt>
                <c:pt idx="1">
                  <c:v>40000</c:v>
                </c:pt>
                <c:pt idx="2">
                  <c:v>40000</c:v>
                </c:pt>
              </c:numCache>
            </c:numRef>
          </c:val>
          <c:smooth val="0"/>
          <c:extLst>
            <c:ext xmlns:c16="http://schemas.microsoft.com/office/drawing/2014/chart" uri="{C3380CC4-5D6E-409C-BE32-E72D297353CC}">
              <c16:uniqueId val="{00000001-120E-4D1A-A0E1-E910A6F614F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40495176"/>
        <c:crosses val="autoZero"/>
        <c:auto val="1"/>
        <c:lblAlgn val="ctr"/>
        <c:lblOffset val="100"/>
        <c:noMultiLvlLbl val="0"/>
      </c:catAx>
      <c:valAx>
        <c:axId val="2140495176"/>
        <c:scaling>
          <c:orientation val="minMax"/>
          <c:max val="450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118791784"/>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0"/>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Extra sender cost in BDT</c:v>
                </c:pt>
              </c:strCache>
            </c:strRef>
          </c:tx>
          <c:spPr>
            <a:solidFill>
              <a:srgbClr val="63E6BE"/>
            </a:solidFill>
            <a:ln>
              <a:noFill/>
            </a:ln>
          </c:spPr>
          <c:invertIfNegative val="1"/>
          <c:dPt>
            <c:idx val="0"/>
            <c:invertIfNegative val="1"/>
            <c:bubble3D val="0"/>
            <c:extLst>
              <c:ext xmlns:c16="http://schemas.microsoft.com/office/drawing/2014/chart" uri="{C3380CC4-5D6E-409C-BE32-E72D297353CC}">
                <c16:uniqueId val="{00000001-9B9F-4849-8039-2156EFE5E1C2}"/>
              </c:ext>
            </c:extLst>
          </c:dPt>
          <c:dPt>
            <c:idx val="1"/>
            <c:invertIfNegative val="1"/>
            <c:bubble3D val="0"/>
            <c:spPr>
              <a:solidFill>
                <a:srgbClr val="6BB9FF"/>
              </a:solidFill>
              <a:ln>
                <a:noFill/>
              </a:ln>
            </c:spPr>
            <c:extLst>
              <c:ext xmlns:c16="http://schemas.microsoft.com/office/drawing/2014/chart" uri="{C3380CC4-5D6E-409C-BE32-E72D297353CC}">
                <c16:uniqueId val="{00000003-9B9F-4849-8039-2156EFE5E1C2}"/>
              </c:ext>
            </c:extLst>
          </c:dPt>
          <c:dPt>
            <c:idx val="2"/>
            <c:invertIfNegative val="1"/>
            <c:bubble3D val="0"/>
            <c:spPr>
              <a:solidFill>
                <a:srgbClr val="B4A3FF"/>
              </a:solidFill>
              <a:ln>
                <a:noFill/>
              </a:ln>
            </c:spPr>
            <c:extLst>
              <c:ext xmlns:c16="http://schemas.microsoft.com/office/drawing/2014/chart" uri="{C3380CC4-5D6E-409C-BE32-E72D297353CC}">
                <c16:uniqueId val="{00000005-9B9F-4849-8039-2156EFE5E1C2}"/>
              </c:ext>
            </c:extLst>
          </c:dPt>
          <c:dPt>
            <c:idx val="3"/>
            <c:invertIfNegative val="1"/>
            <c:bubble3D val="0"/>
            <c:spPr>
              <a:solidFill>
                <a:srgbClr val="F3C969"/>
              </a:solidFill>
              <a:ln>
                <a:noFill/>
              </a:ln>
            </c:spPr>
            <c:extLst>
              <c:ext xmlns:c16="http://schemas.microsoft.com/office/drawing/2014/chart" uri="{C3380CC4-5D6E-409C-BE32-E72D297353CC}">
                <c16:uniqueId val="{00000007-9B9F-4849-8039-2156EFE5E1C2}"/>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StudentTransfer</c:v>
                </c:pt>
                <c:pt idx="1">
                  <c:v>GlobeSend</c:v>
                </c:pt>
                <c:pt idx="2">
                  <c:v>FastRemit</c:v>
                </c:pt>
                <c:pt idx="3">
                  <c:v>SwiftBank</c:v>
                </c:pt>
              </c:strCache>
            </c:strRef>
          </c:cat>
          <c:val>
            <c:numRef>
              <c:f>Sheet1!$B$2:$B$5</c:f>
              <c:numCache>
                <c:formatCode>General</c:formatCode>
                <c:ptCount val="4"/>
                <c:pt idx="0">
                  <c:v>0</c:v>
                </c:pt>
                <c:pt idx="1">
                  <c:v>362.1</c:v>
                </c:pt>
                <c:pt idx="2">
                  <c:v>893.85</c:v>
                </c:pt>
                <c:pt idx="3">
                  <c:v>2913.91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9B9F-4849-8039-2156EFE5E1C2}"/>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35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Budget</c:v>
                </c:pt>
              </c:strCache>
            </c:strRef>
          </c:tx>
          <c:spPr>
            <a:solidFill>
              <a:srgbClr val="6BB9FF"/>
            </a:solidFill>
            <a:ln>
              <a:noFill/>
            </a:ln>
          </c:spPr>
          <c:invertIfNegative val="1"/>
          <c:cat>
            <c:strRef>
              <c:f>Sheet1!$A$2:$A$4</c:f>
              <c:strCache>
                <c:ptCount val="3"/>
                <c:pt idx="0">
                  <c:v>Housing</c:v>
                </c:pt>
                <c:pt idx="1">
                  <c:v>Food</c:v>
                </c:pt>
                <c:pt idx="2">
                  <c:v>Transport</c:v>
                </c:pt>
              </c:strCache>
            </c:strRef>
          </c:cat>
          <c:val>
            <c:numRef>
              <c:f>Sheet1!$B$2:$B$4</c:f>
              <c:numCache>
                <c:formatCode>General</c:formatCode>
                <c:ptCount val="3"/>
                <c:pt idx="0">
                  <c:v>1400</c:v>
                </c:pt>
                <c:pt idx="1">
                  <c:v>500</c:v>
                </c:pt>
                <c:pt idx="2">
                  <c:v>200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1FE-4F28-9C86-05F6B60EC23B}"/>
            </c:ext>
          </c:extLst>
        </c:ser>
        <c:ser>
          <c:idx val="1"/>
          <c:order val="1"/>
          <c:tx>
            <c:strRef>
              <c:f>Sheet1!$C$1</c:f>
              <c:strCache>
                <c:ptCount val="1"/>
                <c:pt idx="0">
                  <c:v>Spent</c:v>
                </c:pt>
              </c:strCache>
            </c:strRef>
          </c:tx>
          <c:spPr>
            <a:solidFill>
              <a:srgbClr val="63E6BE"/>
            </a:solidFill>
            <a:ln>
              <a:noFill/>
            </a:ln>
          </c:spPr>
          <c:invertIfNegative val="1"/>
          <c:cat>
            <c:strRef>
              <c:f>Sheet1!$A$2:$A$4</c:f>
              <c:strCache>
                <c:ptCount val="3"/>
                <c:pt idx="0">
                  <c:v>Housing</c:v>
                </c:pt>
                <c:pt idx="1">
                  <c:v>Food</c:v>
                </c:pt>
                <c:pt idx="2">
                  <c:v>Transport</c:v>
                </c:pt>
              </c:strCache>
            </c:strRef>
          </c:cat>
          <c:val>
            <c:numRef>
              <c:f>Sheet1!$C$2:$C$4</c:f>
              <c:numCache>
                <c:formatCode>General</c:formatCode>
                <c:ptCount val="3"/>
                <c:pt idx="0">
                  <c:v>1500</c:v>
                </c:pt>
                <c:pt idx="1">
                  <c:v>450</c:v>
                </c:pt>
                <c:pt idx="2">
                  <c:v>175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1FE-4F28-9C86-05F6B60EC23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800"/>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legend>
      <c:legendPos val="b"/>
      <c:overlay val="0"/>
      <c:txPr>
        <a:bodyPr/>
        <a:lstStyle/>
        <a:p>
          <a:pPr>
            <a:defRPr sz="1000">
              <a:solidFill>
                <a:srgbClr val="A2B4CA"/>
              </a:solidFill>
            </a:defRPr>
          </a:pPr>
          <a:endParaRPr lang="en-US"/>
        </a:p>
      </c:txPr>
    </c:legend>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CNY</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16D0-4AC8-A898-8E6A6BFDF63F}"/>
              </c:ext>
            </c:extLst>
          </c:dPt>
          <c:dPt>
            <c:idx val="1"/>
            <c:invertIfNegative val="1"/>
            <c:bubble3D val="0"/>
            <c:spPr>
              <a:solidFill>
                <a:srgbClr val="6BB9FF"/>
              </a:solidFill>
              <a:ln>
                <a:noFill/>
              </a:ln>
            </c:spPr>
            <c:extLst>
              <c:ext xmlns:c16="http://schemas.microsoft.com/office/drawing/2014/chart" uri="{C3380CC4-5D6E-409C-BE32-E72D297353CC}">
                <c16:uniqueId val="{00000003-16D0-4AC8-A898-8E6A6BFDF63F}"/>
              </c:ext>
            </c:extLst>
          </c:dPt>
          <c:dPt>
            <c:idx val="2"/>
            <c:invertIfNegative val="1"/>
            <c:bubble3D val="0"/>
            <c:spPr>
              <a:solidFill>
                <a:srgbClr val="63E6BE"/>
              </a:solidFill>
              <a:ln>
                <a:noFill/>
              </a:ln>
            </c:spPr>
            <c:extLst>
              <c:ext xmlns:c16="http://schemas.microsoft.com/office/drawing/2014/chart" uri="{C3380CC4-5D6E-409C-BE32-E72D297353CC}">
                <c16:uniqueId val="{00000005-16D0-4AC8-A898-8E6A6BFDF63F}"/>
              </c:ext>
            </c:extLst>
          </c:dPt>
          <c:dLbls>
            <c:numFmt formatCode="#,##0" sourceLinked="0"/>
            <c:spPr>
              <a:noFill/>
              <a:ln>
                <a:noFill/>
              </a:ln>
              <a:effectLst/>
            </c:spPr>
            <c:txPr>
              <a:bodyPr/>
              <a:lstStyle/>
              <a:p>
                <a:pPr>
                  <a:defRPr sz="1100">
                    <a:solidFill>
                      <a:srgbClr val="EDF5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Approval threshold</c:v>
                </c:pt>
                <c:pt idx="1">
                  <c:v>Student request</c:v>
                </c:pt>
                <c:pt idx="2">
                  <c:v>Hard transfer cap</c:v>
                </c:pt>
              </c:strCache>
            </c:strRef>
          </c:cat>
          <c:val>
            <c:numRef>
              <c:f>Sheet1!$B$2:$B$4</c:f>
              <c:numCache>
                <c:formatCode>General</c:formatCode>
                <c:ptCount val="3"/>
                <c:pt idx="0">
                  <c:v>5000</c:v>
                </c:pt>
                <c:pt idx="1">
                  <c:v>6750</c:v>
                </c:pt>
                <c:pt idx="2">
                  <c:v>10000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16D0-4AC8-A898-8E6A6BFDF63F}"/>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Requests</c:v>
                </c:pt>
              </c:strCache>
            </c:strRef>
          </c:tx>
          <c:spPr>
            <a:solidFill>
              <a:srgbClr val="F3C969"/>
            </a:solidFill>
            <a:ln>
              <a:noFill/>
            </a:ln>
          </c:spPr>
          <c:invertIfNegative val="1"/>
          <c:dPt>
            <c:idx val="0"/>
            <c:invertIfNegative val="1"/>
            <c:bubble3D val="0"/>
            <c:extLst>
              <c:ext xmlns:c16="http://schemas.microsoft.com/office/drawing/2014/chart" uri="{C3380CC4-5D6E-409C-BE32-E72D297353CC}">
                <c16:uniqueId val="{00000001-9B57-4708-B747-A0BEA44C2D77}"/>
              </c:ext>
            </c:extLst>
          </c:dPt>
          <c:dPt>
            <c:idx val="1"/>
            <c:invertIfNegative val="1"/>
            <c:bubble3D val="0"/>
            <c:spPr>
              <a:solidFill>
                <a:srgbClr val="6BB9FF"/>
              </a:solidFill>
              <a:ln>
                <a:noFill/>
              </a:ln>
            </c:spPr>
            <c:extLst>
              <c:ext xmlns:c16="http://schemas.microsoft.com/office/drawing/2014/chart" uri="{C3380CC4-5D6E-409C-BE32-E72D297353CC}">
                <c16:uniqueId val="{00000003-9B57-4708-B747-A0BEA44C2D77}"/>
              </c:ext>
            </c:extLst>
          </c:dPt>
          <c:dPt>
            <c:idx val="2"/>
            <c:invertIfNegative val="1"/>
            <c:bubble3D val="0"/>
            <c:spPr>
              <a:solidFill>
                <a:srgbClr val="63E6BE"/>
              </a:solidFill>
              <a:ln>
                <a:noFill/>
              </a:ln>
            </c:spPr>
            <c:extLst>
              <c:ext xmlns:c16="http://schemas.microsoft.com/office/drawing/2014/chart" uri="{C3380CC4-5D6E-409C-BE32-E72D297353CC}">
                <c16:uniqueId val="{00000005-9B57-4708-B747-A0BEA44C2D77}"/>
              </c:ext>
            </c:extLst>
          </c:dPt>
          <c:cat>
            <c:strRef>
              <c:f>Sheet1!$A$2:$A$4</c:f>
              <c:strCache>
                <c:ptCount val="3"/>
                <c:pt idx="0">
                  <c:v>Queued</c:v>
                </c:pt>
                <c:pt idx="1">
                  <c:v>Processing</c:v>
                </c:pt>
                <c:pt idx="2">
                  <c:v>Completed</c:v>
                </c:pt>
              </c:strCache>
            </c:strRef>
          </c:cat>
          <c:val>
            <c:numRef>
              <c:f>Sheet1!$B$2:$B$4</c:f>
              <c:numCache>
                <c:formatCode>General</c:formatCode>
                <c:ptCount val="3"/>
                <c:pt idx="0">
                  <c:v>6</c:v>
                </c:pt>
                <c:pt idx="1">
                  <c:v>2</c:v>
                </c:pt>
                <c:pt idx="2">
                  <c:v>12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9B57-4708-B747-A0BEA44C2D7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100">
                <a:solidFill>
                  <a:srgbClr val="A2B4CA"/>
                </a:solidFill>
              </a:defRPr>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263951"/>
              </a:solidFill>
            </a:ln>
          </c:spPr>
        </c:majorGridlines>
        <c:numFmt formatCode="General" sourceLinked="1"/>
        <c:majorTickMark val="out"/>
        <c:minorTickMark val="none"/>
        <c:tickLblPos val="nextTo"/>
        <c:spPr>
          <a:ln>
            <a:noFill/>
          </a:ln>
        </c:spPr>
        <c:txPr>
          <a:bodyPr/>
          <a:lstStyle/>
          <a:p>
            <a:pPr>
              <a:defRPr sz="1000">
                <a:solidFill>
                  <a:srgbClr val="A2B4CA"/>
                </a:solidFill>
              </a:defRPr>
            </a:pPr>
            <a:endParaRPr lang="en-US"/>
          </a:p>
        </c:txPr>
        <c:crossAx val="-2068027336"/>
        <c:crosses val="autoZero"/>
        <c:crossBetween val="between"/>
      </c:valAx>
    </c:plotArea>
    <c:plotVisOnly val="1"/>
    <c:dispBlanksAs val="gap"/>
    <c:showDLblsOverMax val="1"/>
  </c:chart>
  <c:spPr>
    <a:noFill/>
    <a:ln>
      <a:noFill/>
    </a:ln>
  </c:spPr>
  <c:txPr>
    <a:bodyPr/>
    <a:lstStyle/>
    <a:p>
      <a:pPr>
        <a:defRPr sz="1100">
          <a:solidFill>
            <a:srgbClr val="A2B4CA"/>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91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V2 REVISION: Cover rebuilt with the new bridge/open-book logo and a human before/after funding illustration. Removed the sentence beneath the product title as requested. Illustration: concerned student with fragmented family funding becomes a calm student with a clear tuition plan. Image generated using the built-in image generator; no product code references the logo.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V2 REVISION: Developer slide remains second, preserving the user's reorder. Both avatars removed. Restored the first version's balanced two-card presentation. Existing name/role placeholders retained. Contribution lines are suggested demo responsibilities, not verified contributor attribution.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V2 REVISION: The old funding chart has been removed from the problem statement at the user's request. The problem is now framed directly with a human illustration and three root causes: fragmented currencies/accounts, competing tuition/living expenses and unclear family coordination. The user-edited funding calculations remain in the later real-world and solution slides; deleted numerical labels from the edited problem slide were not restored.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real-world struggle scenario, explicitly illustrative rather than a documented case study. The chart uses the same inputs and exact formula as slide 2. Funding is CNY 27,500 initially, CNY 30,375 after one month and CNY 33,250 after two. The tuition line remains CNY 40,000. Student expenses, a parent funding from Bangladesh and a fixed tuition deadline motivate the app modules. No invented prevalence or survey statistics are used. Sources: README.md; src/lib/money.ts; src/services/tuition.service.ts; src/services/remittance.service.ts; src/actions/parent.actions.ts.</a:t>
            </a:r>
          </a:p>
          <a:p>
            <a:endParaRPr/>
          </a:p>
          <a:p>
            <a:endParaRP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Provider comparison is computed with the actual repository formula, seeded provider fees and seeded rates CNY 5.21 / BDT 88.5. Target receipt is CNY 6,750. Principal = receipt / (targetRate/sourceRate * (1-spread)), rounded to cents; total = principal + principal*percentage_fee + fixed_fee. Providers and seed settings from scripts/generate-demo.mjs. These are sandbox seed values, not current market quotes. Bars show additional sender cost relative to the lowest demo quote; zero means no extra cost versus that baseline. Full exact values are in presentation/dark-assets/chart-data.json. Native workflow nodes show the product solution.</a:t>
            </a:r>
          </a:p>
          <a:p>
            <a:endParaRPr/>
          </a:p>
          <a:p>
            <a:r>
              <a:t>The same payment backend is reused by student, parent and AI workflows. Shared experience includes onboarding, preferred currency, language, time zone, notifications, theme, search, subscriptions, saved demo cards and personal model settings. The platform is a sandbox with manual external settlement.</a:t>
            </a:r>
          </a:p>
          <a:p>
            <a:endParaRPr/>
          </a:p>
          <a:p>
            <a:r>
              <a:t>Repository evidence: src/actions/dashboard.actions.ts; src/components/layout/shell.tsx; src/actions/preferences.actions.ts; src/services/payment.service.ts; IMPLEMENTATION_STATUS.md</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implementation slide retains AI emphasis while making room for the real-world-struggles slide. The animated tool run is an illustrative reproduction of implemented tool and review behavior, not a recording of a live provider call. Exact tool names appear in src/ai/tools/index.ts and src/ai/action-catalog.ts. Confirmed non-financial proposals dispatch through src/actions/agent-workflow.actions.ts; money requests reuse src/services/payment.service.ts. Stack: Next.js/React/TypeScript, Zod, MySQL, Decimal.js. Chat can read authorized application context, compare providers, propose budgets and funding plans, draft payments, navigate and ask follow-ups. Financial execution requires confirmation. Tool logs and action state persist.</a:t>
            </a:r>
          </a:p>
          <a:p>
            <a:endParaRPr/>
          </a:p>
          <a:p>
            <a:r>
              <a:t>Primary AI capabilities: getStudentProfile, getAccounts, analyseTransactions, calculateTuitionGap, compareRemittance, getFxRates, generateBudgetSuggestion, analyseFinancialHealth, getCreditGuidance, getWorkspaceData, assessPaymentRisk, draftPayment, beneficiary tools, requestAction and respond. The role-checked catalog also supports account, transaction, budget, tuition, alert, credit, family, preference, report and subscription tasks. Financial execution requires explicit UI confirmation. Some approved low-impact tools may create drafts, beneficiaries or alerts; do not claim the model is universally read-only. The chart is a deliberately simplified illustrative plan, not a live account or measured result.</a:t>
            </a:r>
          </a:p>
          <a:p>
            <a:endParaRPr/>
          </a:p>
          <a:p>
            <a:r>
              <a:t>Repository evidence: src/ai/tools/index.ts; src/ai/action-catalog.ts; src/ai/mock-provider.ts; src/ai/gemini-provider.ts; src/ai/openai-provider.ts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The AI figure is now an editable prompt/read/calculate/propose/review diagram with progressive reveals. The existing tool graph, provider list, architecture and wording remain preserved.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native chart is illustrative, using monthly expenses CNY 1,500 housing + 450 food + 175 transport = 2,125. The shopping card is an actual screenshot from the local demo, separate from the illustrative scenario; its amounts are not part of the story dataset. Shared account preferences include language, theme, country, currency, timezone and notification choices. Monthly/annual sandbox subscriptions, cancellation/history, CSV limits/preview/atomic rollback, photo/password settings, data export and closure remain implemented. All original capability detail is retained below.</a:t>
            </a:r>
          </a:p>
          <a:p>
            <a:endParaRPr/>
          </a:p>
          <a:p>
            <a:r>
              <a:t>Student feature inventory: account creation/rename/archive; separate cash and payment wallet semantics; manual categorized transactions and confidence display; pagination/filtering; CSV file and row limits, mapping and preview; budget creation/edit, mixed-currency normalization and AI suggestions; tuition paid and scholarship tracking, monthly funding plans and readiness; educational credit profile and country-specific checklist; FX charts/provider comparisons, locked quotes and reviewed legacy sandbox execution; unified internal/card/manual/external payment requests and beneficiary approvals; saved card management; payment statuses, cancellation, receipts, ledger and audit activity; AI providers, personal keys, selection and tests; family invitation acceptance; automatic alerts and user reminders; subscription quotas, monthly/annual sandbox checkout, change history and cancellation; support reports; profile photo/name/email, password reset/change, locale/country/currency/time zone/theme/notifications; data export and account closure. The mini bars are illustrative visual cues.</a:t>
            </a:r>
          </a:p>
          <a:p>
            <a:endParaRPr/>
          </a:p>
          <a:p>
            <a:r>
              <a:t>Repository evidence: src/actions/; src/components/accounts/; src/components/tuition/; src/components/budget/; src/components/payments/; src/components/layout/utility-pages.tsx; src/components/settings/platform-panels.tsx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threshold CNY 5,000, request CNY 6,750 and per-transfer cap CNY 10,000. The request exceeds the approval threshold but stays below the hard cap, so it needs parent review rather than automatic rejection (other policy checks still apply). The animation is a state demonstration, not a real transfer. Parent authorization is explicit; the model cannot approve by itself. The strongest applicable parent policy wins, and parents cannot relax platform risk limits.</a:t>
            </a:r>
          </a:p>
          <a:p>
            <a:endParaRPr/>
          </a:p>
          <a:p>
            <a:r>
              <a:t>Parent functions include linking and revocation, configurable visibility, parent-owned financial accounts and wallet transfers, transaction recording and CSV imports under role ownership, approval decisions and history, beneficiary decisions, controls for tuition/conversion, caps and thresholds, non-beneficiary policy and category limits. Strictest applicable parent policy wins and can only tighten administrator ceilings. Parent AI actions are restricted by the role catalog; the model does not approve by itself. Parent access to automatic alerts respects visibility. Parent subscriptions, cards, models and preferences share the customer workflow. Illustrative bars show nested policy constraints, not measured amounts.</a:t>
            </a:r>
          </a:p>
          <a:p>
            <a:endParaRPr/>
          </a:p>
          <a:p>
            <a:r>
              <a:t>Repository evidence: src/actions/parent.actions.ts; src/services/parent-controls.service.ts; src/services/payment.service.ts; src/ai/action-catalog.ts; src/components/family/family-page.tsx; src/services/automatic-alerts.service.ts</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Parent approval figure is now an editable three-step request/decision/queue diagram. The existing threshold chart, policy limits and complete parent feature list are preserved.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Queue counts 6, 2 and 12 are illustrative snapshot values, not production metrics. Animated card shows manual queue progression with a reference and receipt, with no actual transfer execution. Admin uses role-restricted settlement service, provider/catalog/risk/plan controls and evidence inspection. Moderator delegations and team publishing remain in the feature list. Source code and original detailed inventory follow.</a:t>
            </a:r>
          </a:p>
          <a:p>
            <a:endParaRPr/>
          </a:p>
          <a:p>
            <a:r>
              <a:t>Administrator features verified against admin.actions.ts, platform.actions.ts, payment.actions.ts, admin-page.tsx and financial-config.tsx. Moderator delegations cover reports, team, agent, models, users, finance and catalog; access is individually checked. Team editing includes publishing, designation and CEO designation, profile photo and limited moderator self-edit. Settlement actions are role restricted. Financial controls include risk caps, provider and route settings and country-specific credit education. Reporting and evidence are application artifacts, not independent compliance certification.</a:t>
            </a:r>
          </a:p>
          <a:p>
            <a:endParaRPr/>
          </a:p>
          <a:p>
            <a:r>
              <a:t>Repository evidence: src/actions/admin.actions.ts; src/actions/platform.actions.ts; src/actions/payment.actions.ts; src/components/admin/; src/lib/admin-permissions.ts; src/components/layout/evidence-page.tsx</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Administrative illustration now has three large editable settlement lanes with explicit moderator tasks. Native queue chart and feature text are unchanged.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common-features slide. Languages from src/lib/i18n.ts and src/dictionaries; theme modes from UI providers/preferences. Learning routes /en/features, /en/how-it-works, /en/security and /en/privacy exist in the page dispatcher. /en/demo exposes exactly Student, Parent and Admin buttons when DEMO_MODE=true; moderator role uses normal assigned accounts and is not represented as a demo selector. No demo passwords or API secrets appear. Deterministic mock AI supports no-key demonstrations.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animation demonstrates the existing permission matrix: a parent may see balances and tuition while transaction descriptions remain hidden. It does not imply a specific demo account has these permissions. Encrypted-key handling is for AI API keys, not a claim that all financial data is encrypted. User closure revokes access but is not an erasure promise. Fields sent through AI tools may reach the configured provider. Controls are implemented; no independent certification is claimed.</a:t>
            </a:r>
          </a:p>
          <a:p>
            <a:endParaRPr/>
          </a:p>
          <a:p>
            <a:r>
              <a:t>Security claims are code-level controls, not a certification. session.ts uses HS256, 8-hour JWT expiry, httpOnly, SameSite lax and production secure cookies; auth.ts verifies session_version. Passwords use bcrypt. secrets.ts encrypts AI keys using AES-256-GCM. Parent permissions govern disclosure. Avatar validation in current src/lib/avatar.ts accepts PNG/JPEG/WebP data URLs, checks signatures and enforces 300,000 bytes; README describes a different limit, so the slide deliberately makes no size claim. Profile export is capped per table and is not an exhaustive privacy portability certification. Account closure changes status and revokes sessions/links; it is not an erasure promise. AI adapters send selected conversational/tool context to the configured provider. No claim is made that all financial data is encrypted at rest. Legacy sandbox transfer uses locked quotes and single-use execution tokens. Unified payment path uses idempotency, transactional locking and policy checks. No fresh audit was run for this deck.</a:t>
            </a:r>
          </a:p>
          <a:p>
            <a:endParaRPr/>
          </a:p>
          <a:p>
            <a:r>
              <a:t>Repository evidence: src/lib/session.ts; src/lib/auth.ts; src/lib/secrets.ts; src/lib/avatar.ts; src/lib/permissions.ts; src/lib/risk-engine.ts; src/actions/user.actions.ts; src/services/sandbox-payment.service.ts; src/services/payment.service.ts; src/ai/</a:t>
            </a:r>
          </a:p>
          <a:p>
            <a:endParaRPr/>
          </a:p>
          <a:p>
            <a:r>
              <a:t>This dark visual edition uses explicit example data and staged workflow animations. The story is an illustrative scenario, not an interviewed person. All payments and quotes are sandbox simulations. Captures labeled Actual demo UI show the local demo interface. Native charts and numeric labels remain editable.</a:t>
            </a:r>
          </a:p>
          <a:p>
            <a:endParaRPr/>
          </a:p>
          <a:p>
            <a:r>
              <a:t>V2 REVISION: Privacy figure rebuilt as a readable editable student/parent disclosure matrix: balances and tuition can be shared while descriptions stay private. This is illustrative, not a statement about the current demo account's permissions. Existing security control descriptions remain unchanged.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business model slide describes the subscription mechanism implemented in the repository, not actual revenue. Source: scripts/generate-demo.mjs plans and plan_prices: 7-day trial; Student BDT299/mo or 2990/year, Pro699/mo or6990/year, Family999/mo or9990/year. Quotas vary across accounts, AI messages, transfer simulations, tuition plans, CSV imports and family links. Payment is sandbox checkout. AI/hosting/support are qualitative anticipated operating costs; no unit-cost, margin, traction or profitability claims are made.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Notes body"/>
          <p:cNvSpPr>
            <a:spLocks noGrp="1"/>
          </p:cNvSpPr>
          <p:nvPr>
            <p:ph type="body" idx="13"/>
          </p:nvPr>
        </p:nvSpPr>
        <p:spPr/>
        <p:txBody>
          <a:bodyPr/>
          <a:lstStyle/>
          <a:p>
            <a:endParaRPr/>
          </a:p>
          <a:p>
            <a:endParaRPr/>
          </a:p>
          <a:p>
            <a:r>
              <a:t>V2 REVISION: New strategy slide is explicitly a proposal, not evidence of existing university partnerships, customers, market share or validated growth. Initial corridor aligns with the current China/Bangladesh product focus. The sequence is user discovery, campus/student-group pilots and retention-led expansion. Measures are proposed metrics, with no fabricated targets or achieved values. Live payment-network integration and independent production/security review remain future work.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1737360" y="521207"/>
            <a:ext cx="9601200" cy="932688"/>
          </a:xfrm>
          <a:prstGeom prst="rect">
            <a:avLst/>
          </a:prstGeom>
          <a:noFill/>
        </p:spPr>
        <p:txBody>
          <a:bodyPr wrap="square" lIns="0" tIns="0" rIns="0" bIns="0">
            <a:spAutoFit/>
          </a:bodyPr>
          <a:lstStyle/>
          <a:p>
            <a:pPr>
              <a:spcAft>
                <a:spcPts val="400"/>
              </a:spcAft>
              <a:defRPr sz="5300" b="1">
                <a:solidFill>
                  <a:srgbClr val="EDF5FF"/>
                </a:solidFill>
                <a:latin typeface="Aptos"/>
              </a:defRPr>
            </a:pPr>
            <a:r>
              <a:t>FinBridge AI</a:t>
            </a:r>
          </a:p>
        </p:txBody>
      </p:sp>
      <p:pic>
        <p:nvPicPr>
          <p:cNvPr id="4" name="reveal_02" descr="finance-before-after.png"/>
          <p:cNvPicPr>
            <a:picLocks noChangeAspect="1"/>
          </p:cNvPicPr>
          <p:nvPr/>
        </p:nvPicPr>
        <p:blipFill>
          <a:blip r:embed="rId3"/>
          <a:stretch>
            <a:fillRect/>
          </a:stretch>
        </p:blipFill>
        <p:spPr>
          <a:xfrm>
            <a:off x="338328" y="1865376"/>
            <a:ext cx="11521440" cy="432054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The team behind FinBridge AI</a:t>
            </a:r>
          </a:p>
        </p:txBody>
      </p:sp>
      <p:sp>
        <p:nvSpPr>
          <p:cNvPr id="3" name="reveal_02"/>
          <p:cNvSpPr/>
          <p:nvPr/>
        </p:nvSpPr>
        <p:spPr>
          <a:xfrm>
            <a:off x="713232" y="1901952"/>
            <a:ext cx="5120640" cy="3456432"/>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69264" y="2203704"/>
            <a:ext cx="612648" cy="73152"/>
          </a:xfrm>
          <a:prstGeom prst="roundRect">
            <a:avLst>
              <a:gd name="adj" fmla="val 9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3"/>
          <p:cNvSpPr txBox="1"/>
          <p:nvPr/>
        </p:nvSpPr>
        <p:spPr>
          <a:xfrm>
            <a:off x="1033271" y="2715768"/>
            <a:ext cx="4480560" cy="461665"/>
          </a:xfrm>
          <a:prstGeom prst="rect">
            <a:avLst/>
          </a:prstGeom>
          <a:noFill/>
        </p:spPr>
        <p:txBody>
          <a:bodyPr wrap="square" lIns="0" tIns="0" rIns="0" bIns="0">
            <a:spAutoFit/>
          </a:bodyPr>
          <a:lstStyle/>
          <a:p>
            <a:pPr>
              <a:spcAft>
                <a:spcPts val="400"/>
              </a:spcAft>
              <a:defRPr sz="3000" b="1">
                <a:solidFill>
                  <a:srgbClr val="EDF5FF"/>
                </a:solidFill>
                <a:latin typeface="Aptos"/>
              </a:defRPr>
            </a:pPr>
            <a:r>
              <a:rPr lang="en-US" dirty="0" smtClean="0"/>
              <a:t>Md. </a:t>
            </a:r>
            <a:r>
              <a:rPr lang="en-US" dirty="0" err="1" smtClean="0"/>
              <a:t>Jibon</a:t>
            </a:r>
            <a:r>
              <a:rPr lang="en-US" dirty="0" smtClean="0"/>
              <a:t> </a:t>
            </a:r>
            <a:r>
              <a:rPr lang="en-US" dirty="0" err="1" smtClean="0"/>
              <a:t>Howlader</a:t>
            </a:r>
            <a:endParaRPr dirty="0"/>
          </a:p>
        </p:txBody>
      </p:sp>
      <p:sp>
        <p:nvSpPr>
          <p:cNvPr id="6" name="reveal_04"/>
          <p:cNvSpPr txBox="1"/>
          <p:nvPr/>
        </p:nvSpPr>
        <p:spPr>
          <a:xfrm>
            <a:off x="1033271" y="3447288"/>
            <a:ext cx="4480560" cy="323165"/>
          </a:xfrm>
          <a:prstGeom prst="rect">
            <a:avLst/>
          </a:prstGeom>
          <a:noFill/>
        </p:spPr>
        <p:txBody>
          <a:bodyPr wrap="square" lIns="0" tIns="0" rIns="0" bIns="0">
            <a:spAutoFit/>
          </a:bodyPr>
          <a:lstStyle/>
          <a:p>
            <a:pPr>
              <a:spcAft>
                <a:spcPts val="400"/>
              </a:spcAft>
              <a:defRPr sz="2100" b="0">
                <a:solidFill>
                  <a:srgbClr val="63E6BE"/>
                </a:solidFill>
                <a:latin typeface="Aptos"/>
              </a:defRPr>
            </a:pPr>
            <a:r>
              <a:rPr dirty="0"/>
              <a:t>AI &amp; </a:t>
            </a:r>
            <a:r>
              <a:rPr lang="en-US" dirty="0" smtClean="0"/>
              <a:t>Development</a:t>
            </a:r>
            <a:endParaRPr dirty="0"/>
          </a:p>
        </p:txBody>
      </p:sp>
      <p:sp>
        <p:nvSpPr>
          <p:cNvPr id="7" name="reveal_05"/>
          <p:cNvSpPr txBox="1"/>
          <p:nvPr/>
        </p:nvSpPr>
        <p:spPr>
          <a:xfrm>
            <a:off x="1033271" y="4224528"/>
            <a:ext cx="4480560" cy="246221"/>
          </a:xfrm>
          <a:prstGeom prst="rect">
            <a:avLst/>
          </a:prstGeom>
          <a:noFill/>
        </p:spPr>
        <p:txBody>
          <a:bodyPr wrap="square" lIns="0" tIns="0" rIns="0" bIns="0">
            <a:spAutoFit/>
          </a:bodyPr>
          <a:lstStyle/>
          <a:p>
            <a:pPr>
              <a:spcAft>
                <a:spcPts val="400"/>
              </a:spcAft>
              <a:defRPr sz="1600" b="0">
                <a:solidFill>
                  <a:srgbClr val="A2B4CA"/>
                </a:solidFill>
                <a:latin typeface="Aptos"/>
              </a:defRPr>
            </a:pPr>
            <a:r>
              <a:rPr lang="en-US" dirty="0" smtClean="0"/>
              <a:t>Edit </a:t>
            </a:r>
            <a:r>
              <a:rPr lang="en-US" dirty="0" err="1" smtClean="0"/>
              <a:t>thisss</a:t>
            </a:r>
            <a:endParaRPr dirty="0"/>
          </a:p>
        </p:txBody>
      </p:sp>
      <p:sp>
        <p:nvSpPr>
          <p:cNvPr id="8" name="reveal_03"/>
          <p:cNvSpPr/>
          <p:nvPr/>
        </p:nvSpPr>
        <p:spPr>
          <a:xfrm>
            <a:off x="6355080" y="1901952"/>
            <a:ext cx="5120640" cy="3456432"/>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611112" y="2203704"/>
            <a:ext cx="612648" cy="73152"/>
          </a:xfrm>
          <a:prstGeom prst="roundRect">
            <a:avLst>
              <a:gd name="adj" fmla="val 9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veal_04"/>
          <p:cNvSpPr txBox="1"/>
          <p:nvPr/>
        </p:nvSpPr>
        <p:spPr>
          <a:xfrm>
            <a:off x="6675120" y="2715768"/>
            <a:ext cx="4704080" cy="461665"/>
          </a:xfrm>
          <a:prstGeom prst="rect">
            <a:avLst/>
          </a:prstGeom>
          <a:noFill/>
        </p:spPr>
        <p:txBody>
          <a:bodyPr wrap="square" lIns="0" tIns="0" rIns="0" bIns="0">
            <a:spAutoFit/>
          </a:bodyPr>
          <a:lstStyle/>
          <a:p>
            <a:pPr>
              <a:spcAft>
                <a:spcPts val="400"/>
              </a:spcAft>
              <a:defRPr sz="3000" b="1">
                <a:solidFill>
                  <a:srgbClr val="EDF5FF"/>
                </a:solidFill>
                <a:latin typeface="Aptos"/>
              </a:defRPr>
            </a:pPr>
            <a:r>
              <a:rPr lang="en-US" dirty="0" err="1" smtClean="0"/>
              <a:t>Meherun</a:t>
            </a:r>
            <a:r>
              <a:rPr lang="en-US" dirty="0" smtClean="0"/>
              <a:t> Nessa </a:t>
            </a:r>
            <a:r>
              <a:rPr lang="en-US" dirty="0" err="1" smtClean="0"/>
              <a:t>Munmun</a:t>
            </a:r>
            <a:endParaRPr dirty="0"/>
          </a:p>
        </p:txBody>
      </p:sp>
      <p:sp>
        <p:nvSpPr>
          <p:cNvPr id="11" name="reveal_05"/>
          <p:cNvSpPr txBox="1"/>
          <p:nvPr/>
        </p:nvSpPr>
        <p:spPr>
          <a:xfrm>
            <a:off x="6675120" y="3447288"/>
            <a:ext cx="4480560" cy="323165"/>
          </a:xfrm>
          <a:prstGeom prst="rect">
            <a:avLst/>
          </a:prstGeom>
          <a:noFill/>
        </p:spPr>
        <p:txBody>
          <a:bodyPr wrap="square" lIns="0" tIns="0" rIns="0" bIns="0">
            <a:spAutoFit/>
          </a:bodyPr>
          <a:lstStyle/>
          <a:p>
            <a:pPr>
              <a:spcAft>
                <a:spcPts val="400"/>
              </a:spcAft>
              <a:defRPr sz="2100" b="0">
                <a:solidFill>
                  <a:srgbClr val="6BB9FF"/>
                </a:solidFill>
                <a:latin typeface="Aptos"/>
              </a:defRPr>
            </a:pPr>
            <a:r>
              <a:rPr lang="en-US" dirty="0" smtClean="0"/>
              <a:t>Tester &amp; Data Manager</a:t>
            </a:r>
            <a:endParaRPr dirty="0"/>
          </a:p>
        </p:txBody>
      </p:sp>
      <p:sp>
        <p:nvSpPr>
          <p:cNvPr id="12" name="reveal_06"/>
          <p:cNvSpPr txBox="1"/>
          <p:nvPr/>
        </p:nvSpPr>
        <p:spPr>
          <a:xfrm>
            <a:off x="6675120" y="4224528"/>
            <a:ext cx="4480560" cy="246221"/>
          </a:xfrm>
          <a:prstGeom prst="rect">
            <a:avLst/>
          </a:prstGeom>
          <a:noFill/>
        </p:spPr>
        <p:txBody>
          <a:bodyPr wrap="square" lIns="0" tIns="0" rIns="0" bIns="0">
            <a:spAutoFit/>
          </a:bodyPr>
          <a:lstStyle/>
          <a:p>
            <a:pPr>
              <a:spcAft>
                <a:spcPts val="400"/>
              </a:spcAft>
              <a:defRPr sz="1600" b="0">
                <a:solidFill>
                  <a:srgbClr val="A2B4CA"/>
                </a:solidFill>
                <a:latin typeface="Aptos"/>
              </a:defRPr>
            </a:pPr>
            <a:r>
              <a:rPr lang="en-US" dirty="0" smtClean="0"/>
              <a:t>Edit </a:t>
            </a:r>
            <a:r>
              <a:rPr lang="en-US" dirty="0" err="1" smtClean="0"/>
              <a:t>thisss</a:t>
            </a:r>
            <a:endParaRPr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childTnLst>
                                </p:cTn>
                              </p:par>
                            </p:childTnLst>
                          </p:cTn>
                        </p:par>
                        <p:par>
                          <p:cTn id="19" fill="hold">
                            <p:stCondLst>
                              <p:cond delay="180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p:tgtEl>
                                          <p:spTgt spid="6"/>
                                        </p:tgtEl>
                                      </p:cBhvr>
                                    </p:animEffect>
                                  </p:childTnLst>
                                </p:cTn>
                              </p:par>
                            </p:childTnLst>
                          </p:cTn>
                        </p:par>
                        <p:par>
                          <p:cTn id="26" fill="hold">
                            <p:stCondLst>
                              <p:cond delay="2400"/>
                            </p:stCondLst>
                            <p:childTnLst>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5" grpId="0"/>
      <p:bldP spid="6" grpId="0"/>
      <p:bldP spid="7" grpId="0"/>
      <p:bldP spid="8" grpId="0" animBg="1"/>
      <p:bldP spid="10" grpId="0"/>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Problem statement</a:t>
            </a:r>
          </a:p>
        </p:txBody>
      </p:sp>
      <p:pic>
        <p:nvPicPr>
          <p:cNvPr id="3" name="reveal_02" descr="student-funding-problem.png"/>
          <p:cNvPicPr>
            <a:picLocks noChangeAspect="1"/>
          </p:cNvPicPr>
          <p:nvPr/>
        </p:nvPicPr>
        <p:blipFill>
          <a:blip r:embed="rId3"/>
          <a:stretch>
            <a:fillRect/>
          </a:stretch>
        </p:blipFill>
        <p:spPr>
          <a:xfrm>
            <a:off x="365760" y="1527048"/>
            <a:ext cx="6236208" cy="4160520"/>
          </a:xfrm>
          <a:prstGeom prst="rect">
            <a:avLst/>
          </a:prstGeom>
        </p:spPr>
      </p:pic>
      <p:sp>
        <p:nvSpPr>
          <p:cNvPr id="4" name="Oval 3"/>
          <p:cNvSpPr/>
          <p:nvPr/>
        </p:nvSpPr>
        <p:spPr>
          <a:xfrm>
            <a:off x="6839712" y="1837943"/>
            <a:ext cx="109728" cy="109728"/>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3"/>
          <p:cNvSpPr txBox="1"/>
          <p:nvPr/>
        </p:nvSpPr>
        <p:spPr>
          <a:xfrm>
            <a:off x="7141464" y="1783080"/>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Money is fragmented.</a:t>
            </a:r>
          </a:p>
        </p:txBody>
      </p:sp>
      <p:sp>
        <p:nvSpPr>
          <p:cNvPr id="6" name="reveal_03"/>
          <p:cNvSpPr txBox="1"/>
          <p:nvPr/>
        </p:nvSpPr>
        <p:spPr>
          <a:xfrm>
            <a:off x="7141464" y="2276856"/>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Family funding and student balances sit in different accounts and currencies.</a:t>
            </a:r>
          </a:p>
        </p:txBody>
      </p:sp>
      <p:sp>
        <p:nvSpPr>
          <p:cNvPr id="7" name="Oval 6"/>
          <p:cNvSpPr/>
          <p:nvPr/>
        </p:nvSpPr>
        <p:spPr>
          <a:xfrm>
            <a:off x="6839712" y="3108960"/>
            <a:ext cx="109728" cy="109728"/>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veal_04"/>
          <p:cNvSpPr txBox="1"/>
          <p:nvPr/>
        </p:nvSpPr>
        <p:spPr>
          <a:xfrm>
            <a:off x="7141464" y="3054096"/>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Deadlines compete.</a:t>
            </a:r>
          </a:p>
        </p:txBody>
      </p:sp>
      <p:sp>
        <p:nvSpPr>
          <p:cNvPr id="9" name="reveal_04"/>
          <p:cNvSpPr txBox="1"/>
          <p:nvPr/>
        </p:nvSpPr>
        <p:spPr>
          <a:xfrm>
            <a:off x="7141464" y="3547872"/>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Rent and living costs reduce the money available for tuition.</a:t>
            </a:r>
          </a:p>
        </p:txBody>
      </p:sp>
      <p:sp>
        <p:nvSpPr>
          <p:cNvPr id="10" name="Oval 9"/>
          <p:cNvSpPr/>
          <p:nvPr/>
        </p:nvSpPr>
        <p:spPr>
          <a:xfrm>
            <a:off x="6839712" y="4379976"/>
            <a:ext cx="109728" cy="109728"/>
          </a:xfrm>
          <a:prstGeom prst="ellipse">
            <a:avLst/>
          </a:prstGeom>
          <a:solidFill>
            <a:srgbClr val="FF8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5"/>
          <p:cNvSpPr txBox="1"/>
          <p:nvPr/>
        </p:nvSpPr>
        <p:spPr>
          <a:xfrm>
            <a:off x="7141464" y="4325112"/>
            <a:ext cx="4297680" cy="356616"/>
          </a:xfrm>
          <a:prstGeom prst="rect">
            <a:avLst/>
          </a:prstGeom>
          <a:noFill/>
        </p:spPr>
        <p:txBody>
          <a:bodyPr wrap="square" lIns="0" tIns="0" rIns="0" bIns="0">
            <a:spAutoFit/>
          </a:bodyPr>
          <a:lstStyle/>
          <a:p>
            <a:pPr>
              <a:spcAft>
                <a:spcPts val="400"/>
              </a:spcAft>
              <a:defRPr sz="2000" b="1">
                <a:solidFill>
                  <a:srgbClr val="EDF5FF"/>
                </a:solidFill>
                <a:latin typeface="Aptos"/>
              </a:defRPr>
            </a:pPr>
            <a:r>
              <a:t>No shared funding plan.</a:t>
            </a:r>
          </a:p>
        </p:txBody>
      </p:sp>
      <p:sp>
        <p:nvSpPr>
          <p:cNvPr id="12" name="reveal_05"/>
          <p:cNvSpPr txBox="1"/>
          <p:nvPr/>
        </p:nvSpPr>
        <p:spPr>
          <a:xfrm>
            <a:off x="7141464" y="4818888"/>
            <a:ext cx="4297680" cy="585216"/>
          </a:xfrm>
          <a:prstGeom prst="rect">
            <a:avLst/>
          </a:prstGeom>
          <a:noFill/>
        </p:spPr>
        <p:txBody>
          <a:bodyPr wrap="square" lIns="0" tIns="0" rIns="0" bIns="0">
            <a:spAutoFit/>
          </a:bodyPr>
          <a:lstStyle/>
          <a:p>
            <a:pPr>
              <a:spcAft>
                <a:spcPts val="400"/>
              </a:spcAft>
              <a:defRPr sz="1400" b="0">
                <a:solidFill>
                  <a:srgbClr val="A2B4CA"/>
                </a:solidFill>
                <a:latin typeface="Aptos"/>
              </a:defRPr>
            </a:pPr>
            <a:r>
              <a:t>How much is missing, who should act, and when must the money arrive?</a:t>
            </a:r>
          </a:p>
        </p:txBody>
      </p:sp>
      <p:sp>
        <p:nvSpPr>
          <p:cNvPr id="13" name="reveal_06"/>
          <p:cNvSpPr txBox="1"/>
          <p:nvPr/>
        </p:nvSpPr>
        <p:spPr>
          <a:xfrm>
            <a:off x="667512" y="6053328"/>
            <a:ext cx="10881360" cy="393192"/>
          </a:xfrm>
          <a:prstGeom prst="rect">
            <a:avLst/>
          </a:prstGeom>
          <a:noFill/>
        </p:spPr>
        <p:txBody>
          <a:bodyPr wrap="square" lIns="0" tIns="0" rIns="0" bIns="0">
            <a:spAutoFit/>
          </a:bodyPr>
          <a:lstStyle/>
          <a:p>
            <a:pPr>
              <a:spcAft>
                <a:spcPts val="400"/>
              </a:spcAft>
              <a:defRPr sz="2100" b="1">
                <a:solidFill>
                  <a:srgbClr val="63E6BE"/>
                </a:solidFill>
                <a:latin typeface="Aptos"/>
              </a:defRPr>
            </a:pPr>
            <a:r>
              <a:t>Can we fund tuition on time without running short on living costs?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6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childTnLst>
                                </p:cTn>
                              </p:par>
                            </p:childTnLst>
                          </p:cTn>
                        </p:par>
                        <p:par>
                          <p:cTn id="19" fill="hold">
                            <p:stCondLst>
                              <p:cond delay="18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childTnLst>
                                </p:cTn>
                              </p:par>
                            </p:childTnLst>
                          </p:cTn>
                        </p:par>
                        <p:par>
                          <p:cTn id="26" fill="hold">
                            <p:stCondLst>
                              <p:cond delay="2400"/>
                            </p:stCondLst>
                            <p:childTnLst>
                              <p:par>
                                <p:cTn id="27" presetID="10"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6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8" grpId="0"/>
      <p:bldP spid="9" grpId="0"/>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Real-world struggles: one deadline, two countries.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Illustrative scenario: a Bangladeshi student in China must keep paying living costs while preparing tuition.</a:t>
            </a:r>
          </a:p>
        </p:txBody>
      </p:sp>
      <p:sp>
        <p:nvSpPr>
          <p:cNvPr id="7" name="Rounded Rectangle 6"/>
          <p:cNvSpPr/>
          <p:nvPr/>
        </p:nvSpPr>
        <p:spPr>
          <a:xfrm>
            <a:off x="502920" y="1920240"/>
            <a:ext cx="6675120" cy="349300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6126480" cy="246888"/>
          </a:xfrm>
          <a:prstGeom prst="rect">
            <a:avLst/>
          </a:prstGeom>
          <a:noFill/>
        </p:spPr>
        <p:txBody>
          <a:bodyPr wrap="square" lIns="0" tIns="0" rIns="0" bIns="0">
            <a:spAutoFit/>
          </a:bodyPr>
          <a:lstStyle/>
          <a:p>
            <a:pPr>
              <a:spcAft>
                <a:spcPts val="300"/>
              </a:spcAft>
              <a:defRPr sz="1200" b="1">
                <a:solidFill>
                  <a:srgbClr val="63E6BE"/>
                </a:solidFill>
                <a:latin typeface="Aptos"/>
              </a:defRPr>
            </a:pPr>
            <a:r>
              <a:t>FUNDING RUNWAY · CNY</a:t>
            </a:r>
          </a:p>
        </p:txBody>
      </p:sp>
      <p:graphicFrame>
        <p:nvGraphicFramePr>
          <p:cNvPr id="9" name="chart_03"/>
          <p:cNvGraphicFramePr>
            <a:graphicFrameLocks noGrp="1"/>
          </p:cNvGraphicFramePr>
          <p:nvPr/>
        </p:nvGraphicFramePr>
        <p:xfrm>
          <a:off x="713232" y="2587752"/>
          <a:ext cx="6217920" cy="2505456"/>
        </p:xfrm>
        <a:graphic>
          <a:graphicData uri="http://schemas.openxmlformats.org/drawingml/2006/chart">
            <c:chart xmlns:c="http://schemas.openxmlformats.org/drawingml/2006/chart" xmlns:r="http://schemas.openxmlformats.org/officeDocument/2006/relationships" r:id="rId3"/>
          </a:graphicData>
        </a:graphic>
      </p:graphicFrame>
      <p:pic>
        <p:nvPicPr>
          <p:cNvPr id="10" name="reveal_04" descr="struggles.gif"/>
          <p:cNvPicPr>
            <a:picLocks noChangeAspect="1"/>
          </p:cNvPicPr>
          <p:nvPr/>
        </p:nvPicPr>
        <p:blipFill>
          <a:blip r:embed="rId4"/>
          <a:stretch>
            <a:fillRect/>
          </a:stretch>
        </p:blipFill>
        <p:spPr>
          <a:xfrm>
            <a:off x="7388352" y="1920240"/>
            <a:ext cx="4297680" cy="2542032"/>
          </a:xfrm>
          <a:prstGeom prst="rect">
            <a:avLst/>
          </a:prstGeom>
        </p:spPr>
      </p:pic>
      <p:sp>
        <p:nvSpPr>
          <p:cNvPr id="11" name="Rounded Rectangle 10"/>
          <p:cNvSpPr/>
          <p:nvPr/>
        </p:nvSpPr>
        <p:spPr>
          <a:xfrm>
            <a:off x="7388352" y="4681728"/>
            <a:ext cx="4297680" cy="731520"/>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0375" y="4828032"/>
            <a:ext cx="2103120" cy="22860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savings needed</a:t>
            </a:r>
          </a:p>
        </p:txBody>
      </p:sp>
      <p:sp>
        <p:nvSpPr>
          <p:cNvPr id="13" name="reveal_05"/>
          <p:cNvSpPr txBox="1"/>
          <p:nvPr/>
        </p:nvSpPr>
        <p:spPr>
          <a:xfrm>
            <a:off x="9592056" y="4828032"/>
            <a:ext cx="1874519" cy="320040"/>
          </a:xfrm>
          <a:prstGeom prst="rect">
            <a:avLst/>
          </a:prstGeom>
          <a:noFill/>
        </p:spPr>
        <p:txBody>
          <a:bodyPr wrap="square" lIns="0" tIns="0" rIns="0" bIns="0">
            <a:spAutoFit/>
          </a:bodyPr>
          <a:lstStyle/>
          <a:p>
            <a:pPr>
              <a:spcAft>
                <a:spcPts val="300"/>
              </a:spcAft>
              <a:defRPr sz="2000" b="1">
                <a:solidFill>
                  <a:srgbClr val="63E6BE"/>
                </a:solidFill>
                <a:latin typeface="Aptos"/>
              </a:defRPr>
            </a:pPr>
            <a:r>
              <a:t>3,375 / mo</a:t>
            </a:r>
          </a:p>
        </p:txBody>
      </p:sp>
      <p:sp>
        <p:nvSpPr>
          <p:cNvPr id="14" name="reveal_05"/>
          <p:cNvSpPr/>
          <p:nvPr/>
        </p:nvSpPr>
        <p:spPr>
          <a:xfrm>
            <a:off x="548640"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58368" y="5724144"/>
            <a:ext cx="3364991"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Rent continues</a:t>
            </a:r>
          </a:p>
        </p:txBody>
      </p:sp>
      <p:sp>
        <p:nvSpPr>
          <p:cNvPr id="16" name="reveal_05"/>
          <p:cNvSpPr txBox="1"/>
          <p:nvPr/>
        </p:nvSpPr>
        <p:spPr>
          <a:xfrm>
            <a:off x="640080"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CNY 2,125 / month</a:t>
            </a:r>
          </a:p>
        </p:txBody>
      </p:sp>
      <p:sp>
        <p:nvSpPr>
          <p:cNvPr id="17" name="reveal_06"/>
          <p:cNvSpPr/>
          <p:nvPr/>
        </p:nvSpPr>
        <p:spPr>
          <a:xfrm>
            <a:off x="4334255"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4443983" y="5724144"/>
            <a:ext cx="3364991"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Family funds in BDT</a:t>
            </a:r>
          </a:p>
        </p:txBody>
      </p:sp>
      <p:sp>
        <p:nvSpPr>
          <p:cNvPr id="19" name="reveal_06"/>
          <p:cNvSpPr txBox="1"/>
          <p:nvPr/>
        </p:nvSpPr>
        <p:spPr>
          <a:xfrm>
            <a:off x="4425695"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Compare total FX cost</a:t>
            </a:r>
          </a:p>
        </p:txBody>
      </p:sp>
      <p:sp>
        <p:nvSpPr>
          <p:cNvPr id="20" name="reveal_07"/>
          <p:cNvSpPr/>
          <p:nvPr/>
        </p:nvSpPr>
        <p:spPr>
          <a:xfrm>
            <a:off x="8119871" y="5605272"/>
            <a:ext cx="358444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8229599" y="5724144"/>
            <a:ext cx="3364991" cy="246888"/>
          </a:xfrm>
          <a:prstGeom prst="rect">
            <a:avLst/>
          </a:prstGeom>
          <a:noFill/>
        </p:spPr>
        <p:txBody>
          <a:bodyPr wrap="square" lIns="0" tIns="0" rIns="0" bIns="0">
            <a:spAutoFit/>
          </a:bodyPr>
          <a:lstStyle/>
          <a:p>
            <a:pPr algn="ctr">
              <a:spcAft>
                <a:spcPts val="300"/>
              </a:spcAft>
              <a:defRPr sz="1600" b="1">
                <a:solidFill>
                  <a:srgbClr val="FF8896"/>
                </a:solidFill>
                <a:latin typeface="Aptos"/>
              </a:defRPr>
            </a:pPr>
            <a:r>
              <a:t>Tuition approaches</a:t>
            </a:r>
          </a:p>
        </p:txBody>
      </p:sp>
      <p:sp>
        <p:nvSpPr>
          <p:cNvPr id="22" name="reveal_07"/>
          <p:cNvSpPr txBox="1"/>
          <p:nvPr/>
        </p:nvSpPr>
        <p:spPr>
          <a:xfrm>
            <a:off x="8211311" y="6071616"/>
            <a:ext cx="340156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Close the CNY 6,750 gap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2"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600"/>
                                        <p:tgtEl>
                                          <p:spTgt spid="9"/>
                                        </p:tgtEl>
                                      </p:cBhvr>
                                    </p:animEffect>
                                  </p:childTnLst>
                                </p:cTn>
                              </p:par>
                            </p:childTnLst>
                          </p:cTn>
                        </p:par>
                        <p:par>
                          <p:cTn id="12" fill="hold">
                            <p:stCondLst>
                              <p:cond delay="12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6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6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6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6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6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600"/>
                                        <p:tgtEl>
                                          <p:spTgt spid="17"/>
                                        </p:tgtEl>
                                      </p:cBhvr>
                                    </p:animEffect>
                                  </p:childTnLst>
                                </p:cTn>
                              </p:par>
                            </p:childTnLst>
                          </p:cTn>
                        </p:par>
                        <p:par>
                          <p:cTn id="39" fill="hold">
                            <p:stCondLst>
                              <p:cond delay="3000"/>
                            </p:stCondLst>
                            <p:childTnLst>
                              <p:par>
                                <p:cTn id="40" presetID="10" presetClass="entr" presetSubtype="0"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6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6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3" grpId="0"/>
      <p:bldP spid="14" grpId="0" animBg="1"/>
      <p:bldP spid="15" grpId="0"/>
      <p:bldP spid="16" grpId="0"/>
      <p:bldP spid="17" grpId="0" animBg="1"/>
      <p:bldP spid="18" grpId="0"/>
      <p:bldP spid="19" grpId="0"/>
      <p:bldP spid="20" grpId="0" animBg="1"/>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See the gap. Compare the cost. Coordinate the funding.</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One workspace links tuition planning, cross-border comparison, parent approval and payment evidence.</a:t>
            </a:r>
          </a:p>
        </p:txBody>
      </p:sp>
      <p:sp>
        <p:nvSpPr>
          <p:cNvPr id="7" name="Rounded Rectangle 6"/>
          <p:cNvSpPr/>
          <p:nvPr/>
        </p:nvSpPr>
        <p:spPr>
          <a:xfrm>
            <a:off x="502920" y="1920240"/>
            <a:ext cx="667512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48840"/>
            <a:ext cx="6126480" cy="274320"/>
          </a:xfrm>
          <a:prstGeom prst="rect">
            <a:avLst/>
          </a:prstGeom>
          <a:noFill/>
        </p:spPr>
        <p:txBody>
          <a:bodyPr wrap="square" lIns="0" tIns="0" rIns="0" bIns="0">
            <a:spAutoFit/>
          </a:bodyPr>
          <a:lstStyle/>
          <a:p>
            <a:pPr>
              <a:spcAft>
                <a:spcPts val="300"/>
              </a:spcAft>
              <a:defRPr sz="1400" b="1">
                <a:solidFill>
                  <a:srgbClr val="63E6BE"/>
                </a:solidFill>
                <a:latin typeface="Aptos"/>
              </a:defRPr>
            </a:pPr>
            <a:r>
              <a:t>SEND BDT → RECEIVE CNY 6,750</a:t>
            </a:r>
          </a:p>
        </p:txBody>
      </p:sp>
      <p:sp>
        <p:nvSpPr>
          <p:cNvPr id="9" name="TextBox 8"/>
          <p:cNvSpPr txBox="1"/>
          <p:nvPr/>
        </p:nvSpPr>
        <p:spPr>
          <a:xfrm>
            <a:off x="758952" y="2624328"/>
            <a:ext cx="6126480" cy="274320"/>
          </a:xfrm>
          <a:prstGeom prst="rect">
            <a:avLst/>
          </a:prstGeom>
          <a:noFill/>
        </p:spPr>
        <p:txBody>
          <a:bodyPr wrap="square" lIns="0" tIns="0" rIns="0" bIns="0">
            <a:spAutoFit/>
          </a:bodyPr>
          <a:lstStyle/>
          <a:p>
            <a:pPr>
              <a:spcAft>
                <a:spcPts val="300"/>
              </a:spcAft>
              <a:defRPr sz="1200" b="0">
                <a:solidFill>
                  <a:srgbClr val="A2B4CA"/>
                </a:solidFill>
                <a:latin typeface="Aptos"/>
              </a:defRPr>
            </a:pPr>
            <a:r>
              <a:t>Extra sender cost vs lowest quote | BDT</a:t>
            </a:r>
          </a:p>
        </p:txBody>
      </p:sp>
      <p:graphicFrame>
        <p:nvGraphicFramePr>
          <p:cNvPr id="10" name="chart_03"/>
          <p:cNvGraphicFramePr>
            <a:graphicFrameLocks noGrp="1"/>
          </p:cNvGraphicFramePr>
          <p:nvPr/>
        </p:nvGraphicFramePr>
        <p:xfrm>
          <a:off x="658368" y="2953512"/>
          <a:ext cx="6336792" cy="218541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58952" y="5413248"/>
            <a:ext cx="6126480" cy="237744"/>
          </a:xfrm>
          <a:prstGeom prst="rect">
            <a:avLst/>
          </a:prstGeom>
          <a:noFill/>
        </p:spPr>
        <p:txBody>
          <a:bodyPr wrap="square" lIns="0" tIns="0" rIns="0" bIns="0">
            <a:spAutoFit/>
          </a:bodyPr>
          <a:lstStyle/>
          <a:p>
            <a:pPr>
              <a:spcAft>
                <a:spcPts val="300"/>
              </a:spcAft>
              <a:defRPr sz="1000" b="0">
                <a:solidFill>
                  <a:srgbClr val="A2B4CA"/>
                </a:solidFill>
                <a:latin typeface="Aptos"/>
              </a:defRPr>
            </a:pPr>
            <a:r>
              <a:t>Extra cost vs lowest quote | sandbox seed rates | fees + spread included</a:t>
            </a:r>
          </a:p>
        </p:txBody>
      </p:sp>
      <p:sp>
        <p:nvSpPr>
          <p:cNvPr id="12" name="Rounded Rectangle 11"/>
          <p:cNvSpPr/>
          <p:nvPr/>
        </p:nvSpPr>
        <p:spPr>
          <a:xfrm>
            <a:off x="7388352" y="1920240"/>
            <a:ext cx="4297680" cy="3675887"/>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62672" y="2194560"/>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FUNDING GAP</a:t>
            </a:r>
          </a:p>
        </p:txBody>
      </p:sp>
      <p:sp>
        <p:nvSpPr>
          <p:cNvPr id="14" name="reveal_03"/>
          <p:cNvSpPr txBox="1"/>
          <p:nvPr/>
        </p:nvSpPr>
        <p:spPr>
          <a:xfrm>
            <a:off x="7662672" y="2542032"/>
            <a:ext cx="3566160" cy="502920"/>
          </a:xfrm>
          <a:prstGeom prst="rect">
            <a:avLst/>
          </a:prstGeom>
          <a:noFill/>
        </p:spPr>
        <p:txBody>
          <a:bodyPr wrap="square" lIns="0" tIns="0" rIns="0" bIns="0">
            <a:spAutoFit/>
          </a:bodyPr>
          <a:lstStyle/>
          <a:p>
            <a:pPr>
              <a:spcAft>
                <a:spcPts val="300"/>
              </a:spcAft>
              <a:defRPr sz="2900" b="1">
                <a:solidFill>
                  <a:srgbClr val="FF8896"/>
                </a:solidFill>
                <a:latin typeface="Aptos"/>
              </a:defRPr>
            </a:pPr>
            <a:r>
              <a:t>CNY 6,750</a:t>
            </a:r>
          </a:p>
        </p:txBody>
      </p:sp>
      <p:sp>
        <p:nvSpPr>
          <p:cNvPr id="15" name="TextBox 14"/>
          <p:cNvSpPr txBox="1"/>
          <p:nvPr/>
        </p:nvSpPr>
        <p:spPr>
          <a:xfrm>
            <a:off x="7662672" y="3310128"/>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LOWEST DEMO QUOTE</a:t>
            </a:r>
          </a:p>
        </p:txBody>
      </p:sp>
      <p:sp>
        <p:nvSpPr>
          <p:cNvPr id="16" name="reveal_04"/>
          <p:cNvSpPr txBox="1"/>
          <p:nvPr/>
        </p:nvSpPr>
        <p:spPr>
          <a:xfrm>
            <a:off x="7662672" y="3657600"/>
            <a:ext cx="3566160" cy="502920"/>
          </a:xfrm>
          <a:prstGeom prst="rect">
            <a:avLst/>
          </a:prstGeom>
          <a:noFill/>
        </p:spPr>
        <p:txBody>
          <a:bodyPr wrap="square" lIns="0" tIns="0" rIns="0" bIns="0">
            <a:spAutoFit/>
          </a:bodyPr>
          <a:lstStyle/>
          <a:p>
            <a:pPr>
              <a:spcAft>
                <a:spcPts val="300"/>
              </a:spcAft>
              <a:defRPr sz="2900" b="1">
                <a:solidFill>
                  <a:srgbClr val="63E6BE"/>
                </a:solidFill>
                <a:latin typeface="Aptos"/>
              </a:defRPr>
            </a:pPr>
            <a:r>
              <a:t>BDT 115,434</a:t>
            </a:r>
          </a:p>
        </p:txBody>
      </p:sp>
      <p:sp>
        <p:nvSpPr>
          <p:cNvPr id="17" name="TextBox 16"/>
          <p:cNvSpPr txBox="1"/>
          <p:nvPr/>
        </p:nvSpPr>
        <p:spPr>
          <a:xfrm>
            <a:off x="7662672" y="4425696"/>
            <a:ext cx="3566160"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QUOTE DIFFERENCE</a:t>
            </a:r>
          </a:p>
        </p:txBody>
      </p:sp>
      <p:sp>
        <p:nvSpPr>
          <p:cNvPr id="18" name="reveal_05"/>
          <p:cNvSpPr txBox="1"/>
          <p:nvPr/>
        </p:nvSpPr>
        <p:spPr>
          <a:xfrm>
            <a:off x="7662672" y="4773168"/>
            <a:ext cx="3566160" cy="502920"/>
          </a:xfrm>
          <a:prstGeom prst="rect">
            <a:avLst/>
          </a:prstGeom>
          <a:noFill/>
        </p:spPr>
        <p:txBody>
          <a:bodyPr wrap="square" lIns="0" tIns="0" rIns="0" bIns="0">
            <a:spAutoFit/>
          </a:bodyPr>
          <a:lstStyle/>
          <a:p>
            <a:pPr>
              <a:spcAft>
                <a:spcPts val="300"/>
              </a:spcAft>
              <a:defRPr sz="2900" b="1">
                <a:solidFill>
                  <a:srgbClr val="F3C969"/>
                </a:solidFill>
                <a:latin typeface="Aptos"/>
              </a:defRPr>
            </a:pPr>
            <a:r>
              <a:t>BDT 2,914</a:t>
            </a:r>
          </a:p>
        </p:txBody>
      </p:sp>
      <p:sp>
        <p:nvSpPr>
          <p:cNvPr id="19" name="reveal_04"/>
          <p:cNvSpPr/>
          <p:nvPr/>
        </p:nvSpPr>
        <p:spPr>
          <a:xfrm>
            <a:off x="54864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4"/>
          <p:cNvSpPr txBox="1"/>
          <p:nvPr/>
        </p:nvSpPr>
        <p:spPr>
          <a:xfrm>
            <a:off x="65836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Plan</a:t>
            </a:r>
          </a:p>
        </p:txBody>
      </p:sp>
      <p:sp>
        <p:nvSpPr>
          <p:cNvPr id="21" name="reveal_04"/>
          <p:cNvSpPr txBox="1"/>
          <p:nvPr/>
        </p:nvSpPr>
        <p:spPr>
          <a:xfrm>
            <a:off x="64008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Tuition + budget</a:t>
            </a:r>
          </a:p>
        </p:txBody>
      </p:sp>
      <p:sp>
        <p:nvSpPr>
          <p:cNvPr id="22" name="TextBox 21"/>
          <p:cNvSpPr txBox="1"/>
          <p:nvPr/>
        </p:nvSpPr>
        <p:spPr>
          <a:xfrm>
            <a:off x="318211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3" name="reveal_05"/>
          <p:cNvSpPr/>
          <p:nvPr/>
        </p:nvSpPr>
        <p:spPr>
          <a:xfrm>
            <a:off x="338328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5"/>
          <p:cNvSpPr txBox="1"/>
          <p:nvPr/>
        </p:nvSpPr>
        <p:spPr>
          <a:xfrm>
            <a:off x="349300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Compare</a:t>
            </a:r>
          </a:p>
        </p:txBody>
      </p:sp>
      <p:sp>
        <p:nvSpPr>
          <p:cNvPr id="25" name="reveal_05"/>
          <p:cNvSpPr txBox="1"/>
          <p:nvPr/>
        </p:nvSpPr>
        <p:spPr>
          <a:xfrm>
            <a:off x="347472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Fees + FX</a:t>
            </a:r>
          </a:p>
        </p:txBody>
      </p:sp>
      <p:sp>
        <p:nvSpPr>
          <p:cNvPr id="26" name="TextBox 25"/>
          <p:cNvSpPr txBox="1"/>
          <p:nvPr/>
        </p:nvSpPr>
        <p:spPr>
          <a:xfrm>
            <a:off x="601675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27" name="reveal_06"/>
          <p:cNvSpPr/>
          <p:nvPr/>
        </p:nvSpPr>
        <p:spPr>
          <a:xfrm>
            <a:off x="621792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veal_06"/>
          <p:cNvSpPr txBox="1"/>
          <p:nvPr/>
        </p:nvSpPr>
        <p:spPr>
          <a:xfrm>
            <a:off x="632764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Approve</a:t>
            </a:r>
          </a:p>
        </p:txBody>
      </p:sp>
      <p:sp>
        <p:nvSpPr>
          <p:cNvPr id="29" name="reveal_06"/>
          <p:cNvSpPr txBox="1"/>
          <p:nvPr/>
        </p:nvSpPr>
        <p:spPr>
          <a:xfrm>
            <a:off x="6309359"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 parent</a:t>
            </a:r>
          </a:p>
        </p:txBody>
      </p:sp>
      <p:sp>
        <p:nvSpPr>
          <p:cNvPr id="30" name="TextBox 29"/>
          <p:cNvSpPr txBox="1"/>
          <p:nvPr/>
        </p:nvSpPr>
        <p:spPr>
          <a:xfrm>
            <a:off x="8851392" y="5861304"/>
            <a:ext cx="219456" cy="283464"/>
          </a:xfrm>
          <a:prstGeom prst="rect">
            <a:avLst/>
          </a:prstGeom>
          <a:noFill/>
        </p:spPr>
        <p:txBody>
          <a:bodyPr wrap="square" lIns="0" tIns="0" rIns="0" bIns="0">
            <a:spAutoFit/>
          </a:bodyPr>
          <a:lstStyle/>
          <a:p>
            <a:pPr>
              <a:spcAft>
                <a:spcPts val="300"/>
              </a:spcAft>
              <a:defRPr sz="1800" b="0">
                <a:solidFill>
                  <a:srgbClr val="63E6BE"/>
                </a:solidFill>
                <a:latin typeface="Aptos"/>
              </a:defRPr>
            </a:pPr>
            <a:r>
              <a:t>→</a:t>
            </a:r>
          </a:p>
        </p:txBody>
      </p:sp>
      <p:sp>
        <p:nvSpPr>
          <p:cNvPr id="31" name="reveal_07"/>
          <p:cNvSpPr/>
          <p:nvPr/>
        </p:nvSpPr>
        <p:spPr>
          <a:xfrm>
            <a:off x="9052560" y="565099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veal_07"/>
          <p:cNvSpPr txBox="1"/>
          <p:nvPr/>
        </p:nvSpPr>
        <p:spPr>
          <a:xfrm>
            <a:off x="9162288" y="576986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Record</a:t>
            </a:r>
          </a:p>
        </p:txBody>
      </p:sp>
      <p:sp>
        <p:nvSpPr>
          <p:cNvPr id="33" name="reveal_07"/>
          <p:cNvSpPr txBox="1"/>
          <p:nvPr/>
        </p:nvSpPr>
        <p:spPr>
          <a:xfrm>
            <a:off x="9144000" y="611733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Receipt + ledger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6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600"/>
                                        <p:tgtEl>
                                          <p:spTgt spid="10"/>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6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6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600"/>
                                        <p:tgtEl>
                                          <p:spTgt spid="16"/>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6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6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6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600"/>
                                        <p:tgtEl>
                                          <p:spTgt spid="23"/>
                                        </p:tgtEl>
                                      </p:cBhvr>
                                    </p:animEffect>
                                  </p:childTnLst>
                                </p:cTn>
                              </p:par>
                            </p:childTnLst>
                          </p:cTn>
                        </p:par>
                        <p:par>
                          <p:cTn id="41" fill="hold">
                            <p:stCondLst>
                              <p:cond delay="2400"/>
                            </p:stCondLst>
                            <p:childTnLst>
                              <p:par>
                                <p:cTn id="42" presetID="10" presetClass="entr" presetSubtype="0"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6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6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600"/>
                                        <p:tgtEl>
                                          <p:spTgt spid="27"/>
                                        </p:tgtEl>
                                      </p:cBhvr>
                                    </p:animEffect>
                                  </p:childTnLst>
                                </p:cTn>
                              </p:par>
                            </p:childTnLst>
                          </p:cTn>
                        </p:par>
                        <p:par>
                          <p:cTn id="51" fill="hold">
                            <p:stCondLst>
                              <p:cond delay="3000"/>
                            </p:stCondLst>
                            <p:childTnLst>
                              <p:par>
                                <p:cTn id="52" presetID="10" presetClass="entr" presetSubtype="0"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6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6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4" grpId="0"/>
      <p:bldP spid="16" grpId="0"/>
      <p:bldP spid="18" grpId="0"/>
      <p:bldP spid="19" grpId="0" animBg="1"/>
      <p:bldP spid="20" grpId="0"/>
      <p:bldP spid="21" grpId="0"/>
      <p:bldP spid="23" grpId="0" animBg="1"/>
      <p:bldP spid="24" grpId="0"/>
      <p:bldP spid="25" grpId="0"/>
      <p:bldP spid="27" grpId="0" animBg="1"/>
      <p:bldP spid="28" grpId="0"/>
      <p:bldP spid="29" grpId="0"/>
      <p:bldP spid="31" grpId="0" animBg="1"/>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The AI turns financial questions into reviewed actions.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Application-owned tools ground the answer; confirmation and server checks control execution.</a:t>
            </a:r>
          </a:p>
        </p:txBody>
      </p:sp>
      <p:sp>
        <p:nvSpPr>
          <p:cNvPr id="8" name="Rounded Rectangle 7"/>
          <p:cNvSpPr/>
          <p:nvPr/>
        </p:nvSpPr>
        <p:spPr>
          <a:xfrm>
            <a:off x="6729984" y="1920240"/>
            <a:ext cx="4956048" cy="3547872"/>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58584" y="2148840"/>
            <a:ext cx="448056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APPLICATION TOOL GRAPH</a:t>
            </a:r>
          </a:p>
        </p:txBody>
      </p:sp>
      <p:sp>
        <p:nvSpPr>
          <p:cNvPr id="10" name="Oval 9"/>
          <p:cNvSpPr/>
          <p:nvPr/>
        </p:nvSpPr>
        <p:spPr>
          <a:xfrm>
            <a:off x="6995160" y="2743200"/>
            <a:ext cx="128016" cy="12801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7260336" y="2688336"/>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getAccounts + getWorkspaceData</a:t>
            </a:r>
          </a:p>
        </p:txBody>
      </p:sp>
      <p:sp>
        <p:nvSpPr>
          <p:cNvPr id="12" name="reveal_03"/>
          <p:cNvSpPr txBox="1"/>
          <p:nvPr/>
        </p:nvSpPr>
        <p:spPr>
          <a:xfrm>
            <a:off x="7260336" y="3026664"/>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Balances, invoice and spending</a:t>
            </a:r>
          </a:p>
        </p:txBody>
      </p:sp>
      <p:sp>
        <p:nvSpPr>
          <p:cNvPr id="13" name="Oval 12"/>
          <p:cNvSpPr/>
          <p:nvPr/>
        </p:nvSpPr>
        <p:spPr>
          <a:xfrm>
            <a:off x="6995160" y="3529584"/>
            <a:ext cx="128016" cy="12801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4"/>
          <p:cNvSpPr txBox="1"/>
          <p:nvPr/>
        </p:nvSpPr>
        <p:spPr>
          <a:xfrm>
            <a:off x="7260336" y="3474720"/>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calculateTuitionGap</a:t>
            </a:r>
          </a:p>
        </p:txBody>
      </p:sp>
      <p:sp>
        <p:nvSpPr>
          <p:cNvPr id="15" name="reveal_04"/>
          <p:cNvSpPr txBox="1"/>
          <p:nvPr/>
        </p:nvSpPr>
        <p:spPr>
          <a:xfrm>
            <a:off x="7260336" y="3813048"/>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CNY 6,750 gap → CNY 3,375 / month</a:t>
            </a:r>
          </a:p>
        </p:txBody>
      </p:sp>
      <p:sp>
        <p:nvSpPr>
          <p:cNvPr id="16" name="Oval 15"/>
          <p:cNvSpPr/>
          <p:nvPr/>
        </p:nvSpPr>
        <p:spPr>
          <a:xfrm>
            <a:off x="6995160" y="4315968"/>
            <a:ext cx="128016" cy="12801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5"/>
          <p:cNvSpPr txBox="1"/>
          <p:nvPr/>
        </p:nvSpPr>
        <p:spPr>
          <a:xfrm>
            <a:off x="7260336" y="4261104"/>
            <a:ext cx="4133087" cy="274320"/>
          </a:xfrm>
          <a:prstGeom prst="rect">
            <a:avLst/>
          </a:prstGeom>
          <a:noFill/>
        </p:spPr>
        <p:txBody>
          <a:bodyPr wrap="square" lIns="0" tIns="0" rIns="0" bIns="0">
            <a:spAutoFit/>
          </a:bodyPr>
          <a:lstStyle/>
          <a:p>
            <a:pPr>
              <a:spcAft>
                <a:spcPts val="300"/>
              </a:spcAft>
              <a:defRPr sz="1350" b="1">
                <a:solidFill>
                  <a:srgbClr val="EDF5FF"/>
                </a:solidFill>
                <a:latin typeface="Aptos"/>
              </a:defRPr>
            </a:pPr>
            <a:r>
              <a:t>requestAction → confirmAgentAction</a:t>
            </a:r>
          </a:p>
        </p:txBody>
      </p:sp>
      <p:sp>
        <p:nvSpPr>
          <p:cNvPr id="18" name="reveal_05"/>
          <p:cNvSpPr txBox="1"/>
          <p:nvPr/>
        </p:nvSpPr>
        <p:spPr>
          <a:xfrm>
            <a:off x="7260336" y="4599432"/>
            <a:ext cx="4133087" cy="228600"/>
          </a:xfrm>
          <a:prstGeom prst="rect">
            <a:avLst/>
          </a:prstGeom>
          <a:noFill/>
        </p:spPr>
        <p:txBody>
          <a:bodyPr wrap="square" lIns="0" tIns="0" rIns="0" bIns="0">
            <a:spAutoFit/>
          </a:bodyPr>
          <a:lstStyle/>
          <a:p>
            <a:pPr>
              <a:spcAft>
                <a:spcPts val="300"/>
              </a:spcAft>
              <a:defRPr sz="1100" b="0">
                <a:solidFill>
                  <a:srgbClr val="A2B4CA"/>
                </a:solidFill>
                <a:latin typeface="Aptos"/>
              </a:defRPr>
            </a:pPr>
            <a:r>
              <a:t>Structured proposal → explicit review</a:t>
            </a:r>
          </a:p>
        </p:txBody>
      </p:sp>
      <p:sp>
        <p:nvSpPr>
          <p:cNvPr id="19" name="TextBox 18"/>
          <p:cNvSpPr txBox="1"/>
          <p:nvPr/>
        </p:nvSpPr>
        <p:spPr>
          <a:xfrm>
            <a:off x="6986016" y="5129784"/>
            <a:ext cx="4443984" cy="228600"/>
          </a:xfrm>
          <a:prstGeom prst="rect">
            <a:avLst/>
          </a:prstGeom>
          <a:noFill/>
        </p:spPr>
        <p:txBody>
          <a:bodyPr wrap="square" lIns="0" tIns="0" rIns="0" bIns="0">
            <a:spAutoFit/>
          </a:bodyPr>
          <a:lstStyle/>
          <a:p>
            <a:pPr>
              <a:spcAft>
                <a:spcPts val="300"/>
              </a:spcAft>
              <a:defRPr sz="1100" b="1">
                <a:solidFill>
                  <a:srgbClr val="63E6BE"/>
                </a:solidFill>
                <a:latin typeface="Aptos"/>
              </a:defRPr>
            </a:pPr>
            <a:r>
              <a:t>Gemini  ·  OpenAI  ·  deterministic mock</a:t>
            </a:r>
          </a:p>
        </p:txBody>
      </p:sp>
      <p:sp>
        <p:nvSpPr>
          <p:cNvPr id="20" name="reveal_04"/>
          <p:cNvSpPr/>
          <p:nvPr/>
        </p:nvSpPr>
        <p:spPr>
          <a:xfrm>
            <a:off x="54864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4"/>
          <p:cNvSpPr txBox="1"/>
          <p:nvPr/>
        </p:nvSpPr>
        <p:spPr>
          <a:xfrm>
            <a:off x="658368" y="5724144"/>
            <a:ext cx="2404872" cy="246888"/>
          </a:xfrm>
          <a:prstGeom prst="rect">
            <a:avLst/>
          </a:prstGeom>
          <a:noFill/>
        </p:spPr>
        <p:txBody>
          <a:bodyPr wrap="square" lIns="0" tIns="0" rIns="0" bIns="0">
            <a:spAutoFit/>
          </a:bodyPr>
          <a:lstStyle/>
          <a:p>
            <a:pPr algn="ctr">
              <a:spcAft>
                <a:spcPts val="300"/>
              </a:spcAft>
              <a:defRPr sz="1600" b="1">
                <a:solidFill>
                  <a:srgbClr val="6BB9FF"/>
                </a:solidFill>
                <a:latin typeface="Aptos"/>
              </a:defRPr>
            </a:pPr>
            <a:r>
              <a:t>React / Next.js</a:t>
            </a:r>
          </a:p>
        </p:txBody>
      </p:sp>
      <p:sp>
        <p:nvSpPr>
          <p:cNvPr id="22" name="reveal_04"/>
          <p:cNvSpPr txBox="1"/>
          <p:nvPr/>
        </p:nvSpPr>
        <p:spPr>
          <a:xfrm>
            <a:off x="64008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User workspace</a:t>
            </a:r>
          </a:p>
        </p:txBody>
      </p:sp>
      <p:sp>
        <p:nvSpPr>
          <p:cNvPr id="23" name="TextBox 22"/>
          <p:cNvSpPr txBox="1"/>
          <p:nvPr/>
        </p:nvSpPr>
        <p:spPr>
          <a:xfrm>
            <a:off x="319125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4" name="reveal_05"/>
          <p:cNvSpPr/>
          <p:nvPr/>
        </p:nvSpPr>
        <p:spPr>
          <a:xfrm>
            <a:off x="338328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05"/>
          <p:cNvSpPr txBox="1"/>
          <p:nvPr/>
        </p:nvSpPr>
        <p:spPr>
          <a:xfrm>
            <a:off x="3493008" y="5724144"/>
            <a:ext cx="2404872" cy="246888"/>
          </a:xfrm>
          <a:prstGeom prst="rect">
            <a:avLst/>
          </a:prstGeom>
          <a:noFill/>
        </p:spPr>
        <p:txBody>
          <a:bodyPr wrap="square" lIns="0" tIns="0" rIns="0" bIns="0">
            <a:spAutoFit/>
          </a:bodyPr>
          <a:lstStyle/>
          <a:p>
            <a:pPr algn="ctr">
              <a:spcAft>
                <a:spcPts val="300"/>
              </a:spcAft>
              <a:defRPr sz="1600" b="1">
                <a:solidFill>
                  <a:srgbClr val="B4A3FF"/>
                </a:solidFill>
                <a:latin typeface="Aptos"/>
              </a:defRPr>
            </a:pPr>
            <a:r>
              <a:t>AI + Zod</a:t>
            </a:r>
          </a:p>
        </p:txBody>
      </p:sp>
      <p:sp>
        <p:nvSpPr>
          <p:cNvPr id="26" name="reveal_05"/>
          <p:cNvSpPr txBox="1"/>
          <p:nvPr/>
        </p:nvSpPr>
        <p:spPr>
          <a:xfrm>
            <a:off x="347472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Validated tools</a:t>
            </a:r>
          </a:p>
        </p:txBody>
      </p:sp>
      <p:sp>
        <p:nvSpPr>
          <p:cNvPr id="27" name="TextBox 26"/>
          <p:cNvSpPr txBox="1"/>
          <p:nvPr/>
        </p:nvSpPr>
        <p:spPr>
          <a:xfrm>
            <a:off x="602589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28" name="reveal_06"/>
          <p:cNvSpPr/>
          <p:nvPr/>
        </p:nvSpPr>
        <p:spPr>
          <a:xfrm>
            <a:off x="621792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veal_06"/>
          <p:cNvSpPr txBox="1"/>
          <p:nvPr/>
        </p:nvSpPr>
        <p:spPr>
          <a:xfrm>
            <a:off x="6327648" y="5724144"/>
            <a:ext cx="2404872" cy="246888"/>
          </a:xfrm>
          <a:prstGeom prst="rect">
            <a:avLst/>
          </a:prstGeom>
          <a:noFill/>
        </p:spPr>
        <p:txBody>
          <a:bodyPr wrap="square" lIns="0" tIns="0" rIns="0" bIns="0">
            <a:spAutoFit/>
          </a:bodyPr>
          <a:lstStyle/>
          <a:p>
            <a:pPr algn="ctr">
              <a:spcAft>
                <a:spcPts val="300"/>
              </a:spcAft>
              <a:defRPr sz="1600" b="1">
                <a:solidFill>
                  <a:srgbClr val="F3C969"/>
                </a:solidFill>
                <a:latin typeface="Aptos"/>
              </a:defRPr>
            </a:pPr>
            <a:r>
              <a:t>Server Actions</a:t>
            </a:r>
          </a:p>
        </p:txBody>
      </p:sp>
      <p:sp>
        <p:nvSpPr>
          <p:cNvPr id="30" name="reveal_06"/>
          <p:cNvSpPr txBox="1"/>
          <p:nvPr/>
        </p:nvSpPr>
        <p:spPr>
          <a:xfrm>
            <a:off x="6309359"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Auth / role / risk</a:t>
            </a:r>
          </a:p>
        </p:txBody>
      </p:sp>
      <p:sp>
        <p:nvSpPr>
          <p:cNvPr id="31" name="TextBox 30"/>
          <p:cNvSpPr txBox="1"/>
          <p:nvPr/>
        </p:nvSpPr>
        <p:spPr>
          <a:xfrm>
            <a:off x="8860536" y="5824728"/>
            <a:ext cx="210312" cy="292608"/>
          </a:xfrm>
          <a:prstGeom prst="rect">
            <a:avLst/>
          </a:prstGeom>
          <a:noFill/>
        </p:spPr>
        <p:txBody>
          <a:bodyPr wrap="square" lIns="0" tIns="0" rIns="0" bIns="0">
            <a:spAutoFit/>
          </a:bodyPr>
          <a:lstStyle/>
          <a:p>
            <a:pPr>
              <a:spcAft>
                <a:spcPts val="300"/>
              </a:spcAft>
              <a:defRPr sz="1700" b="0">
                <a:solidFill>
                  <a:srgbClr val="63E6BE"/>
                </a:solidFill>
                <a:latin typeface="Aptos"/>
              </a:defRPr>
            </a:pPr>
            <a:r>
              <a:t>→</a:t>
            </a:r>
          </a:p>
        </p:txBody>
      </p:sp>
      <p:sp>
        <p:nvSpPr>
          <p:cNvPr id="32" name="reveal_07"/>
          <p:cNvSpPr/>
          <p:nvPr/>
        </p:nvSpPr>
        <p:spPr>
          <a:xfrm>
            <a:off x="9052560" y="5605272"/>
            <a:ext cx="2624328" cy="804672"/>
          </a:xfrm>
          <a:prstGeom prst="roundRect">
            <a:avLst>
              <a:gd name="adj" fmla="val 10000"/>
            </a:avLst>
          </a:prstGeom>
          <a:solidFill>
            <a:srgbClr val="172A40"/>
          </a:solidFill>
          <a:ln>
            <a:solidFill>
              <a:srgbClr val="263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7"/>
          <p:cNvSpPr txBox="1"/>
          <p:nvPr/>
        </p:nvSpPr>
        <p:spPr>
          <a:xfrm>
            <a:off x="9162288" y="5724144"/>
            <a:ext cx="2404872" cy="246888"/>
          </a:xfrm>
          <a:prstGeom prst="rect">
            <a:avLst/>
          </a:prstGeom>
          <a:noFill/>
        </p:spPr>
        <p:txBody>
          <a:bodyPr wrap="square" lIns="0" tIns="0" rIns="0" bIns="0">
            <a:spAutoFit/>
          </a:bodyPr>
          <a:lstStyle/>
          <a:p>
            <a:pPr algn="ctr">
              <a:spcAft>
                <a:spcPts val="300"/>
              </a:spcAft>
              <a:defRPr sz="1600" b="1">
                <a:solidFill>
                  <a:srgbClr val="63E6BE"/>
                </a:solidFill>
                <a:latin typeface="Aptos"/>
              </a:defRPr>
            </a:pPr>
            <a:r>
              <a:t>MySQL ledger</a:t>
            </a:r>
          </a:p>
        </p:txBody>
      </p:sp>
      <p:sp>
        <p:nvSpPr>
          <p:cNvPr id="34" name="reveal_07"/>
          <p:cNvSpPr txBox="1"/>
          <p:nvPr/>
        </p:nvSpPr>
        <p:spPr>
          <a:xfrm>
            <a:off x="9144000" y="6071616"/>
            <a:ext cx="2441448" cy="201168"/>
          </a:xfrm>
          <a:prstGeom prst="rect">
            <a:avLst/>
          </a:prstGeom>
          <a:noFill/>
        </p:spPr>
        <p:txBody>
          <a:bodyPr wrap="square" lIns="0" tIns="0" rIns="0" bIns="0">
            <a:spAutoFit/>
          </a:bodyPr>
          <a:lstStyle/>
          <a:p>
            <a:pPr algn="ctr">
              <a:spcAft>
                <a:spcPts val="300"/>
              </a:spcAft>
              <a:defRPr sz="1000" b="0">
                <a:solidFill>
                  <a:srgbClr val="A2B4CA"/>
                </a:solidFill>
                <a:latin typeface="Aptos"/>
              </a:defRPr>
            </a:pPr>
            <a:r>
              <a:t>Locks / idempotency</a:t>
            </a:r>
          </a:p>
        </p:txBody>
      </p:sp>
      <p:sp>
        <p:nvSpPr>
          <p:cNvPr id="35" name="reveal_02"/>
          <p:cNvSpPr/>
          <p:nvPr/>
        </p:nvSpPr>
        <p:spPr>
          <a:xfrm>
            <a:off x="502920" y="1920240"/>
            <a:ext cx="5998464" cy="3547872"/>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veal_02"/>
          <p:cNvSpPr txBox="1"/>
          <p:nvPr/>
        </p:nvSpPr>
        <p:spPr>
          <a:xfrm>
            <a:off x="758952" y="2185416"/>
            <a:ext cx="5468112" cy="475488"/>
          </a:xfrm>
          <a:prstGeom prst="rect">
            <a:avLst/>
          </a:prstGeom>
          <a:noFill/>
        </p:spPr>
        <p:txBody>
          <a:bodyPr wrap="square" lIns="0" tIns="0" rIns="0" bIns="0">
            <a:spAutoFit/>
          </a:bodyPr>
          <a:lstStyle/>
          <a:p>
            <a:pPr>
              <a:spcAft>
                <a:spcPts val="400"/>
              </a:spcAft>
              <a:defRPr sz="2200" b="1">
                <a:solidFill>
                  <a:srgbClr val="EDF5FF"/>
                </a:solidFill>
                <a:latin typeface="Aptos"/>
              </a:defRPr>
            </a:pPr>
            <a:r>
              <a:t>“Can I afford my next tuition bill?”</a:t>
            </a:r>
          </a:p>
        </p:txBody>
      </p:sp>
      <p:sp>
        <p:nvSpPr>
          <p:cNvPr id="37" name="reveal_03"/>
          <p:cNvSpPr/>
          <p:nvPr/>
        </p:nvSpPr>
        <p:spPr>
          <a:xfrm>
            <a:off x="786384" y="294436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veal_03"/>
          <p:cNvSpPr txBox="1"/>
          <p:nvPr/>
        </p:nvSpPr>
        <p:spPr>
          <a:xfrm>
            <a:off x="868680" y="3017520"/>
            <a:ext cx="932688" cy="219456"/>
          </a:xfrm>
          <a:prstGeom prst="rect">
            <a:avLst/>
          </a:prstGeom>
          <a:noFill/>
        </p:spPr>
        <p:txBody>
          <a:bodyPr wrap="square" lIns="0" tIns="0" rIns="0" bIns="0">
            <a:spAutoFit/>
          </a:bodyPr>
          <a:lstStyle/>
          <a:p>
            <a:pPr algn="ctr">
              <a:spcAft>
                <a:spcPts val="400"/>
              </a:spcAft>
              <a:defRPr sz="1200" b="1">
                <a:solidFill>
                  <a:srgbClr val="6BB9FF"/>
                </a:solidFill>
                <a:latin typeface="Aptos"/>
              </a:defRPr>
            </a:pPr>
            <a:r>
              <a:t>Read</a:t>
            </a:r>
          </a:p>
        </p:txBody>
      </p:sp>
      <p:sp>
        <p:nvSpPr>
          <p:cNvPr id="39" name="reveal_03"/>
          <p:cNvSpPr txBox="1"/>
          <p:nvPr/>
        </p:nvSpPr>
        <p:spPr>
          <a:xfrm>
            <a:off x="2103120" y="298094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Accounts + tuition invoice</a:t>
            </a:r>
          </a:p>
        </p:txBody>
      </p:sp>
      <p:sp>
        <p:nvSpPr>
          <p:cNvPr id="40" name="reveal_04"/>
          <p:cNvSpPr/>
          <p:nvPr/>
        </p:nvSpPr>
        <p:spPr>
          <a:xfrm>
            <a:off x="786384" y="358444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veal_04"/>
          <p:cNvSpPr txBox="1"/>
          <p:nvPr/>
        </p:nvSpPr>
        <p:spPr>
          <a:xfrm>
            <a:off x="868680" y="3657600"/>
            <a:ext cx="932688" cy="219456"/>
          </a:xfrm>
          <a:prstGeom prst="rect">
            <a:avLst/>
          </a:prstGeom>
          <a:noFill/>
        </p:spPr>
        <p:txBody>
          <a:bodyPr wrap="square" lIns="0" tIns="0" rIns="0" bIns="0">
            <a:spAutoFit/>
          </a:bodyPr>
          <a:lstStyle/>
          <a:p>
            <a:pPr algn="ctr">
              <a:spcAft>
                <a:spcPts val="400"/>
              </a:spcAft>
              <a:defRPr sz="1200" b="1">
                <a:solidFill>
                  <a:srgbClr val="FF8896"/>
                </a:solidFill>
                <a:latin typeface="Aptos"/>
              </a:defRPr>
            </a:pPr>
            <a:r>
              <a:t>Calculate</a:t>
            </a:r>
          </a:p>
        </p:txBody>
      </p:sp>
      <p:sp>
        <p:nvSpPr>
          <p:cNvPr id="42" name="reveal_04"/>
          <p:cNvSpPr txBox="1"/>
          <p:nvPr/>
        </p:nvSpPr>
        <p:spPr>
          <a:xfrm>
            <a:off x="2103120" y="362102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CNY 6,750 funding gap</a:t>
            </a:r>
          </a:p>
        </p:txBody>
      </p:sp>
      <p:sp>
        <p:nvSpPr>
          <p:cNvPr id="43" name="reveal_05"/>
          <p:cNvSpPr/>
          <p:nvPr/>
        </p:nvSpPr>
        <p:spPr>
          <a:xfrm>
            <a:off x="786384" y="4224528"/>
            <a:ext cx="1115568"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veal_05"/>
          <p:cNvSpPr txBox="1"/>
          <p:nvPr/>
        </p:nvSpPr>
        <p:spPr>
          <a:xfrm>
            <a:off x="868680" y="4297680"/>
            <a:ext cx="932688" cy="219456"/>
          </a:xfrm>
          <a:prstGeom prst="rect">
            <a:avLst/>
          </a:prstGeom>
          <a:noFill/>
        </p:spPr>
        <p:txBody>
          <a:bodyPr wrap="square" lIns="0" tIns="0" rIns="0" bIns="0">
            <a:spAutoFit/>
          </a:bodyPr>
          <a:lstStyle/>
          <a:p>
            <a:pPr algn="ctr">
              <a:spcAft>
                <a:spcPts val="400"/>
              </a:spcAft>
              <a:defRPr sz="1200" b="1">
                <a:solidFill>
                  <a:srgbClr val="63E6BE"/>
                </a:solidFill>
                <a:latin typeface="Aptos"/>
              </a:defRPr>
            </a:pPr>
            <a:r>
              <a:t>Propose</a:t>
            </a:r>
          </a:p>
        </p:txBody>
      </p:sp>
      <p:sp>
        <p:nvSpPr>
          <p:cNvPr id="45" name="reveal_05"/>
          <p:cNvSpPr txBox="1"/>
          <p:nvPr/>
        </p:nvSpPr>
        <p:spPr>
          <a:xfrm>
            <a:off x="2103120" y="4261104"/>
            <a:ext cx="4050791" cy="347472"/>
          </a:xfrm>
          <a:prstGeom prst="rect">
            <a:avLst/>
          </a:prstGeom>
          <a:noFill/>
        </p:spPr>
        <p:txBody>
          <a:bodyPr wrap="square" lIns="0" tIns="0" rIns="0" bIns="0">
            <a:spAutoFit/>
          </a:bodyPr>
          <a:lstStyle/>
          <a:p>
            <a:pPr>
              <a:spcAft>
                <a:spcPts val="400"/>
              </a:spcAft>
              <a:defRPr sz="1700" b="0">
                <a:solidFill>
                  <a:srgbClr val="EDF5FF"/>
                </a:solidFill>
                <a:latin typeface="Aptos"/>
              </a:defRPr>
            </a:pPr>
            <a:r>
              <a:t>CNY 3,375 monthly target</a:t>
            </a:r>
          </a:p>
        </p:txBody>
      </p:sp>
      <p:sp>
        <p:nvSpPr>
          <p:cNvPr id="46" name="reveal_06"/>
          <p:cNvSpPr/>
          <p:nvPr/>
        </p:nvSpPr>
        <p:spPr>
          <a:xfrm>
            <a:off x="4105656" y="5029200"/>
            <a:ext cx="2084831" cy="329184"/>
          </a:xfrm>
          <a:prstGeom prst="roundRect">
            <a:avLst>
              <a:gd name="adj" fmla="val 9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veal_06"/>
          <p:cNvSpPr txBox="1"/>
          <p:nvPr/>
        </p:nvSpPr>
        <p:spPr>
          <a:xfrm>
            <a:off x="4224528" y="5074920"/>
            <a:ext cx="1847088" cy="228600"/>
          </a:xfrm>
          <a:prstGeom prst="rect">
            <a:avLst/>
          </a:prstGeom>
          <a:noFill/>
        </p:spPr>
        <p:txBody>
          <a:bodyPr wrap="square" lIns="0" tIns="0" rIns="0" bIns="0">
            <a:spAutoFit/>
          </a:bodyPr>
          <a:lstStyle/>
          <a:p>
            <a:pPr algn="ctr">
              <a:spcAft>
                <a:spcPts val="400"/>
              </a:spcAft>
              <a:defRPr sz="1200" b="1">
                <a:solidFill>
                  <a:srgbClr val="080F1B"/>
                </a:solidFill>
                <a:latin typeface="Aptos"/>
              </a:defRPr>
            </a:pPr>
            <a:r>
              <a:t>Review before saving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6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600"/>
                                        <p:tgtEl>
                                          <p:spTgt spid="35"/>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fade">
                                      <p:cBhvr>
                                        <p:cTn id="18" dur="600"/>
                                        <p:tgtEl>
                                          <p:spTgt spid="3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600"/>
                                        <p:tgtEl>
                                          <p:spTgt spid="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6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600"/>
                                        <p:tgtEl>
                                          <p:spTgt spid="39"/>
                                        </p:tgtEl>
                                      </p:cBhvr>
                                    </p:animEffect>
                                  </p:childTnLst>
                                </p:cTn>
                              </p:par>
                            </p:childTnLst>
                          </p:cTn>
                        </p:par>
                        <p:par>
                          <p:cTn id="31" fill="hold">
                            <p:stCondLst>
                              <p:cond delay="1800"/>
                            </p:stCondLst>
                            <p:childTnLst>
                              <p:par>
                                <p:cTn id="32" presetID="10" presetClass="entr" presetSubtype="0" fill="hold" grpId="0" nodeType="after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600"/>
                                        <p:tgtEl>
                                          <p:spTgt spid="4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600"/>
                                        <p:tgtEl>
                                          <p:spTgt spid="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600"/>
                                        <p:tgtEl>
                                          <p:spTgt spid="4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6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6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childTnLst>
                                </p:cTn>
                              </p:par>
                            </p:childTnLst>
                          </p:cTn>
                        </p:par>
                        <p:par>
                          <p:cTn id="56" fill="hold">
                            <p:stCondLst>
                              <p:cond delay="2400"/>
                            </p:stCondLst>
                            <p:childTnLst>
                              <p:par>
                                <p:cTn id="57" presetID="10"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6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6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00"/>
                                        <p:tgtEl>
                                          <p:spTgt spid="1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fade">
                                      <p:cBhvr>
                                        <p:cTn id="68" dur="600"/>
                                        <p:tgtEl>
                                          <p:spTgt spid="4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6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600"/>
                                        <p:tgtEl>
                                          <p:spTgt spid="4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600"/>
                                        <p:tgtEl>
                                          <p:spTgt spid="43"/>
                                        </p:tgtEl>
                                      </p:cBhvr>
                                    </p:animEffect>
                                  </p:childTnLst>
                                </p:cTn>
                              </p:par>
                            </p:childTnLst>
                          </p:cTn>
                        </p:par>
                        <p:par>
                          <p:cTn id="81" fill="hold">
                            <p:stCondLst>
                              <p:cond delay="3000"/>
                            </p:stCondLst>
                            <p:childTnLst>
                              <p:par>
                                <p:cTn id="82" presetID="10" presetClass="entr" presetSubtype="0" fill="hold" grpId="0" nodeType="after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6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600"/>
                                        <p:tgtEl>
                                          <p:spTgt spid="4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600"/>
                                        <p:tgtEl>
                                          <p:spTgt spid="2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60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600"/>
                                        <p:tgtEl>
                                          <p:spTgt spid="28"/>
                                        </p:tgtEl>
                                      </p:cBhvr>
                                    </p:animEffect>
                                  </p:childTnLst>
                                </p:cTn>
                              </p:par>
                            </p:childTnLst>
                          </p:cTn>
                        </p:par>
                        <p:par>
                          <p:cTn id="97" fill="hold">
                            <p:stCondLst>
                              <p:cond delay="3600"/>
                            </p:stCondLst>
                            <p:childTnLst>
                              <p:par>
                                <p:cTn id="98" presetID="10" presetClass="entr" presetSubtype="0" fill="hold" grpId="0" nodeType="after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60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600"/>
                                        <p:tgtEl>
                                          <p:spTgt spid="3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4" grpId="0"/>
      <p:bldP spid="15" grpId="0"/>
      <p:bldP spid="17" grpId="0"/>
      <p:bldP spid="18" grpId="0"/>
      <p:bldP spid="20" grpId="0" animBg="1"/>
      <p:bldP spid="21" grpId="0"/>
      <p:bldP spid="22" grpId="0"/>
      <p:bldP spid="24" grpId="0" animBg="1"/>
      <p:bldP spid="25" grpId="0"/>
      <p:bldP spid="26" grpId="0"/>
      <p:bldP spid="28" grpId="0" animBg="1"/>
      <p:bldP spid="29" grpId="0"/>
      <p:bldP spid="30" grpId="0"/>
      <p:bldP spid="32" grpId="0" animBg="1"/>
      <p:bldP spid="33" grpId="0"/>
      <p:bldP spid="34" grpId="0"/>
      <p:bldP spid="35" grpId="0" animBg="1"/>
      <p:bldP spid="36" grpId="0"/>
      <p:bldP spid="37" grpId="0" animBg="1"/>
      <p:bldP spid="38" grpId="0"/>
      <p:bldP spid="39" grpId="0"/>
      <p:bldP spid="40" grpId="0" animBg="1"/>
      <p:bldP spid="41" grpId="0"/>
      <p:bldP spid="42" grpId="0"/>
      <p:bldP spid="43" grpId="0" animBg="1"/>
      <p:bldP spid="44" grpId="0"/>
      <p:bldP spid="45" grpId="0"/>
      <p:bldP spid="46" grpId="0" animBg="1"/>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Student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Track everyday money, plan tuition and act with the AI copilot.</a:t>
            </a:r>
          </a:p>
        </p:txBody>
      </p:sp>
      <p:sp>
        <p:nvSpPr>
          <p:cNvPr id="7" name="Rounded Rectangle 6"/>
          <p:cNvSpPr/>
          <p:nvPr/>
        </p:nvSpPr>
        <p:spPr>
          <a:xfrm>
            <a:off x="502920" y="1920240"/>
            <a:ext cx="5760720" cy="4352544"/>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74320"/>
          </a:xfrm>
          <a:prstGeom prst="rect">
            <a:avLst/>
          </a:prstGeom>
          <a:noFill/>
        </p:spPr>
        <p:txBody>
          <a:bodyPr wrap="square" lIns="0" tIns="0" rIns="0" bIns="0">
            <a:spAutoFit/>
          </a:bodyPr>
          <a:lstStyle/>
          <a:p>
            <a:pPr>
              <a:spcAft>
                <a:spcPts val="300"/>
              </a:spcAft>
              <a:defRPr sz="1200" b="1">
                <a:solidFill>
                  <a:srgbClr val="63E6BE"/>
                </a:solidFill>
                <a:latin typeface="Aptos"/>
              </a:defRPr>
            </a:pPr>
            <a:r>
              <a:t>BUDGET VS SPENDING · CNY</a:t>
            </a:r>
          </a:p>
        </p:txBody>
      </p:sp>
      <p:graphicFrame>
        <p:nvGraphicFramePr>
          <p:cNvPr id="9" name="chart_03"/>
          <p:cNvGraphicFramePr>
            <a:graphicFrameLocks noGrp="1"/>
          </p:cNvGraphicFramePr>
          <p:nvPr/>
        </p:nvGraphicFramePr>
        <p:xfrm>
          <a:off x="694944" y="2624328"/>
          <a:ext cx="534924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49808" y="4663440"/>
            <a:ext cx="5212080" cy="265176"/>
          </a:xfrm>
          <a:prstGeom prst="rect">
            <a:avLst/>
          </a:prstGeom>
          <a:noFill/>
        </p:spPr>
        <p:txBody>
          <a:bodyPr wrap="square" lIns="0" tIns="0" rIns="0" bIns="0">
            <a:spAutoFit/>
          </a:bodyPr>
          <a:lstStyle/>
          <a:p>
            <a:pPr>
              <a:spcAft>
                <a:spcPts val="300"/>
              </a:spcAft>
              <a:defRPr sz="1100" b="0">
                <a:solidFill>
                  <a:srgbClr val="A2B4CA"/>
                </a:solidFill>
                <a:latin typeface="Aptos"/>
              </a:defRPr>
            </a:pPr>
            <a:r>
              <a:t>Illustrative monthly budget: housing is CNY 100 over plan.</a:t>
            </a:r>
          </a:p>
        </p:txBody>
      </p:sp>
      <p:pic>
        <p:nvPicPr>
          <p:cNvPr id="11" name="reveal_04" descr="shopping-card.png"/>
          <p:cNvPicPr>
            <a:picLocks noChangeAspect="1"/>
          </p:cNvPicPr>
          <p:nvPr/>
        </p:nvPicPr>
        <p:blipFill>
          <a:blip r:embed="rId4"/>
          <a:stretch>
            <a:fillRect/>
          </a:stretch>
        </p:blipFill>
        <p:spPr>
          <a:xfrm>
            <a:off x="749808" y="5129784"/>
            <a:ext cx="2697480" cy="1179576"/>
          </a:xfrm>
          <a:prstGeom prst="rect">
            <a:avLst/>
          </a:prstGeom>
        </p:spPr>
      </p:pic>
      <p:sp>
        <p:nvSpPr>
          <p:cNvPr id="12" name="TextBox 11"/>
          <p:cNvSpPr txBox="1"/>
          <p:nvPr/>
        </p:nvSpPr>
        <p:spPr>
          <a:xfrm>
            <a:off x="3675887" y="5212080"/>
            <a:ext cx="2286000" cy="228600"/>
          </a:xfrm>
          <a:prstGeom prst="rect">
            <a:avLst/>
          </a:prstGeom>
          <a:noFill/>
        </p:spPr>
        <p:txBody>
          <a:bodyPr wrap="square" lIns="0" tIns="0" rIns="0" bIns="0">
            <a:spAutoFit/>
          </a:bodyPr>
          <a:lstStyle/>
          <a:p>
            <a:pPr>
              <a:spcAft>
                <a:spcPts val="300"/>
              </a:spcAft>
              <a:defRPr sz="1000" b="1">
                <a:solidFill>
                  <a:srgbClr val="63E6BE"/>
                </a:solidFill>
                <a:latin typeface="Aptos"/>
              </a:defRPr>
            </a:pPr>
            <a:r>
              <a:t>ACTUAL DEMO UI</a:t>
            </a:r>
          </a:p>
        </p:txBody>
      </p:sp>
      <p:sp>
        <p:nvSpPr>
          <p:cNvPr id="13" name="TextBox 12"/>
          <p:cNvSpPr txBox="1"/>
          <p:nvPr/>
        </p:nvSpPr>
        <p:spPr>
          <a:xfrm>
            <a:off x="3675887" y="5559552"/>
            <a:ext cx="2286000" cy="548640"/>
          </a:xfrm>
          <a:prstGeom prst="rect">
            <a:avLst/>
          </a:prstGeom>
          <a:noFill/>
        </p:spPr>
        <p:txBody>
          <a:bodyPr wrap="square" lIns="0" tIns="0" rIns="0" bIns="0">
            <a:spAutoFit/>
          </a:bodyPr>
          <a:lstStyle/>
          <a:p>
            <a:pPr>
              <a:spcAft>
                <a:spcPts val="300"/>
              </a:spcAft>
              <a:defRPr sz="1400" b="1">
                <a:solidFill>
                  <a:srgbClr val="EDF5FF"/>
                </a:solidFill>
                <a:latin typeface="Aptos"/>
              </a:defRPr>
            </a:pPr>
            <a:r>
              <a:t>Category progress</a:t>
            </a:r>
          </a:p>
          <a:p>
            <a:pPr>
              <a:spcAft>
                <a:spcPts val="300"/>
              </a:spcAft>
              <a:defRPr sz="1400" b="1">
                <a:solidFill>
                  <a:srgbClr val="EDF5FF"/>
                </a:solidFill>
                <a:latin typeface="Aptos"/>
              </a:defRPr>
            </a:pPr>
            <a:r>
              <a:t>and overspend alerts</a:t>
            </a:r>
          </a:p>
        </p:txBody>
      </p:sp>
      <p:sp>
        <p:nvSpPr>
          <p:cNvPr id="14" name="Oval 13"/>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Accounts &amp; activity</a:t>
            </a:r>
          </a:p>
        </p:txBody>
      </p:sp>
      <p:sp>
        <p:nvSpPr>
          <p:cNvPr id="16"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Multi-currency wallets, cash, transactions, categories, search/filter, CSV mapping/import.</a:t>
            </a:r>
          </a:p>
        </p:txBody>
      </p:sp>
      <p:sp>
        <p:nvSpPr>
          <p:cNvPr id="17" name="Oval 16"/>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Tuition &amp; planning</a:t>
            </a:r>
          </a:p>
        </p:txBody>
      </p:sp>
      <p:sp>
        <p:nvSpPr>
          <p:cNvPr id="19"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Invoices, scholarships, deadlines, savings scenarios, category budgets, credit guidance.</a:t>
            </a:r>
          </a:p>
        </p:txBody>
      </p:sp>
      <p:sp>
        <p:nvSpPr>
          <p:cNvPr id="20" name="Oval 19"/>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Payments &amp; transfers</a:t>
            </a:r>
          </a:p>
        </p:txBody>
      </p:sp>
      <p:sp>
        <p:nvSpPr>
          <p:cNvPr id="22"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FX/providers, quotes, sends, top-ups, manual deposits, withdrawals, recipients and receipts.</a:t>
            </a:r>
          </a:p>
        </p:txBody>
      </p:sp>
      <p:sp>
        <p:nvSpPr>
          <p:cNvPr id="23" name="Oval 22"/>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copilot</a:t>
            </a:r>
          </a:p>
        </p:txBody>
      </p:sp>
      <p:sp>
        <p:nvSpPr>
          <p:cNvPr id="25"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Chat/tool history, advice, follow-ups, navigation, reviewed actions and model selection.</a:t>
            </a:r>
          </a:p>
        </p:txBody>
      </p:sp>
      <p:sp>
        <p:nvSpPr>
          <p:cNvPr id="26" name="Oval 25"/>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&amp; notifications</a:t>
            </a:r>
          </a:p>
        </p:txBody>
      </p:sp>
      <p:sp>
        <p:nvSpPr>
          <p:cNvPr id="28"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Invitations, recipient/transfer approvals, reminders, alerts/snooze and ledger history.</a:t>
            </a:r>
          </a:p>
        </p:txBody>
      </p:sp>
      <p:sp>
        <p:nvSpPr>
          <p:cNvPr id="29" name="Oval 28"/>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Personal account</a:t>
            </a:r>
          </a:p>
        </p:txBody>
      </p:sp>
      <p:sp>
        <p:nvSpPr>
          <p:cNvPr id="31"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Plans/quotas/history, saved cards/models, profile/security, reports, export and closure.</a:t>
            </a:r>
          </a:p>
        </p:txBody>
      </p:sp>
      <p:sp>
        <p:nvSpPr>
          <p:cNvPr id="32" name="TextBox 31"/>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3 languages · themes · country/currency · time zone · search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600"/>
                                        <p:tgtEl>
                                          <p:spTgt spid="9"/>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6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6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600"/>
                                        <p:tgtEl>
                                          <p:spTgt spid="11"/>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6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600"/>
                                        <p:tgtEl>
                                          <p:spTgt spid="18"/>
                                        </p:tgtEl>
                                      </p:cBhvr>
                                    </p:animEffect>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6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600"/>
                                        <p:tgtEl>
                                          <p:spTgt spid="21"/>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6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600"/>
                                        <p:tgtEl>
                                          <p:spTgt spid="24"/>
                                        </p:tgtEl>
                                      </p:cBhvr>
                                    </p:animEffect>
                                  </p:childTnLst>
                                </p:cTn>
                              </p:par>
                            </p:childTnLst>
                          </p:cTn>
                        </p:par>
                        <p:par>
                          <p:cTn id="43" fill="hold">
                            <p:stCondLst>
                              <p:cond delay="3600"/>
                            </p:stCondLst>
                            <p:childTnLst>
                              <p:par>
                                <p:cTn id="44" presetID="10"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6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600"/>
                                        <p:tgtEl>
                                          <p:spTgt spid="27"/>
                                        </p:tgtEl>
                                      </p:cBhvr>
                                    </p:animEffect>
                                  </p:childTnLst>
                                </p:cTn>
                              </p:par>
                            </p:childTnLst>
                          </p:cTn>
                        </p:par>
                        <p:par>
                          <p:cTn id="50" fill="hold">
                            <p:stCondLst>
                              <p:cond delay="4200"/>
                            </p:stCondLst>
                            <p:childTnLst>
                              <p:par>
                                <p:cTn id="51" presetID="10"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6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5" grpId="0"/>
      <p:bldP spid="16" grpId="0"/>
      <p:bldP spid="18" grpId="0"/>
      <p:bldP spid="19" grpId="0"/>
      <p:bldP spid="21" grpId="0"/>
      <p:bldP spid="22" grpId="0"/>
      <p:bldP spid="24" grpId="0"/>
      <p:bldP spid="25" grpId="0"/>
      <p:bldP spid="27" grpId="0"/>
      <p:bldP spid="28"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Parent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Support the student with scoped visibility, clear approval rules and spending limits.</a:t>
            </a:r>
          </a:p>
        </p:txBody>
      </p:sp>
      <p:sp>
        <p:nvSpPr>
          <p:cNvPr id="7" name="Rounded Rectangle 6"/>
          <p:cNvSpPr/>
          <p:nvPr/>
        </p:nvSpPr>
        <p:spPr>
          <a:xfrm>
            <a:off x="502920" y="1920240"/>
            <a:ext cx="5760720" cy="2231136"/>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5303520" cy="256032"/>
          </a:xfrm>
          <a:prstGeom prst="rect">
            <a:avLst/>
          </a:prstGeom>
          <a:noFill/>
        </p:spPr>
        <p:txBody>
          <a:bodyPr wrap="square" lIns="0" tIns="0" rIns="0" bIns="0">
            <a:spAutoFit/>
          </a:bodyPr>
          <a:lstStyle/>
          <a:p>
            <a:pPr>
              <a:spcAft>
                <a:spcPts val="300"/>
              </a:spcAft>
              <a:defRPr sz="1200" b="1">
                <a:solidFill>
                  <a:srgbClr val="63E6BE"/>
                </a:solidFill>
                <a:latin typeface="Aptos"/>
              </a:defRPr>
            </a:pPr>
            <a:r>
              <a:t>TRANSFER REVIEW BOUNDARIES · CNY</a:t>
            </a:r>
          </a:p>
        </p:txBody>
      </p:sp>
      <p:graphicFrame>
        <p:nvGraphicFramePr>
          <p:cNvPr id="9" name="chart_03"/>
          <p:cNvGraphicFramePr>
            <a:graphicFrameLocks noGrp="1"/>
          </p:cNvGraphicFramePr>
          <p:nvPr/>
        </p:nvGraphicFramePr>
        <p:xfrm>
          <a:off x="713232" y="2551176"/>
          <a:ext cx="5303520" cy="1298448"/>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Family circle</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Invite/link students, review linked finances and revoke relationships.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Visibility matrix</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Balances, category totals, descriptions, tuition, budgets and permission-aware alerts.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Approval center</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Approve/reject payments and beneficiaries; reasons/history; tuition/conversion sign-off.</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Spending controls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Thresholds, transfer/daily/monthly caps, category limits, auto-approval and one-time recipients.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Parent money &amp; AI</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Own wallets, student funding, deposits/payments, transactions/CSV and reviewed AI actions.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Shared account tools</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Plans, cards/models, alerts/reports, profile/security, preferences, export and closure.</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Parent policies can tighten platform limits.</a:t>
            </a:r>
          </a:p>
        </p:txBody>
      </p:sp>
      <p:sp>
        <p:nvSpPr>
          <p:cNvPr id="30" name="reveal_03"/>
          <p:cNvSpPr/>
          <p:nvPr/>
        </p:nvSpPr>
        <p:spPr>
          <a:xfrm>
            <a:off x="502920" y="4361688"/>
            <a:ext cx="5760720" cy="192024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veal_03"/>
          <p:cNvSpPr txBox="1"/>
          <p:nvPr/>
        </p:nvSpPr>
        <p:spPr>
          <a:xfrm>
            <a:off x="749808" y="4590288"/>
            <a:ext cx="5266944" cy="393192"/>
          </a:xfrm>
          <a:prstGeom prst="rect">
            <a:avLst/>
          </a:prstGeom>
          <a:noFill/>
        </p:spPr>
        <p:txBody>
          <a:bodyPr wrap="square" lIns="0" tIns="0" rIns="0" bIns="0">
            <a:spAutoFit/>
          </a:bodyPr>
          <a:lstStyle/>
          <a:p>
            <a:pPr>
              <a:spcAft>
                <a:spcPts val="400"/>
              </a:spcAft>
              <a:defRPr sz="2000" b="1">
                <a:solidFill>
                  <a:srgbClr val="EDF5FF"/>
                </a:solidFill>
                <a:latin typeface="Aptos"/>
              </a:defRPr>
            </a:pPr>
            <a:r>
              <a:t>Student requests CNY 6,750</a:t>
            </a:r>
          </a:p>
        </p:txBody>
      </p:sp>
      <p:sp>
        <p:nvSpPr>
          <p:cNvPr id="32" name="reveal_04"/>
          <p:cNvSpPr/>
          <p:nvPr/>
        </p:nvSpPr>
        <p:spPr>
          <a:xfrm>
            <a:off x="731520"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4"/>
          <p:cNvSpPr txBox="1"/>
          <p:nvPr/>
        </p:nvSpPr>
        <p:spPr>
          <a:xfrm>
            <a:off x="804672" y="5422392"/>
            <a:ext cx="1481328" cy="219456"/>
          </a:xfrm>
          <a:prstGeom prst="rect">
            <a:avLst/>
          </a:prstGeom>
          <a:noFill/>
        </p:spPr>
        <p:txBody>
          <a:bodyPr wrap="square" lIns="0" tIns="0" rIns="0" bIns="0">
            <a:spAutoFit/>
          </a:bodyPr>
          <a:lstStyle/>
          <a:p>
            <a:pPr algn="ctr">
              <a:spcAft>
                <a:spcPts val="400"/>
              </a:spcAft>
              <a:defRPr sz="1400" b="1">
                <a:solidFill>
                  <a:srgbClr val="6BB9FF"/>
                </a:solidFill>
                <a:latin typeface="Aptos"/>
              </a:defRPr>
            </a:pPr>
            <a:r>
              <a:t>Student</a:t>
            </a:r>
          </a:p>
        </p:txBody>
      </p:sp>
      <p:sp>
        <p:nvSpPr>
          <p:cNvPr id="34" name="reveal_04"/>
          <p:cNvSpPr txBox="1"/>
          <p:nvPr/>
        </p:nvSpPr>
        <p:spPr>
          <a:xfrm>
            <a:off x="786384"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Confirms request</a:t>
            </a:r>
          </a:p>
        </p:txBody>
      </p:sp>
      <p:sp>
        <p:nvSpPr>
          <p:cNvPr id="35" name="TextBox 34"/>
          <p:cNvSpPr txBox="1"/>
          <p:nvPr/>
        </p:nvSpPr>
        <p:spPr>
          <a:xfrm>
            <a:off x="2377440" y="5477256"/>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36" name="reveal_05"/>
          <p:cNvSpPr/>
          <p:nvPr/>
        </p:nvSpPr>
        <p:spPr>
          <a:xfrm>
            <a:off x="2578608"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veal_05"/>
          <p:cNvSpPr txBox="1"/>
          <p:nvPr/>
        </p:nvSpPr>
        <p:spPr>
          <a:xfrm>
            <a:off x="2651760" y="5422392"/>
            <a:ext cx="1481328" cy="219456"/>
          </a:xfrm>
          <a:prstGeom prst="rect">
            <a:avLst/>
          </a:prstGeom>
          <a:noFill/>
        </p:spPr>
        <p:txBody>
          <a:bodyPr wrap="square" lIns="0" tIns="0" rIns="0" bIns="0">
            <a:spAutoFit/>
          </a:bodyPr>
          <a:lstStyle/>
          <a:p>
            <a:pPr algn="ctr">
              <a:spcAft>
                <a:spcPts val="400"/>
              </a:spcAft>
              <a:defRPr sz="1400" b="1">
                <a:solidFill>
                  <a:srgbClr val="F3C969"/>
                </a:solidFill>
                <a:latin typeface="Aptos"/>
              </a:defRPr>
            </a:pPr>
            <a:r>
              <a:t>Parent</a:t>
            </a:r>
          </a:p>
        </p:txBody>
      </p:sp>
      <p:sp>
        <p:nvSpPr>
          <p:cNvPr id="38" name="reveal_05"/>
          <p:cNvSpPr txBox="1"/>
          <p:nvPr/>
        </p:nvSpPr>
        <p:spPr>
          <a:xfrm>
            <a:off x="2633472"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Reviews + decides</a:t>
            </a:r>
          </a:p>
        </p:txBody>
      </p:sp>
      <p:sp>
        <p:nvSpPr>
          <p:cNvPr id="39" name="TextBox 38"/>
          <p:cNvSpPr txBox="1"/>
          <p:nvPr/>
        </p:nvSpPr>
        <p:spPr>
          <a:xfrm>
            <a:off x="4224528" y="5477256"/>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40" name="reveal_06"/>
          <p:cNvSpPr/>
          <p:nvPr/>
        </p:nvSpPr>
        <p:spPr>
          <a:xfrm>
            <a:off x="4425696" y="5285232"/>
            <a:ext cx="1627632" cy="73152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veal_06"/>
          <p:cNvSpPr txBox="1"/>
          <p:nvPr/>
        </p:nvSpPr>
        <p:spPr>
          <a:xfrm>
            <a:off x="4498848" y="5422392"/>
            <a:ext cx="1481328" cy="219456"/>
          </a:xfrm>
          <a:prstGeom prst="rect">
            <a:avLst/>
          </a:prstGeom>
          <a:noFill/>
        </p:spPr>
        <p:txBody>
          <a:bodyPr wrap="square" lIns="0" tIns="0" rIns="0" bIns="0">
            <a:spAutoFit/>
          </a:bodyPr>
          <a:lstStyle/>
          <a:p>
            <a:pPr algn="ctr">
              <a:spcAft>
                <a:spcPts val="400"/>
              </a:spcAft>
              <a:defRPr sz="1400" b="1">
                <a:solidFill>
                  <a:srgbClr val="63E6BE"/>
                </a:solidFill>
                <a:latin typeface="Aptos"/>
              </a:defRPr>
            </a:pPr>
            <a:r>
              <a:t>Payment</a:t>
            </a:r>
          </a:p>
        </p:txBody>
      </p:sp>
      <p:sp>
        <p:nvSpPr>
          <p:cNvPr id="42" name="reveal_06"/>
          <p:cNvSpPr txBox="1"/>
          <p:nvPr/>
        </p:nvSpPr>
        <p:spPr>
          <a:xfrm>
            <a:off x="4480559" y="5733288"/>
            <a:ext cx="1517904" cy="210312"/>
          </a:xfrm>
          <a:prstGeom prst="rect">
            <a:avLst/>
          </a:prstGeom>
          <a:noFill/>
        </p:spPr>
        <p:txBody>
          <a:bodyPr wrap="square" lIns="0" tIns="0" rIns="0" bIns="0">
            <a:spAutoFit/>
          </a:bodyPr>
          <a:lstStyle/>
          <a:p>
            <a:pPr algn="ctr">
              <a:spcAft>
                <a:spcPts val="400"/>
              </a:spcAft>
              <a:defRPr sz="1000" b="0">
                <a:solidFill>
                  <a:srgbClr val="A2B4CA"/>
                </a:solidFill>
                <a:latin typeface="Aptos"/>
              </a:defRPr>
            </a:pPr>
            <a:r>
              <a:t>Queues if approved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6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600"/>
                                        <p:tgtEl>
                                          <p:spTgt spid="30"/>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right)">
                                      <p:cBhvr>
                                        <p:cTn id="17" dur="600"/>
                                        <p:tgtEl>
                                          <p:spTgt spid="9"/>
                                        </p:tgtEl>
                                      </p:cBhvr>
                                    </p:animEffect>
                                  </p:childTnLst>
                                </p:cTn>
                              </p:par>
                            </p:childTnLst>
                          </p:cTn>
                        </p:par>
                        <p:par>
                          <p:cTn id="18" fill="hold">
                            <p:stCondLst>
                              <p:cond delay="12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6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6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6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600"/>
                                        <p:tgtEl>
                                          <p:spTgt spid="32"/>
                                        </p:tgtEl>
                                      </p:cBhvr>
                                    </p:animEffect>
                                  </p:childTnLst>
                                </p:cTn>
                              </p:par>
                            </p:childTnLst>
                          </p:cTn>
                        </p:par>
                        <p:par>
                          <p:cTn id="34" fill="hold">
                            <p:stCondLst>
                              <p:cond delay="1800"/>
                            </p:stCondLst>
                            <p:childTnLst>
                              <p:par>
                                <p:cTn id="35" presetID="10" presetClass="entr" presetSubtype="0"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6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6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600"/>
                                        <p:tgtEl>
                                          <p:spTgt spid="38"/>
                                        </p:tgtEl>
                                      </p:cBhvr>
                                    </p:animEffect>
                                  </p:childTnLst>
                                </p:cTn>
                              </p:par>
                            </p:childTnLst>
                          </p:cTn>
                        </p:par>
                        <p:par>
                          <p:cTn id="50" fill="hold">
                            <p:stCondLst>
                              <p:cond delay="2400"/>
                            </p:stCondLst>
                            <p:childTnLst>
                              <p:par>
                                <p:cTn id="51" presetID="10" presetClass="entr" presetSubtype="0" fill="hold" grpId="0"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600"/>
                                        <p:tgtEl>
                                          <p:spTgt spid="4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600"/>
                                        <p:tgtEl>
                                          <p:spTgt spid="4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6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600"/>
                                        <p:tgtEl>
                                          <p:spTgt spid="4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600"/>
                                        <p:tgtEl>
                                          <p:spTgt spid="18"/>
                                        </p:tgtEl>
                                      </p:cBhvr>
                                    </p:animEffect>
                                  </p:childTnLst>
                                </p:cTn>
                              </p:par>
                            </p:childTnLst>
                          </p:cTn>
                        </p:par>
                        <p:par>
                          <p:cTn id="66" fill="hold">
                            <p:stCondLst>
                              <p:cond delay="3000"/>
                            </p:stCondLst>
                            <p:childTnLst>
                              <p:par>
                                <p:cTn id="67" presetID="10" presetClass="entr" presetSubtype="0"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600"/>
                                        <p:tgtEl>
                                          <p:spTgt spid="2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600"/>
                                        <p:tgtEl>
                                          <p:spTgt spid="22"/>
                                        </p:tgtEl>
                                      </p:cBhvr>
                                    </p:animEffect>
                                  </p:childTnLst>
                                </p:cTn>
                              </p:par>
                            </p:childTnLst>
                          </p:cTn>
                        </p:par>
                        <p:par>
                          <p:cTn id="73" fill="hold">
                            <p:stCondLst>
                              <p:cond delay="3600"/>
                            </p:stCondLst>
                            <p:childTnLst>
                              <p:par>
                                <p:cTn id="74" presetID="10" presetClass="entr" presetSubtype="0"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6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600"/>
                                        <p:tgtEl>
                                          <p:spTgt spid="24"/>
                                        </p:tgtEl>
                                      </p:cBhvr>
                                    </p:animEffect>
                                  </p:childTnLst>
                                </p:cTn>
                              </p:par>
                            </p:childTnLst>
                          </p:cTn>
                        </p:par>
                        <p:par>
                          <p:cTn id="80" fill="hold">
                            <p:stCondLst>
                              <p:cond delay="4200"/>
                            </p:stCondLst>
                            <p:childTnLst>
                              <p:par>
                                <p:cTn id="81" presetID="10" presetClass="entr" presetSubtype="0" fill="hold" grpId="0"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6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p:bldAsOne/>
      </p:bldGraphic>
      <p:bldP spid="12" grpId="0"/>
      <p:bldP spid="13" grpId="0"/>
      <p:bldP spid="15" grpId="0"/>
      <p:bldP spid="16" grpId="0"/>
      <p:bldP spid="18" grpId="0"/>
      <p:bldP spid="19" grpId="0"/>
      <p:bldP spid="21" grpId="0"/>
      <p:bldP spid="22" grpId="0"/>
      <p:bldP spid="24" grpId="0"/>
      <p:bldP spid="25" grpId="0"/>
      <p:bldP spid="27" grpId="0"/>
      <p:bldP spid="28" grpId="0"/>
      <p:bldP spid="30" grpId="0" animBg="1"/>
      <p:bldP spid="31" grpId="0"/>
      <p:bldP spid="32" grpId="0" animBg="1"/>
      <p:bldP spid="33" grpId="0"/>
      <p:bldP spid="34" grpId="0"/>
      <p:bldP spid="36" grpId="0" animBg="1"/>
      <p:bldP spid="37" grpId="0"/>
      <p:bldP spid="38" grpId="0"/>
      <p:bldP spid="40" grpId="0" animBg="1"/>
      <p:bldP spid="41" grpId="0"/>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Admin features</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Configure the sandbox, resolve requests and inspect the evidence behind each financial action.</a:t>
            </a:r>
          </a:p>
        </p:txBody>
      </p:sp>
      <p:sp>
        <p:nvSpPr>
          <p:cNvPr id="8" name="Rounded Rectangle 7"/>
          <p:cNvSpPr/>
          <p:nvPr/>
        </p:nvSpPr>
        <p:spPr>
          <a:xfrm>
            <a:off x="502920" y="4535424"/>
            <a:ext cx="5760720" cy="1755648"/>
          </a:xfrm>
          <a:prstGeom prst="roundRect">
            <a:avLst>
              <a:gd name="adj" fmla="val 10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718304"/>
            <a:ext cx="5303520" cy="237744"/>
          </a:xfrm>
          <a:prstGeom prst="rect">
            <a:avLst/>
          </a:prstGeom>
          <a:noFill/>
        </p:spPr>
        <p:txBody>
          <a:bodyPr wrap="square" lIns="0" tIns="0" rIns="0" bIns="0">
            <a:spAutoFit/>
          </a:bodyPr>
          <a:lstStyle/>
          <a:p>
            <a:pPr>
              <a:spcAft>
                <a:spcPts val="300"/>
              </a:spcAft>
              <a:defRPr sz="1100" b="1">
                <a:solidFill>
                  <a:srgbClr val="63E6BE"/>
                </a:solidFill>
                <a:latin typeface="Aptos"/>
              </a:defRPr>
            </a:pPr>
            <a:r>
              <a:t>EXAMPLE QUEUE SNAPSHOT</a:t>
            </a:r>
          </a:p>
        </p:txBody>
      </p:sp>
      <p:graphicFrame>
        <p:nvGraphicFramePr>
          <p:cNvPr id="10" name="chart_03"/>
          <p:cNvGraphicFramePr>
            <a:graphicFrameLocks noGrp="1"/>
          </p:cNvGraphicFramePr>
          <p:nvPr/>
        </p:nvGraphicFramePr>
        <p:xfrm>
          <a:off x="722376" y="5074920"/>
          <a:ext cx="5294376" cy="10515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6583680" y="1984248"/>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veal_04"/>
          <p:cNvSpPr txBox="1"/>
          <p:nvPr/>
        </p:nvSpPr>
        <p:spPr>
          <a:xfrm>
            <a:off x="6793992" y="19293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Users &amp; roles</a:t>
            </a:r>
          </a:p>
        </p:txBody>
      </p:sp>
      <p:sp>
        <p:nvSpPr>
          <p:cNvPr id="13" name="reveal_04"/>
          <p:cNvSpPr txBox="1"/>
          <p:nvPr/>
        </p:nvSpPr>
        <p:spPr>
          <a:xfrm>
            <a:off x="6793992" y="22219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User/role management, suspend/reactivate, metrics and delegated moderator scopes.</a:t>
            </a:r>
          </a:p>
        </p:txBody>
      </p:sp>
      <p:sp>
        <p:nvSpPr>
          <p:cNvPr id="14" name="Oval 13"/>
          <p:cNvSpPr/>
          <p:nvPr/>
        </p:nvSpPr>
        <p:spPr>
          <a:xfrm>
            <a:off x="6583680" y="2670048"/>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5"/>
          <p:cNvSpPr txBox="1"/>
          <p:nvPr/>
        </p:nvSpPr>
        <p:spPr>
          <a:xfrm>
            <a:off x="6793992" y="26151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Manual settlement</a:t>
            </a:r>
          </a:p>
        </p:txBody>
      </p:sp>
      <p:sp>
        <p:nvSpPr>
          <p:cNvPr id="16" name="reveal_05"/>
          <p:cNvSpPr txBox="1"/>
          <p:nvPr/>
        </p:nvSpPr>
        <p:spPr>
          <a:xfrm>
            <a:off x="6793992" y="29077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Claim/process/complete/fail, payout references, held funds/refunds and receiving details.</a:t>
            </a:r>
          </a:p>
        </p:txBody>
      </p:sp>
      <p:sp>
        <p:nvSpPr>
          <p:cNvPr id="17" name="Oval 16"/>
          <p:cNvSpPr/>
          <p:nvPr/>
        </p:nvSpPr>
        <p:spPr>
          <a:xfrm>
            <a:off x="6583680" y="3355848"/>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06"/>
          <p:cNvSpPr txBox="1"/>
          <p:nvPr/>
        </p:nvSpPr>
        <p:spPr>
          <a:xfrm>
            <a:off x="6793992" y="3300984"/>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Financial configuration</a:t>
            </a:r>
          </a:p>
        </p:txBody>
      </p:sp>
      <p:sp>
        <p:nvSpPr>
          <p:cNvPr id="19" name="reveal_06"/>
          <p:cNvSpPr txBox="1"/>
          <p:nvPr/>
        </p:nvSpPr>
        <p:spPr>
          <a:xfrm>
            <a:off x="6793992" y="3593591"/>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Risk/frequency ceilings, FX, providers/fees/spreads/routes and credit guidance.</a:t>
            </a:r>
          </a:p>
        </p:txBody>
      </p:sp>
      <p:sp>
        <p:nvSpPr>
          <p:cNvPr id="20" name="Oval 19"/>
          <p:cNvSpPr/>
          <p:nvPr/>
        </p:nvSpPr>
        <p:spPr>
          <a:xfrm>
            <a:off x="6583680" y="4041647"/>
            <a:ext cx="82296" cy="82296"/>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07"/>
          <p:cNvSpPr txBox="1"/>
          <p:nvPr/>
        </p:nvSpPr>
        <p:spPr>
          <a:xfrm>
            <a:off x="6793992" y="39867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Catalog &amp; subscriptions</a:t>
            </a:r>
          </a:p>
        </p:txBody>
      </p:sp>
      <p:sp>
        <p:nvSpPr>
          <p:cNvPr id="22" name="reveal_07"/>
          <p:cNvSpPr txBox="1"/>
          <p:nvPr/>
        </p:nvSpPr>
        <p:spPr>
          <a:xfrm>
            <a:off x="6793992" y="42793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Countries/currencies, defaults/settings, pricing, quotas and feature limits.</a:t>
            </a:r>
          </a:p>
        </p:txBody>
      </p:sp>
      <p:sp>
        <p:nvSpPr>
          <p:cNvPr id="23" name="Oval 22"/>
          <p:cNvSpPr/>
          <p:nvPr/>
        </p:nvSpPr>
        <p:spPr>
          <a:xfrm>
            <a:off x="6583680" y="4727447"/>
            <a:ext cx="82296" cy="82296"/>
          </a:xfrm>
          <a:prstGeom prst="ellipse">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8"/>
          <p:cNvSpPr txBox="1"/>
          <p:nvPr/>
        </p:nvSpPr>
        <p:spPr>
          <a:xfrm>
            <a:off x="6793992" y="46725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AI &amp; platform team</a:t>
            </a:r>
          </a:p>
        </p:txBody>
      </p:sp>
      <p:sp>
        <p:nvSpPr>
          <p:cNvPr id="25" name="reveal_08"/>
          <p:cNvSpPr txBox="1"/>
          <p:nvPr/>
        </p:nvSpPr>
        <p:spPr>
          <a:xfrm>
            <a:off x="6793992" y="49651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Shared models/keys, connection tests, run/tool inspection and published team profiles.</a:t>
            </a:r>
          </a:p>
        </p:txBody>
      </p:sp>
      <p:sp>
        <p:nvSpPr>
          <p:cNvPr id="26" name="Oval 25"/>
          <p:cNvSpPr/>
          <p:nvPr/>
        </p:nvSpPr>
        <p:spPr>
          <a:xfrm>
            <a:off x="6583680" y="5413247"/>
            <a:ext cx="82296" cy="82296"/>
          </a:xfrm>
          <a:prstGeom prst="ellipse">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9"/>
          <p:cNvSpPr txBox="1"/>
          <p:nvPr/>
        </p:nvSpPr>
        <p:spPr>
          <a:xfrm>
            <a:off x="6793992" y="5358383"/>
            <a:ext cx="4818888" cy="256032"/>
          </a:xfrm>
          <a:prstGeom prst="rect">
            <a:avLst/>
          </a:prstGeom>
          <a:noFill/>
        </p:spPr>
        <p:txBody>
          <a:bodyPr wrap="square" lIns="0" tIns="0" rIns="0" bIns="0">
            <a:spAutoFit/>
          </a:bodyPr>
          <a:lstStyle/>
          <a:p>
            <a:pPr>
              <a:spcAft>
                <a:spcPts val="300"/>
              </a:spcAft>
              <a:defRPr sz="1500" b="1">
                <a:solidFill>
                  <a:srgbClr val="EDF5FF"/>
                </a:solidFill>
                <a:latin typeface="Aptos"/>
              </a:defRPr>
            </a:pPr>
            <a:r>
              <a:t>Reports &amp; evidence</a:t>
            </a:r>
          </a:p>
        </p:txBody>
      </p:sp>
      <p:sp>
        <p:nvSpPr>
          <p:cNvPr id="28" name="reveal_09"/>
          <p:cNvSpPr txBox="1"/>
          <p:nvPr/>
        </p:nvSpPr>
        <p:spPr>
          <a:xfrm>
            <a:off x="6793992" y="5650992"/>
            <a:ext cx="4818888" cy="420624"/>
          </a:xfrm>
          <a:prstGeom prst="rect">
            <a:avLst/>
          </a:prstGeom>
          <a:noFill/>
        </p:spPr>
        <p:txBody>
          <a:bodyPr wrap="square" lIns="0" tIns="0" rIns="0" bIns="0">
            <a:spAutoFit/>
          </a:bodyPr>
          <a:lstStyle/>
          <a:p>
            <a:pPr>
              <a:spcAft>
                <a:spcPts val="300"/>
              </a:spcAft>
              <a:defRPr sz="1200" b="0">
                <a:solidFill>
                  <a:srgbClr val="A2B4CA"/>
                </a:solidFill>
                <a:latin typeface="Aptos"/>
              </a:defRPr>
            </a:pPr>
            <a:r>
              <a:t>Resolve reports; audit logs, transfer receipts, project and security evidence exports.</a:t>
            </a:r>
          </a:p>
        </p:txBody>
      </p:sp>
      <p:sp>
        <p:nvSpPr>
          <p:cNvPr id="29" name="TextBox 28"/>
          <p:cNvSpPr txBox="1"/>
          <p:nvPr/>
        </p:nvSpPr>
        <p:spPr>
          <a:xfrm>
            <a:off x="6793992" y="6199632"/>
            <a:ext cx="4690872" cy="210312"/>
          </a:xfrm>
          <a:prstGeom prst="rect">
            <a:avLst/>
          </a:prstGeom>
          <a:noFill/>
        </p:spPr>
        <p:txBody>
          <a:bodyPr wrap="square" lIns="0" tIns="0" rIns="0" bIns="0">
            <a:spAutoFit/>
          </a:bodyPr>
          <a:lstStyle/>
          <a:p>
            <a:pPr>
              <a:spcAft>
                <a:spcPts val="300"/>
              </a:spcAft>
              <a:defRPr sz="1000" b="0">
                <a:solidFill>
                  <a:srgbClr val="63E6BE"/>
                </a:solidFill>
                <a:latin typeface="Aptos"/>
              </a:defRPr>
            </a:pPr>
            <a:r>
              <a:t>Moderator access is limited to assigned sections.</a:t>
            </a:r>
          </a:p>
        </p:txBody>
      </p:sp>
      <p:sp>
        <p:nvSpPr>
          <p:cNvPr id="30" name="reveal_02"/>
          <p:cNvSpPr/>
          <p:nvPr/>
        </p:nvSpPr>
        <p:spPr>
          <a:xfrm>
            <a:off x="502920" y="1920240"/>
            <a:ext cx="5760720" cy="242316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veal_02"/>
          <p:cNvSpPr txBox="1"/>
          <p:nvPr/>
        </p:nvSpPr>
        <p:spPr>
          <a:xfrm>
            <a:off x="749808" y="2130552"/>
            <a:ext cx="5285232" cy="320040"/>
          </a:xfrm>
          <a:prstGeom prst="rect">
            <a:avLst/>
          </a:prstGeom>
          <a:noFill/>
        </p:spPr>
        <p:txBody>
          <a:bodyPr wrap="square" lIns="0" tIns="0" rIns="0" bIns="0">
            <a:spAutoFit/>
          </a:bodyPr>
          <a:lstStyle/>
          <a:p>
            <a:pPr>
              <a:spcAft>
                <a:spcPts val="400"/>
              </a:spcAft>
              <a:defRPr sz="1800" b="1">
                <a:solidFill>
                  <a:srgbClr val="EDF5FF"/>
                </a:solidFill>
                <a:latin typeface="Aptos"/>
              </a:defRPr>
            </a:pPr>
            <a:r>
              <a:t>Manual settlement</a:t>
            </a:r>
          </a:p>
        </p:txBody>
      </p:sp>
      <p:sp>
        <p:nvSpPr>
          <p:cNvPr id="32" name="reveal_03"/>
          <p:cNvSpPr/>
          <p:nvPr/>
        </p:nvSpPr>
        <p:spPr>
          <a:xfrm>
            <a:off x="731520"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3"/>
          <p:cNvSpPr txBox="1"/>
          <p:nvPr/>
        </p:nvSpPr>
        <p:spPr>
          <a:xfrm>
            <a:off x="786384" y="2889504"/>
            <a:ext cx="1517904" cy="246888"/>
          </a:xfrm>
          <a:prstGeom prst="rect">
            <a:avLst/>
          </a:prstGeom>
          <a:noFill/>
        </p:spPr>
        <p:txBody>
          <a:bodyPr wrap="square" lIns="0" tIns="0" rIns="0" bIns="0">
            <a:spAutoFit/>
          </a:bodyPr>
          <a:lstStyle/>
          <a:p>
            <a:pPr algn="ctr">
              <a:spcAft>
                <a:spcPts val="400"/>
              </a:spcAft>
              <a:defRPr sz="1300" b="1">
                <a:solidFill>
                  <a:srgbClr val="F3C969"/>
                </a:solidFill>
                <a:latin typeface="Aptos"/>
              </a:defRPr>
            </a:pPr>
            <a:r>
              <a:t>Queued</a:t>
            </a:r>
          </a:p>
        </p:txBody>
      </p:sp>
      <p:sp>
        <p:nvSpPr>
          <p:cNvPr id="34" name="reveal_03"/>
          <p:cNvSpPr txBox="1"/>
          <p:nvPr/>
        </p:nvSpPr>
        <p:spPr>
          <a:xfrm>
            <a:off x="850392"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Review request</a:t>
            </a:r>
          </a:p>
        </p:txBody>
      </p:sp>
      <p:sp>
        <p:nvSpPr>
          <p:cNvPr id="35" name="TextBox 34"/>
          <p:cNvSpPr txBox="1"/>
          <p:nvPr/>
        </p:nvSpPr>
        <p:spPr>
          <a:xfrm>
            <a:off x="2377440" y="3209544"/>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36" name="reveal_04"/>
          <p:cNvSpPr/>
          <p:nvPr/>
        </p:nvSpPr>
        <p:spPr>
          <a:xfrm>
            <a:off x="2578608"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veal_04"/>
          <p:cNvSpPr txBox="1"/>
          <p:nvPr/>
        </p:nvSpPr>
        <p:spPr>
          <a:xfrm>
            <a:off x="2633472" y="2889504"/>
            <a:ext cx="1517904" cy="246888"/>
          </a:xfrm>
          <a:prstGeom prst="rect">
            <a:avLst/>
          </a:prstGeom>
          <a:noFill/>
        </p:spPr>
        <p:txBody>
          <a:bodyPr wrap="square" lIns="0" tIns="0" rIns="0" bIns="0">
            <a:spAutoFit/>
          </a:bodyPr>
          <a:lstStyle/>
          <a:p>
            <a:pPr algn="ctr">
              <a:spcAft>
                <a:spcPts val="400"/>
              </a:spcAft>
              <a:defRPr sz="1300" b="1">
                <a:solidFill>
                  <a:srgbClr val="6BB9FF"/>
                </a:solidFill>
                <a:latin typeface="Aptos"/>
              </a:defRPr>
            </a:pPr>
            <a:r>
              <a:t>Processing</a:t>
            </a:r>
          </a:p>
        </p:txBody>
      </p:sp>
      <p:sp>
        <p:nvSpPr>
          <p:cNvPr id="38" name="reveal_04"/>
          <p:cNvSpPr txBox="1"/>
          <p:nvPr/>
        </p:nvSpPr>
        <p:spPr>
          <a:xfrm>
            <a:off x="2697480"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Add payout reference</a:t>
            </a:r>
          </a:p>
        </p:txBody>
      </p:sp>
      <p:sp>
        <p:nvSpPr>
          <p:cNvPr id="39" name="TextBox 38"/>
          <p:cNvSpPr txBox="1"/>
          <p:nvPr/>
        </p:nvSpPr>
        <p:spPr>
          <a:xfrm>
            <a:off x="4224528" y="3209544"/>
            <a:ext cx="201168"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40" name="reveal_05"/>
          <p:cNvSpPr/>
          <p:nvPr/>
        </p:nvSpPr>
        <p:spPr>
          <a:xfrm>
            <a:off x="4425696" y="2734056"/>
            <a:ext cx="1627632" cy="1280160"/>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veal_05"/>
          <p:cNvSpPr txBox="1"/>
          <p:nvPr/>
        </p:nvSpPr>
        <p:spPr>
          <a:xfrm>
            <a:off x="4480559" y="2889504"/>
            <a:ext cx="1517904" cy="246888"/>
          </a:xfrm>
          <a:prstGeom prst="rect">
            <a:avLst/>
          </a:prstGeom>
          <a:noFill/>
        </p:spPr>
        <p:txBody>
          <a:bodyPr wrap="square" lIns="0" tIns="0" rIns="0" bIns="0">
            <a:spAutoFit/>
          </a:bodyPr>
          <a:lstStyle/>
          <a:p>
            <a:pPr algn="ctr">
              <a:spcAft>
                <a:spcPts val="400"/>
              </a:spcAft>
              <a:defRPr sz="1300" b="1">
                <a:solidFill>
                  <a:srgbClr val="63E6BE"/>
                </a:solidFill>
                <a:latin typeface="Aptos"/>
              </a:defRPr>
            </a:pPr>
            <a:r>
              <a:t>Completed</a:t>
            </a:r>
          </a:p>
        </p:txBody>
      </p:sp>
      <p:sp>
        <p:nvSpPr>
          <p:cNvPr id="42" name="reveal_05"/>
          <p:cNvSpPr txBox="1"/>
          <p:nvPr/>
        </p:nvSpPr>
        <p:spPr>
          <a:xfrm>
            <a:off x="4544568" y="3374136"/>
            <a:ext cx="1389888" cy="475488"/>
          </a:xfrm>
          <a:prstGeom prst="rect">
            <a:avLst/>
          </a:prstGeom>
          <a:noFill/>
        </p:spPr>
        <p:txBody>
          <a:bodyPr wrap="square" lIns="0" tIns="0" rIns="0" bIns="0">
            <a:spAutoFit/>
          </a:bodyPr>
          <a:lstStyle/>
          <a:p>
            <a:pPr algn="ctr">
              <a:spcAft>
                <a:spcPts val="400"/>
              </a:spcAft>
              <a:defRPr sz="1200" b="0">
                <a:solidFill>
                  <a:srgbClr val="EDF5FF"/>
                </a:solidFill>
                <a:latin typeface="Aptos"/>
              </a:defRPr>
            </a:pPr>
            <a:r>
              <a:t>Record receipt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60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600"/>
                                        <p:tgtEl>
                                          <p:spTgt spid="31"/>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6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60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600"/>
                                        <p:tgtEl>
                                          <p:spTgt spid="3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600"/>
                                        <p:tgtEl>
                                          <p:spTgt spid="10"/>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60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600"/>
                                        <p:tgtEl>
                                          <p:spTgt spid="3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600"/>
                                        <p:tgtEl>
                                          <p:spTgt spid="37"/>
                                        </p:tgtEl>
                                      </p:cBhvr>
                                    </p:animEffect>
                                  </p:childTnLst>
                                </p:cTn>
                              </p:par>
                            </p:childTnLst>
                          </p:cTn>
                        </p:par>
                        <p:par>
                          <p:cTn id="44" fill="hold">
                            <p:stCondLst>
                              <p:cond delay="240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600"/>
                                        <p:tgtEl>
                                          <p:spTgt spid="4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600"/>
                                        <p:tgtEl>
                                          <p:spTgt spid="4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6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6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childTnLst>
                                </p:cTn>
                              </p:par>
                            </p:childTnLst>
                          </p:cTn>
                        </p:par>
                        <p:par>
                          <p:cTn id="60" fill="hold">
                            <p:stCondLst>
                              <p:cond delay="3000"/>
                            </p:stCondLst>
                            <p:childTnLst>
                              <p:par>
                                <p:cTn id="61" presetID="10" presetClass="entr" presetSubtype="0"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6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childTnLst>
                                </p:cTn>
                              </p:par>
                            </p:childTnLst>
                          </p:cTn>
                        </p:par>
                        <p:par>
                          <p:cTn id="67" fill="hold">
                            <p:stCondLst>
                              <p:cond delay="3600"/>
                            </p:stCondLst>
                            <p:childTnLst>
                              <p:par>
                                <p:cTn id="68" presetID="10" presetClass="entr" presetSubtype="0" fill="hold" grpId="0"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600"/>
                                        <p:tgtEl>
                                          <p:spTgt spid="2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childTnLst>
                          </p:cTn>
                        </p:par>
                        <p:par>
                          <p:cTn id="74" fill="hold">
                            <p:stCondLst>
                              <p:cond delay="4200"/>
                            </p:stCondLst>
                            <p:childTnLst>
                              <p:par>
                                <p:cTn id="75" presetID="10" presetClass="entr" presetSubtype="0"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6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600"/>
                                        <p:tgtEl>
                                          <p:spTgt spid="25"/>
                                        </p:tgtEl>
                                      </p:cBhvr>
                                    </p:animEffect>
                                  </p:childTnLst>
                                </p:cTn>
                              </p:par>
                            </p:childTnLst>
                          </p:cTn>
                        </p:par>
                        <p:par>
                          <p:cTn id="81" fill="hold">
                            <p:stCondLst>
                              <p:cond delay="4800"/>
                            </p:stCondLst>
                            <p:childTnLst>
                              <p:par>
                                <p:cTn id="82" presetID="10" presetClass="entr" presetSubtype="0" fill="hold" grpId="0"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6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2" grpId="0"/>
      <p:bldP spid="13" grpId="0"/>
      <p:bldP spid="15" grpId="0"/>
      <p:bldP spid="16" grpId="0"/>
      <p:bldP spid="18" grpId="0"/>
      <p:bldP spid="19" grpId="0"/>
      <p:bldP spid="21" grpId="0"/>
      <p:bldP spid="22" grpId="0"/>
      <p:bldP spid="24" grpId="0"/>
      <p:bldP spid="25" grpId="0"/>
      <p:bldP spid="27" grpId="0"/>
      <p:bldP spid="28" grpId="0"/>
      <p:bldP spid="30" grpId="0" animBg="1"/>
      <p:bldP spid="31" grpId="0"/>
      <p:bldP spid="32" grpId="0" animBg="1"/>
      <p:bldP spid="33" grpId="0"/>
      <p:bldP spid="34" grpId="0"/>
      <p:bldP spid="36" grpId="0" animBg="1"/>
      <p:bldP spid="37" grpId="0"/>
      <p:bldP spid="38" grpId="0"/>
      <p:bldP spid="40" grpId="0" animBg="1"/>
      <p:bldP spid="41" grpId="0"/>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Common features</a:t>
            </a:r>
          </a:p>
        </p:txBody>
      </p:sp>
      <p:sp>
        <p:nvSpPr>
          <p:cNvPr id="3" name="reveal_02"/>
          <p:cNvSpPr txBox="1"/>
          <p:nvPr/>
        </p:nvSpPr>
        <p:spPr>
          <a:xfrm>
            <a:off x="59436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Language</a:t>
            </a:r>
          </a:p>
        </p:txBody>
      </p:sp>
      <p:sp>
        <p:nvSpPr>
          <p:cNvPr id="4" name="reveal_02"/>
          <p:cNvSpPr txBox="1"/>
          <p:nvPr/>
        </p:nvSpPr>
        <p:spPr>
          <a:xfrm>
            <a:off x="443484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Appearance</a:t>
            </a:r>
          </a:p>
        </p:txBody>
      </p:sp>
      <p:sp>
        <p:nvSpPr>
          <p:cNvPr id="5" name="reveal_02"/>
          <p:cNvSpPr txBox="1"/>
          <p:nvPr/>
        </p:nvSpPr>
        <p:spPr>
          <a:xfrm>
            <a:off x="8275320" y="1673352"/>
            <a:ext cx="3300984" cy="365760"/>
          </a:xfrm>
          <a:prstGeom prst="rect">
            <a:avLst/>
          </a:prstGeom>
          <a:noFill/>
        </p:spPr>
        <p:txBody>
          <a:bodyPr wrap="square" lIns="0" tIns="0" rIns="0" bIns="0">
            <a:spAutoFit/>
          </a:bodyPr>
          <a:lstStyle/>
          <a:p>
            <a:pPr>
              <a:spcAft>
                <a:spcPts val="400"/>
              </a:spcAft>
              <a:defRPr sz="2100" b="1">
                <a:solidFill>
                  <a:srgbClr val="EDF5FF"/>
                </a:solidFill>
                <a:latin typeface="Aptos"/>
              </a:defRPr>
            </a:pPr>
            <a:r>
              <a:t>Learn the platform</a:t>
            </a:r>
          </a:p>
        </p:txBody>
      </p:sp>
      <p:sp>
        <p:nvSpPr>
          <p:cNvPr id="6" name="reveal_03"/>
          <p:cNvSpPr/>
          <p:nvPr/>
        </p:nvSpPr>
        <p:spPr>
          <a:xfrm>
            <a:off x="59436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veal_03"/>
          <p:cNvSpPr txBox="1"/>
          <p:nvPr/>
        </p:nvSpPr>
        <p:spPr>
          <a:xfrm>
            <a:off x="795528" y="2304288"/>
            <a:ext cx="2880360" cy="246888"/>
          </a:xfrm>
          <a:prstGeom prst="rect">
            <a:avLst/>
          </a:prstGeom>
          <a:noFill/>
        </p:spPr>
        <p:txBody>
          <a:bodyPr wrap="square" lIns="0" tIns="0" rIns="0" bIns="0">
            <a:spAutoFit/>
          </a:bodyPr>
          <a:lstStyle/>
          <a:p>
            <a:pPr>
              <a:spcAft>
                <a:spcPts val="400"/>
              </a:spcAft>
              <a:defRPr sz="1500" b="1">
                <a:solidFill>
                  <a:srgbClr val="63E6BE"/>
                </a:solidFill>
                <a:latin typeface="Aptos"/>
              </a:defRPr>
            </a:pPr>
            <a:r>
              <a:t>English</a:t>
            </a:r>
          </a:p>
        </p:txBody>
      </p:sp>
      <p:sp>
        <p:nvSpPr>
          <p:cNvPr id="8" name="reveal_04"/>
          <p:cNvSpPr/>
          <p:nvPr/>
        </p:nvSpPr>
        <p:spPr>
          <a:xfrm>
            <a:off x="59436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veal_04"/>
          <p:cNvSpPr txBox="1"/>
          <p:nvPr/>
        </p:nvSpPr>
        <p:spPr>
          <a:xfrm>
            <a:off x="795528" y="2825496"/>
            <a:ext cx="2880360" cy="246888"/>
          </a:xfrm>
          <a:prstGeom prst="rect">
            <a:avLst/>
          </a:prstGeom>
          <a:noFill/>
        </p:spPr>
        <p:txBody>
          <a:bodyPr wrap="square" lIns="0" tIns="0" rIns="0" bIns="0">
            <a:spAutoFit/>
          </a:bodyPr>
          <a:lstStyle/>
          <a:p>
            <a:pPr>
              <a:spcAft>
                <a:spcPts val="400"/>
              </a:spcAft>
              <a:defRPr sz="1500" b="1">
                <a:solidFill>
                  <a:srgbClr val="6BB9FF"/>
                </a:solidFill>
                <a:latin typeface="Aptos"/>
              </a:defRPr>
            </a:pPr>
            <a:r>
              <a:t>Bengali</a:t>
            </a:r>
          </a:p>
        </p:txBody>
      </p:sp>
      <p:sp>
        <p:nvSpPr>
          <p:cNvPr id="10" name="reveal_05"/>
          <p:cNvSpPr/>
          <p:nvPr/>
        </p:nvSpPr>
        <p:spPr>
          <a:xfrm>
            <a:off x="59436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5"/>
          <p:cNvSpPr txBox="1"/>
          <p:nvPr/>
        </p:nvSpPr>
        <p:spPr>
          <a:xfrm>
            <a:off x="795528" y="3346704"/>
            <a:ext cx="2880360" cy="246888"/>
          </a:xfrm>
          <a:prstGeom prst="rect">
            <a:avLst/>
          </a:prstGeom>
          <a:noFill/>
        </p:spPr>
        <p:txBody>
          <a:bodyPr wrap="square" lIns="0" tIns="0" rIns="0" bIns="0">
            <a:spAutoFit/>
          </a:bodyPr>
          <a:lstStyle/>
          <a:p>
            <a:pPr>
              <a:spcAft>
                <a:spcPts val="400"/>
              </a:spcAft>
              <a:defRPr sz="1500" b="1">
                <a:solidFill>
                  <a:srgbClr val="B4A3FF"/>
                </a:solidFill>
                <a:latin typeface="Aptos"/>
              </a:defRPr>
            </a:pPr>
            <a:r>
              <a:t>Chinese</a:t>
            </a:r>
          </a:p>
        </p:txBody>
      </p:sp>
      <p:sp>
        <p:nvSpPr>
          <p:cNvPr id="12" name="reveal_03"/>
          <p:cNvSpPr/>
          <p:nvPr/>
        </p:nvSpPr>
        <p:spPr>
          <a:xfrm>
            <a:off x="443484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242048" y="2359152"/>
            <a:ext cx="155448" cy="155448"/>
          </a:xfrm>
          <a:prstGeom prst="ellipse">
            <a:avLst/>
          </a:prstGeom>
          <a:solidFill>
            <a:srgbClr val="A2B4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veal_03"/>
          <p:cNvSpPr txBox="1"/>
          <p:nvPr/>
        </p:nvSpPr>
        <p:spPr>
          <a:xfrm>
            <a:off x="4626864" y="2304288"/>
            <a:ext cx="2377440" cy="256032"/>
          </a:xfrm>
          <a:prstGeom prst="rect">
            <a:avLst/>
          </a:prstGeom>
          <a:noFill/>
        </p:spPr>
        <p:txBody>
          <a:bodyPr wrap="square" lIns="0" tIns="0" rIns="0" bIns="0">
            <a:spAutoFit/>
          </a:bodyPr>
          <a:lstStyle/>
          <a:p>
            <a:pPr>
              <a:spcAft>
                <a:spcPts val="400"/>
              </a:spcAft>
              <a:defRPr sz="1500" b="1">
                <a:solidFill>
                  <a:srgbClr val="A2B4CA"/>
                </a:solidFill>
                <a:latin typeface="Aptos"/>
              </a:defRPr>
            </a:pPr>
            <a:r>
              <a:t>Light</a:t>
            </a:r>
          </a:p>
        </p:txBody>
      </p:sp>
      <p:sp>
        <p:nvSpPr>
          <p:cNvPr id="15" name="reveal_04"/>
          <p:cNvSpPr/>
          <p:nvPr/>
        </p:nvSpPr>
        <p:spPr>
          <a:xfrm>
            <a:off x="443484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880360"/>
            <a:ext cx="155448" cy="155448"/>
          </a:xfrm>
          <a:prstGeom prst="ellipse">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4"/>
          <p:cNvSpPr txBox="1"/>
          <p:nvPr/>
        </p:nvSpPr>
        <p:spPr>
          <a:xfrm>
            <a:off x="4626864" y="2825496"/>
            <a:ext cx="2377440" cy="256032"/>
          </a:xfrm>
          <a:prstGeom prst="rect">
            <a:avLst/>
          </a:prstGeom>
          <a:noFill/>
        </p:spPr>
        <p:txBody>
          <a:bodyPr wrap="square" lIns="0" tIns="0" rIns="0" bIns="0">
            <a:spAutoFit/>
          </a:bodyPr>
          <a:lstStyle/>
          <a:p>
            <a:pPr>
              <a:spcAft>
                <a:spcPts val="400"/>
              </a:spcAft>
              <a:defRPr sz="1500" b="1">
                <a:solidFill>
                  <a:srgbClr val="63E6BE"/>
                </a:solidFill>
                <a:latin typeface="Aptos"/>
              </a:defRPr>
            </a:pPr>
            <a:r>
              <a:t>Dark</a:t>
            </a:r>
          </a:p>
        </p:txBody>
      </p:sp>
      <p:sp>
        <p:nvSpPr>
          <p:cNvPr id="18" name="reveal_05"/>
          <p:cNvSpPr/>
          <p:nvPr/>
        </p:nvSpPr>
        <p:spPr>
          <a:xfrm>
            <a:off x="443484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242048" y="3401568"/>
            <a:ext cx="155448" cy="155448"/>
          </a:xfrm>
          <a:prstGeom prst="ellipse">
            <a:avLst/>
          </a:prstGeom>
          <a:solidFill>
            <a:srgbClr val="A2B4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5"/>
          <p:cNvSpPr txBox="1"/>
          <p:nvPr/>
        </p:nvSpPr>
        <p:spPr>
          <a:xfrm>
            <a:off x="4626864" y="3346703"/>
            <a:ext cx="2377440" cy="256032"/>
          </a:xfrm>
          <a:prstGeom prst="rect">
            <a:avLst/>
          </a:prstGeom>
          <a:noFill/>
        </p:spPr>
        <p:txBody>
          <a:bodyPr wrap="square" lIns="0" tIns="0" rIns="0" bIns="0">
            <a:spAutoFit/>
          </a:bodyPr>
          <a:lstStyle/>
          <a:p>
            <a:pPr>
              <a:spcAft>
                <a:spcPts val="400"/>
              </a:spcAft>
              <a:defRPr sz="1500" b="1">
                <a:solidFill>
                  <a:srgbClr val="A2B4CA"/>
                </a:solidFill>
                <a:latin typeface="Aptos"/>
              </a:defRPr>
            </a:pPr>
            <a:r>
              <a:t>System</a:t>
            </a:r>
          </a:p>
        </p:txBody>
      </p:sp>
      <p:sp>
        <p:nvSpPr>
          <p:cNvPr id="21" name="reveal_03"/>
          <p:cNvSpPr/>
          <p:nvPr/>
        </p:nvSpPr>
        <p:spPr>
          <a:xfrm>
            <a:off x="8275320" y="2240280"/>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veal_03"/>
          <p:cNvSpPr txBox="1"/>
          <p:nvPr/>
        </p:nvSpPr>
        <p:spPr>
          <a:xfrm>
            <a:off x="8467344" y="2304288"/>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Features</a:t>
            </a:r>
          </a:p>
        </p:txBody>
      </p:sp>
      <p:sp>
        <p:nvSpPr>
          <p:cNvPr id="23" name="reveal_04"/>
          <p:cNvSpPr/>
          <p:nvPr/>
        </p:nvSpPr>
        <p:spPr>
          <a:xfrm>
            <a:off x="8275320" y="2761488"/>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04"/>
          <p:cNvSpPr txBox="1"/>
          <p:nvPr/>
        </p:nvSpPr>
        <p:spPr>
          <a:xfrm>
            <a:off x="8467344" y="2825496"/>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How it works</a:t>
            </a:r>
          </a:p>
        </p:txBody>
      </p:sp>
      <p:sp>
        <p:nvSpPr>
          <p:cNvPr id="25" name="reveal_05"/>
          <p:cNvSpPr/>
          <p:nvPr/>
        </p:nvSpPr>
        <p:spPr>
          <a:xfrm>
            <a:off x="8275320" y="3282696"/>
            <a:ext cx="3273552" cy="393192"/>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05"/>
          <p:cNvSpPr txBox="1"/>
          <p:nvPr/>
        </p:nvSpPr>
        <p:spPr>
          <a:xfrm>
            <a:off x="8467344" y="3346703"/>
            <a:ext cx="2852928" cy="256032"/>
          </a:xfrm>
          <a:prstGeom prst="rect">
            <a:avLst/>
          </a:prstGeom>
          <a:noFill/>
        </p:spPr>
        <p:txBody>
          <a:bodyPr wrap="square" lIns="0" tIns="0" rIns="0" bIns="0">
            <a:spAutoFit/>
          </a:bodyPr>
          <a:lstStyle/>
          <a:p>
            <a:pPr>
              <a:spcAft>
                <a:spcPts val="400"/>
              </a:spcAft>
              <a:defRPr sz="1400" b="0">
                <a:solidFill>
                  <a:srgbClr val="EDF5FF"/>
                </a:solidFill>
                <a:latin typeface="Aptos"/>
              </a:defRPr>
            </a:pPr>
            <a:r>
              <a:t>Security &amp; privacy</a:t>
            </a:r>
          </a:p>
        </p:txBody>
      </p:sp>
      <p:cxnSp>
        <p:nvCxnSpPr>
          <p:cNvPr id="27" name="Connector 26"/>
          <p:cNvCxnSpPr/>
          <p:nvPr/>
        </p:nvCxnSpPr>
        <p:spPr>
          <a:xfrm>
            <a:off x="594360" y="4160520"/>
            <a:ext cx="10954512"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28" name="reveal_05"/>
          <p:cNvSpPr txBox="1"/>
          <p:nvPr/>
        </p:nvSpPr>
        <p:spPr>
          <a:xfrm>
            <a:off x="594360" y="4462272"/>
            <a:ext cx="10881360" cy="429768"/>
          </a:xfrm>
          <a:prstGeom prst="rect">
            <a:avLst/>
          </a:prstGeom>
          <a:noFill/>
        </p:spPr>
        <p:txBody>
          <a:bodyPr wrap="square" lIns="0" tIns="0" rIns="0" bIns="0">
            <a:spAutoFit/>
          </a:bodyPr>
          <a:lstStyle/>
          <a:p>
            <a:pPr>
              <a:spcAft>
                <a:spcPts val="400"/>
              </a:spcAft>
              <a:defRPr sz="2500" b="1">
                <a:solidFill>
                  <a:srgbClr val="EDF5FF"/>
                </a:solidFill>
                <a:latin typeface="Aptos"/>
              </a:defRPr>
            </a:pPr>
            <a:r>
              <a:t>Try the main roles with demo access</a:t>
            </a:r>
          </a:p>
        </p:txBody>
      </p:sp>
      <p:sp>
        <p:nvSpPr>
          <p:cNvPr id="29" name="reveal_06"/>
          <p:cNvSpPr/>
          <p:nvPr/>
        </p:nvSpPr>
        <p:spPr>
          <a:xfrm>
            <a:off x="594360" y="5175504"/>
            <a:ext cx="3273552" cy="868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06"/>
          <p:cNvSpPr txBox="1"/>
          <p:nvPr/>
        </p:nvSpPr>
        <p:spPr>
          <a:xfrm>
            <a:off x="777240" y="5340096"/>
            <a:ext cx="2907792" cy="283464"/>
          </a:xfrm>
          <a:prstGeom prst="rect">
            <a:avLst/>
          </a:prstGeom>
          <a:noFill/>
        </p:spPr>
        <p:txBody>
          <a:bodyPr wrap="square" lIns="0" tIns="0" rIns="0" bIns="0">
            <a:spAutoFit/>
          </a:bodyPr>
          <a:lstStyle/>
          <a:p>
            <a:pPr>
              <a:spcAft>
                <a:spcPts val="400"/>
              </a:spcAft>
              <a:defRPr sz="1900" b="1">
                <a:solidFill>
                  <a:srgbClr val="6BB9FF"/>
                </a:solidFill>
                <a:latin typeface="Aptos"/>
              </a:defRPr>
            </a:pPr>
            <a:r>
              <a:t>Student</a:t>
            </a:r>
          </a:p>
        </p:txBody>
      </p:sp>
      <p:sp>
        <p:nvSpPr>
          <p:cNvPr id="31" name="reveal_06"/>
          <p:cNvSpPr txBox="1"/>
          <p:nvPr/>
        </p:nvSpPr>
        <p:spPr>
          <a:xfrm>
            <a:off x="77724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Plans, spending and AI</a:t>
            </a:r>
          </a:p>
        </p:txBody>
      </p:sp>
      <p:sp>
        <p:nvSpPr>
          <p:cNvPr id="32" name="reveal_07"/>
          <p:cNvSpPr/>
          <p:nvPr/>
        </p:nvSpPr>
        <p:spPr>
          <a:xfrm>
            <a:off x="4434840" y="5175504"/>
            <a:ext cx="3273552" cy="868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veal_07"/>
          <p:cNvSpPr txBox="1"/>
          <p:nvPr/>
        </p:nvSpPr>
        <p:spPr>
          <a:xfrm>
            <a:off x="4617720" y="5340096"/>
            <a:ext cx="2907792" cy="283464"/>
          </a:xfrm>
          <a:prstGeom prst="rect">
            <a:avLst/>
          </a:prstGeom>
          <a:noFill/>
        </p:spPr>
        <p:txBody>
          <a:bodyPr wrap="square" lIns="0" tIns="0" rIns="0" bIns="0">
            <a:spAutoFit/>
          </a:bodyPr>
          <a:lstStyle/>
          <a:p>
            <a:pPr>
              <a:spcAft>
                <a:spcPts val="400"/>
              </a:spcAft>
              <a:defRPr sz="1900" b="1">
                <a:solidFill>
                  <a:srgbClr val="F3C969"/>
                </a:solidFill>
                <a:latin typeface="Aptos"/>
              </a:defRPr>
            </a:pPr>
            <a:r>
              <a:t>Parent</a:t>
            </a:r>
          </a:p>
        </p:txBody>
      </p:sp>
      <p:sp>
        <p:nvSpPr>
          <p:cNvPr id="34" name="reveal_07"/>
          <p:cNvSpPr txBox="1"/>
          <p:nvPr/>
        </p:nvSpPr>
        <p:spPr>
          <a:xfrm>
            <a:off x="461772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Funding and approvals</a:t>
            </a:r>
          </a:p>
        </p:txBody>
      </p:sp>
      <p:sp>
        <p:nvSpPr>
          <p:cNvPr id="35" name="reveal_08"/>
          <p:cNvSpPr/>
          <p:nvPr/>
        </p:nvSpPr>
        <p:spPr>
          <a:xfrm>
            <a:off x="8275320" y="5175504"/>
            <a:ext cx="3273552" cy="868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veal_08"/>
          <p:cNvSpPr txBox="1"/>
          <p:nvPr/>
        </p:nvSpPr>
        <p:spPr>
          <a:xfrm>
            <a:off x="8458200" y="5340096"/>
            <a:ext cx="2907792" cy="283464"/>
          </a:xfrm>
          <a:prstGeom prst="rect">
            <a:avLst/>
          </a:prstGeom>
          <a:noFill/>
        </p:spPr>
        <p:txBody>
          <a:bodyPr wrap="square" lIns="0" tIns="0" rIns="0" bIns="0">
            <a:spAutoFit/>
          </a:bodyPr>
          <a:lstStyle/>
          <a:p>
            <a:pPr>
              <a:spcAft>
                <a:spcPts val="400"/>
              </a:spcAft>
              <a:defRPr sz="1900" b="1">
                <a:solidFill>
                  <a:srgbClr val="63E6BE"/>
                </a:solidFill>
                <a:latin typeface="Aptos"/>
              </a:defRPr>
            </a:pPr>
            <a:r>
              <a:t>Admin</a:t>
            </a:r>
          </a:p>
        </p:txBody>
      </p:sp>
      <p:sp>
        <p:nvSpPr>
          <p:cNvPr id="37" name="reveal_08"/>
          <p:cNvSpPr txBox="1"/>
          <p:nvPr/>
        </p:nvSpPr>
        <p:spPr>
          <a:xfrm>
            <a:off x="8458200" y="5742432"/>
            <a:ext cx="2907792"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Policies and settlements</a:t>
            </a:r>
          </a:p>
        </p:txBody>
      </p:sp>
      <p:sp>
        <p:nvSpPr>
          <p:cNvPr id="38" name="TextBox 37"/>
          <p:cNvSpPr txBox="1"/>
          <p:nvPr/>
        </p:nvSpPr>
        <p:spPr>
          <a:xfrm>
            <a:off x="621792" y="6345936"/>
            <a:ext cx="10917936" cy="237744"/>
          </a:xfrm>
          <a:prstGeom prst="rect">
            <a:avLst/>
          </a:prstGeom>
          <a:noFill/>
        </p:spPr>
        <p:txBody>
          <a:bodyPr wrap="square" lIns="0" tIns="0" rIns="0" bIns="0">
            <a:spAutoFit/>
          </a:bodyPr>
          <a:lstStyle/>
          <a:p>
            <a:pPr>
              <a:spcAft>
                <a:spcPts val="400"/>
              </a:spcAft>
              <a:defRPr sz="1100" b="0">
                <a:solidFill>
                  <a:srgbClr val="A2B4CA"/>
                </a:solidFill>
                <a:latin typeface="Aptos"/>
              </a:defRPr>
            </a:pPr>
            <a:r>
              <a:t>/en/demo  ·  Simulated money  ·  Local mock AI needs no provider key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600"/>
                                        <p:tgtEl>
                                          <p:spTgt spid="3"/>
                                        </p:tgtEl>
                                      </p:cBhvr>
                                    </p:animEffect>
                                  </p:childTnLst>
                                </p:cTn>
                              </p:par>
                            </p:childTnLst>
                          </p:cTn>
                        </p:par>
                        <p:par>
                          <p:cTn id="18" fill="hold">
                            <p:stCondLst>
                              <p:cond delay="12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6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6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6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600"/>
                                        <p:tgtEl>
                                          <p:spTgt spid="22"/>
                                        </p:tgtEl>
                                      </p:cBhvr>
                                    </p:animEffect>
                                  </p:childTnLst>
                                </p:cTn>
                              </p:par>
                            </p:childTnLst>
                          </p:cTn>
                        </p:par>
                        <p:par>
                          <p:cTn id="37" fill="hold">
                            <p:stCondLst>
                              <p:cond delay="1800"/>
                            </p:stCondLst>
                            <p:childTnLst>
                              <p:par>
                                <p:cTn id="38" presetID="10" presetClass="entr" presetSubtype="0"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6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6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6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600"/>
                                        <p:tgtEl>
                                          <p:spTgt spid="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600"/>
                                        <p:tgtEl>
                                          <p:spTgt spid="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600"/>
                                        <p:tgtEl>
                                          <p:spTgt spid="23"/>
                                        </p:tgtEl>
                                      </p:cBhvr>
                                    </p:animEffect>
                                  </p:childTnLst>
                                </p:cTn>
                              </p:par>
                            </p:childTnLst>
                          </p:cTn>
                        </p:par>
                        <p:par>
                          <p:cTn id="56" fill="hold">
                            <p:stCondLst>
                              <p:cond delay="2400"/>
                            </p:stCondLst>
                            <p:childTnLst>
                              <p:par>
                                <p:cTn id="57" presetID="10" presetClass="entr" presetSubtype="0"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6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6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6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600"/>
                                        <p:tgtEl>
                                          <p:spTgt spid="1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600"/>
                                        <p:tgtEl>
                                          <p:spTgt spid="1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600"/>
                                        <p:tgtEl>
                                          <p:spTgt spid="2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childTnLst>
                                </p:cTn>
                              </p:par>
                            </p:childTnLst>
                          </p:cTn>
                        </p:par>
                        <p:par>
                          <p:cTn id="78" fill="hold">
                            <p:stCondLst>
                              <p:cond delay="3000"/>
                            </p:stCondLst>
                            <p:childTnLst>
                              <p:par>
                                <p:cTn id="79" presetID="10" presetClass="entr" presetSubtype="0" fill="hold" grpId="0" nodeType="after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6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6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600"/>
                                        <p:tgtEl>
                                          <p:spTgt spid="29"/>
                                        </p:tgtEl>
                                      </p:cBhvr>
                                    </p:animEffect>
                                  </p:childTnLst>
                                </p:cTn>
                              </p:par>
                            </p:childTnLst>
                          </p:cTn>
                        </p:par>
                        <p:par>
                          <p:cTn id="88" fill="hold">
                            <p:stCondLst>
                              <p:cond delay="3600"/>
                            </p:stCondLst>
                            <p:childTnLst>
                              <p:par>
                                <p:cTn id="89" presetID="10" presetClass="entr" presetSubtype="0" fill="hold" grpId="0" nodeType="after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6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6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600"/>
                                        <p:tgtEl>
                                          <p:spTgt spid="32"/>
                                        </p:tgtEl>
                                      </p:cBhvr>
                                    </p:animEffect>
                                  </p:childTnLst>
                                </p:cTn>
                              </p:par>
                            </p:childTnLst>
                          </p:cTn>
                        </p:par>
                        <p:par>
                          <p:cTn id="98" fill="hold">
                            <p:stCondLst>
                              <p:cond delay="4200"/>
                            </p:stCondLst>
                            <p:childTnLst>
                              <p:par>
                                <p:cTn id="99" presetID="10" presetClass="entr" presetSubtype="0" fill="hold" grpId="0" nodeType="after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60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60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6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P spid="7" grpId="0"/>
      <p:bldP spid="8" grpId="0" animBg="1"/>
      <p:bldP spid="9" grpId="0"/>
      <p:bldP spid="10" grpId="0" animBg="1"/>
      <p:bldP spid="11" grpId="0"/>
      <p:bldP spid="12" grpId="0" animBg="1"/>
      <p:bldP spid="14" grpId="0"/>
      <p:bldP spid="15" grpId="0" animBg="1"/>
      <p:bldP spid="17" grpId="0"/>
      <p:bldP spid="18" grpId="0" animBg="1"/>
      <p:bldP spid="20" grpId="0"/>
      <p:bldP spid="21" grpId="0" animBg="1"/>
      <p:bldP spid="22" grpId="0"/>
      <p:bldP spid="23" grpId="0" animBg="1"/>
      <p:bldP spid="24" grpId="0"/>
      <p:bldP spid="25" grpId="0" animBg="1"/>
      <p:bldP spid="26" grpId="0"/>
      <p:bldP spid="28" grpId="0"/>
      <p:bldP spid="29" grpId="0" animBg="1"/>
      <p:bldP spid="30" grpId="0"/>
      <p:bldP spid="31" grpId="0"/>
      <p:bldP spid="32" grpId="0" animBg="1"/>
      <p:bldP spid="33" grpId="0"/>
      <p:bldP spid="34" grpId="0"/>
      <p:bldP spid="35" grpId="0" animBg="1"/>
      <p:bldP spid="36"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3" name="reveal_01"/>
          <p:cNvSpPr txBox="1"/>
          <p:nvPr/>
        </p:nvSpPr>
        <p:spPr>
          <a:xfrm>
            <a:off x="502920" y="502920"/>
            <a:ext cx="11155680" cy="612648"/>
          </a:xfrm>
          <a:prstGeom prst="rect">
            <a:avLst/>
          </a:prstGeom>
          <a:noFill/>
        </p:spPr>
        <p:txBody>
          <a:bodyPr wrap="square" lIns="0" tIns="0" rIns="0" bIns="0">
            <a:spAutoFit/>
          </a:bodyPr>
          <a:lstStyle/>
          <a:p>
            <a:pPr>
              <a:spcAft>
                <a:spcPts val="300"/>
              </a:spcAft>
              <a:defRPr sz="3100" b="1">
                <a:solidFill>
                  <a:srgbClr val="EDF5FF"/>
                </a:solidFill>
                <a:latin typeface="Aptos"/>
              </a:defRPr>
            </a:pPr>
            <a:r>
              <a:t>Security &amp; privacy</a:t>
            </a:r>
          </a:p>
        </p:txBody>
      </p:sp>
      <p:sp>
        <p:nvSpPr>
          <p:cNvPr id="4" name="TextBox 3"/>
          <p:cNvSpPr txBox="1"/>
          <p:nvPr/>
        </p:nvSpPr>
        <p:spPr>
          <a:xfrm>
            <a:off x="521207" y="1170432"/>
            <a:ext cx="10972800" cy="411480"/>
          </a:xfrm>
          <a:prstGeom prst="rect">
            <a:avLst/>
          </a:prstGeom>
          <a:noFill/>
        </p:spPr>
        <p:txBody>
          <a:bodyPr wrap="square" lIns="0" tIns="0" rIns="0" bIns="0">
            <a:spAutoFit/>
          </a:bodyPr>
          <a:lstStyle/>
          <a:p>
            <a:pPr>
              <a:spcAft>
                <a:spcPts val="300"/>
              </a:spcAft>
              <a:defRPr sz="1300" b="0">
                <a:solidFill>
                  <a:srgbClr val="A2B4CA"/>
                </a:solidFill>
                <a:latin typeface="Aptos"/>
              </a:defRPr>
            </a:pPr>
            <a:r>
              <a:t>Controls are applied to each action and each field of financial context.</a:t>
            </a:r>
          </a:p>
        </p:txBody>
      </p:sp>
      <p:sp>
        <p:nvSpPr>
          <p:cNvPr id="8" name="Rounded Rectangle 7"/>
          <p:cNvSpPr/>
          <p:nvPr/>
        </p:nvSpPr>
        <p:spPr>
          <a:xfrm>
            <a:off x="7342631" y="2020824"/>
            <a:ext cx="411480" cy="292608"/>
          </a:xfrm>
          <a:prstGeom prst="roundRect">
            <a:avLst>
              <a:gd name="adj" fmla="val 10000"/>
            </a:avLst>
          </a:prstGeom>
          <a:solidFill>
            <a:srgbClr val="6B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15783" y="2061972"/>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01</a:t>
            </a:r>
          </a:p>
        </p:txBody>
      </p:sp>
      <p:sp>
        <p:nvSpPr>
          <p:cNvPr id="10" name="reveal_03"/>
          <p:cNvSpPr txBox="1"/>
          <p:nvPr/>
        </p:nvSpPr>
        <p:spPr>
          <a:xfrm>
            <a:off x="7918704" y="2020824"/>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IDENTITY</a:t>
            </a:r>
          </a:p>
        </p:txBody>
      </p:sp>
      <p:sp>
        <p:nvSpPr>
          <p:cNvPr id="11" name="reveal_03"/>
          <p:cNvSpPr txBox="1"/>
          <p:nvPr/>
        </p:nvSpPr>
        <p:spPr>
          <a:xfrm>
            <a:off x="7918704" y="2414016"/>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bcrypt hashes; signed sessions; revocation.</a:t>
            </a:r>
          </a:p>
        </p:txBody>
      </p:sp>
      <p:sp>
        <p:nvSpPr>
          <p:cNvPr id="12" name="Rounded Rectangle 11"/>
          <p:cNvSpPr/>
          <p:nvPr/>
        </p:nvSpPr>
        <p:spPr>
          <a:xfrm>
            <a:off x="7342631" y="2953512"/>
            <a:ext cx="411480" cy="292608"/>
          </a:xfrm>
          <a:prstGeom prst="roundRect">
            <a:avLst>
              <a:gd name="adj" fmla="val 10000"/>
            </a:avLst>
          </a:prstGeom>
          <a:solidFill>
            <a:srgbClr val="63E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15783" y="2994660"/>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02</a:t>
            </a:r>
          </a:p>
        </p:txBody>
      </p:sp>
      <p:sp>
        <p:nvSpPr>
          <p:cNvPr id="14" name="reveal_04"/>
          <p:cNvSpPr txBox="1"/>
          <p:nvPr/>
        </p:nvSpPr>
        <p:spPr>
          <a:xfrm>
            <a:off x="7918704" y="2953512"/>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ACCESS</a:t>
            </a:r>
          </a:p>
        </p:txBody>
      </p:sp>
      <p:sp>
        <p:nvSpPr>
          <p:cNvPr id="15" name="reveal_04"/>
          <p:cNvSpPr txBox="1"/>
          <p:nvPr/>
        </p:nvSpPr>
        <p:spPr>
          <a:xfrm>
            <a:off x="7918704" y="3346704"/>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Role + ownership checks; parent permissions.</a:t>
            </a:r>
          </a:p>
        </p:txBody>
      </p:sp>
      <p:sp>
        <p:nvSpPr>
          <p:cNvPr id="16" name="Rounded Rectangle 15"/>
          <p:cNvSpPr/>
          <p:nvPr/>
        </p:nvSpPr>
        <p:spPr>
          <a:xfrm>
            <a:off x="7342631" y="3886200"/>
            <a:ext cx="411480" cy="292608"/>
          </a:xfrm>
          <a:prstGeom prst="roundRect">
            <a:avLst>
              <a:gd name="adj" fmla="val 10000"/>
            </a:avLst>
          </a:prstGeom>
          <a:solidFill>
            <a:srgbClr val="B4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15783" y="3927348"/>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03</a:t>
            </a:r>
          </a:p>
        </p:txBody>
      </p:sp>
      <p:sp>
        <p:nvSpPr>
          <p:cNvPr id="18" name="reveal_05"/>
          <p:cNvSpPr txBox="1"/>
          <p:nvPr/>
        </p:nvSpPr>
        <p:spPr>
          <a:xfrm>
            <a:off x="7918704" y="3886200"/>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AI &amp; SECRETS</a:t>
            </a:r>
          </a:p>
        </p:txBody>
      </p:sp>
      <p:sp>
        <p:nvSpPr>
          <p:cNvPr id="19" name="reveal_05"/>
          <p:cNvSpPr txBox="1"/>
          <p:nvPr/>
        </p:nvSpPr>
        <p:spPr>
          <a:xfrm>
            <a:off x="7918704" y="4279392"/>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AES-256-GCM model keys; validated tools.</a:t>
            </a:r>
          </a:p>
        </p:txBody>
      </p:sp>
      <p:sp>
        <p:nvSpPr>
          <p:cNvPr id="20" name="Rounded Rectangle 19"/>
          <p:cNvSpPr/>
          <p:nvPr/>
        </p:nvSpPr>
        <p:spPr>
          <a:xfrm>
            <a:off x="7342631" y="4818888"/>
            <a:ext cx="411480" cy="292608"/>
          </a:xfrm>
          <a:prstGeom prst="roundRect">
            <a:avLst>
              <a:gd name="adj" fmla="val 10000"/>
            </a:avLst>
          </a:prstGeom>
          <a:solidFill>
            <a:srgbClr val="F3C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5783" y="4860036"/>
            <a:ext cx="265176" cy="210312"/>
          </a:xfrm>
          <a:prstGeom prst="rect">
            <a:avLst/>
          </a:prstGeom>
          <a:noFill/>
        </p:spPr>
        <p:txBody>
          <a:bodyPr wrap="square" lIns="0" tIns="0" rIns="0" bIns="0">
            <a:spAutoFit/>
          </a:bodyPr>
          <a:lstStyle/>
          <a:p>
            <a:pPr>
              <a:spcAft>
                <a:spcPts val="300"/>
              </a:spcAft>
              <a:defRPr sz="1000" b="1">
                <a:solidFill>
                  <a:srgbClr val="080F1B"/>
                </a:solidFill>
                <a:latin typeface="Aptos"/>
              </a:defRPr>
            </a:pPr>
            <a:r>
              <a:t>04</a:t>
            </a:r>
          </a:p>
        </p:txBody>
      </p:sp>
      <p:sp>
        <p:nvSpPr>
          <p:cNvPr id="22" name="reveal_06"/>
          <p:cNvSpPr txBox="1"/>
          <p:nvPr/>
        </p:nvSpPr>
        <p:spPr>
          <a:xfrm>
            <a:off x="7918704" y="4818888"/>
            <a:ext cx="3749039" cy="274320"/>
          </a:xfrm>
          <a:prstGeom prst="rect">
            <a:avLst/>
          </a:prstGeom>
          <a:noFill/>
        </p:spPr>
        <p:txBody>
          <a:bodyPr wrap="square" lIns="0" tIns="0" rIns="0" bIns="0">
            <a:spAutoFit/>
          </a:bodyPr>
          <a:lstStyle/>
          <a:p>
            <a:pPr>
              <a:spcAft>
                <a:spcPts val="300"/>
              </a:spcAft>
              <a:defRPr sz="1400" b="1">
                <a:solidFill>
                  <a:srgbClr val="EDF5FF"/>
                </a:solidFill>
                <a:latin typeface="Aptos"/>
              </a:defRPr>
            </a:pPr>
            <a:r>
              <a:t>MONEY INTEGRITY</a:t>
            </a:r>
          </a:p>
        </p:txBody>
      </p:sp>
      <p:sp>
        <p:nvSpPr>
          <p:cNvPr id="23" name="reveal_06"/>
          <p:cNvSpPr txBox="1"/>
          <p:nvPr/>
        </p:nvSpPr>
        <p:spPr>
          <a:xfrm>
            <a:off x="7918704" y="5212079"/>
            <a:ext cx="3657600" cy="457200"/>
          </a:xfrm>
          <a:prstGeom prst="rect">
            <a:avLst/>
          </a:prstGeom>
          <a:noFill/>
        </p:spPr>
        <p:txBody>
          <a:bodyPr wrap="square" lIns="0" tIns="0" rIns="0" bIns="0">
            <a:spAutoFit/>
          </a:bodyPr>
          <a:lstStyle/>
          <a:p>
            <a:pPr>
              <a:spcAft>
                <a:spcPts val="300"/>
              </a:spcAft>
              <a:defRPr sz="1300" b="0">
                <a:solidFill>
                  <a:srgbClr val="A2B4CA"/>
                </a:solidFill>
                <a:latin typeface="Aptos"/>
              </a:defRPr>
            </a:pPr>
            <a:r>
              <a:t>Confirmation, locks, tokens, balanced ledger.</a:t>
            </a:r>
          </a:p>
        </p:txBody>
      </p:sp>
      <p:sp>
        <p:nvSpPr>
          <p:cNvPr id="24" name="Rounded Rectangle 23"/>
          <p:cNvSpPr/>
          <p:nvPr/>
        </p:nvSpPr>
        <p:spPr>
          <a:xfrm>
            <a:off x="502920" y="6007608"/>
            <a:ext cx="11183112" cy="402336"/>
          </a:xfrm>
          <a:prstGeom prst="roundRect">
            <a:avLst>
              <a:gd name="adj" fmla="val 10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 y="6117336"/>
            <a:ext cx="10789920" cy="210312"/>
          </a:xfrm>
          <a:prstGeom prst="rect">
            <a:avLst/>
          </a:prstGeom>
          <a:noFill/>
        </p:spPr>
        <p:txBody>
          <a:bodyPr wrap="square" lIns="0" tIns="0" rIns="0" bIns="0">
            <a:spAutoFit/>
          </a:bodyPr>
          <a:lstStyle/>
          <a:p>
            <a:pPr>
              <a:spcAft>
                <a:spcPts val="300"/>
              </a:spcAft>
              <a:defRPr sz="1100" b="0">
                <a:solidFill>
                  <a:srgbClr val="A2B4CA"/>
                </a:solidFill>
                <a:latin typeface="Aptos"/>
              </a:defRPr>
            </a:pPr>
            <a:r>
              <a:t>Data export  ·  Account closure  ·  No stored full PAN/CVV  ·  Selected AI context may reach the configured provider</a:t>
            </a:r>
          </a:p>
        </p:txBody>
      </p:sp>
      <p:sp>
        <p:nvSpPr>
          <p:cNvPr id="26" name="reveal_02"/>
          <p:cNvSpPr/>
          <p:nvPr/>
        </p:nvSpPr>
        <p:spPr>
          <a:xfrm>
            <a:off x="502920" y="1920240"/>
            <a:ext cx="6583680" cy="389534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02"/>
          <p:cNvSpPr txBox="1"/>
          <p:nvPr/>
        </p:nvSpPr>
        <p:spPr>
          <a:xfrm>
            <a:off x="768096" y="2139696"/>
            <a:ext cx="6035040" cy="393192"/>
          </a:xfrm>
          <a:prstGeom prst="rect">
            <a:avLst/>
          </a:prstGeom>
          <a:noFill/>
        </p:spPr>
        <p:txBody>
          <a:bodyPr wrap="square" lIns="0" tIns="0" rIns="0" bIns="0">
            <a:spAutoFit/>
          </a:bodyPr>
          <a:lstStyle/>
          <a:p>
            <a:pPr>
              <a:spcAft>
                <a:spcPts val="400"/>
              </a:spcAft>
              <a:defRPr sz="2100" b="1">
                <a:solidFill>
                  <a:srgbClr val="EDF5FF"/>
                </a:solidFill>
                <a:latin typeface="Aptos"/>
              </a:defRPr>
            </a:pPr>
            <a:r>
              <a:t>What a parent can see</a:t>
            </a:r>
          </a:p>
        </p:txBody>
      </p:sp>
      <p:sp>
        <p:nvSpPr>
          <p:cNvPr id="28" name="reveal_03"/>
          <p:cNvSpPr txBox="1"/>
          <p:nvPr/>
        </p:nvSpPr>
        <p:spPr>
          <a:xfrm>
            <a:off x="914400" y="2852928"/>
            <a:ext cx="1627632" cy="274320"/>
          </a:xfrm>
          <a:prstGeom prst="rect">
            <a:avLst/>
          </a:prstGeom>
          <a:noFill/>
        </p:spPr>
        <p:txBody>
          <a:bodyPr wrap="square" lIns="0" tIns="0" rIns="0" bIns="0">
            <a:spAutoFit/>
          </a:bodyPr>
          <a:lstStyle/>
          <a:p>
            <a:pPr>
              <a:spcAft>
                <a:spcPts val="400"/>
              </a:spcAft>
              <a:defRPr sz="1400" b="1">
                <a:solidFill>
                  <a:srgbClr val="A2B4CA"/>
                </a:solidFill>
                <a:latin typeface="Aptos"/>
              </a:defRPr>
            </a:pPr>
            <a:r>
              <a:t>Financial detail</a:t>
            </a:r>
          </a:p>
        </p:txBody>
      </p:sp>
      <p:sp>
        <p:nvSpPr>
          <p:cNvPr id="29" name="reveal_03"/>
          <p:cNvSpPr txBox="1"/>
          <p:nvPr/>
        </p:nvSpPr>
        <p:spPr>
          <a:xfrm>
            <a:off x="3300984" y="2852928"/>
            <a:ext cx="1627632" cy="274320"/>
          </a:xfrm>
          <a:prstGeom prst="rect">
            <a:avLst/>
          </a:prstGeom>
          <a:noFill/>
        </p:spPr>
        <p:txBody>
          <a:bodyPr wrap="square" lIns="0" tIns="0" rIns="0" bIns="0">
            <a:spAutoFit/>
          </a:bodyPr>
          <a:lstStyle/>
          <a:p>
            <a:pPr>
              <a:spcAft>
                <a:spcPts val="400"/>
              </a:spcAft>
              <a:defRPr sz="1400" b="1">
                <a:solidFill>
                  <a:srgbClr val="6BB9FF"/>
                </a:solidFill>
                <a:latin typeface="Aptos"/>
              </a:defRPr>
            </a:pPr>
            <a:r>
              <a:t>Student</a:t>
            </a:r>
          </a:p>
        </p:txBody>
      </p:sp>
      <p:sp>
        <p:nvSpPr>
          <p:cNvPr id="30" name="reveal_03"/>
          <p:cNvSpPr txBox="1"/>
          <p:nvPr/>
        </p:nvSpPr>
        <p:spPr>
          <a:xfrm>
            <a:off x="5120640" y="2852928"/>
            <a:ext cx="1627632" cy="274320"/>
          </a:xfrm>
          <a:prstGeom prst="rect">
            <a:avLst/>
          </a:prstGeom>
          <a:noFill/>
        </p:spPr>
        <p:txBody>
          <a:bodyPr wrap="square" lIns="0" tIns="0" rIns="0" bIns="0">
            <a:spAutoFit/>
          </a:bodyPr>
          <a:lstStyle/>
          <a:p>
            <a:pPr>
              <a:spcAft>
                <a:spcPts val="400"/>
              </a:spcAft>
              <a:defRPr sz="1400" b="1">
                <a:solidFill>
                  <a:srgbClr val="63E6BE"/>
                </a:solidFill>
                <a:latin typeface="Aptos"/>
              </a:defRPr>
            </a:pPr>
            <a:r>
              <a:t>Parent</a:t>
            </a:r>
          </a:p>
        </p:txBody>
      </p:sp>
      <p:cxnSp>
        <p:nvCxnSpPr>
          <p:cNvPr id="31" name="Connector 30"/>
          <p:cNvCxnSpPr/>
          <p:nvPr/>
        </p:nvCxnSpPr>
        <p:spPr>
          <a:xfrm>
            <a:off x="804672" y="3310127"/>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32" name="reveal_04"/>
          <p:cNvSpPr txBox="1"/>
          <p:nvPr/>
        </p:nvSpPr>
        <p:spPr>
          <a:xfrm>
            <a:off x="914400" y="343814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Balance</a:t>
            </a:r>
          </a:p>
        </p:txBody>
      </p:sp>
      <p:sp>
        <p:nvSpPr>
          <p:cNvPr id="33" name="reveal_04"/>
          <p:cNvSpPr txBox="1"/>
          <p:nvPr/>
        </p:nvSpPr>
        <p:spPr>
          <a:xfrm>
            <a:off x="3300984" y="343814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CNY 27,500</a:t>
            </a:r>
          </a:p>
        </p:txBody>
      </p:sp>
      <p:sp>
        <p:nvSpPr>
          <p:cNvPr id="34" name="reveal_04"/>
          <p:cNvSpPr txBox="1"/>
          <p:nvPr/>
        </p:nvSpPr>
        <p:spPr>
          <a:xfrm>
            <a:off x="5120640" y="3438144"/>
            <a:ext cx="1554480" cy="402336"/>
          </a:xfrm>
          <a:prstGeom prst="rect">
            <a:avLst/>
          </a:prstGeom>
          <a:noFill/>
        </p:spPr>
        <p:txBody>
          <a:bodyPr wrap="square" lIns="0" tIns="0" rIns="0" bIns="0">
            <a:spAutoFit/>
          </a:bodyPr>
          <a:lstStyle/>
          <a:p>
            <a:pPr>
              <a:spcAft>
                <a:spcPts val="400"/>
              </a:spcAft>
              <a:defRPr sz="1300" b="1">
                <a:solidFill>
                  <a:srgbClr val="63E6BE"/>
                </a:solidFill>
                <a:latin typeface="Aptos"/>
              </a:defRPr>
            </a:pPr>
            <a:r>
              <a:t>CNY 27,500</a:t>
            </a:r>
          </a:p>
        </p:txBody>
      </p:sp>
      <p:cxnSp>
        <p:nvCxnSpPr>
          <p:cNvPr id="35" name="Connector 34"/>
          <p:cNvCxnSpPr/>
          <p:nvPr/>
        </p:nvCxnSpPr>
        <p:spPr>
          <a:xfrm>
            <a:off x="804672" y="3950208"/>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36" name="reveal_05"/>
          <p:cNvSpPr txBox="1"/>
          <p:nvPr/>
        </p:nvSpPr>
        <p:spPr>
          <a:xfrm>
            <a:off x="914400" y="407822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Tuition due</a:t>
            </a:r>
          </a:p>
        </p:txBody>
      </p:sp>
      <p:sp>
        <p:nvSpPr>
          <p:cNvPr id="37" name="reveal_05"/>
          <p:cNvSpPr txBox="1"/>
          <p:nvPr/>
        </p:nvSpPr>
        <p:spPr>
          <a:xfrm>
            <a:off x="3300984" y="407822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CNY 40,000</a:t>
            </a:r>
          </a:p>
        </p:txBody>
      </p:sp>
      <p:sp>
        <p:nvSpPr>
          <p:cNvPr id="38" name="reveal_05"/>
          <p:cNvSpPr txBox="1"/>
          <p:nvPr/>
        </p:nvSpPr>
        <p:spPr>
          <a:xfrm>
            <a:off x="5120640" y="4078224"/>
            <a:ext cx="1554480" cy="402336"/>
          </a:xfrm>
          <a:prstGeom prst="rect">
            <a:avLst/>
          </a:prstGeom>
          <a:noFill/>
        </p:spPr>
        <p:txBody>
          <a:bodyPr wrap="square" lIns="0" tIns="0" rIns="0" bIns="0">
            <a:spAutoFit/>
          </a:bodyPr>
          <a:lstStyle/>
          <a:p>
            <a:pPr>
              <a:spcAft>
                <a:spcPts val="400"/>
              </a:spcAft>
              <a:defRPr sz="1300" b="1">
                <a:solidFill>
                  <a:srgbClr val="63E6BE"/>
                </a:solidFill>
                <a:latin typeface="Aptos"/>
              </a:defRPr>
            </a:pPr>
            <a:r>
              <a:t>CNY 40,000</a:t>
            </a:r>
          </a:p>
        </p:txBody>
      </p:sp>
      <p:cxnSp>
        <p:nvCxnSpPr>
          <p:cNvPr id="39" name="Connector 38"/>
          <p:cNvCxnSpPr/>
          <p:nvPr/>
        </p:nvCxnSpPr>
        <p:spPr>
          <a:xfrm>
            <a:off x="804672" y="4590288"/>
            <a:ext cx="5952744"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40" name="reveal_06"/>
          <p:cNvSpPr txBox="1"/>
          <p:nvPr/>
        </p:nvSpPr>
        <p:spPr>
          <a:xfrm>
            <a:off x="914400" y="4718304"/>
            <a:ext cx="2011680" cy="310896"/>
          </a:xfrm>
          <a:prstGeom prst="rect">
            <a:avLst/>
          </a:prstGeom>
          <a:noFill/>
        </p:spPr>
        <p:txBody>
          <a:bodyPr wrap="square" lIns="0" tIns="0" rIns="0" bIns="0">
            <a:spAutoFit/>
          </a:bodyPr>
          <a:lstStyle/>
          <a:p>
            <a:pPr>
              <a:spcAft>
                <a:spcPts val="400"/>
              </a:spcAft>
              <a:defRPr sz="1500" b="0">
                <a:solidFill>
                  <a:srgbClr val="EDF5FF"/>
                </a:solidFill>
                <a:latin typeface="Aptos"/>
              </a:defRPr>
            </a:pPr>
            <a:r>
              <a:t>Description</a:t>
            </a:r>
          </a:p>
        </p:txBody>
      </p:sp>
      <p:sp>
        <p:nvSpPr>
          <p:cNvPr id="41" name="reveal_06"/>
          <p:cNvSpPr txBox="1"/>
          <p:nvPr/>
        </p:nvSpPr>
        <p:spPr>
          <a:xfrm>
            <a:off x="3300984" y="4718304"/>
            <a:ext cx="1645920" cy="402336"/>
          </a:xfrm>
          <a:prstGeom prst="rect">
            <a:avLst/>
          </a:prstGeom>
          <a:noFill/>
        </p:spPr>
        <p:txBody>
          <a:bodyPr wrap="square" lIns="0" tIns="0" rIns="0" bIns="0">
            <a:spAutoFit/>
          </a:bodyPr>
          <a:lstStyle/>
          <a:p>
            <a:pPr>
              <a:spcAft>
                <a:spcPts val="400"/>
              </a:spcAft>
              <a:defRPr sz="1300" b="0">
                <a:solidFill>
                  <a:srgbClr val="EDF5FF"/>
                </a:solidFill>
                <a:latin typeface="Aptos"/>
              </a:defRPr>
            </a:pPr>
            <a:r>
              <a:t>Personal purchase</a:t>
            </a:r>
          </a:p>
        </p:txBody>
      </p:sp>
      <p:sp>
        <p:nvSpPr>
          <p:cNvPr id="42" name="reveal_06"/>
          <p:cNvSpPr txBox="1"/>
          <p:nvPr/>
        </p:nvSpPr>
        <p:spPr>
          <a:xfrm>
            <a:off x="5120640" y="4718304"/>
            <a:ext cx="1554480" cy="402336"/>
          </a:xfrm>
          <a:prstGeom prst="rect">
            <a:avLst/>
          </a:prstGeom>
          <a:noFill/>
        </p:spPr>
        <p:txBody>
          <a:bodyPr wrap="square" lIns="0" tIns="0" rIns="0" bIns="0">
            <a:spAutoFit/>
          </a:bodyPr>
          <a:lstStyle/>
          <a:p>
            <a:pPr>
              <a:spcAft>
                <a:spcPts val="400"/>
              </a:spcAft>
              <a:defRPr sz="1300" b="1">
                <a:solidFill>
                  <a:srgbClr val="FF8896"/>
                </a:solidFill>
                <a:latin typeface="Aptos"/>
              </a:defRPr>
            </a:pPr>
            <a:r>
              <a:t>Not shared</a:t>
            </a:r>
          </a:p>
        </p:txBody>
      </p:sp>
      <p:sp>
        <p:nvSpPr>
          <p:cNvPr id="43" name="reveal_07"/>
          <p:cNvSpPr txBox="1"/>
          <p:nvPr/>
        </p:nvSpPr>
        <p:spPr>
          <a:xfrm>
            <a:off x="905256" y="5486400"/>
            <a:ext cx="5669280" cy="219456"/>
          </a:xfrm>
          <a:prstGeom prst="rect">
            <a:avLst/>
          </a:prstGeom>
          <a:noFill/>
        </p:spPr>
        <p:txBody>
          <a:bodyPr wrap="square" lIns="0" tIns="0" rIns="0" bIns="0">
            <a:spAutoFit/>
          </a:bodyPr>
          <a:lstStyle/>
          <a:p>
            <a:pPr>
              <a:spcAft>
                <a:spcPts val="400"/>
              </a:spcAft>
              <a:defRPr sz="1200" b="0">
                <a:solidFill>
                  <a:srgbClr val="A2B4CA"/>
                </a:solidFill>
                <a:latin typeface="Aptos"/>
              </a:defRPr>
            </a:pPr>
            <a:r>
              <a:t>Visibility is configurable for every linked family.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6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600"/>
                                        <p:tgtEl>
                                          <p:spTgt spid="26"/>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6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6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60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childTnLst>
                                </p:cTn>
                              </p:par>
                            </p:childTnLst>
                          </p:cTn>
                        </p:par>
                        <p:par>
                          <p:cTn id="31" fill="hold">
                            <p:stCondLst>
                              <p:cond delay="1800"/>
                            </p:stCondLst>
                            <p:childTnLst>
                              <p:par>
                                <p:cTn id="32" presetID="10"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6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60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6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600"/>
                                        <p:tgtEl>
                                          <p:spTgt spid="15"/>
                                        </p:tgtEl>
                                      </p:cBhvr>
                                    </p:animEffect>
                                  </p:childTnLst>
                                </p:cTn>
                              </p:par>
                            </p:childTnLst>
                          </p:cTn>
                        </p:par>
                        <p:par>
                          <p:cTn id="47" fill="hold">
                            <p:stCondLst>
                              <p:cond delay="2400"/>
                            </p:stCondLst>
                            <p:childTnLst>
                              <p:par>
                                <p:cTn id="48" presetID="10" presetClass="entr" presetSubtype="0" fill="hold" grpId="0" nodeType="after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6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600"/>
                                        <p:tgtEl>
                                          <p:spTgt spid="3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600"/>
                                        <p:tgtEl>
                                          <p:spTgt spid="3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6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childTnLst>
                                </p:cTn>
                              </p:par>
                            </p:childTnLst>
                          </p:cTn>
                        </p:par>
                        <p:par>
                          <p:cTn id="63" fill="hold">
                            <p:stCondLst>
                              <p:cond delay="3000"/>
                            </p:stCondLst>
                            <p:childTnLst>
                              <p:par>
                                <p:cTn id="64" presetID="10" presetClass="entr" presetSubtype="0" fill="hold" grpId="0"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600"/>
                                        <p:tgtEl>
                                          <p:spTgt spid="4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600"/>
                                        <p:tgtEl>
                                          <p:spTgt spid="4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6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600"/>
                                        <p:tgtEl>
                                          <p:spTgt spid="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00"/>
                                        <p:tgtEl>
                                          <p:spTgt spid="22"/>
                                        </p:tgtEl>
                                      </p:cBhvr>
                                    </p:animEffect>
                                  </p:childTnLst>
                                </p:cTn>
                              </p:par>
                            </p:childTnLst>
                          </p:cTn>
                        </p:par>
                        <p:par>
                          <p:cTn id="79" fill="hold">
                            <p:stCondLst>
                              <p:cond delay="3600"/>
                            </p:stCondLst>
                            <p:childTnLst>
                              <p:par>
                                <p:cTn id="80" presetID="10" presetClass="entr" presetSubtype="0" fill="hold" grpId="0" nodeType="after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6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4" grpId="0"/>
      <p:bldP spid="15" grpId="0"/>
      <p:bldP spid="18" grpId="0"/>
      <p:bldP spid="19" grpId="0"/>
      <p:bldP spid="22" grpId="0"/>
      <p:bldP spid="23" grpId="0"/>
      <p:bldP spid="26" grpId="0" animBg="1"/>
      <p:bldP spid="27" grpId="0"/>
      <p:bldP spid="28" grpId="0"/>
      <p:bldP spid="29" grpId="0"/>
      <p:bldP spid="30" grpId="0"/>
      <p:bldP spid="32" grpId="0"/>
      <p:bldP spid="33" grpId="0"/>
      <p:bldP spid="34" grpId="0"/>
      <p:bldP spid="36" grpId="0"/>
      <p:bldP spid="37" grpId="0"/>
      <p:bldP spid="38" grpId="0"/>
      <p:bldP spid="40" grpId="0"/>
      <p:bldP spid="41" grpId="0"/>
      <p:bldP spid="42" grpId="0"/>
      <p:bldP spid="4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Business model</a:t>
            </a:r>
          </a:p>
        </p:txBody>
      </p:sp>
      <p:sp>
        <p:nvSpPr>
          <p:cNvPr id="3" name="TextBox 2"/>
          <p:cNvSpPr txBox="1"/>
          <p:nvPr/>
        </p:nvSpPr>
        <p:spPr>
          <a:xfrm>
            <a:off x="612648" y="1307592"/>
            <a:ext cx="10881360" cy="429768"/>
          </a:xfrm>
          <a:prstGeom prst="rect">
            <a:avLst/>
          </a:prstGeom>
          <a:noFill/>
        </p:spPr>
        <p:txBody>
          <a:bodyPr wrap="square" lIns="0" tIns="0" rIns="0" bIns="0">
            <a:spAutoFit/>
          </a:bodyPr>
          <a:lstStyle/>
          <a:p>
            <a:pPr>
              <a:spcAft>
                <a:spcPts val="400"/>
              </a:spcAft>
              <a:defRPr sz="2200" b="0">
                <a:solidFill>
                  <a:srgbClr val="A2B4CA"/>
                </a:solidFill>
                <a:latin typeface="Aptos"/>
              </a:defRPr>
            </a:pPr>
            <a:r>
              <a:t>Subscriptions matched to student and family needs.</a:t>
            </a:r>
          </a:p>
        </p:txBody>
      </p:sp>
      <p:sp>
        <p:nvSpPr>
          <p:cNvPr id="4" name="reveal_02"/>
          <p:cNvSpPr/>
          <p:nvPr/>
        </p:nvSpPr>
        <p:spPr>
          <a:xfrm>
            <a:off x="59436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832104" y="2395728"/>
            <a:ext cx="2798064" cy="329184"/>
          </a:xfrm>
          <a:prstGeom prst="rect">
            <a:avLst/>
          </a:prstGeom>
          <a:noFill/>
        </p:spPr>
        <p:txBody>
          <a:bodyPr wrap="square" lIns="0" tIns="0" rIns="0" bIns="0">
            <a:spAutoFit/>
          </a:bodyPr>
          <a:lstStyle/>
          <a:p>
            <a:pPr>
              <a:spcAft>
                <a:spcPts val="400"/>
              </a:spcAft>
              <a:defRPr sz="2000" b="1">
                <a:solidFill>
                  <a:srgbClr val="63E6BE"/>
                </a:solidFill>
                <a:latin typeface="Aptos"/>
              </a:defRPr>
            </a:pPr>
            <a:r>
              <a:t>Student</a:t>
            </a:r>
          </a:p>
        </p:txBody>
      </p:sp>
      <p:sp>
        <p:nvSpPr>
          <p:cNvPr id="6" name="reveal_03"/>
          <p:cNvSpPr txBox="1"/>
          <p:nvPr/>
        </p:nvSpPr>
        <p:spPr>
          <a:xfrm>
            <a:off x="83210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299</a:t>
            </a:r>
          </a:p>
        </p:txBody>
      </p:sp>
      <p:sp>
        <p:nvSpPr>
          <p:cNvPr id="7" name="TextBox 6"/>
          <p:cNvSpPr txBox="1"/>
          <p:nvPr/>
        </p:nvSpPr>
        <p:spPr>
          <a:xfrm>
            <a:off x="832104" y="3648456"/>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8" name="reveal_04"/>
          <p:cNvSpPr txBox="1"/>
          <p:nvPr/>
        </p:nvSpPr>
        <p:spPr>
          <a:xfrm>
            <a:off x="832104" y="4069080"/>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t>Everyday finance planning</a:t>
            </a:r>
          </a:p>
        </p:txBody>
      </p:sp>
      <p:sp>
        <p:nvSpPr>
          <p:cNvPr id="9" name="reveal_03"/>
          <p:cNvSpPr/>
          <p:nvPr/>
        </p:nvSpPr>
        <p:spPr>
          <a:xfrm>
            <a:off x="443484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veal_03"/>
          <p:cNvSpPr txBox="1"/>
          <p:nvPr/>
        </p:nvSpPr>
        <p:spPr>
          <a:xfrm>
            <a:off x="4672584" y="2395728"/>
            <a:ext cx="2798064" cy="329184"/>
          </a:xfrm>
          <a:prstGeom prst="rect">
            <a:avLst/>
          </a:prstGeom>
          <a:noFill/>
        </p:spPr>
        <p:txBody>
          <a:bodyPr wrap="square" lIns="0" tIns="0" rIns="0" bIns="0">
            <a:spAutoFit/>
          </a:bodyPr>
          <a:lstStyle/>
          <a:p>
            <a:pPr>
              <a:spcAft>
                <a:spcPts val="400"/>
              </a:spcAft>
              <a:defRPr sz="2000" b="1">
                <a:solidFill>
                  <a:srgbClr val="6BB9FF"/>
                </a:solidFill>
                <a:latin typeface="Aptos"/>
              </a:defRPr>
            </a:pPr>
            <a:r>
              <a:t>Pro</a:t>
            </a:r>
          </a:p>
        </p:txBody>
      </p:sp>
      <p:sp>
        <p:nvSpPr>
          <p:cNvPr id="11" name="reveal_04"/>
          <p:cNvSpPr txBox="1"/>
          <p:nvPr/>
        </p:nvSpPr>
        <p:spPr>
          <a:xfrm>
            <a:off x="467258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699</a:t>
            </a:r>
          </a:p>
        </p:txBody>
      </p:sp>
      <p:sp>
        <p:nvSpPr>
          <p:cNvPr id="12" name="TextBox 11"/>
          <p:cNvSpPr txBox="1"/>
          <p:nvPr/>
        </p:nvSpPr>
        <p:spPr>
          <a:xfrm>
            <a:off x="4672584" y="3648456"/>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13" name="reveal_05"/>
          <p:cNvSpPr txBox="1"/>
          <p:nvPr/>
        </p:nvSpPr>
        <p:spPr>
          <a:xfrm>
            <a:off x="4672584" y="4069080"/>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t>Higher AI and workflow limits</a:t>
            </a:r>
          </a:p>
        </p:txBody>
      </p:sp>
      <p:sp>
        <p:nvSpPr>
          <p:cNvPr id="14" name="reveal_04"/>
          <p:cNvSpPr/>
          <p:nvPr/>
        </p:nvSpPr>
        <p:spPr>
          <a:xfrm>
            <a:off x="8275320" y="2121408"/>
            <a:ext cx="3273552" cy="2432304"/>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veal_04"/>
          <p:cNvSpPr txBox="1"/>
          <p:nvPr/>
        </p:nvSpPr>
        <p:spPr>
          <a:xfrm>
            <a:off x="8513064" y="2395728"/>
            <a:ext cx="2798064" cy="329184"/>
          </a:xfrm>
          <a:prstGeom prst="rect">
            <a:avLst/>
          </a:prstGeom>
          <a:noFill/>
        </p:spPr>
        <p:txBody>
          <a:bodyPr wrap="square" lIns="0" tIns="0" rIns="0" bIns="0">
            <a:spAutoFit/>
          </a:bodyPr>
          <a:lstStyle/>
          <a:p>
            <a:pPr>
              <a:spcAft>
                <a:spcPts val="400"/>
              </a:spcAft>
              <a:defRPr sz="2000" b="1">
                <a:solidFill>
                  <a:srgbClr val="B4A3FF"/>
                </a:solidFill>
                <a:latin typeface="Aptos"/>
              </a:defRPr>
            </a:pPr>
            <a:r>
              <a:t>Family</a:t>
            </a:r>
          </a:p>
        </p:txBody>
      </p:sp>
      <p:sp>
        <p:nvSpPr>
          <p:cNvPr id="16" name="reveal_05"/>
          <p:cNvSpPr txBox="1"/>
          <p:nvPr/>
        </p:nvSpPr>
        <p:spPr>
          <a:xfrm>
            <a:off x="8513064" y="2916936"/>
            <a:ext cx="2798064" cy="658368"/>
          </a:xfrm>
          <a:prstGeom prst="rect">
            <a:avLst/>
          </a:prstGeom>
          <a:noFill/>
        </p:spPr>
        <p:txBody>
          <a:bodyPr wrap="square" lIns="0" tIns="0" rIns="0" bIns="0">
            <a:spAutoFit/>
          </a:bodyPr>
          <a:lstStyle/>
          <a:p>
            <a:pPr>
              <a:spcAft>
                <a:spcPts val="400"/>
              </a:spcAft>
              <a:defRPr sz="4300" b="1">
                <a:solidFill>
                  <a:srgbClr val="EDF5FF"/>
                </a:solidFill>
                <a:latin typeface="Aptos"/>
              </a:defRPr>
            </a:pPr>
            <a:r>
              <a:t>999</a:t>
            </a:r>
          </a:p>
        </p:txBody>
      </p:sp>
      <p:sp>
        <p:nvSpPr>
          <p:cNvPr id="17" name="TextBox 16"/>
          <p:cNvSpPr txBox="1"/>
          <p:nvPr/>
        </p:nvSpPr>
        <p:spPr>
          <a:xfrm>
            <a:off x="8513064" y="3648456"/>
            <a:ext cx="2798064" cy="256032"/>
          </a:xfrm>
          <a:prstGeom prst="rect">
            <a:avLst/>
          </a:prstGeom>
          <a:noFill/>
        </p:spPr>
        <p:txBody>
          <a:bodyPr wrap="square" lIns="0" tIns="0" rIns="0" bIns="0">
            <a:spAutoFit/>
          </a:bodyPr>
          <a:lstStyle/>
          <a:p>
            <a:pPr>
              <a:spcAft>
                <a:spcPts val="400"/>
              </a:spcAft>
              <a:defRPr sz="1300" b="0">
                <a:solidFill>
                  <a:srgbClr val="A2B4CA"/>
                </a:solidFill>
                <a:latin typeface="Aptos"/>
              </a:defRPr>
            </a:pPr>
            <a:r>
              <a:t>BDT / month</a:t>
            </a:r>
          </a:p>
        </p:txBody>
      </p:sp>
      <p:sp>
        <p:nvSpPr>
          <p:cNvPr id="18" name="reveal_06"/>
          <p:cNvSpPr txBox="1"/>
          <p:nvPr/>
        </p:nvSpPr>
        <p:spPr>
          <a:xfrm>
            <a:off x="8513064" y="4069080"/>
            <a:ext cx="2798064" cy="393192"/>
          </a:xfrm>
          <a:prstGeom prst="rect">
            <a:avLst/>
          </a:prstGeom>
          <a:noFill/>
        </p:spPr>
        <p:txBody>
          <a:bodyPr wrap="square" lIns="0" tIns="0" rIns="0" bIns="0">
            <a:spAutoFit/>
          </a:bodyPr>
          <a:lstStyle/>
          <a:p>
            <a:pPr>
              <a:spcAft>
                <a:spcPts val="400"/>
              </a:spcAft>
              <a:defRPr sz="1300" b="0">
                <a:solidFill>
                  <a:srgbClr val="EDF5FF"/>
                </a:solidFill>
                <a:latin typeface="Aptos"/>
              </a:defRPr>
            </a:pPr>
            <a:r>
              <a:t>Parent–student coordination</a:t>
            </a:r>
          </a:p>
        </p:txBody>
      </p:sp>
      <p:sp>
        <p:nvSpPr>
          <p:cNvPr id="19" name="reveal_05"/>
          <p:cNvSpPr/>
          <p:nvPr/>
        </p:nvSpPr>
        <p:spPr>
          <a:xfrm>
            <a:off x="594360" y="4937760"/>
            <a:ext cx="10954512" cy="969264"/>
          </a:xfrm>
          <a:prstGeom prst="roundRect">
            <a:avLst>
              <a:gd name="adj" fmla="val 9000"/>
            </a:avLst>
          </a:prstGeom>
          <a:solidFill>
            <a:srgbClr val="17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05"/>
          <p:cNvSpPr txBox="1"/>
          <p:nvPr/>
        </p:nvSpPr>
        <p:spPr>
          <a:xfrm>
            <a:off x="832104" y="5221224"/>
            <a:ext cx="2414016" cy="347472"/>
          </a:xfrm>
          <a:prstGeom prst="rect">
            <a:avLst/>
          </a:prstGeom>
          <a:noFill/>
        </p:spPr>
        <p:txBody>
          <a:bodyPr wrap="square" lIns="0" tIns="0" rIns="0" bIns="0">
            <a:spAutoFit/>
          </a:bodyPr>
          <a:lstStyle/>
          <a:p>
            <a:pPr>
              <a:spcAft>
                <a:spcPts val="400"/>
              </a:spcAft>
              <a:defRPr sz="2100" b="1">
                <a:solidFill>
                  <a:srgbClr val="63E6BE"/>
                </a:solidFill>
                <a:latin typeface="Aptos"/>
              </a:defRPr>
            </a:pPr>
            <a:r>
              <a:t>7-day trial</a:t>
            </a:r>
          </a:p>
        </p:txBody>
      </p:sp>
      <p:sp>
        <p:nvSpPr>
          <p:cNvPr id="21" name="TextBox 20"/>
          <p:cNvSpPr txBox="1"/>
          <p:nvPr/>
        </p:nvSpPr>
        <p:spPr>
          <a:xfrm>
            <a:off x="3191256" y="5166360"/>
            <a:ext cx="411480"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22" name="reveal_06"/>
          <p:cNvSpPr txBox="1"/>
          <p:nvPr/>
        </p:nvSpPr>
        <p:spPr>
          <a:xfrm>
            <a:off x="3794760" y="5257800"/>
            <a:ext cx="3822191" cy="320040"/>
          </a:xfrm>
          <a:prstGeom prst="rect">
            <a:avLst/>
          </a:prstGeom>
          <a:noFill/>
        </p:spPr>
        <p:txBody>
          <a:bodyPr wrap="square" lIns="0" tIns="0" rIns="0" bIns="0">
            <a:spAutoFit/>
          </a:bodyPr>
          <a:lstStyle/>
          <a:p>
            <a:pPr>
              <a:spcAft>
                <a:spcPts val="400"/>
              </a:spcAft>
              <a:defRPr sz="1900" b="1">
                <a:solidFill>
                  <a:srgbClr val="EDF5FF"/>
                </a:solidFill>
                <a:latin typeface="Aptos"/>
              </a:defRPr>
            </a:pPr>
            <a:r>
              <a:t>Monthly or annual plan</a:t>
            </a:r>
          </a:p>
        </p:txBody>
      </p:sp>
      <p:sp>
        <p:nvSpPr>
          <p:cNvPr id="23" name="TextBox 22"/>
          <p:cNvSpPr txBox="1"/>
          <p:nvPr/>
        </p:nvSpPr>
        <p:spPr>
          <a:xfrm>
            <a:off x="7946136" y="5166360"/>
            <a:ext cx="411480"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24" name="reveal_07"/>
          <p:cNvSpPr txBox="1"/>
          <p:nvPr/>
        </p:nvSpPr>
        <p:spPr>
          <a:xfrm>
            <a:off x="8577072" y="5257800"/>
            <a:ext cx="2706624" cy="320040"/>
          </a:xfrm>
          <a:prstGeom prst="rect">
            <a:avLst/>
          </a:prstGeom>
          <a:noFill/>
        </p:spPr>
        <p:txBody>
          <a:bodyPr wrap="square" lIns="0" tIns="0" rIns="0" bIns="0">
            <a:spAutoFit/>
          </a:bodyPr>
          <a:lstStyle/>
          <a:p>
            <a:pPr>
              <a:spcAft>
                <a:spcPts val="400"/>
              </a:spcAft>
              <a:defRPr sz="1700" b="1">
                <a:solidFill>
                  <a:srgbClr val="EDF5FF"/>
                </a:solidFill>
                <a:latin typeface="Aptos"/>
              </a:defRPr>
            </a:pPr>
            <a:r>
              <a:t>Higher usage limits</a:t>
            </a:r>
          </a:p>
        </p:txBody>
      </p:sp>
      <p:sp>
        <p:nvSpPr>
          <p:cNvPr id="25" name="TextBox 24"/>
          <p:cNvSpPr txBox="1"/>
          <p:nvPr/>
        </p:nvSpPr>
        <p:spPr>
          <a:xfrm>
            <a:off x="630936" y="6254496"/>
            <a:ext cx="7242048" cy="274320"/>
          </a:xfrm>
          <a:prstGeom prst="rect">
            <a:avLst/>
          </a:prstGeom>
          <a:noFill/>
        </p:spPr>
        <p:txBody>
          <a:bodyPr wrap="square" lIns="0" tIns="0" rIns="0" bIns="0">
            <a:spAutoFit/>
          </a:bodyPr>
          <a:lstStyle/>
          <a:p>
            <a:pPr>
              <a:spcAft>
                <a:spcPts val="400"/>
              </a:spcAft>
              <a:defRPr sz="1400" b="0">
                <a:solidFill>
                  <a:srgbClr val="A2B4CA"/>
                </a:solidFill>
                <a:latin typeface="Aptos"/>
              </a:defRPr>
            </a:pPr>
            <a:r>
              <a:t>Core costs: AI usage, hosting and support.</a:t>
            </a:r>
          </a:p>
        </p:txBody>
      </p:sp>
      <p:sp>
        <p:nvSpPr>
          <p:cNvPr id="26" name="TextBox 25"/>
          <p:cNvSpPr txBox="1"/>
          <p:nvPr/>
        </p:nvSpPr>
        <p:spPr>
          <a:xfrm>
            <a:off x="8412480" y="6300216"/>
            <a:ext cx="3081528" cy="219456"/>
          </a:xfrm>
          <a:prstGeom prst="rect">
            <a:avLst/>
          </a:prstGeom>
          <a:noFill/>
        </p:spPr>
        <p:txBody>
          <a:bodyPr wrap="square" lIns="0" tIns="0" rIns="0" bIns="0">
            <a:spAutoFit/>
          </a:bodyPr>
          <a:lstStyle/>
          <a:p>
            <a:pPr algn="r">
              <a:spcAft>
                <a:spcPts val="400"/>
              </a:spcAft>
              <a:defRPr sz="1000" b="0">
                <a:solidFill>
                  <a:srgbClr val="A2B4CA"/>
                </a:solidFill>
                <a:latin typeface="Aptos"/>
              </a:defRPr>
            </a:pPr>
            <a:r>
              <a:t>Existing sandbox plan prices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00"/>
                                        <p:tgtEl>
                                          <p:spTgt spid="6"/>
                                        </p:tgtEl>
                                      </p:cBhvr>
                                    </p:animEffect>
                                  </p:childTnLst>
                                </p:cTn>
                              </p:par>
                            </p:childTnLst>
                          </p:cTn>
                        </p:par>
                        <p:par>
                          <p:cTn id="25" fill="hold">
                            <p:stCondLst>
                              <p:cond delay="18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00"/>
                                        <p:tgtEl>
                                          <p:spTgt spid="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600"/>
                                        <p:tgtEl>
                                          <p:spTgt spid="11"/>
                                        </p:tgtEl>
                                      </p:cBhvr>
                                    </p:animEffect>
                                  </p:childTnLst>
                                </p:cTn>
                              </p:par>
                            </p:childTnLst>
                          </p:cTn>
                        </p:par>
                        <p:par>
                          <p:cTn id="38" fill="hold">
                            <p:stCondLst>
                              <p:cond delay="2400"/>
                            </p:stCondLst>
                            <p:childTnLst>
                              <p:par>
                                <p:cTn id="39" presetID="10" presetClass="entr" presetSubtype="0" fill="hold" grpId="0"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6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6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childTnLst>
                                </p:cTn>
                              </p:par>
                            </p:childTnLst>
                          </p:cTn>
                        </p:par>
                        <p:par>
                          <p:cTn id="51" fill="hold">
                            <p:stCondLst>
                              <p:cond delay="3000"/>
                            </p:stCondLst>
                            <p:childTnLst>
                              <p:par>
                                <p:cTn id="52" presetID="10" presetClass="entr" presetSubtype="0" fill="hold" grpId="0" nodeType="after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6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childTnLst>
                                </p:cTn>
                              </p:par>
                            </p:childTnLst>
                          </p:cTn>
                        </p:par>
                        <p:par>
                          <p:cTn id="58" fill="hold">
                            <p:stCondLst>
                              <p:cond delay="3600"/>
                            </p:stCondLst>
                            <p:childTnLst>
                              <p:par>
                                <p:cTn id="59" presetID="10" presetClass="entr" presetSubtype="0" fill="hold" grpId="0" nodeType="after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8" grpId="0"/>
      <p:bldP spid="9" grpId="0" animBg="1"/>
      <p:bldP spid="10" grpId="0"/>
      <p:bldP spid="11" grpId="0"/>
      <p:bldP spid="13" grpId="0"/>
      <p:bldP spid="14" grpId="0" animBg="1"/>
      <p:bldP spid="15" grpId="0"/>
      <p:bldP spid="16" grpId="0"/>
      <p:bldP spid="18" grpId="0"/>
      <p:bldP spid="19" grpId="0" animBg="1"/>
      <p:bldP spid="20" grpId="0"/>
      <p:bldP spid="22"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F1B"/>
        </a:solidFill>
        <a:effectLst/>
      </p:bgPr>
    </p:bg>
    <p:spTree>
      <p:nvGrpSpPr>
        <p:cNvPr id="1" name=""/>
        <p:cNvGrpSpPr/>
        <p:nvPr/>
      </p:nvGrpSpPr>
      <p:grpSpPr>
        <a:xfrm>
          <a:off x="0" y="0"/>
          <a:ext cx="0" cy="0"/>
          <a:chOff x="0" y="0"/>
          <a:chExt cx="0" cy="0"/>
        </a:xfrm>
      </p:grpSpPr>
      <p:sp>
        <p:nvSpPr>
          <p:cNvPr id="2" name="reveal_01"/>
          <p:cNvSpPr txBox="1"/>
          <p:nvPr/>
        </p:nvSpPr>
        <p:spPr>
          <a:xfrm>
            <a:off x="594360" y="502920"/>
            <a:ext cx="10972800" cy="658368"/>
          </a:xfrm>
          <a:prstGeom prst="rect">
            <a:avLst/>
          </a:prstGeom>
          <a:noFill/>
        </p:spPr>
        <p:txBody>
          <a:bodyPr wrap="square" lIns="0" tIns="0" rIns="0" bIns="0">
            <a:spAutoFit/>
          </a:bodyPr>
          <a:lstStyle/>
          <a:p>
            <a:pPr>
              <a:spcAft>
                <a:spcPts val="400"/>
              </a:spcAft>
              <a:defRPr sz="3200" b="1">
                <a:solidFill>
                  <a:srgbClr val="EDF5FF"/>
                </a:solidFill>
                <a:latin typeface="Aptos"/>
              </a:defRPr>
            </a:pPr>
            <a:r>
              <a:t>Business strategy</a:t>
            </a:r>
          </a:p>
        </p:txBody>
      </p:sp>
      <p:sp>
        <p:nvSpPr>
          <p:cNvPr id="3" name="TextBox 2"/>
          <p:cNvSpPr txBox="1"/>
          <p:nvPr/>
        </p:nvSpPr>
        <p:spPr>
          <a:xfrm>
            <a:off x="612648" y="1316736"/>
            <a:ext cx="10881360" cy="420624"/>
          </a:xfrm>
          <a:prstGeom prst="rect">
            <a:avLst/>
          </a:prstGeom>
          <a:noFill/>
        </p:spPr>
        <p:txBody>
          <a:bodyPr wrap="square" lIns="0" tIns="0" rIns="0" bIns="0">
            <a:spAutoFit/>
          </a:bodyPr>
          <a:lstStyle/>
          <a:p>
            <a:pPr>
              <a:spcAft>
                <a:spcPts val="400"/>
              </a:spcAft>
              <a:defRPr sz="2200" b="0">
                <a:solidFill>
                  <a:srgbClr val="A2B4CA"/>
                </a:solidFill>
                <a:latin typeface="Aptos"/>
              </a:defRPr>
            </a:pPr>
            <a:r>
              <a:t>Start with the Bangladesh–China student and family journey.</a:t>
            </a:r>
          </a:p>
        </p:txBody>
      </p:sp>
      <p:sp>
        <p:nvSpPr>
          <p:cNvPr id="4" name="reveal_02"/>
          <p:cNvSpPr/>
          <p:nvPr/>
        </p:nvSpPr>
        <p:spPr>
          <a:xfrm>
            <a:off x="59436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veal_02"/>
          <p:cNvSpPr txBox="1"/>
          <p:nvPr/>
        </p:nvSpPr>
        <p:spPr>
          <a:xfrm>
            <a:off x="822960" y="2468880"/>
            <a:ext cx="2816352" cy="411480"/>
          </a:xfrm>
          <a:prstGeom prst="rect">
            <a:avLst/>
          </a:prstGeom>
          <a:noFill/>
        </p:spPr>
        <p:txBody>
          <a:bodyPr wrap="square" lIns="0" tIns="0" rIns="0" bIns="0">
            <a:spAutoFit/>
          </a:bodyPr>
          <a:lstStyle/>
          <a:p>
            <a:pPr>
              <a:spcAft>
                <a:spcPts val="400"/>
              </a:spcAft>
              <a:defRPr sz="2800" b="1">
                <a:solidFill>
                  <a:srgbClr val="6BB9FF"/>
                </a:solidFill>
                <a:latin typeface="Aptos"/>
              </a:defRPr>
            </a:pPr>
            <a:r>
              <a:t>Validate</a:t>
            </a:r>
          </a:p>
        </p:txBody>
      </p:sp>
      <p:sp>
        <p:nvSpPr>
          <p:cNvPr id="6" name="reveal_03"/>
          <p:cNvSpPr txBox="1"/>
          <p:nvPr/>
        </p:nvSpPr>
        <p:spPr>
          <a:xfrm>
            <a:off x="82296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Student + parent interviews</a:t>
            </a:r>
          </a:p>
        </p:txBody>
      </p:sp>
      <p:sp>
        <p:nvSpPr>
          <p:cNvPr id="7" name="reveal_04"/>
          <p:cNvSpPr txBox="1"/>
          <p:nvPr/>
        </p:nvSpPr>
        <p:spPr>
          <a:xfrm>
            <a:off x="82296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Test tuition planning and guided demos.</a:t>
            </a:r>
          </a:p>
        </p:txBody>
      </p:sp>
      <p:sp>
        <p:nvSpPr>
          <p:cNvPr id="8" name="reveal_05"/>
          <p:cNvSpPr txBox="1"/>
          <p:nvPr/>
        </p:nvSpPr>
        <p:spPr>
          <a:xfrm>
            <a:off x="822960" y="4800600"/>
            <a:ext cx="2816352" cy="365760"/>
          </a:xfrm>
          <a:prstGeom prst="rect">
            <a:avLst/>
          </a:prstGeom>
          <a:noFill/>
        </p:spPr>
        <p:txBody>
          <a:bodyPr wrap="square" lIns="0" tIns="0" rIns="0" bIns="0">
            <a:spAutoFit/>
          </a:bodyPr>
          <a:lstStyle/>
          <a:p>
            <a:pPr>
              <a:spcAft>
                <a:spcPts val="400"/>
              </a:spcAft>
              <a:defRPr sz="1100" b="0">
                <a:solidFill>
                  <a:srgbClr val="6BB9FF"/>
                </a:solidFill>
                <a:latin typeface="Aptos"/>
              </a:defRPr>
            </a:pPr>
            <a:r>
              <a:t>Measure: plans created</a:t>
            </a:r>
          </a:p>
        </p:txBody>
      </p:sp>
      <p:sp>
        <p:nvSpPr>
          <p:cNvPr id="9" name="TextBox 8"/>
          <p:cNvSpPr txBox="1"/>
          <p:nvPr/>
        </p:nvSpPr>
        <p:spPr>
          <a:xfrm>
            <a:off x="3977640" y="3474720"/>
            <a:ext cx="356616"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10" name="reveal_03"/>
          <p:cNvSpPr/>
          <p:nvPr/>
        </p:nvSpPr>
        <p:spPr>
          <a:xfrm>
            <a:off x="443484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veal_03"/>
          <p:cNvSpPr txBox="1"/>
          <p:nvPr/>
        </p:nvSpPr>
        <p:spPr>
          <a:xfrm>
            <a:off x="4663440" y="2468880"/>
            <a:ext cx="2816352" cy="411480"/>
          </a:xfrm>
          <a:prstGeom prst="rect">
            <a:avLst/>
          </a:prstGeom>
          <a:noFill/>
        </p:spPr>
        <p:txBody>
          <a:bodyPr wrap="square" lIns="0" tIns="0" rIns="0" bIns="0">
            <a:spAutoFit/>
          </a:bodyPr>
          <a:lstStyle/>
          <a:p>
            <a:pPr>
              <a:spcAft>
                <a:spcPts val="400"/>
              </a:spcAft>
              <a:defRPr sz="2800" b="1">
                <a:solidFill>
                  <a:srgbClr val="F3C969"/>
                </a:solidFill>
                <a:latin typeface="Aptos"/>
              </a:defRPr>
            </a:pPr>
            <a:r>
              <a:t>Pilot</a:t>
            </a:r>
          </a:p>
        </p:txBody>
      </p:sp>
      <p:sp>
        <p:nvSpPr>
          <p:cNvPr id="12" name="reveal_04"/>
          <p:cNvSpPr txBox="1"/>
          <p:nvPr/>
        </p:nvSpPr>
        <p:spPr>
          <a:xfrm>
            <a:off x="466344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Campus and student groups</a:t>
            </a:r>
          </a:p>
        </p:txBody>
      </p:sp>
      <p:sp>
        <p:nvSpPr>
          <p:cNvPr id="13" name="reveal_05"/>
          <p:cNvSpPr txBox="1"/>
          <p:nvPr/>
        </p:nvSpPr>
        <p:spPr>
          <a:xfrm>
            <a:off x="466344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Trial the family approval workflow.</a:t>
            </a:r>
          </a:p>
        </p:txBody>
      </p:sp>
      <p:sp>
        <p:nvSpPr>
          <p:cNvPr id="14" name="reveal_06"/>
          <p:cNvSpPr txBox="1"/>
          <p:nvPr/>
        </p:nvSpPr>
        <p:spPr>
          <a:xfrm>
            <a:off x="4663440" y="4800600"/>
            <a:ext cx="2816352" cy="365760"/>
          </a:xfrm>
          <a:prstGeom prst="rect">
            <a:avLst/>
          </a:prstGeom>
          <a:noFill/>
        </p:spPr>
        <p:txBody>
          <a:bodyPr wrap="square" lIns="0" tIns="0" rIns="0" bIns="0">
            <a:spAutoFit/>
          </a:bodyPr>
          <a:lstStyle/>
          <a:p>
            <a:pPr>
              <a:spcAft>
                <a:spcPts val="400"/>
              </a:spcAft>
              <a:defRPr sz="1100" b="0">
                <a:solidFill>
                  <a:srgbClr val="F3C969"/>
                </a:solidFill>
                <a:latin typeface="Aptos"/>
              </a:defRPr>
            </a:pPr>
            <a:r>
              <a:t>Measure: review completion</a:t>
            </a:r>
          </a:p>
        </p:txBody>
      </p:sp>
      <p:sp>
        <p:nvSpPr>
          <p:cNvPr id="15" name="TextBox 14"/>
          <p:cNvSpPr txBox="1"/>
          <p:nvPr/>
        </p:nvSpPr>
        <p:spPr>
          <a:xfrm>
            <a:off x="7818120" y="3474720"/>
            <a:ext cx="356616" cy="384048"/>
          </a:xfrm>
          <a:prstGeom prst="rect">
            <a:avLst/>
          </a:prstGeom>
          <a:noFill/>
        </p:spPr>
        <p:txBody>
          <a:bodyPr wrap="square" lIns="0" tIns="0" rIns="0" bIns="0">
            <a:spAutoFit/>
          </a:bodyPr>
          <a:lstStyle/>
          <a:p>
            <a:pPr>
              <a:spcAft>
                <a:spcPts val="400"/>
              </a:spcAft>
              <a:defRPr sz="2500" b="1">
                <a:solidFill>
                  <a:srgbClr val="63E6BE"/>
                </a:solidFill>
                <a:latin typeface="Aptos"/>
              </a:defRPr>
            </a:pPr>
            <a:r>
              <a:t>→</a:t>
            </a:r>
          </a:p>
        </p:txBody>
      </p:sp>
      <p:sp>
        <p:nvSpPr>
          <p:cNvPr id="16" name="reveal_04"/>
          <p:cNvSpPr/>
          <p:nvPr/>
        </p:nvSpPr>
        <p:spPr>
          <a:xfrm>
            <a:off x="8275320" y="2148840"/>
            <a:ext cx="3273552" cy="3154680"/>
          </a:xfrm>
          <a:prstGeom prst="roundRect">
            <a:avLst>
              <a:gd name="adj" fmla="val 9000"/>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04"/>
          <p:cNvSpPr txBox="1"/>
          <p:nvPr/>
        </p:nvSpPr>
        <p:spPr>
          <a:xfrm>
            <a:off x="8503920" y="2468880"/>
            <a:ext cx="2816352" cy="411480"/>
          </a:xfrm>
          <a:prstGeom prst="rect">
            <a:avLst/>
          </a:prstGeom>
          <a:noFill/>
        </p:spPr>
        <p:txBody>
          <a:bodyPr wrap="square" lIns="0" tIns="0" rIns="0" bIns="0">
            <a:spAutoFit/>
          </a:bodyPr>
          <a:lstStyle/>
          <a:p>
            <a:pPr>
              <a:spcAft>
                <a:spcPts val="400"/>
              </a:spcAft>
              <a:defRPr sz="2800" b="1">
                <a:solidFill>
                  <a:srgbClr val="63E6BE"/>
                </a:solidFill>
                <a:latin typeface="Aptos"/>
              </a:defRPr>
            </a:pPr>
            <a:r>
              <a:t>Grow</a:t>
            </a:r>
          </a:p>
        </p:txBody>
      </p:sp>
      <p:sp>
        <p:nvSpPr>
          <p:cNvPr id="18" name="reveal_05"/>
          <p:cNvSpPr txBox="1"/>
          <p:nvPr/>
        </p:nvSpPr>
        <p:spPr>
          <a:xfrm>
            <a:off x="8503920" y="3172968"/>
            <a:ext cx="2816352" cy="521207"/>
          </a:xfrm>
          <a:prstGeom prst="rect">
            <a:avLst/>
          </a:prstGeom>
          <a:noFill/>
        </p:spPr>
        <p:txBody>
          <a:bodyPr wrap="square" lIns="0" tIns="0" rIns="0" bIns="0">
            <a:spAutoFit/>
          </a:bodyPr>
          <a:lstStyle/>
          <a:p>
            <a:pPr>
              <a:spcAft>
                <a:spcPts val="400"/>
              </a:spcAft>
              <a:defRPr sz="1700" b="1">
                <a:solidFill>
                  <a:srgbClr val="EDF5FF"/>
                </a:solidFill>
                <a:latin typeface="Aptos"/>
              </a:defRPr>
            </a:pPr>
            <a:r>
              <a:t>Repeat use and referrals</a:t>
            </a:r>
          </a:p>
        </p:txBody>
      </p:sp>
      <p:sp>
        <p:nvSpPr>
          <p:cNvPr id="19" name="reveal_06"/>
          <p:cNvSpPr txBox="1"/>
          <p:nvPr/>
        </p:nvSpPr>
        <p:spPr>
          <a:xfrm>
            <a:off x="8503920" y="3867912"/>
            <a:ext cx="2816352" cy="768096"/>
          </a:xfrm>
          <a:prstGeom prst="rect">
            <a:avLst/>
          </a:prstGeom>
          <a:noFill/>
        </p:spPr>
        <p:txBody>
          <a:bodyPr wrap="square" lIns="0" tIns="0" rIns="0" bIns="0">
            <a:spAutoFit/>
          </a:bodyPr>
          <a:lstStyle/>
          <a:p>
            <a:pPr>
              <a:spcAft>
                <a:spcPts val="400"/>
              </a:spcAft>
              <a:defRPr sz="1500" b="0">
                <a:solidFill>
                  <a:srgbClr val="A2B4CA"/>
                </a:solidFill>
                <a:latin typeface="Aptos"/>
              </a:defRPr>
            </a:pPr>
            <a:r>
              <a:t>Improve retention before expanding corridors.</a:t>
            </a:r>
          </a:p>
        </p:txBody>
      </p:sp>
      <p:sp>
        <p:nvSpPr>
          <p:cNvPr id="20" name="reveal_07"/>
          <p:cNvSpPr txBox="1"/>
          <p:nvPr/>
        </p:nvSpPr>
        <p:spPr>
          <a:xfrm>
            <a:off x="8503920" y="4800600"/>
            <a:ext cx="2816352" cy="365760"/>
          </a:xfrm>
          <a:prstGeom prst="rect">
            <a:avLst/>
          </a:prstGeom>
          <a:noFill/>
        </p:spPr>
        <p:txBody>
          <a:bodyPr wrap="square" lIns="0" tIns="0" rIns="0" bIns="0">
            <a:spAutoFit/>
          </a:bodyPr>
          <a:lstStyle/>
          <a:p>
            <a:pPr>
              <a:spcAft>
                <a:spcPts val="400"/>
              </a:spcAft>
              <a:defRPr sz="1100" b="0">
                <a:solidFill>
                  <a:srgbClr val="63E6BE"/>
                </a:solidFill>
                <a:latin typeface="Aptos"/>
              </a:defRPr>
            </a:pPr>
            <a:r>
              <a:t>Measure: conversion + retention</a:t>
            </a:r>
          </a:p>
        </p:txBody>
      </p:sp>
      <p:cxnSp>
        <p:nvCxnSpPr>
          <p:cNvPr id="21" name="Connector 20"/>
          <p:cNvCxnSpPr/>
          <p:nvPr/>
        </p:nvCxnSpPr>
        <p:spPr>
          <a:xfrm>
            <a:off x="621792" y="5705856"/>
            <a:ext cx="10917936" cy="0"/>
          </a:xfrm>
          <a:prstGeom prst="line">
            <a:avLst/>
          </a:prstGeom>
          <a:ln w="25400">
            <a:solidFill>
              <a:srgbClr val="26395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0936" y="5989320"/>
            <a:ext cx="2743200" cy="301752"/>
          </a:xfrm>
          <a:prstGeom prst="rect">
            <a:avLst/>
          </a:prstGeom>
          <a:noFill/>
        </p:spPr>
        <p:txBody>
          <a:bodyPr wrap="square" lIns="0" tIns="0" rIns="0" bIns="0">
            <a:spAutoFit/>
          </a:bodyPr>
          <a:lstStyle/>
          <a:p>
            <a:pPr>
              <a:spcAft>
                <a:spcPts val="400"/>
              </a:spcAft>
              <a:defRPr sz="1700" b="1">
                <a:solidFill>
                  <a:srgbClr val="63E6BE"/>
                </a:solidFill>
                <a:latin typeface="Aptos"/>
              </a:defRPr>
            </a:pPr>
            <a:r>
              <a:t>Proposed rollout</a:t>
            </a:r>
          </a:p>
        </p:txBody>
      </p:sp>
      <p:sp>
        <p:nvSpPr>
          <p:cNvPr id="23" name="TextBox 22"/>
          <p:cNvSpPr txBox="1"/>
          <p:nvPr/>
        </p:nvSpPr>
        <p:spPr>
          <a:xfrm>
            <a:off x="3675887" y="6025896"/>
            <a:ext cx="7836408" cy="365760"/>
          </a:xfrm>
          <a:prstGeom prst="rect">
            <a:avLst/>
          </a:prstGeom>
          <a:noFill/>
        </p:spPr>
        <p:txBody>
          <a:bodyPr wrap="square" lIns="0" tIns="0" rIns="0" bIns="0">
            <a:spAutoFit/>
          </a:bodyPr>
          <a:lstStyle/>
          <a:p>
            <a:pPr>
              <a:spcAft>
                <a:spcPts val="400"/>
              </a:spcAft>
              <a:defRPr sz="1400" b="0">
                <a:solidFill>
                  <a:srgbClr val="A2B4CA"/>
                </a:solidFill>
                <a:latin typeface="Aptos"/>
              </a:defRPr>
            </a:pPr>
            <a:r>
              <a:t>Pilot partnerships and live-payment integrations remain future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6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00"/>
                                        <p:tgtEl>
                                          <p:spTgt spid="6"/>
                                        </p:tgtEl>
                                      </p:cBhvr>
                                    </p:animEffect>
                                  </p:childTnLst>
                                </p:cTn>
                              </p:par>
                            </p:childTnLst>
                          </p:cTn>
                        </p:par>
                        <p:par>
                          <p:cTn id="25" fill="hold">
                            <p:stCondLst>
                              <p:cond delay="18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6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6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600"/>
                                        <p:tgtEl>
                                          <p:spTgt spid="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600"/>
                                        <p:tgtEl>
                                          <p:spTgt spid="16"/>
                                        </p:tgtEl>
                                      </p:cBhvr>
                                    </p:animEffect>
                                  </p:childTnLst>
                                </p:cTn>
                              </p:par>
                            </p:childTnLst>
                          </p:cTn>
                        </p:par>
                        <p:par>
                          <p:cTn id="38" fill="hold">
                            <p:stCondLst>
                              <p:cond delay="2400"/>
                            </p:stCondLst>
                            <p:childTnLst>
                              <p:par>
                                <p:cTn id="39" presetID="10"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6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600"/>
                                        <p:tgtEl>
                                          <p:spTgt spid="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childTnLst>
                                </p:cTn>
                              </p:par>
                            </p:childTnLst>
                          </p:cTn>
                        </p:par>
                        <p:par>
                          <p:cTn id="48" fill="hold">
                            <p:stCondLst>
                              <p:cond delay="30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6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childTnLst>
                                </p:cTn>
                              </p:par>
                            </p:childTnLst>
                          </p:cTn>
                        </p:par>
                        <p:par>
                          <p:cTn id="55" fill="hold">
                            <p:stCondLst>
                              <p:cond delay="3600"/>
                            </p:stCondLst>
                            <p:childTnLst>
                              <p:par>
                                <p:cTn id="56" presetID="10" presetClass="entr" presetSubtype="0" fill="hold" grpId="0"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p:bldP spid="10" grpId="0" animBg="1"/>
      <p:bldP spid="11" grpId="0"/>
      <p:bldP spid="12" grpId="0"/>
      <p:bldP spid="13" grpId="0"/>
      <p:bldP spid="14" grpId="0"/>
      <p:bldP spid="16" grpId="0" animBg="1"/>
      <p:bldP spid="17" grpId="0"/>
      <p:bldP spid="18" grpId="0"/>
      <p:bldP spid="19" grpId="0"/>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3350</Words>
  <Application>Microsoft Office PowerPoint</Application>
  <PresentationFormat>Widescreen</PresentationFormat>
  <Paragraphs>310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AI — Presentation v2</dc:title>
  <dc:subject/>
  <dc:creator>FinBridge AI Project Team</dc:creator>
  <cp:keywords/>
  <dc:description>Based on the user-edited presentation. Source preserved in presentation/v2/user-edited-source.pptx.</dc:description>
  <cp:lastModifiedBy>WALTON</cp:lastModifiedBy>
  <cp:revision>10</cp:revision>
  <dcterms:created xsi:type="dcterms:W3CDTF">2013-01-27T09:14:16Z</dcterms:created>
  <dcterms:modified xsi:type="dcterms:W3CDTF">2026-10-20T13:56:23Z</dcterms:modified>
  <cp:category/>
</cp:coreProperties>
</file>