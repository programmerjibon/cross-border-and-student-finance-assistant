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Funding</c:v>
                </c:pt>
              </c:strCache>
            </c:strRef>
          </c:tx>
          <c:spPr>
            <a:solidFill>
              <a:srgbClr val="63E6BE"/>
            </a:solidFill>
            <a:ln>
              <a:noFill/>
            </a:ln>
          </c:spPr>
          <c:dPt>
            <c:idx val="0"/>
            <c:bubble3D val="0"/>
            <c:extLst>
              <c:ext xmlns:c16="http://schemas.microsoft.com/office/drawing/2014/chart" uri="{C3380CC4-5D6E-409C-BE32-E72D297353CC}">
                <c16:uniqueId val="{00000001-175C-496A-88C5-E0D185F6BAF4}"/>
              </c:ext>
            </c:extLst>
          </c:dPt>
          <c:dPt>
            <c:idx val="1"/>
            <c:bubble3D val="0"/>
            <c:spPr>
              <a:solidFill>
                <a:srgbClr val="FF8896"/>
              </a:solidFill>
              <a:ln>
                <a:noFill/>
              </a:ln>
            </c:spPr>
            <c:extLst>
              <c:ext xmlns:c16="http://schemas.microsoft.com/office/drawing/2014/chart" uri="{C3380CC4-5D6E-409C-BE32-E72D297353CC}">
                <c16:uniqueId val="{00000003-175C-496A-88C5-E0D185F6BAF4}"/>
              </c:ext>
            </c:extLst>
          </c:dPt>
          <c:cat>
            <c:strRef>
              <c:f>Sheet1!$A$2:$A$3</c:f>
              <c:strCache>
                <c:ptCount val="2"/>
                <c:pt idx="0">
                  <c:v>Funded</c:v>
                </c:pt>
                <c:pt idx="1">
                  <c:v>Shortfall</c:v>
                </c:pt>
              </c:strCache>
            </c:strRef>
          </c:cat>
          <c:val>
            <c:numRef>
              <c:f>Sheet1!$B$2:$B$3</c:f>
              <c:numCache>
                <c:formatCode>General</c:formatCode>
                <c:ptCount val="2"/>
                <c:pt idx="0">
                  <c:v>33250</c:v>
                </c:pt>
                <c:pt idx="1">
                  <c:v>6750</c:v>
                </c:pt>
              </c:numCache>
            </c:numRef>
          </c:val>
          <c:extLst>
            <c:ext xmlns:c16="http://schemas.microsoft.com/office/drawing/2014/chart" uri="{C3380CC4-5D6E-409C-BE32-E72D297353CC}">
              <c16:uniqueId val="{00000004-175C-496A-88C5-E0D185F6BAF4}"/>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Projected funds</c:v>
                </c:pt>
              </c:strCache>
            </c:strRef>
          </c:tx>
          <c:spPr>
            <a:ln w="38100">
              <a:solidFill>
                <a:srgbClr val="63E6BE"/>
              </a:solidFill>
            </a:ln>
          </c:spPr>
          <c:marker>
            <c:symbol val="none"/>
          </c:marker>
          <c:cat>
            <c:strRef>
              <c:f>Sheet1!$A$2:$A$4</c:f>
              <c:strCache>
                <c:ptCount val="3"/>
                <c:pt idx="0">
                  <c:v>Now</c:v>
                </c:pt>
                <c:pt idx="1">
                  <c:v>Month 1</c:v>
                </c:pt>
                <c:pt idx="2">
                  <c:v>Tuition due</c:v>
                </c:pt>
              </c:strCache>
            </c:strRef>
          </c:cat>
          <c:val>
            <c:numRef>
              <c:f>Sheet1!$B$2:$B$4</c:f>
              <c:numCache>
                <c:formatCode>General</c:formatCode>
                <c:ptCount val="3"/>
                <c:pt idx="0">
                  <c:v>27500</c:v>
                </c:pt>
                <c:pt idx="1">
                  <c:v>30375</c:v>
                </c:pt>
                <c:pt idx="2">
                  <c:v>33250</c:v>
                </c:pt>
              </c:numCache>
            </c:numRef>
          </c:val>
          <c:smooth val="0"/>
          <c:extLst>
            <c:ext xmlns:c16="http://schemas.microsoft.com/office/drawing/2014/chart" uri="{C3380CC4-5D6E-409C-BE32-E72D297353CC}">
              <c16:uniqueId val="{00000000-120E-4D1A-A0E1-E910A6F614F6}"/>
            </c:ext>
          </c:extLst>
        </c:ser>
        <c:ser>
          <c:idx val="1"/>
          <c:order val="1"/>
          <c:tx>
            <c:strRef>
              <c:f>Sheet1!$C$1</c:f>
              <c:strCache>
                <c:ptCount val="1"/>
                <c:pt idx="0">
                  <c:v>Tuition required</c:v>
                </c:pt>
              </c:strCache>
            </c:strRef>
          </c:tx>
          <c:spPr>
            <a:ln w="38100">
              <a:solidFill>
                <a:srgbClr val="F3C969"/>
              </a:solidFill>
            </a:ln>
          </c:spPr>
          <c:marker>
            <c:symbol val="none"/>
          </c:marker>
          <c:cat>
            <c:strRef>
              <c:f>Sheet1!$A$2:$A$4</c:f>
              <c:strCache>
                <c:ptCount val="3"/>
                <c:pt idx="0">
                  <c:v>Now</c:v>
                </c:pt>
                <c:pt idx="1">
                  <c:v>Month 1</c:v>
                </c:pt>
                <c:pt idx="2">
                  <c:v>Tuition due</c:v>
                </c:pt>
              </c:strCache>
            </c:strRef>
          </c:cat>
          <c:val>
            <c:numRef>
              <c:f>Sheet1!$C$2:$C$4</c:f>
              <c:numCache>
                <c:formatCode>General</c:formatCode>
                <c:ptCount val="3"/>
                <c:pt idx="0">
                  <c:v>40000</c:v>
                </c:pt>
                <c:pt idx="1">
                  <c:v>40000</c:v>
                </c:pt>
                <c:pt idx="2">
                  <c:v>40000</c:v>
                </c:pt>
              </c:numCache>
            </c:numRef>
          </c:val>
          <c:smooth val="0"/>
          <c:extLst>
            <c:ext xmlns:c16="http://schemas.microsoft.com/office/drawing/2014/chart" uri="{C3380CC4-5D6E-409C-BE32-E72D297353CC}">
              <c16:uniqueId val="{00000001-120E-4D1A-A0E1-E910A6F614F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40495176"/>
        <c:crosses val="autoZero"/>
        <c:auto val="1"/>
        <c:lblAlgn val="ctr"/>
        <c:lblOffset val="100"/>
        <c:noMultiLvlLbl val="0"/>
      </c:catAx>
      <c:valAx>
        <c:axId val="2140495176"/>
        <c:scaling>
          <c:orientation val="minMax"/>
          <c:max val="450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118791784"/>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Extra sender cost in BDT</c:v>
                </c:pt>
              </c:strCache>
            </c:strRef>
          </c:tx>
          <c:spPr>
            <a:solidFill>
              <a:srgbClr val="63E6BE"/>
            </a:solidFill>
            <a:ln>
              <a:noFill/>
            </a:ln>
          </c:spPr>
          <c:invertIfNegative val="1"/>
          <c:dPt>
            <c:idx val="0"/>
            <c:invertIfNegative val="1"/>
            <c:bubble3D val="0"/>
            <c:extLst>
              <c:ext xmlns:c16="http://schemas.microsoft.com/office/drawing/2014/chart" uri="{C3380CC4-5D6E-409C-BE32-E72D297353CC}">
                <c16:uniqueId val="{00000001-9B9F-4849-8039-2156EFE5E1C2}"/>
              </c:ext>
            </c:extLst>
          </c:dPt>
          <c:dPt>
            <c:idx val="1"/>
            <c:invertIfNegative val="1"/>
            <c:bubble3D val="0"/>
            <c:spPr>
              <a:solidFill>
                <a:srgbClr val="6BB9FF"/>
              </a:solidFill>
              <a:ln>
                <a:noFill/>
              </a:ln>
            </c:spPr>
            <c:extLst>
              <c:ext xmlns:c16="http://schemas.microsoft.com/office/drawing/2014/chart" uri="{C3380CC4-5D6E-409C-BE32-E72D297353CC}">
                <c16:uniqueId val="{00000003-9B9F-4849-8039-2156EFE5E1C2}"/>
              </c:ext>
            </c:extLst>
          </c:dPt>
          <c:dPt>
            <c:idx val="2"/>
            <c:invertIfNegative val="1"/>
            <c:bubble3D val="0"/>
            <c:spPr>
              <a:solidFill>
                <a:srgbClr val="B4A3FF"/>
              </a:solidFill>
              <a:ln>
                <a:noFill/>
              </a:ln>
            </c:spPr>
            <c:extLst>
              <c:ext xmlns:c16="http://schemas.microsoft.com/office/drawing/2014/chart" uri="{C3380CC4-5D6E-409C-BE32-E72D297353CC}">
                <c16:uniqueId val="{00000005-9B9F-4849-8039-2156EFE5E1C2}"/>
              </c:ext>
            </c:extLst>
          </c:dPt>
          <c:dPt>
            <c:idx val="3"/>
            <c:invertIfNegative val="1"/>
            <c:bubble3D val="0"/>
            <c:spPr>
              <a:solidFill>
                <a:srgbClr val="F3C969"/>
              </a:solidFill>
              <a:ln>
                <a:noFill/>
              </a:ln>
            </c:spPr>
            <c:extLst>
              <c:ext xmlns:c16="http://schemas.microsoft.com/office/drawing/2014/chart" uri="{C3380CC4-5D6E-409C-BE32-E72D297353CC}">
                <c16:uniqueId val="{00000007-9B9F-4849-8039-2156EFE5E1C2}"/>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StudentTransfer</c:v>
                </c:pt>
                <c:pt idx="1">
                  <c:v>GlobeSend</c:v>
                </c:pt>
                <c:pt idx="2">
                  <c:v>FastRemit</c:v>
                </c:pt>
                <c:pt idx="3">
                  <c:v>SwiftBank</c:v>
                </c:pt>
              </c:strCache>
            </c:strRef>
          </c:cat>
          <c:val>
            <c:numRef>
              <c:f>Sheet1!$B$2:$B$5</c:f>
              <c:numCache>
                <c:formatCode>General</c:formatCode>
                <c:ptCount val="4"/>
                <c:pt idx="0">
                  <c:v>0</c:v>
                </c:pt>
                <c:pt idx="1">
                  <c:v>362.1</c:v>
                </c:pt>
                <c:pt idx="2">
                  <c:v>893.85</c:v>
                </c:pt>
                <c:pt idx="3">
                  <c:v>2913.91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9B9F-4849-8039-2156EFE5E1C2}"/>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35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Budget</c:v>
                </c:pt>
              </c:strCache>
            </c:strRef>
          </c:tx>
          <c:spPr>
            <a:solidFill>
              <a:srgbClr val="6BB9FF"/>
            </a:solidFill>
            <a:ln>
              <a:noFill/>
            </a:ln>
          </c:spPr>
          <c:invertIfNegative val="1"/>
          <c:cat>
            <c:strRef>
              <c:f>Sheet1!$A$2:$A$4</c:f>
              <c:strCache>
                <c:ptCount val="3"/>
                <c:pt idx="0">
                  <c:v>Housing</c:v>
                </c:pt>
                <c:pt idx="1">
                  <c:v>Food</c:v>
                </c:pt>
                <c:pt idx="2">
                  <c:v>Transport</c:v>
                </c:pt>
              </c:strCache>
            </c:strRef>
          </c:cat>
          <c:val>
            <c:numRef>
              <c:f>Sheet1!$B$2:$B$4</c:f>
              <c:numCache>
                <c:formatCode>General</c:formatCode>
                <c:ptCount val="3"/>
                <c:pt idx="0">
                  <c:v>1400</c:v>
                </c:pt>
                <c:pt idx="1">
                  <c:v>500</c:v>
                </c:pt>
                <c:pt idx="2">
                  <c:v>200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1FE-4F28-9C86-05F6B60EC23B}"/>
            </c:ext>
          </c:extLst>
        </c:ser>
        <c:ser>
          <c:idx val="1"/>
          <c:order val="1"/>
          <c:tx>
            <c:strRef>
              <c:f>Sheet1!$C$1</c:f>
              <c:strCache>
                <c:ptCount val="1"/>
                <c:pt idx="0">
                  <c:v>Spent</c:v>
                </c:pt>
              </c:strCache>
            </c:strRef>
          </c:tx>
          <c:spPr>
            <a:solidFill>
              <a:srgbClr val="63E6BE"/>
            </a:solidFill>
            <a:ln>
              <a:noFill/>
            </a:ln>
          </c:spPr>
          <c:invertIfNegative val="1"/>
          <c:cat>
            <c:strRef>
              <c:f>Sheet1!$A$2:$A$4</c:f>
              <c:strCache>
                <c:ptCount val="3"/>
                <c:pt idx="0">
                  <c:v>Housing</c:v>
                </c:pt>
                <c:pt idx="1">
                  <c:v>Food</c:v>
                </c:pt>
                <c:pt idx="2">
                  <c:v>Transport</c:v>
                </c:pt>
              </c:strCache>
            </c:strRef>
          </c:cat>
          <c:val>
            <c:numRef>
              <c:f>Sheet1!$C$2:$C$4</c:f>
              <c:numCache>
                <c:formatCode>General</c:formatCode>
                <c:ptCount val="3"/>
                <c:pt idx="0">
                  <c:v>1500</c:v>
                </c:pt>
                <c:pt idx="1">
                  <c:v>450</c:v>
                </c:pt>
                <c:pt idx="2">
                  <c:v>175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1FE-4F28-9C86-05F6B60EC2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CNY</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16D0-4AC8-A898-8E6A6BFDF63F}"/>
              </c:ext>
            </c:extLst>
          </c:dPt>
          <c:dPt>
            <c:idx val="1"/>
            <c:invertIfNegative val="1"/>
            <c:bubble3D val="0"/>
            <c:spPr>
              <a:solidFill>
                <a:srgbClr val="6BB9FF"/>
              </a:solidFill>
              <a:ln>
                <a:noFill/>
              </a:ln>
            </c:spPr>
            <c:extLst>
              <c:ext xmlns:c16="http://schemas.microsoft.com/office/drawing/2014/chart" uri="{C3380CC4-5D6E-409C-BE32-E72D297353CC}">
                <c16:uniqueId val="{00000003-16D0-4AC8-A898-8E6A6BFDF63F}"/>
              </c:ext>
            </c:extLst>
          </c:dPt>
          <c:dPt>
            <c:idx val="2"/>
            <c:invertIfNegative val="1"/>
            <c:bubble3D val="0"/>
            <c:spPr>
              <a:solidFill>
                <a:srgbClr val="63E6BE"/>
              </a:solidFill>
              <a:ln>
                <a:noFill/>
              </a:ln>
            </c:spPr>
            <c:extLst>
              <c:ext xmlns:c16="http://schemas.microsoft.com/office/drawing/2014/chart" uri="{C3380CC4-5D6E-409C-BE32-E72D297353CC}">
                <c16:uniqueId val="{00000005-16D0-4AC8-A898-8E6A6BFDF63F}"/>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Approval threshold</c:v>
                </c:pt>
                <c:pt idx="1">
                  <c:v>Student request</c:v>
                </c:pt>
                <c:pt idx="2">
                  <c:v>Hard transfer cap</c:v>
                </c:pt>
              </c:strCache>
            </c:strRef>
          </c:cat>
          <c:val>
            <c:numRef>
              <c:f>Sheet1!$B$2:$B$4</c:f>
              <c:numCache>
                <c:formatCode>General</c:formatCode>
                <c:ptCount val="3"/>
                <c:pt idx="0">
                  <c:v>5000</c:v>
                </c:pt>
                <c:pt idx="1">
                  <c:v>6750</c:v>
                </c:pt>
                <c:pt idx="2">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6D0-4AC8-A898-8E6A6BFDF63F}"/>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Requests</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9B57-4708-B747-A0BEA44C2D77}"/>
              </c:ext>
            </c:extLst>
          </c:dPt>
          <c:dPt>
            <c:idx val="1"/>
            <c:invertIfNegative val="1"/>
            <c:bubble3D val="0"/>
            <c:spPr>
              <a:solidFill>
                <a:srgbClr val="6BB9FF"/>
              </a:solidFill>
              <a:ln>
                <a:noFill/>
              </a:ln>
            </c:spPr>
            <c:extLst>
              <c:ext xmlns:c16="http://schemas.microsoft.com/office/drawing/2014/chart" uri="{C3380CC4-5D6E-409C-BE32-E72D297353CC}">
                <c16:uniqueId val="{00000003-9B57-4708-B747-A0BEA44C2D77}"/>
              </c:ext>
            </c:extLst>
          </c:dPt>
          <c:dPt>
            <c:idx val="2"/>
            <c:invertIfNegative val="1"/>
            <c:bubble3D val="0"/>
            <c:spPr>
              <a:solidFill>
                <a:srgbClr val="63E6BE"/>
              </a:solidFill>
              <a:ln>
                <a:noFill/>
              </a:ln>
            </c:spPr>
            <c:extLst>
              <c:ext xmlns:c16="http://schemas.microsoft.com/office/drawing/2014/chart" uri="{C3380CC4-5D6E-409C-BE32-E72D297353CC}">
                <c16:uniqueId val="{00000005-9B57-4708-B747-A0BEA44C2D77}"/>
              </c:ext>
            </c:extLst>
          </c:dPt>
          <c:cat>
            <c:strRef>
              <c:f>Sheet1!$A$2:$A$4</c:f>
              <c:strCache>
                <c:ptCount val="3"/>
                <c:pt idx="0">
                  <c:v>Queued</c:v>
                </c:pt>
                <c:pt idx="1">
                  <c:v>Processing</c:v>
                </c:pt>
                <c:pt idx="2">
                  <c:v>Completed</c:v>
                </c:pt>
              </c:strCache>
            </c:strRef>
          </c:cat>
          <c:val>
            <c:numRef>
              <c:f>Sheet1!$B$2:$B$4</c:f>
              <c:numCache>
                <c:formatCode>General</c:formatCode>
                <c:ptCount val="3"/>
                <c:pt idx="0">
                  <c:v>6</c:v>
                </c:pt>
                <c:pt idx="1">
                  <c:v>2</c:v>
                </c:pt>
                <c:pt idx="2">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9B57-4708-B747-A0BEA44C2D7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9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Dark cover: wallet-to-university movement and growing funding bars. Only product name and one sentence appear as textual content.</a:t>
            </a:r>
          </a:p>
          <a:p>
            <a:endParaRPr/>
          </a:p>
          <a:p>
            <a:r>
              <a:t>Introduce FinBridge AI as a student and family finance project. It combines planning, simulated remittances and a tool-based AI copilot. All payment flows are sandbox simulations; no real money is moved.</a:t>
            </a:r>
          </a:p>
          <a:p>
            <a:endParaRPr/>
          </a:p>
          <a:p>
            <a:r>
              <a:t>Repository evidence: README.md; public/brand/mark.svg</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is proportional to the tuition-gap unit test: available CNY 27,500 + two months of CNY 5,000 income - two months of CNY 2,125 living costs = CNY 33,250. Tuition CNY 40,000 leaves CNY 6,750 gap and CNY 3,375 per-month additional target. The readiness figure is 83.125%, displayed as 83%. Formula: src/lib/money.ts fundingGap; tests/finance.test.ts. No real-person outcome is claimed.</a:t>
            </a:r>
          </a:p>
          <a:p>
            <a:endParaRPr/>
          </a:p>
          <a:p>
            <a:r>
              <a:t>Frame the problem using the workflows implemented in this repository rather than unsourced market statistics. The project targets international students, parents and educational sponsors.</a:t>
            </a:r>
          </a:p>
          <a:p>
            <a:endParaRPr/>
          </a:p>
          <a:p>
            <a:r>
              <a:t>Repository evidence: README.md; src/services/tuition.service.ts; src/services/remittance.service.ts; src/services/parent-controls.service.ts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real-world struggle scenario, explicitly illustrative rather than a documented case study. The chart uses the same inputs and exact formula as slide 2. Funding is CNY 27,500 initially, CNY 30,375 after one month and CNY 33,250 after two. The tuition line remains CNY 40,000. Student expenses, a parent funding from Bangladesh and a fixed tuition deadline motivate the app modules. No invented prevalence or survey statistics are used. Sources: README.md; src/lib/money.ts; src/services/tuition.service.ts; src/services/remittance.service.ts; src/actions/parent.actions.ts.</a:t>
            </a:r>
          </a:p>
          <a:p>
            <a:endParaRPr/>
          </a:p>
          <a:p>
            <a:endParaRP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Provider comparison is computed with the actual repository formula, seeded provider fees and seeded rates CNY 5.21 / BDT 88.5. Target receipt is CNY 6,750. Principal = receipt / (targetRate/sourceRate * (1-spread)), rounded to cents; total = principal + principal*percentage_fee + fixed_fee. Providers and seed settings from scripts/generate-demo.mjs. These are sandbox seed values, not current market quotes. Bars show additional sender cost relative to the lowest demo quote; zero means no extra cost versus that baseline. Full exact values are in presentation/dark-assets/chart-data.json. Native workflow nodes show the product solution.</a:t>
            </a:r>
          </a:p>
          <a:p>
            <a:endParaRPr/>
          </a:p>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implementation slide retains AI emphasis while making room for the real-world-struggles slide. The animated tool run is an illustrative reproduction of implemented tool and review behavior, not a recording of a live provider call. Exact tool names appear in src/ai/tools/index.ts and src/ai/action-catalog.ts. Confirmed non-financial proposals dispatch through src/actions/agent-workflow.actions.ts; money requests reuse src/services/payment.service.ts. Stack: Next.js/React/TypeScript, Zod, MySQL, Decimal.js. Chat can read authorized application context, compare providers, propose budgets and funding plans, draft payments, navigate and ask follow-ups. Financial execution requires confirmation. Tool logs and action state persist.</a:t>
            </a:r>
          </a:p>
          <a:p>
            <a:endParaRPr/>
          </a:p>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chart is illustrative, using monthly expenses CNY 1,500 housing + 450 food + 175 transport = 2,125. The shopping card is an actual screenshot from the local demo, separate from the illustrative scenario; its amounts are not part of the story dataset. Shared account preferences include language, theme, country, currency, timezone and notification choices. Monthly/annual sandbox subscriptions, cancellation/history, CSV limits/preview/atomic rollback, photo/password settings, data export and closure remain implemented. All original capability detail is retained below.</a:t>
            </a:r>
          </a:p>
          <a:p>
            <a:endParaRPr/>
          </a:p>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threshold CNY 5,000, request CNY 6,750 and per-transfer cap CNY 10,000. The request exceeds the approval threshold but stays below the hard cap, so it needs parent review rather than automatic rejection (other policy checks still apply). The animation is a state demonstration, not a real transfer. Parent authorization is explicit; the model cannot approve by itself. The strongest applicable parent policy wins, and parents cannot relax platform risk limits.</a:t>
            </a:r>
          </a:p>
          <a:p>
            <a:endParaRPr/>
          </a:p>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Queue counts 6, 2 and 12 are illustrative snapshot values, not production metrics. Animated card shows manual queue progression with a reference and receipt, with no actual transfer execution. Admin uses role-restricted settlement service, provider/catalog/risk/plan controls and evidence inspection. Moderator delegations and team publishing remain in the feature list. Source code and original detailed inventory follow.</a:t>
            </a:r>
          </a:p>
          <a:p>
            <a:endParaRPr/>
          </a:p>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animation demonstrates the existing permission matrix: a parent may see balances and tuition while transaction descriptions remain hidden. It does not imply a specific demo account has these permissions. Encrypted-key handling is for AI API keys, not a claim that all financial data is encrypted. User closure revokes access but is not an erasure promise. Fields sent through AI tools may reach the configured provider. Controls are implemented; no independent certification is claimed.</a:t>
            </a:r>
          </a:p>
          <a:p>
            <a:endParaRPr/>
          </a:p>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editable circular demo portraits with placeholder names and suggested roles. The user requested demo details to replace manually. These are not verified repository contributor identities. Use Change Picture, and crop replacement photos to oval. The delivery diagram connects AI/backend work to frontend/UX work.</a:t>
            </a:r>
          </a:p>
          <a:p>
            <a:endParaRPr/>
          </a:p>
          <a:p>
            <a:r>
              <a:t>These are demo avatars and suggested role placeholders, explicitly requested by the user. They do not identify actual repository contributors and must not be presented as verified authorship. To replace a portrait, select the circular picture and use Change Picture. The PNG contains a circular portrait with transparent corners; apply Crop to Shape &gt; Oval to any replacement photo. All name and role fields are normal editable PowerPoint text boxes.</a:t>
            </a:r>
          </a:p>
          <a:p>
            <a:endParaRPr/>
          </a:p>
          <a:p>
            <a:r>
              <a:t>Repository evidence: User instruction: keep developer details demo for manual replacement; README.md project identity</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gif"/></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gif"/><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1920240"/>
            <a:ext cx="5669280" cy="914400"/>
          </a:xfrm>
          <a:prstGeom prst="rect">
            <a:avLst/>
          </a:prstGeom>
          <a:noFill/>
        </p:spPr>
        <p:txBody>
          <a:bodyPr wrap="square" lIns="0" tIns="0" rIns="0" bIns="0">
            <a:spAutoFit/>
          </a:bodyPr>
          <a:lstStyle/>
          <a:p>
            <a:pPr>
              <a:spcAft>
                <a:spcPts val="300"/>
              </a:spcAft>
              <a:defRPr sz="4800" b="1">
                <a:solidFill>
                  <a:srgbClr val="EDF5FF"/>
                </a:solidFill>
                <a:latin typeface="Aptos"/>
              </a:defRPr>
            </a:pPr>
            <a:r>
              <a:t>FinBridge AI</a:t>
            </a:r>
          </a:p>
        </p:txBody>
      </p:sp>
      <p:sp>
        <p:nvSpPr>
          <p:cNvPr id="3" name="reveal_02"/>
          <p:cNvSpPr txBox="1"/>
          <p:nvPr/>
        </p:nvSpPr>
        <p:spPr>
          <a:xfrm>
            <a:off x="630936" y="3081528"/>
            <a:ext cx="4937760" cy="1508760"/>
          </a:xfrm>
          <a:prstGeom prst="rect">
            <a:avLst/>
          </a:prstGeom>
          <a:noFill/>
        </p:spPr>
        <p:txBody>
          <a:bodyPr wrap="square" lIns="0" tIns="0" rIns="0" bIns="0">
            <a:spAutoFit/>
          </a:bodyPr>
          <a:lstStyle/>
          <a:p>
            <a:pPr>
              <a:spcAft>
                <a:spcPts val="300"/>
              </a:spcAft>
              <a:defRPr sz="2300" b="0">
                <a:solidFill>
                  <a:srgbClr val="A2B4CA"/>
                </a:solidFill>
                <a:latin typeface="Aptos"/>
              </a:defRPr>
            </a:pPr>
            <a:r>
              <a:t>An AI financial copilot helping students and families plan tuition, manage money and navigate cross-border funding.</a:t>
            </a:r>
          </a:p>
        </p:txBody>
      </p:sp>
      <p:pic>
        <p:nvPicPr>
          <p:cNvPr id="4" name="reveal_03" descr="cover.gif"/>
          <p:cNvPicPr>
            <a:picLocks noChangeAspect="1"/>
          </p:cNvPicPr>
          <p:nvPr/>
        </p:nvPicPr>
        <p:blipFill>
          <a:blip r:embed="rId3"/>
          <a:stretch>
            <a:fillRect/>
          </a:stretch>
        </p:blipFill>
        <p:spPr>
          <a:xfrm>
            <a:off x="5833872" y="1371600"/>
            <a:ext cx="5989320" cy="353872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PROBLEM STATEMENT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 bank balance is not tuition readiness.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Living costs, future income and transfer fees all change what a student can actually afford.</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02 / 10</a:t>
            </a:r>
          </a:p>
        </p:txBody>
      </p:sp>
      <p:sp>
        <p:nvSpPr>
          <p:cNvPr id="7" name="Rounded Rectangle 6"/>
          <p:cNvSpPr/>
          <p:nvPr/>
        </p:nvSpPr>
        <p:spPr>
          <a:xfrm>
            <a:off x="502920" y="1920240"/>
            <a:ext cx="7315200" cy="422452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85800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TUITION FUNDING BRIDGE</a:t>
            </a:r>
          </a:p>
        </p:txBody>
      </p:sp>
      <p:cxnSp>
        <p:nvCxnSpPr>
          <p:cNvPr id="9" name="Connector 8"/>
          <p:cNvCxnSpPr/>
          <p:nvPr/>
        </p:nvCxnSpPr>
        <p:spPr>
          <a:xfrm>
            <a:off x="1371600" y="544068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534924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0k</a:t>
            </a:r>
          </a:p>
        </p:txBody>
      </p:sp>
      <p:cxnSp>
        <p:nvCxnSpPr>
          <p:cNvPr id="11" name="Connector 10"/>
          <p:cNvCxnSpPr/>
          <p:nvPr/>
        </p:nvCxnSpPr>
        <p:spPr>
          <a:xfrm>
            <a:off x="1371600" y="478917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469773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10k</a:t>
            </a:r>
          </a:p>
        </p:txBody>
      </p:sp>
      <p:cxnSp>
        <p:nvCxnSpPr>
          <p:cNvPr id="13" name="Connector 12"/>
          <p:cNvCxnSpPr/>
          <p:nvPr/>
        </p:nvCxnSpPr>
        <p:spPr>
          <a:xfrm>
            <a:off x="1371600" y="413766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04622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20k</a:t>
            </a:r>
          </a:p>
        </p:txBody>
      </p:sp>
      <p:cxnSp>
        <p:nvCxnSpPr>
          <p:cNvPr id="15" name="Connector 14"/>
          <p:cNvCxnSpPr/>
          <p:nvPr/>
        </p:nvCxnSpPr>
        <p:spPr>
          <a:xfrm>
            <a:off x="1371600" y="348615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39471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30k</a:t>
            </a:r>
          </a:p>
        </p:txBody>
      </p:sp>
      <p:cxnSp>
        <p:nvCxnSpPr>
          <p:cNvPr id="17" name="Connector 16"/>
          <p:cNvCxnSpPr/>
          <p:nvPr/>
        </p:nvCxnSpPr>
        <p:spPr>
          <a:xfrm>
            <a:off x="1371600" y="2834640"/>
            <a:ext cx="6108192" cy="0"/>
          </a:xfrm>
          <a:prstGeom prst="line">
            <a:avLst/>
          </a:prstGeom>
          <a:ln w="7620">
            <a:solidFill>
              <a:srgbClr val="26395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2743200"/>
            <a:ext cx="457200" cy="182880"/>
          </a:xfrm>
          <a:prstGeom prst="rect">
            <a:avLst/>
          </a:prstGeom>
          <a:noFill/>
        </p:spPr>
        <p:txBody>
          <a:bodyPr wrap="square" lIns="0" tIns="0" rIns="0" bIns="0">
            <a:spAutoFit/>
          </a:bodyPr>
          <a:lstStyle/>
          <a:p>
            <a:pPr>
              <a:spcAft>
                <a:spcPts val="300"/>
              </a:spcAft>
              <a:defRPr sz="1000" b="0">
                <a:solidFill>
                  <a:srgbClr val="A2B4CA"/>
                </a:solidFill>
                <a:latin typeface="Aptos"/>
              </a:defRPr>
            </a:pPr>
            <a:r>
              <a:t>40k</a:t>
            </a:r>
          </a:p>
        </p:txBody>
      </p:sp>
      <p:sp>
        <p:nvSpPr>
          <p:cNvPr id="19" name="wipe_03"/>
          <p:cNvSpPr/>
          <p:nvPr/>
        </p:nvSpPr>
        <p:spPr>
          <a:xfrm>
            <a:off x="1536192" y="3649027"/>
            <a:ext cx="640080" cy="1791652"/>
          </a:xfrm>
          <a:prstGeom prst="roundRect">
            <a:avLst>
              <a:gd name="adj" fmla="val 2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3"/>
          <p:cNvSpPr txBox="1"/>
          <p:nvPr/>
        </p:nvSpPr>
        <p:spPr>
          <a:xfrm>
            <a:off x="1335024" y="3374707"/>
            <a:ext cx="1060704" cy="228600"/>
          </a:xfrm>
          <a:prstGeom prst="rect">
            <a:avLst/>
          </a:prstGeom>
          <a:noFill/>
        </p:spPr>
        <p:txBody>
          <a:bodyPr wrap="square" lIns="0" tIns="0" rIns="0" bIns="0">
            <a:spAutoFit/>
          </a:bodyPr>
          <a:lstStyle/>
          <a:p>
            <a:pPr algn="ctr">
              <a:spcAft>
                <a:spcPts val="300"/>
              </a:spcAft>
              <a:defRPr sz="1200" b="1">
                <a:solidFill>
                  <a:srgbClr val="6BB9FF"/>
                </a:solidFill>
                <a:latin typeface="Aptos"/>
              </a:defRPr>
            </a:pPr>
            <a:r>
              <a:t>27,500</a:t>
            </a:r>
          </a:p>
        </p:txBody>
      </p:sp>
      <p:sp>
        <p:nvSpPr>
          <p:cNvPr id="21" name="TextBox 20"/>
          <p:cNvSpPr txBox="1"/>
          <p:nvPr/>
        </p:nvSpPr>
        <p:spPr>
          <a:xfrm>
            <a:off x="1298448"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Now</a:t>
            </a:r>
          </a:p>
        </p:txBody>
      </p:sp>
      <p:sp>
        <p:nvSpPr>
          <p:cNvPr id="22" name="wipe_04"/>
          <p:cNvSpPr/>
          <p:nvPr/>
        </p:nvSpPr>
        <p:spPr>
          <a:xfrm>
            <a:off x="2715768" y="2997517"/>
            <a:ext cx="640080" cy="651510"/>
          </a:xfrm>
          <a:prstGeom prst="roundRect">
            <a:avLst>
              <a:gd name="adj" fmla="val 2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veal_04"/>
          <p:cNvSpPr txBox="1"/>
          <p:nvPr/>
        </p:nvSpPr>
        <p:spPr>
          <a:xfrm>
            <a:off x="2514599" y="2723197"/>
            <a:ext cx="1060704" cy="228600"/>
          </a:xfrm>
          <a:prstGeom prst="rect">
            <a:avLst/>
          </a:prstGeom>
          <a:noFill/>
        </p:spPr>
        <p:txBody>
          <a:bodyPr wrap="square" lIns="0" tIns="0" rIns="0" bIns="0">
            <a:spAutoFit/>
          </a:bodyPr>
          <a:lstStyle/>
          <a:p>
            <a:pPr algn="ctr">
              <a:spcAft>
                <a:spcPts val="300"/>
              </a:spcAft>
              <a:defRPr sz="1200" b="1">
                <a:solidFill>
                  <a:srgbClr val="63E6BE"/>
                </a:solidFill>
                <a:latin typeface="Aptos"/>
              </a:defRPr>
            </a:pPr>
            <a:r>
              <a:t>10,000</a:t>
            </a:r>
          </a:p>
        </p:txBody>
      </p:sp>
      <p:sp>
        <p:nvSpPr>
          <p:cNvPr id="24" name="TextBox 23"/>
          <p:cNvSpPr txBox="1"/>
          <p:nvPr/>
        </p:nvSpPr>
        <p:spPr>
          <a:xfrm>
            <a:off x="2478024"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 Income</a:t>
            </a:r>
          </a:p>
        </p:txBody>
      </p:sp>
      <p:sp>
        <p:nvSpPr>
          <p:cNvPr id="25" name="wipe_05"/>
          <p:cNvSpPr/>
          <p:nvPr/>
        </p:nvSpPr>
        <p:spPr>
          <a:xfrm>
            <a:off x="3895344" y="2997517"/>
            <a:ext cx="640080" cy="276891"/>
          </a:xfrm>
          <a:prstGeom prst="roundRect">
            <a:avLst>
              <a:gd name="adj" fmla="val 2000"/>
            </a:avLst>
          </a:prstGeom>
          <a:solidFill>
            <a:srgbClr val="FF8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05"/>
          <p:cNvSpPr txBox="1"/>
          <p:nvPr/>
        </p:nvSpPr>
        <p:spPr>
          <a:xfrm>
            <a:off x="3694176" y="2723197"/>
            <a:ext cx="1060704" cy="228600"/>
          </a:xfrm>
          <a:prstGeom prst="rect">
            <a:avLst/>
          </a:prstGeom>
          <a:noFill/>
        </p:spPr>
        <p:txBody>
          <a:bodyPr wrap="square" lIns="0" tIns="0" rIns="0" bIns="0">
            <a:spAutoFit/>
          </a:bodyPr>
          <a:lstStyle/>
          <a:p>
            <a:pPr algn="ctr">
              <a:spcAft>
                <a:spcPts val="300"/>
              </a:spcAft>
              <a:defRPr sz="1200" b="1">
                <a:solidFill>
                  <a:srgbClr val="FF8896"/>
                </a:solidFill>
                <a:latin typeface="Aptos"/>
              </a:defRPr>
            </a:pPr>
            <a:r>
              <a:t>4,250</a:t>
            </a:r>
          </a:p>
        </p:txBody>
      </p:sp>
      <p:sp>
        <p:nvSpPr>
          <p:cNvPr id="27" name="TextBox 26"/>
          <p:cNvSpPr txBox="1"/>
          <p:nvPr/>
        </p:nvSpPr>
        <p:spPr>
          <a:xfrm>
            <a:off x="3657600"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 Living</a:t>
            </a:r>
          </a:p>
        </p:txBody>
      </p:sp>
      <p:sp>
        <p:nvSpPr>
          <p:cNvPr id="28" name="wipe_06"/>
          <p:cNvSpPr/>
          <p:nvPr/>
        </p:nvSpPr>
        <p:spPr>
          <a:xfrm>
            <a:off x="5074920" y="3274409"/>
            <a:ext cx="640080" cy="2166270"/>
          </a:xfrm>
          <a:prstGeom prst="roundRect">
            <a:avLst>
              <a:gd name="adj" fmla="val 2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4873752" y="3000089"/>
            <a:ext cx="1060704" cy="228600"/>
          </a:xfrm>
          <a:prstGeom prst="rect">
            <a:avLst/>
          </a:prstGeom>
          <a:noFill/>
        </p:spPr>
        <p:txBody>
          <a:bodyPr wrap="square" lIns="0" tIns="0" rIns="0" bIns="0">
            <a:spAutoFit/>
          </a:bodyPr>
          <a:lstStyle/>
          <a:p>
            <a:pPr algn="ctr">
              <a:spcAft>
                <a:spcPts val="300"/>
              </a:spcAft>
              <a:defRPr sz="1200" b="1">
                <a:solidFill>
                  <a:srgbClr val="6BB9FF"/>
                </a:solidFill>
                <a:latin typeface="Aptos"/>
              </a:defRPr>
            </a:pPr>
            <a:r>
              <a:t>33,250</a:t>
            </a:r>
          </a:p>
        </p:txBody>
      </p:sp>
      <p:sp>
        <p:nvSpPr>
          <p:cNvPr id="30" name="TextBox 29"/>
          <p:cNvSpPr txBox="1"/>
          <p:nvPr/>
        </p:nvSpPr>
        <p:spPr>
          <a:xfrm>
            <a:off x="4837176"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Projected</a:t>
            </a:r>
          </a:p>
        </p:txBody>
      </p:sp>
      <p:sp>
        <p:nvSpPr>
          <p:cNvPr id="31" name="wipe_07"/>
          <p:cNvSpPr/>
          <p:nvPr/>
        </p:nvSpPr>
        <p:spPr>
          <a:xfrm>
            <a:off x="6254496" y="2834640"/>
            <a:ext cx="640080" cy="2606040"/>
          </a:xfrm>
          <a:prstGeom prst="roundRect">
            <a:avLst>
              <a:gd name="adj" fmla="val 2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6053328" y="2560320"/>
            <a:ext cx="1060704" cy="228600"/>
          </a:xfrm>
          <a:prstGeom prst="rect">
            <a:avLst/>
          </a:prstGeom>
          <a:noFill/>
        </p:spPr>
        <p:txBody>
          <a:bodyPr wrap="square" lIns="0" tIns="0" rIns="0" bIns="0">
            <a:spAutoFit/>
          </a:bodyPr>
          <a:lstStyle/>
          <a:p>
            <a:pPr algn="ctr">
              <a:spcAft>
                <a:spcPts val="300"/>
              </a:spcAft>
              <a:defRPr sz="1200" b="1">
                <a:solidFill>
                  <a:srgbClr val="F3C969"/>
                </a:solidFill>
                <a:latin typeface="Aptos"/>
              </a:defRPr>
            </a:pPr>
            <a:r>
              <a:t>40,000</a:t>
            </a:r>
          </a:p>
        </p:txBody>
      </p:sp>
      <p:sp>
        <p:nvSpPr>
          <p:cNvPr id="33" name="TextBox 32"/>
          <p:cNvSpPr txBox="1"/>
          <p:nvPr/>
        </p:nvSpPr>
        <p:spPr>
          <a:xfrm>
            <a:off x="6016752" y="5605272"/>
            <a:ext cx="1143000" cy="265176"/>
          </a:xfrm>
          <a:prstGeom prst="rect">
            <a:avLst/>
          </a:prstGeom>
          <a:noFill/>
        </p:spPr>
        <p:txBody>
          <a:bodyPr wrap="square" lIns="0" tIns="0" rIns="0" bIns="0">
            <a:spAutoFit/>
          </a:bodyPr>
          <a:lstStyle/>
          <a:p>
            <a:pPr algn="ctr">
              <a:spcAft>
                <a:spcPts val="300"/>
              </a:spcAft>
              <a:defRPr sz="1100" b="0">
                <a:solidFill>
                  <a:srgbClr val="A2B4CA"/>
                </a:solidFill>
                <a:latin typeface="Aptos"/>
              </a:defRPr>
            </a:pPr>
            <a:r>
              <a:t>Tuition</a:t>
            </a:r>
          </a:p>
        </p:txBody>
      </p:sp>
      <p:sp>
        <p:nvSpPr>
          <p:cNvPr id="34" name="TextBox 33"/>
          <p:cNvSpPr txBox="1"/>
          <p:nvPr/>
        </p:nvSpPr>
        <p:spPr>
          <a:xfrm>
            <a:off x="768096" y="5916168"/>
            <a:ext cx="6675120" cy="201168"/>
          </a:xfrm>
          <a:prstGeom prst="rect">
            <a:avLst/>
          </a:prstGeom>
          <a:noFill/>
        </p:spPr>
        <p:txBody>
          <a:bodyPr wrap="square" lIns="0" tIns="0" rIns="0" bIns="0">
            <a:spAutoFit/>
          </a:bodyPr>
          <a:lstStyle/>
          <a:p>
            <a:pPr>
              <a:spcAft>
                <a:spcPts val="300"/>
              </a:spcAft>
              <a:defRPr sz="1000" b="0">
                <a:solidFill>
                  <a:srgbClr val="A2B4CA"/>
                </a:solidFill>
                <a:latin typeface="Aptos"/>
              </a:defRPr>
            </a:pPr>
            <a:r>
              <a:t>CNY · two-month example · scholarship = 0</a:t>
            </a:r>
          </a:p>
        </p:txBody>
      </p:sp>
      <p:sp>
        <p:nvSpPr>
          <p:cNvPr id="35" name="Rounded Rectangle 34"/>
          <p:cNvSpPr/>
          <p:nvPr/>
        </p:nvSpPr>
        <p:spPr>
          <a:xfrm>
            <a:off x="8046720" y="1920240"/>
            <a:ext cx="3639312" cy="422452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6" name="chart_03"/>
          <p:cNvGraphicFramePr>
            <a:graphicFrameLocks noGrp="1"/>
          </p:cNvGraphicFramePr>
          <p:nvPr/>
        </p:nvGraphicFramePr>
        <p:xfrm>
          <a:off x="8321040" y="2313432"/>
          <a:ext cx="3072384"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37" name="TextBox 36"/>
          <p:cNvSpPr txBox="1"/>
          <p:nvPr/>
        </p:nvSpPr>
        <p:spPr>
          <a:xfrm>
            <a:off x="9034272" y="3200400"/>
            <a:ext cx="1645920" cy="548640"/>
          </a:xfrm>
          <a:prstGeom prst="rect">
            <a:avLst/>
          </a:prstGeom>
          <a:noFill/>
        </p:spPr>
        <p:txBody>
          <a:bodyPr wrap="square" lIns="0" tIns="0" rIns="0" bIns="0">
            <a:spAutoFit/>
          </a:bodyPr>
          <a:lstStyle/>
          <a:p>
            <a:pPr algn="ctr">
              <a:spcAft>
                <a:spcPts val="300"/>
              </a:spcAft>
              <a:defRPr sz="3500" b="1">
                <a:solidFill>
                  <a:srgbClr val="EDF5FF"/>
                </a:solidFill>
                <a:latin typeface="Aptos"/>
              </a:defRPr>
            </a:pPr>
            <a:r>
              <a:t>83%</a:t>
            </a:r>
          </a:p>
        </p:txBody>
      </p:sp>
      <p:sp>
        <p:nvSpPr>
          <p:cNvPr id="38" name="TextBox 37"/>
          <p:cNvSpPr txBox="1"/>
          <p:nvPr/>
        </p:nvSpPr>
        <p:spPr>
          <a:xfrm>
            <a:off x="9208008" y="3776472"/>
            <a:ext cx="1280160" cy="256032"/>
          </a:xfrm>
          <a:prstGeom prst="rect">
            <a:avLst/>
          </a:prstGeom>
          <a:noFill/>
        </p:spPr>
        <p:txBody>
          <a:bodyPr wrap="square" lIns="0" tIns="0" rIns="0" bIns="0">
            <a:spAutoFit/>
          </a:bodyPr>
          <a:lstStyle/>
          <a:p>
            <a:pPr algn="ctr">
              <a:spcAft>
                <a:spcPts val="300"/>
              </a:spcAft>
              <a:defRPr sz="1300" b="0">
                <a:solidFill>
                  <a:srgbClr val="A2B4CA"/>
                </a:solidFill>
                <a:latin typeface="Aptos"/>
              </a:defRPr>
            </a:pPr>
            <a:r>
              <a:t>funded</a:t>
            </a:r>
          </a:p>
        </p:txBody>
      </p:sp>
      <p:sp>
        <p:nvSpPr>
          <p:cNvPr id="39" name="TextBox 38"/>
          <p:cNvSpPr txBox="1"/>
          <p:nvPr/>
        </p:nvSpPr>
        <p:spPr>
          <a:xfrm>
            <a:off x="8375904" y="5074920"/>
            <a:ext cx="292608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UNFUNDED TUITION</a:t>
            </a:r>
          </a:p>
        </p:txBody>
      </p:sp>
      <p:sp>
        <p:nvSpPr>
          <p:cNvPr id="40" name="reveal_06"/>
          <p:cNvSpPr txBox="1"/>
          <p:nvPr/>
        </p:nvSpPr>
        <p:spPr>
          <a:xfrm>
            <a:off x="8375904" y="5422392"/>
            <a:ext cx="292608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down)">
                                      <p:cBhvr>
                                        <p:cTn id="11" dur="6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600"/>
                                        <p:tgtEl>
                                          <p:spTgt spid="20"/>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600"/>
                                        <p:tgtEl>
                                          <p:spTgt spid="19"/>
                                        </p:tgtEl>
                                      </p:cBhvr>
                                    </p:animEffect>
                                  </p:childTnLst>
                                </p:cTn>
                              </p:par>
                            </p:childTnLst>
                          </p:cTn>
                        </p:par>
                        <p:par>
                          <p:cTn id="18" fill="hold">
                            <p:stCondLst>
                              <p:cond delay="1200"/>
                            </p:stCondLst>
                            <p:childTnLst>
                              <p:par>
                                <p:cTn id="19" presetID="22" presetClass="entr" presetSubtype="4"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down)">
                                      <p:cBhvr>
                                        <p:cTn id="21" dur="6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600"/>
                                        <p:tgtEl>
                                          <p:spTgt spid="23"/>
                                        </p:tgtEl>
                                      </p:cBhvr>
                                    </p:animEffect>
                                  </p:childTnLst>
                                </p:cTn>
                              </p:par>
                            </p:childTnLst>
                          </p:cTn>
                        </p:par>
                        <p:par>
                          <p:cTn id="25" fill="hold">
                            <p:stCondLst>
                              <p:cond delay="1800"/>
                            </p:stCondLst>
                            <p:childTnLst>
                              <p:par>
                                <p:cTn id="26" presetID="10" presetClass="entr" presetSubtype="0" fill="hold" grpId="0" nodeType="after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600"/>
                                        <p:tgtEl>
                                          <p:spTgt spid="2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600"/>
                                        <p:tgtEl>
                                          <p:spTgt spid="25"/>
                                        </p:tgtEl>
                                      </p:cBhvr>
                                    </p:animEffect>
                                  </p:childTnLst>
                                </p:cTn>
                              </p:par>
                            </p:childTnLst>
                          </p:cTn>
                        </p:par>
                        <p:par>
                          <p:cTn id="32" fill="hold">
                            <p:stCondLst>
                              <p:cond delay="2400"/>
                            </p:stCondLst>
                            <p:childTnLst>
                              <p:par>
                                <p:cTn id="33" presetID="10"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600"/>
                                        <p:tgtEl>
                                          <p:spTgt spid="4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down)">
                                      <p:cBhvr>
                                        <p:cTn id="38" dur="6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600"/>
                                        <p:tgtEl>
                                          <p:spTgt spid="29"/>
                                        </p:tgtEl>
                                      </p:cBhvr>
                                    </p:animEffect>
                                  </p:childTnLst>
                                </p:cTn>
                              </p:par>
                            </p:childTnLst>
                          </p:cTn>
                        </p:par>
                        <p:par>
                          <p:cTn id="42" fill="hold">
                            <p:stCondLst>
                              <p:cond delay="3000"/>
                            </p:stCondLst>
                            <p:childTnLst>
                              <p:par>
                                <p:cTn id="43" presetID="22" presetClass="entr" presetSubtype="4"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down)">
                                      <p:cBhvr>
                                        <p:cTn id="45" dur="6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animBg="1"/>
      <p:bldP spid="20" grpId="0"/>
      <p:bldP spid="22" grpId="0" animBg="1"/>
      <p:bldP spid="23" grpId="0"/>
      <p:bldP spid="25" grpId="0" animBg="1"/>
      <p:bldP spid="26" grpId="0"/>
      <p:bldP spid="28" grpId="0" animBg="1"/>
      <p:bldP spid="29" grpId="0"/>
      <p:bldP spid="31" grpId="0" animBg="1"/>
      <p:bldP spid="32" grpId="0"/>
      <p:bldGraphic spid="36" grpId="0">
        <p:bldAsOne/>
      </p:bldGraphic>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REAL-WORLD STRUGGLES</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Real-world struggles: one deadline, two countries.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Illustrative scenario: a Bangladeshi student in China must keep paying living costs while preparing tuition.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03 / 10</a:t>
            </a:r>
          </a:p>
        </p:txBody>
      </p:sp>
      <p:sp>
        <p:nvSpPr>
          <p:cNvPr id="7" name="Rounded Rectangle 6"/>
          <p:cNvSpPr/>
          <p:nvPr/>
        </p:nvSpPr>
        <p:spPr>
          <a:xfrm>
            <a:off x="502920" y="1920240"/>
            <a:ext cx="6675120" cy="349300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12648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FUNDING RUNWAY · CNY</a:t>
            </a:r>
          </a:p>
        </p:txBody>
      </p:sp>
      <p:graphicFrame>
        <p:nvGraphicFramePr>
          <p:cNvPr id="9" name="chart_03"/>
          <p:cNvGraphicFramePr>
            <a:graphicFrameLocks noGrp="1"/>
          </p:cNvGraphicFramePr>
          <p:nvPr/>
        </p:nvGraphicFramePr>
        <p:xfrm>
          <a:off x="713232" y="2587752"/>
          <a:ext cx="6217920" cy="250545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struggles.gif"/>
          <p:cNvPicPr>
            <a:picLocks noChangeAspect="1"/>
          </p:cNvPicPr>
          <p:nvPr/>
        </p:nvPicPr>
        <p:blipFill>
          <a:blip r:embed="rId4"/>
          <a:stretch>
            <a:fillRect/>
          </a:stretch>
        </p:blipFill>
        <p:spPr>
          <a:xfrm>
            <a:off x="7388352" y="1920240"/>
            <a:ext cx="4297680" cy="2542032"/>
          </a:xfrm>
          <a:prstGeom prst="rect">
            <a:avLst/>
          </a:prstGeom>
        </p:spPr>
      </p:pic>
      <p:sp>
        <p:nvSpPr>
          <p:cNvPr id="11" name="Rounded Rectangle 10"/>
          <p:cNvSpPr/>
          <p:nvPr/>
        </p:nvSpPr>
        <p:spPr>
          <a:xfrm>
            <a:off x="7388352" y="4681728"/>
            <a:ext cx="4297680" cy="731520"/>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0375" y="4828032"/>
            <a:ext cx="2103120" cy="22860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savings needed</a:t>
            </a:r>
          </a:p>
        </p:txBody>
      </p:sp>
      <p:sp>
        <p:nvSpPr>
          <p:cNvPr id="13" name="reveal_05"/>
          <p:cNvSpPr txBox="1"/>
          <p:nvPr/>
        </p:nvSpPr>
        <p:spPr>
          <a:xfrm>
            <a:off x="9592056" y="4828032"/>
            <a:ext cx="1874519" cy="320040"/>
          </a:xfrm>
          <a:prstGeom prst="rect">
            <a:avLst/>
          </a:prstGeom>
          <a:noFill/>
        </p:spPr>
        <p:txBody>
          <a:bodyPr wrap="square" lIns="0" tIns="0" rIns="0" bIns="0">
            <a:spAutoFit/>
          </a:bodyPr>
          <a:lstStyle/>
          <a:p>
            <a:pPr>
              <a:spcAft>
                <a:spcPts val="300"/>
              </a:spcAft>
              <a:defRPr sz="2000" b="1">
                <a:solidFill>
                  <a:srgbClr val="63E6BE"/>
                </a:solidFill>
                <a:latin typeface="Aptos"/>
              </a:defRPr>
            </a:pPr>
            <a:r>
              <a:t>3,375 / mo</a:t>
            </a:r>
          </a:p>
        </p:txBody>
      </p:sp>
      <p:sp>
        <p:nvSpPr>
          <p:cNvPr id="14" name="reveal_05"/>
          <p:cNvSpPr/>
          <p:nvPr/>
        </p:nvSpPr>
        <p:spPr>
          <a:xfrm>
            <a:off x="548640"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58368" y="5724144"/>
            <a:ext cx="3364991"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Rent continues</a:t>
            </a:r>
          </a:p>
        </p:txBody>
      </p:sp>
      <p:sp>
        <p:nvSpPr>
          <p:cNvPr id="16" name="reveal_05"/>
          <p:cNvSpPr txBox="1"/>
          <p:nvPr/>
        </p:nvSpPr>
        <p:spPr>
          <a:xfrm>
            <a:off x="640080"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CNY 2,125 / month</a:t>
            </a:r>
          </a:p>
        </p:txBody>
      </p:sp>
      <p:sp>
        <p:nvSpPr>
          <p:cNvPr id="17" name="reveal_06"/>
          <p:cNvSpPr/>
          <p:nvPr/>
        </p:nvSpPr>
        <p:spPr>
          <a:xfrm>
            <a:off x="4334255"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4443983" y="5724144"/>
            <a:ext cx="3364991"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Family funds in BDT</a:t>
            </a:r>
          </a:p>
        </p:txBody>
      </p:sp>
      <p:sp>
        <p:nvSpPr>
          <p:cNvPr id="19" name="reveal_06"/>
          <p:cNvSpPr txBox="1"/>
          <p:nvPr/>
        </p:nvSpPr>
        <p:spPr>
          <a:xfrm>
            <a:off x="4425695"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Compare total FX cost</a:t>
            </a:r>
          </a:p>
        </p:txBody>
      </p:sp>
      <p:sp>
        <p:nvSpPr>
          <p:cNvPr id="20" name="reveal_07"/>
          <p:cNvSpPr/>
          <p:nvPr/>
        </p:nvSpPr>
        <p:spPr>
          <a:xfrm>
            <a:off x="8119871"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8229599" y="5724144"/>
            <a:ext cx="3364991" cy="246888"/>
          </a:xfrm>
          <a:prstGeom prst="rect">
            <a:avLst/>
          </a:prstGeom>
          <a:noFill/>
        </p:spPr>
        <p:txBody>
          <a:bodyPr wrap="square" lIns="0" tIns="0" rIns="0" bIns="0">
            <a:spAutoFit/>
          </a:bodyPr>
          <a:lstStyle/>
          <a:p>
            <a:pPr algn="ctr">
              <a:spcAft>
                <a:spcPts val="300"/>
              </a:spcAft>
              <a:defRPr sz="1600" b="1">
                <a:solidFill>
                  <a:srgbClr val="FF8896"/>
                </a:solidFill>
                <a:latin typeface="Aptos"/>
              </a:defRPr>
            </a:pPr>
            <a:r>
              <a:t>Tuition approaches</a:t>
            </a:r>
          </a:p>
        </p:txBody>
      </p:sp>
      <p:sp>
        <p:nvSpPr>
          <p:cNvPr id="22" name="reveal_07"/>
          <p:cNvSpPr txBox="1"/>
          <p:nvPr/>
        </p:nvSpPr>
        <p:spPr>
          <a:xfrm>
            <a:off x="8211311"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Close the CNY 6,750 gap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600"/>
                                        <p:tgtEl>
                                          <p:spTgt spid="9"/>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6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6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6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600"/>
                                        <p:tgtEl>
                                          <p:spTgt spid="17"/>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6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6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3" grpId="0"/>
      <p:bldP spid="14" grpId="0" animBg="1"/>
      <p:bldP spid="15" grpId="0"/>
      <p:bldP spid="16" grpId="0"/>
      <p:bldP spid="17" grpId="0" animBg="1"/>
      <p:bldP spid="18" grpId="0"/>
      <p:bldP spid="19" grpId="0"/>
      <p:bldP spid="20" grpId="0" animBg="1"/>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OUR SOLUTION</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See the gap. Compare the cost. Coordinate the funding.</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One workspace links tuition planning, cross-border comparison, parent approval and payment evidence.</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04 / 10</a:t>
            </a:r>
          </a:p>
        </p:txBody>
      </p:sp>
      <p:sp>
        <p:nvSpPr>
          <p:cNvPr id="7" name="Rounded Rectangle 6"/>
          <p:cNvSpPr/>
          <p:nvPr/>
        </p:nvSpPr>
        <p:spPr>
          <a:xfrm>
            <a:off x="502920" y="1920240"/>
            <a:ext cx="667512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6126480" cy="274320"/>
          </a:xfrm>
          <a:prstGeom prst="rect">
            <a:avLst/>
          </a:prstGeom>
          <a:noFill/>
        </p:spPr>
        <p:txBody>
          <a:bodyPr wrap="square" lIns="0" tIns="0" rIns="0" bIns="0">
            <a:spAutoFit/>
          </a:bodyPr>
          <a:lstStyle/>
          <a:p>
            <a:pPr>
              <a:spcAft>
                <a:spcPts val="300"/>
              </a:spcAft>
              <a:defRPr sz="1400" b="1">
                <a:solidFill>
                  <a:srgbClr val="63E6BE"/>
                </a:solidFill>
                <a:latin typeface="Aptos"/>
              </a:defRPr>
            </a:pPr>
            <a:r>
              <a:t>SEND BDT → RECEIVE CNY 6,750</a:t>
            </a:r>
          </a:p>
        </p:txBody>
      </p:sp>
      <p:sp>
        <p:nvSpPr>
          <p:cNvPr id="9" name="TextBox 8"/>
          <p:cNvSpPr txBox="1"/>
          <p:nvPr/>
        </p:nvSpPr>
        <p:spPr>
          <a:xfrm>
            <a:off x="758952" y="2624328"/>
            <a:ext cx="6126480" cy="27432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sender cost vs lowest quote | BDT</a:t>
            </a:r>
          </a:p>
        </p:txBody>
      </p:sp>
      <p:graphicFrame>
        <p:nvGraphicFramePr>
          <p:cNvPr id="10" name="chart_03"/>
          <p:cNvGraphicFramePr>
            <a:graphicFrameLocks noGrp="1"/>
          </p:cNvGraphicFramePr>
          <p:nvPr/>
        </p:nvGraphicFramePr>
        <p:xfrm>
          <a:off x="658368" y="2953512"/>
          <a:ext cx="6336792" cy="218541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58952" y="5413248"/>
            <a:ext cx="6126480" cy="237744"/>
          </a:xfrm>
          <a:prstGeom prst="rect">
            <a:avLst/>
          </a:prstGeom>
          <a:noFill/>
        </p:spPr>
        <p:txBody>
          <a:bodyPr wrap="square" lIns="0" tIns="0" rIns="0" bIns="0">
            <a:spAutoFit/>
          </a:bodyPr>
          <a:lstStyle/>
          <a:p>
            <a:pPr>
              <a:spcAft>
                <a:spcPts val="300"/>
              </a:spcAft>
              <a:defRPr sz="1000" b="0">
                <a:solidFill>
                  <a:srgbClr val="A2B4CA"/>
                </a:solidFill>
                <a:latin typeface="Aptos"/>
              </a:defRPr>
            </a:pPr>
            <a:r>
              <a:t>Extra cost vs lowest quote | sandbox seed rates | fees + spread included</a:t>
            </a:r>
          </a:p>
        </p:txBody>
      </p:sp>
      <p:sp>
        <p:nvSpPr>
          <p:cNvPr id="12" name="Rounded Rectangle 11"/>
          <p:cNvSpPr/>
          <p:nvPr/>
        </p:nvSpPr>
        <p:spPr>
          <a:xfrm>
            <a:off x="7388352" y="1920240"/>
            <a:ext cx="429768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62672" y="2194560"/>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FUNDING GAP</a:t>
            </a:r>
          </a:p>
        </p:txBody>
      </p:sp>
      <p:sp>
        <p:nvSpPr>
          <p:cNvPr id="14" name="reveal_03"/>
          <p:cNvSpPr txBox="1"/>
          <p:nvPr/>
        </p:nvSpPr>
        <p:spPr>
          <a:xfrm>
            <a:off x="7662672" y="2542032"/>
            <a:ext cx="356616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
        <p:nvSpPr>
          <p:cNvPr id="15" name="TextBox 14"/>
          <p:cNvSpPr txBox="1"/>
          <p:nvPr/>
        </p:nvSpPr>
        <p:spPr>
          <a:xfrm>
            <a:off x="7662672" y="3310128"/>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LOWEST DEMO QUOTE</a:t>
            </a:r>
          </a:p>
        </p:txBody>
      </p:sp>
      <p:sp>
        <p:nvSpPr>
          <p:cNvPr id="16" name="reveal_04"/>
          <p:cNvSpPr txBox="1"/>
          <p:nvPr/>
        </p:nvSpPr>
        <p:spPr>
          <a:xfrm>
            <a:off x="7662672" y="3657600"/>
            <a:ext cx="3566160" cy="502920"/>
          </a:xfrm>
          <a:prstGeom prst="rect">
            <a:avLst/>
          </a:prstGeom>
          <a:noFill/>
        </p:spPr>
        <p:txBody>
          <a:bodyPr wrap="square" lIns="0" tIns="0" rIns="0" bIns="0">
            <a:spAutoFit/>
          </a:bodyPr>
          <a:lstStyle/>
          <a:p>
            <a:pPr>
              <a:spcAft>
                <a:spcPts val="300"/>
              </a:spcAft>
              <a:defRPr sz="2900" b="1">
                <a:solidFill>
                  <a:srgbClr val="63E6BE"/>
                </a:solidFill>
                <a:latin typeface="Aptos"/>
              </a:defRPr>
            </a:pPr>
            <a:r>
              <a:t>BDT 115,434</a:t>
            </a:r>
          </a:p>
        </p:txBody>
      </p:sp>
      <p:sp>
        <p:nvSpPr>
          <p:cNvPr id="17" name="TextBox 16"/>
          <p:cNvSpPr txBox="1"/>
          <p:nvPr/>
        </p:nvSpPr>
        <p:spPr>
          <a:xfrm>
            <a:off x="7662672" y="4425696"/>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QUOTE DIFFERENCE</a:t>
            </a:r>
          </a:p>
        </p:txBody>
      </p:sp>
      <p:sp>
        <p:nvSpPr>
          <p:cNvPr id="18" name="reveal_05"/>
          <p:cNvSpPr txBox="1"/>
          <p:nvPr/>
        </p:nvSpPr>
        <p:spPr>
          <a:xfrm>
            <a:off x="7662672" y="4773168"/>
            <a:ext cx="3566160" cy="502920"/>
          </a:xfrm>
          <a:prstGeom prst="rect">
            <a:avLst/>
          </a:prstGeom>
          <a:noFill/>
        </p:spPr>
        <p:txBody>
          <a:bodyPr wrap="square" lIns="0" tIns="0" rIns="0" bIns="0">
            <a:spAutoFit/>
          </a:bodyPr>
          <a:lstStyle/>
          <a:p>
            <a:pPr>
              <a:spcAft>
                <a:spcPts val="300"/>
              </a:spcAft>
              <a:defRPr sz="2900" b="1">
                <a:solidFill>
                  <a:srgbClr val="F3C969"/>
                </a:solidFill>
                <a:latin typeface="Aptos"/>
              </a:defRPr>
            </a:pPr>
            <a:r>
              <a:t>BDT 2,914</a:t>
            </a:r>
          </a:p>
        </p:txBody>
      </p:sp>
      <p:sp>
        <p:nvSpPr>
          <p:cNvPr id="19" name="reveal_04"/>
          <p:cNvSpPr/>
          <p:nvPr/>
        </p:nvSpPr>
        <p:spPr>
          <a:xfrm>
            <a:off x="54864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4"/>
          <p:cNvSpPr txBox="1"/>
          <p:nvPr/>
        </p:nvSpPr>
        <p:spPr>
          <a:xfrm>
            <a:off x="65836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Plan</a:t>
            </a:r>
          </a:p>
        </p:txBody>
      </p:sp>
      <p:sp>
        <p:nvSpPr>
          <p:cNvPr id="21" name="reveal_04"/>
          <p:cNvSpPr txBox="1"/>
          <p:nvPr/>
        </p:nvSpPr>
        <p:spPr>
          <a:xfrm>
            <a:off x="64008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Tuition + budget</a:t>
            </a:r>
          </a:p>
        </p:txBody>
      </p:sp>
      <p:sp>
        <p:nvSpPr>
          <p:cNvPr id="22" name="TextBox 21"/>
          <p:cNvSpPr txBox="1"/>
          <p:nvPr/>
        </p:nvSpPr>
        <p:spPr>
          <a:xfrm>
            <a:off x="318211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3" name="reveal_05"/>
          <p:cNvSpPr/>
          <p:nvPr/>
        </p:nvSpPr>
        <p:spPr>
          <a:xfrm>
            <a:off x="338328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5"/>
          <p:cNvSpPr txBox="1"/>
          <p:nvPr/>
        </p:nvSpPr>
        <p:spPr>
          <a:xfrm>
            <a:off x="349300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Compare</a:t>
            </a:r>
          </a:p>
        </p:txBody>
      </p:sp>
      <p:sp>
        <p:nvSpPr>
          <p:cNvPr id="25" name="reveal_05"/>
          <p:cNvSpPr txBox="1"/>
          <p:nvPr/>
        </p:nvSpPr>
        <p:spPr>
          <a:xfrm>
            <a:off x="347472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Fees + FX</a:t>
            </a:r>
          </a:p>
        </p:txBody>
      </p:sp>
      <p:sp>
        <p:nvSpPr>
          <p:cNvPr id="26" name="TextBox 25"/>
          <p:cNvSpPr txBox="1"/>
          <p:nvPr/>
        </p:nvSpPr>
        <p:spPr>
          <a:xfrm>
            <a:off x="601675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7" name="reveal_06"/>
          <p:cNvSpPr/>
          <p:nvPr/>
        </p:nvSpPr>
        <p:spPr>
          <a:xfrm>
            <a:off x="621792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veal_06"/>
          <p:cNvSpPr txBox="1"/>
          <p:nvPr/>
        </p:nvSpPr>
        <p:spPr>
          <a:xfrm>
            <a:off x="632764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Approve</a:t>
            </a:r>
          </a:p>
        </p:txBody>
      </p:sp>
      <p:sp>
        <p:nvSpPr>
          <p:cNvPr id="29" name="reveal_06"/>
          <p:cNvSpPr txBox="1"/>
          <p:nvPr/>
        </p:nvSpPr>
        <p:spPr>
          <a:xfrm>
            <a:off x="6309359"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 parent</a:t>
            </a:r>
          </a:p>
        </p:txBody>
      </p:sp>
      <p:sp>
        <p:nvSpPr>
          <p:cNvPr id="30" name="TextBox 29"/>
          <p:cNvSpPr txBox="1"/>
          <p:nvPr/>
        </p:nvSpPr>
        <p:spPr>
          <a:xfrm>
            <a:off x="885139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31" name="reveal_07"/>
          <p:cNvSpPr/>
          <p:nvPr/>
        </p:nvSpPr>
        <p:spPr>
          <a:xfrm>
            <a:off x="905256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916228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Record</a:t>
            </a:r>
          </a:p>
        </p:txBody>
      </p:sp>
      <p:sp>
        <p:nvSpPr>
          <p:cNvPr id="33" name="reveal_07"/>
          <p:cNvSpPr txBox="1"/>
          <p:nvPr/>
        </p:nvSpPr>
        <p:spPr>
          <a:xfrm>
            <a:off x="914400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Receipt + ledger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600"/>
                                        <p:tgtEl>
                                          <p:spTgt spid="10"/>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6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6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600"/>
                                        <p:tgtEl>
                                          <p:spTgt spid="16"/>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6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6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6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600"/>
                                        <p:tgtEl>
                                          <p:spTgt spid="23"/>
                                        </p:tgtEl>
                                      </p:cBhvr>
                                    </p:animEffect>
                                  </p:childTnLst>
                                </p:cTn>
                              </p:par>
                            </p:childTnLst>
                          </p:cTn>
                        </p:par>
                        <p:par>
                          <p:cTn id="41" fill="hold">
                            <p:stCondLst>
                              <p:cond delay="2400"/>
                            </p:stCondLst>
                            <p:childTnLst>
                              <p:par>
                                <p:cTn id="42" presetID="10" presetClass="entr" presetSubtype="0"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6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6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600"/>
                                        <p:tgtEl>
                                          <p:spTgt spid="27"/>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6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6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4" grpId="0"/>
      <p:bldP spid="16" grpId="0"/>
      <p:bldP spid="18" grpId="0"/>
      <p:bldP spid="19" grpId="0" animBg="1"/>
      <p:bldP spid="20" grpId="0"/>
      <p:bldP spid="21" grpId="0"/>
      <p:bldP spid="23" grpId="0" animBg="1"/>
      <p:bldP spid="24" grpId="0"/>
      <p:bldP spid="25" grpId="0"/>
      <p:bldP spid="27" grpId="0" animBg="1"/>
      <p:bldP spid="28" grpId="0"/>
      <p:bldP spid="29" grpId="0"/>
      <p:bldP spid="31" grpId="0" animBg="1"/>
      <p:bldP spid="32"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OUR IMPLEMENTATION / AI FIRST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AI turns financial questions into reviewed actions.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Application-owned tools ground the answer; confirmation and server checks control execution.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05 / 10</a:t>
            </a:r>
          </a:p>
        </p:txBody>
      </p:sp>
      <p:pic>
        <p:nvPicPr>
          <p:cNvPr id="7" name="reveal_02" descr="ai.gif"/>
          <p:cNvPicPr>
            <a:picLocks noChangeAspect="1"/>
          </p:cNvPicPr>
          <p:nvPr/>
        </p:nvPicPr>
        <p:blipFill>
          <a:blip r:embed="rId3"/>
          <a:stretch>
            <a:fillRect/>
          </a:stretch>
        </p:blipFill>
        <p:spPr>
          <a:xfrm>
            <a:off x="502920" y="1920240"/>
            <a:ext cx="5998464" cy="3547872"/>
          </a:xfrm>
          <a:prstGeom prst="rect">
            <a:avLst/>
          </a:prstGeom>
        </p:spPr>
      </p:pic>
      <p:sp>
        <p:nvSpPr>
          <p:cNvPr id="8" name="Rounded Rectangle 7"/>
          <p:cNvSpPr/>
          <p:nvPr/>
        </p:nvSpPr>
        <p:spPr>
          <a:xfrm>
            <a:off x="6729984" y="1920240"/>
            <a:ext cx="4956048" cy="3547872"/>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8584" y="2148840"/>
            <a:ext cx="448056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APPLICATION TOOL GRAPH</a:t>
            </a:r>
          </a:p>
        </p:txBody>
      </p:sp>
      <p:sp>
        <p:nvSpPr>
          <p:cNvPr id="10" name="Oval 9"/>
          <p:cNvSpPr/>
          <p:nvPr/>
        </p:nvSpPr>
        <p:spPr>
          <a:xfrm>
            <a:off x="6995160" y="2743200"/>
            <a:ext cx="128016" cy="12801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7260336" y="2688336"/>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getAccounts + getWorkspaceData</a:t>
            </a:r>
          </a:p>
        </p:txBody>
      </p:sp>
      <p:sp>
        <p:nvSpPr>
          <p:cNvPr id="12" name="reveal_03"/>
          <p:cNvSpPr txBox="1"/>
          <p:nvPr/>
        </p:nvSpPr>
        <p:spPr>
          <a:xfrm>
            <a:off x="7260336" y="3026664"/>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Balances, invoice and spending</a:t>
            </a:r>
          </a:p>
        </p:txBody>
      </p:sp>
      <p:sp>
        <p:nvSpPr>
          <p:cNvPr id="13" name="Oval 12"/>
          <p:cNvSpPr/>
          <p:nvPr/>
        </p:nvSpPr>
        <p:spPr>
          <a:xfrm>
            <a:off x="6995160" y="3529584"/>
            <a:ext cx="128016" cy="12801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7260336" y="3474720"/>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calculateTuitionGap</a:t>
            </a:r>
          </a:p>
        </p:txBody>
      </p:sp>
      <p:sp>
        <p:nvSpPr>
          <p:cNvPr id="15" name="reveal_04"/>
          <p:cNvSpPr txBox="1"/>
          <p:nvPr/>
        </p:nvSpPr>
        <p:spPr>
          <a:xfrm>
            <a:off x="7260336" y="3813048"/>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CNY 6,750 gap → CNY 3,375 / month</a:t>
            </a:r>
          </a:p>
        </p:txBody>
      </p:sp>
      <p:sp>
        <p:nvSpPr>
          <p:cNvPr id="16" name="Oval 15"/>
          <p:cNvSpPr/>
          <p:nvPr/>
        </p:nvSpPr>
        <p:spPr>
          <a:xfrm>
            <a:off x="6995160" y="4315968"/>
            <a:ext cx="128016" cy="12801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5"/>
          <p:cNvSpPr txBox="1"/>
          <p:nvPr/>
        </p:nvSpPr>
        <p:spPr>
          <a:xfrm>
            <a:off x="7260336" y="4261104"/>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requestAction → confirmAgentAction</a:t>
            </a:r>
          </a:p>
        </p:txBody>
      </p:sp>
      <p:sp>
        <p:nvSpPr>
          <p:cNvPr id="18" name="reveal_05"/>
          <p:cNvSpPr txBox="1"/>
          <p:nvPr/>
        </p:nvSpPr>
        <p:spPr>
          <a:xfrm>
            <a:off x="7260336" y="4599432"/>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Structured proposal → explicit review</a:t>
            </a:r>
          </a:p>
        </p:txBody>
      </p:sp>
      <p:sp>
        <p:nvSpPr>
          <p:cNvPr id="19" name="TextBox 18"/>
          <p:cNvSpPr txBox="1"/>
          <p:nvPr/>
        </p:nvSpPr>
        <p:spPr>
          <a:xfrm>
            <a:off x="6986016" y="5129784"/>
            <a:ext cx="4443984" cy="228600"/>
          </a:xfrm>
          <a:prstGeom prst="rect">
            <a:avLst/>
          </a:prstGeom>
          <a:noFill/>
        </p:spPr>
        <p:txBody>
          <a:bodyPr wrap="square" lIns="0" tIns="0" rIns="0" bIns="0">
            <a:spAutoFit/>
          </a:bodyPr>
          <a:lstStyle/>
          <a:p>
            <a:pPr>
              <a:spcAft>
                <a:spcPts val="300"/>
              </a:spcAft>
              <a:defRPr sz="1100" b="1">
                <a:solidFill>
                  <a:srgbClr val="63E6BE"/>
                </a:solidFill>
                <a:latin typeface="Aptos"/>
              </a:defRPr>
            </a:pPr>
            <a:r>
              <a:t>Gemini  ·  OpenAI  ·  deterministic mock</a:t>
            </a:r>
          </a:p>
        </p:txBody>
      </p:sp>
      <p:sp>
        <p:nvSpPr>
          <p:cNvPr id="20" name="reveal_04"/>
          <p:cNvSpPr/>
          <p:nvPr/>
        </p:nvSpPr>
        <p:spPr>
          <a:xfrm>
            <a:off x="54864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58368" y="5724144"/>
            <a:ext cx="2404872"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React / Next.js</a:t>
            </a:r>
          </a:p>
        </p:txBody>
      </p:sp>
      <p:sp>
        <p:nvSpPr>
          <p:cNvPr id="22" name="reveal_04"/>
          <p:cNvSpPr txBox="1"/>
          <p:nvPr/>
        </p:nvSpPr>
        <p:spPr>
          <a:xfrm>
            <a:off x="64008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workspace</a:t>
            </a:r>
          </a:p>
        </p:txBody>
      </p:sp>
      <p:sp>
        <p:nvSpPr>
          <p:cNvPr id="23" name="TextBox 22"/>
          <p:cNvSpPr txBox="1"/>
          <p:nvPr/>
        </p:nvSpPr>
        <p:spPr>
          <a:xfrm>
            <a:off x="319125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4" name="reveal_05"/>
          <p:cNvSpPr/>
          <p:nvPr/>
        </p:nvSpPr>
        <p:spPr>
          <a:xfrm>
            <a:off x="338328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5"/>
          <p:cNvSpPr txBox="1"/>
          <p:nvPr/>
        </p:nvSpPr>
        <p:spPr>
          <a:xfrm>
            <a:off x="3493008" y="5724144"/>
            <a:ext cx="2404872" cy="246888"/>
          </a:xfrm>
          <a:prstGeom prst="rect">
            <a:avLst/>
          </a:prstGeom>
          <a:noFill/>
        </p:spPr>
        <p:txBody>
          <a:bodyPr wrap="square" lIns="0" tIns="0" rIns="0" bIns="0">
            <a:spAutoFit/>
          </a:bodyPr>
          <a:lstStyle/>
          <a:p>
            <a:pPr algn="ctr">
              <a:spcAft>
                <a:spcPts val="300"/>
              </a:spcAft>
              <a:defRPr sz="1600" b="1">
                <a:solidFill>
                  <a:srgbClr val="B4A3FF"/>
                </a:solidFill>
                <a:latin typeface="Aptos"/>
              </a:defRPr>
            </a:pPr>
            <a:r>
              <a:t>AI + Zod</a:t>
            </a:r>
          </a:p>
        </p:txBody>
      </p:sp>
      <p:sp>
        <p:nvSpPr>
          <p:cNvPr id="26" name="reveal_05"/>
          <p:cNvSpPr txBox="1"/>
          <p:nvPr/>
        </p:nvSpPr>
        <p:spPr>
          <a:xfrm>
            <a:off x="347472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Validated tools</a:t>
            </a:r>
          </a:p>
        </p:txBody>
      </p:sp>
      <p:sp>
        <p:nvSpPr>
          <p:cNvPr id="27" name="TextBox 26"/>
          <p:cNvSpPr txBox="1"/>
          <p:nvPr/>
        </p:nvSpPr>
        <p:spPr>
          <a:xfrm>
            <a:off x="602589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8" name="reveal_06"/>
          <p:cNvSpPr/>
          <p:nvPr/>
        </p:nvSpPr>
        <p:spPr>
          <a:xfrm>
            <a:off x="621792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6327648" y="5724144"/>
            <a:ext cx="2404872"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Server Actions</a:t>
            </a:r>
          </a:p>
        </p:txBody>
      </p:sp>
      <p:sp>
        <p:nvSpPr>
          <p:cNvPr id="30" name="reveal_06"/>
          <p:cNvSpPr txBox="1"/>
          <p:nvPr/>
        </p:nvSpPr>
        <p:spPr>
          <a:xfrm>
            <a:off x="6309359"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Auth / role / risk</a:t>
            </a:r>
          </a:p>
        </p:txBody>
      </p:sp>
      <p:sp>
        <p:nvSpPr>
          <p:cNvPr id="31" name="TextBox 30"/>
          <p:cNvSpPr txBox="1"/>
          <p:nvPr/>
        </p:nvSpPr>
        <p:spPr>
          <a:xfrm>
            <a:off x="886053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32" name="reveal_07"/>
          <p:cNvSpPr/>
          <p:nvPr/>
        </p:nvSpPr>
        <p:spPr>
          <a:xfrm>
            <a:off x="905256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9162288" y="572414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MySQL ledger</a:t>
            </a:r>
          </a:p>
        </p:txBody>
      </p:sp>
      <p:sp>
        <p:nvSpPr>
          <p:cNvPr id="34" name="reveal_07"/>
          <p:cNvSpPr txBox="1"/>
          <p:nvPr/>
        </p:nvSpPr>
        <p:spPr>
          <a:xfrm>
            <a:off x="914400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Locks / idempotency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6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6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6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childTnLst>
                                </p:cTn>
                              </p:par>
                            </p:childTnLst>
                          </p:cTn>
                        </p:par>
                        <p:par>
                          <p:cTn id="35" fill="hold">
                            <p:stCondLst>
                              <p:cond delay="2400"/>
                            </p:stCondLst>
                            <p:childTnLst>
                              <p:par>
                                <p:cTn id="36" presetID="10"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6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6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60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6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6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600"/>
                                        <p:tgtEl>
                                          <p:spTgt spid="28"/>
                                        </p:tgtEl>
                                      </p:cBhvr>
                                    </p:animEffect>
                                  </p:childTnLst>
                                </p:cTn>
                              </p:par>
                            </p:childTnLst>
                          </p:cTn>
                        </p:par>
                        <p:par>
                          <p:cTn id="61" fill="hold">
                            <p:stCondLst>
                              <p:cond delay="3600"/>
                            </p:stCondLst>
                            <p:childTnLst>
                              <p:par>
                                <p:cTn id="62" presetID="10"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60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6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P spid="15" grpId="0"/>
      <p:bldP spid="17" grpId="0"/>
      <p:bldP spid="18" grpId="0"/>
      <p:bldP spid="20" grpId="0" animBg="1"/>
      <p:bldP spid="21" grpId="0"/>
      <p:bldP spid="22" grpId="0"/>
      <p:bldP spid="24" grpId="0" animBg="1"/>
      <p:bldP spid="25" grpId="0"/>
      <p:bldP spid="26" grpId="0"/>
      <p:bldP spid="28" grpId="0" animBg="1"/>
      <p:bldP spid="29" grpId="0"/>
      <p:bldP spid="30" grpId="0"/>
      <p:bldP spid="32" grpId="0" animBg="1"/>
      <p:bldP spid="33"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STUDENT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Student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Track everyday money, plan tuition and act with the AI copilot.</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06 / 10</a:t>
            </a:r>
          </a:p>
        </p:txBody>
      </p:sp>
      <p:sp>
        <p:nvSpPr>
          <p:cNvPr id="7" name="Rounded Rectangle 6"/>
          <p:cNvSpPr/>
          <p:nvPr/>
        </p:nvSpPr>
        <p:spPr>
          <a:xfrm>
            <a:off x="502920" y="1920240"/>
            <a:ext cx="5760720" cy="4352544"/>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74320"/>
          </a:xfrm>
          <a:prstGeom prst="rect">
            <a:avLst/>
          </a:prstGeom>
          <a:noFill/>
        </p:spPr>
        <p:txBody>
          <a:bodyPr wrap="square" lIns="0" tIns="0" rIns="0" bIns="0">
            <a:spAutoFit/>
          </a:bodyPr>
          <a:lstStyle/>
          <a:p>
            <a:pPr>
              <a:spcAft>
                <a:spcPts val="300"/>
              </a:spcAft>
              <a:defRPr sz="1200" b="1">
                <a:solidFill>
                  <a:srgbClr val="63E6BE"/>
                </a:solidFill>
                <a:latin typeface="Aptos"/>
              </a:defRPr>
            </a:pPr>
            <a:r>
              <a:t>BUDGET VS SPENDING · CNY</a:t>
            </a:r>
          </a:p>
        </p:txBody>
      </p:sp>
      <p:graphicFrame>
        <p:nvGraphicFramePr>
          <p:cNvPr id="9" name="chart_03"/>
          <p:cNvGraphicFramePr>
            <a:graphicFrameLocks noGrp="1"/>
          </p:cNvGraphicFramePr>
          <p:nvPr/>
        </p:nvGraphicFramePr>
        <p:xfrm>
          <a:off x="694944" y="2624328"/>
          <a:ext cx="53492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9808" y="4663440"/>
            <a:ext cx="5212080" cy="265176"/>
          </a:xfrm>
          <a:prstGeom prst="rect">
            <a:avLst/>
          </a:prstGeom>
          <a:noFill/>
        </p:spPr>
        <p:txBody>
          <a:bodyPr wrap="square" lIns="0" tIns="0" rIns="0" bIns="0">
            <a:spAutoFit/>
          </a:bodyPr>
          <a:lstStyle/>
          <a:p>
            <a:pPr>
              <a:spcAft>
                <a:spcPts val="300"/>
              </a:spcAft>
              <a:defRPr sz="1100" b="0">
                <a:solidFill>
                  <a:srgbClr val="A2B4CA"/>
                </a:solidFill>
                <a:latin typeface="Aptos"/>
              </a:defRPr>
            </a:pPr>
            <a:r>
              <a:t>Illustrative monthly budget: housing is CNY 100 over plan.</a:t>
            </a:r>
          </a:p>
        </p:txBody>
      </p:sp>
      <p:pic>
        <p:nvPicPr>
          <p:cNvPr id="11" name="reveal_04" descr="shopping-card.png"/>
          <p:cNvPicPr>
            <a:picLocks noChangeAspect="1"/>
          </p:cNvPicPr>
          <p:nvPr/>
        </p:nvPicPr>
        <p:blipFill>
          <a:blip r:embed="rId4"/>
          <a:stretch>
            <a:fillRect/>
          </a:stretch>
        </p:blipFill>
        <p:spPr>
          <a:xfrm>
            <a:off x="749808" y="5129784"/>
            <a:ext cx="2697480" cy="1179576"/>
          </a:xfrm>
          <a:prstGeom prst="rect">
            <a:avLst/>
          </a:prstGeom>
        </p:spPr>
      </p:pic>
      <p:sp>
        <p:nvSpPr>
          <p:cNvPr id="12" name="TextBox 11"/>
          <p:cNvSpPr txBox="1"/>
          <p:nvPr/>
        </p:nvSpPr>
        <p:spPr>
          <a:xfrm>
            <a:off x="3675887" y="5212080"/>
            <a:ext cx="22860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ACTUAL DEMO UI</a:t>
            </a:r>
          </a:p>
        </p:txBody>
      </p:sp>
      <p:sp>
        <p:nvSpPr>
          <p:cNvPr id="13" name="TextBox 12"/>
          <p:cNvSpPr txBox="1"/>
          <p:nvPr/>
        </p:nvSpPr>
        <p:spPr>
          <a:xfrm>
            <a:off x="3675887" y="5559552"/>
            <a:ext cx="2286000" cy="548640"/>
          </a:xfrm>
          <a:prstGeom prst="rect">
            <a:avLst/>
          </a:prstGeom>
          <a:noFill/>
        </p:spPr>
        <p:txBody>
          <a:bodyPr wrap="square" lIns="0" tIns="0" rIns="0" bIns="0">
            <a:spAutoFit/>
          </a:bodyPr>
          <a:lstStyle/>
          <a:p>
            <a:pPr>
              <a:spcAft>
                <a:spcPts val="300"/>
              </a:spcAft>
              <a:defRPr sz="1400" b="1">
                <a:solidFill>
                  <a:srgbClr val="EDF5FF"/>
                </a:solidFill>
                <a:latin typeface="Aptos"/>
              </a:defRPr>
            </a:pPr>
            <a:r>
              <a:t>Category progress</a:t>
            </a:r>
          </a:p>
          <a:p>
            <a:pPr>
              <a:spcAft>
                <a:spcPts val="300"/>
              </a:spcAft>
              <a:defRPr sz="1400" b="1">
                <a:solidFill>
                  <a:srgbClr val="EDF5FF"/>
                </a:solidFill>
                <a:latin typeface="Aptos"/>
              </a:defRPr>
            </a:pPr>
            <a:r>
              <a:t>and overspend alerts</a:t>
            </a:r>
          </a:p>
        </p:txBody>
      </p:sp>
      <p:sp>
        <p:nvSpPr>
          <p:cNvPr id="14" name="Oval 13"/>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Accounts &amp; activity</a:t>
            </a:r>
          </a:p>
        </p:txBody>
      </p:sp>
      <p:sp>
        <p:nvSpPr>
          <p:cNvPr id="16"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Multi-currency wallets, cash, transactions, categories, search/filter, CSV mapping/import.</a:t>
            </a:r>
          </a:p>
        </p:txBody>
      </p:sp>
      <p:sp>
        <p:nvSpPr>
          <p:cNvPr id="17" name="Oval 16"/>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Tuition &amp; planning</a:t>
            </a:r>
          </a:p>
        </p:txBody>
      </p:sp>
      <p:sp>
        <p:nvSpPr>
          <p:cNvPr id="19"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Invoices, scholarships, deadlines, savings scenarios, category budgets, credit guidance.</a:t>
            </a:r>
          </a:p>
        </p:txBody>
      </p:sp>
      <p:sp>
        <p:nvSpPr>
          <p:cNvPr id="20" name="Oval 19"/>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Payments &amp; transfers</a:t>
            </a:r>
          </a:p>
        </p:txBody>
      </p:sp>
      <p:sp>
        <p:nvSpPr>
          <p:cNvPr id="22"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FX/providers, quotes, sends, top-ups, manual deposits, withdrawals, recipients and receipts.</a:t>
            </a:r>
          </a:p>
        </p:txBody>
      </p:sp>
      <p:sp>
        <p:nvSpPr>
          <p:cNvPr id="23" name="Oval 22"/>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copilot</a:t>
            </a:r>
          </a:p>
        </p:txBody>
      </p:sp>
      <p:sp>
        <p:nvSpPr>
          <p:cNvPr id="25"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Chat/tool history, advice, follow-ups, navigation, reviewed actions and model selection.</a:t>
            </a:r>
          </a:p>
        </p:txBody>
      </p:sp>
      <p:sp>
        <p:nvSpPr>
          <p:cNvPr id="26" name="Oval 25"/>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&amp; notifications</a:t>
            </a:r>
          </a:p>
        </p:txBody>
      </p:sp>
      <p:sp>
        <p:nvSpPr>
          <p:cNvPr id="28"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Invitations, recipient/transfer approvals, reminders, alerts/snooze and ledger history.</a:t>
            </a:r>
          </a:p>
        </p:txBody>
      </p:sp>
      <p:sp>
        <p:nvSpPr>
          <p:cNvPr id="29" name="Oval 28"/>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Personal account</a:t>
            </a:r>
          </a:p>
        </p:txBody>
      </p:sp>
      <p:sp>
        <p:nvSpPr>
          <p:cNvPr id="31"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Plans/quotas/history, saved cards/models, profile/security, reports, export and closure.</a:t>
            </a:r>
          </a:p>
        </p:txBody>
      </p:sp>
      <p:sp>
        <p:nvSpPr>
          <p:cNvPr id="32" name="TextBox 31"/>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3 languages · themes · country/currency · time zone · search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600"/>
                                        <p:tgtEl>
                                          <p:spTgt spid="9"/>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6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6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600"/>
                                        <p:tgtEl>
                                          <p:spTgt spid="11"/>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6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600"/>
                                        <p:tgtEl>
                                          <p:spTgt spid="18"/>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6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600"/>
                                        <p:tgtEl>
                                          <p:spTgt spid="21"/>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6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600"/>
                                        <p:tgtEl>
                                          <p:spTgt spid="24"/>
                                        </p:tgtEl>
                                      </p:cBhvr>
                                    </p:animEffect>
                                  </p:childTnLst>
                                </p:cTn>
                              </p:par>
                            </p:childTnLst>
                          </p:cTn>
                        </p:par>
                        <p:par>
                          <p:cTn id="43" fill="hold">
                            <p:stCondLst>
                              <p:cond delay="36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6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600"/>
                                        <p:tgtEl>
                                          <p:spTgt spid="27"/>
                                        </p:tgtEl>
                                      </p:cBhvr>
                                    </p:animEffect>
                                  </p:childTnLst>
                                </p:cTn>
                              </p:par>
                            </p:childTnLst>
                          </p:cTn>
                        </p:par>
                        <p:par>
                          <p:cTn id="50" fill="hold">
                            <p:stCondLst>
                              <p:cond delay="4200"/>
                            </p:stCondLst>
                            <p:childTnLst>
                              <p:par>
                                <p:cTn id="51" presetID="10"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6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5" grpId="0"/>
      <p:bldP spid="16" grpId="0"/>
      <p:bldP spid="18" grpId="0"/>
      <p:bldP spid="19" grpId="0"/>
      <p:bldP spid="21" grpId="0"/>
      <p:bldP spid="22" grpId="0"/>
      <p:bldP spid="24" grpId="0"/>
      <p:bldP spid="25" grpId="0"/>
      <p:bldP spid="27" grpId="0"/>
      <p:bldP spid="28"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PARENT</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Parent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Support the student with scoped visibility, clear approval rules and spending limits.</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07 / 10</a:t>
            </a:r>
          </a:p>
        </p:txBody>
      </p:sp>
      <p:sp>
        <p:nvSpPr>
          <p:cNvPr id="7" name="Rounded Rectangle 6"/>
          <p:cNvSpPr/>
          <p:nvPr/>
        </p:nvSpPr>
        <p:spPr>
          <a:xfrm>
            <a:off x="502920" y="1920240"/>
            <a:ext cx="5760720" cy="2231136"/>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TRANSFER REVIEW BOUNDARIES · CNY</a:t>
            </a:r>
          </a:p>
        </p:txBody>
      </p:sp>
      <p:graphicFrame>
        <p:nvGraphicFramePr>
          <p:cNvPr id="9" name="chart_03"/>
          <p:cNvGraphicFramePr>
            <a:graphicFrameLocks noGrp="1"/>
          </p:cNvGraphicFramePr>
          <p:nvPr/>
        </p:nvGraphicFramePr>
        <p:xfrm>
          <a:off x="713232" y="2551176"/>
          <a:ext cx="5303520" cy="1298448"/>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approval.gif"/>
          <p:cNvPicPr>
            <a:picLocks noChangeAspect="1"/>
          </p:cNvPicPr>
          <p:nvPr/>
        </p:nvPicPr>
        <p:blipFill>
          <a:blip r:embed="rId4"/>
          <a:stretch>
            <a:fillRect/>
          </a:stretch>
        </p:blipFill>
        <p:spPr>
          <a:xfrm>
            <a:off x="502920" y="4361688"/>
            <a:ext cx="5760720" cy="1920240"/>
          </a:xfrm>
          <a:prstGeom prst="rect">
            <a:avLst/>
          </a:prstGeom>
        </p:spPr>
      </p:pic>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circle</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Invite/link students, review linked finances and revoke relationships.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Visibility matrix</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Balances, category totals, descriptions, tuition, budgets and permission-aware alerts.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Approval center</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Approve/reject payments and beneficiaries; reasons/history; tuition/conversion sign-off.</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Spending controls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Thresholds, transfer/daily/monthly caps, category limits, auto-approval and one-time recipients.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Parent money &amp; AI</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Own wallets, student funding, deposits/payments, transactions/CSV and reviewed AI actions.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Shared account tools</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 cards/models, alerts/reports, profile/security, preferences, export and closure.</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Parent policies can tighten platform limits.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600"/>
                                        <p:tgtEl>
                                          <p:spTgt spid="9"/>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6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6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600"/>
                                        <p:tgtEl>
                                          <p:spTgt spid="18"/>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6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600"/>
                                        <p:tgtEl>
                                          <p:spTgt spid="21"/>
                                        </p:tgtEl>
                                      </p:cBhvr>
                                    </p:animEffect>
                                  </p:childTnLst>
                                </p:cTn>
                              </p:par>
                            </p:childTnLst>
                          </p:cTn>
                        </p:par>
                        <p:par>
                          <p:cTn id="43" fill="hold">
                            <p:stCondLst>
                              <p:cond delay="3600"/>
                            </p:stCondLst>
                            <p:childTnLst>
                              <p:par>
                                <p:cTn id="44" presetID="10" presetClass="entr" presetSubtype="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6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600"/>
                                        <p:tgtEl>
                                          <p:spTgt spid="24"/>
                                        </p:tgtEl>
                                      </p:cBhvr>
                                    </p:animEffect>
                                  </p:childTnLst>
                                </p:cTn>
                              </p:par>
                            </p:childTnLst>
                          </p:cTn>
                        </p:par>
                        <p:par>
                          <p:cTn id="50" fill="hold">
                            <p:stCondLst>
                              <p:cond delay="4200"/>
                            </p:stCondLst>
                            <p:childTnLst>
                              <p:par>
                                <p:cTn id="51" presetID="10"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600"/>
                                        <p:tgtEl>
                                          <p:spTgt spid="2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2" grpId="0"/>
      <p:bldP spid="13" grpId="0"/>
      <p:bldP spid="15" grpId="0"/>
      <p:bldP spid="16" grpId="0"/>
      <p:bldP spid="18" grpId="0"/>
      <p:bldP spid="19" grpId="0"/>
      <p:bldP spid="21" grpId="0"/>
      <p:bldP spid="22" grpId="0"/>
      <p:bldP spid="24" grpId="0"/>
      <p:bldP spid="25"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FEATURES / ADMIN &amp; MODERATOR</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Admin features</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Configure the sandbox, resolve requests and inspect the evidence behind each financial action.</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08 / 10</a:t>
            </a:r>
          </a:p>
        </p:txBody>
      </p:sp>
      <p:pic>
        <p:nvPicPr>
          <p:cNvPr id="7" name="reveal_02" descr="settlement.gif"/>
          <p:cNvPicPr>
            <a:picLocks noChangeAspect="1"/>
          </p:cNvPicPr>
          <p:nvPr/>
        </p:nvPicPr>
        <p:blipFill>
          <a:blip r:embed="rId3"/>
          <a:stretch>
            <a:fillRect/>
          </a:stretch>
        </p:blipFill>
        <p:spPr>
          <a:xfrm>
            <a:off x="502920" y="1920240"/>
            <a:ext cx="5760720" cy="2423160"/>
          </a:xfrm>
          <a:prstGeom prst="rect">
            <a:avLst/>
          </a:prstGeom>
        </p:spPr>
      </p:pic>
      <p:sp>
        <p:nvSpPr>
          <p:cNvPr id="8" name="Rounded Rectangle 7"/>
          <p:cNvSpPr/>
          <p:nvPr/>
        </p:nvSpPr>
        <p:spPr>
          <a:xfrm>
            <a:off x="502920" y="4535424"/>
            <a:ext cx="5760720" cy="175564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18304"/>
            <a:ext cx="5303520" cy="237744"/>
          </a:xfrm>
          <a:prstGeom prst="rect">
            <a:avLst/>
          </a:prstGeom>
          <a:noFill/>
        </p:spPr>
        <p:txBody>
          <a:bodyPr wrap="square" lIns="0" tIns="0" rIns="0" bIns="0">
            <a:spAutoFit/>
          </a:bodyPr>
          <a:lstStyle/>
          <a:p>
            <a:pPr>
              <a:spcAft>
                <a:spcPts val="300"/>
              </a:spcAft>
              <a:defRPr sz="1100" b="1">
                <a:solidFill>
                  <a:srgbClr val="63E6BE"/>
                </a:solidFill>
                <a:latin typeface="Aptos"/>
              </a:defRPr>
            </a:pPr>
            <a:r>
              <a:t>EXAMPLE QUEUE SNAPSHOT</a:t>
            </a:r>
          </a:p>
        </p:txBody>
      </p:sp>
      <p:graphicFrame>
        <p:nvGraphicFramePr>
          <p:cNvPr id="10" name="chart_03"/>
          <p:cNvGraphicFramePr>
            <a:graphicFrameLocks noGrp="1"/>
          </p:cNvGraphicFramePr>
          <p:nvPr/>
        </p:nvGraphicFramePr>
        <p:xfrm>
          <a:off x="722376" y="5074920"/>
          <a:ext cx="5294376" cy="1051560"/>
        </p:xfrm>
        <a:graphic>
          <a:graphicData uri="http://schemas.openxmlformats.org/drawingml/2006/chart">
            <c:chart xmlns:c="http://schemas.openxmlformats.org/drawingml/2006/chart" xmlns:r="http://schemas.openxmlformats.org/officeDocument/2006/relationships" r:id="rId4"/>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Users &amp; roles</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User/role management, suspend/reactivate, metrics and delegated moderator scopes.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Manual settlement</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Claim/process/complete/fail, payout references, held funds/refunds and receiving details.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Financial configuration</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Risk/frequency ceilings, FX, providers/fees/spreads/routes and credit guidance.</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Catalog &amp; subscriptions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Countries/currencies, defaults/settings, pricing, quotas and feature limits.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&amp; platform team</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Shared models/keys, connection tests, run/tool inspection and published team profiles.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Reports &amp; evidence</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Resolve reports; audit logs, transfer receipts, project and security evidence exports.</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Moderator access is limited to assigned sections.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22" presetClass="entr" presetSubtype="4"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600"/>
                                        <p:tgtEl>
                                          <p:spTgt spid="10"/>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600"/>
                                        <p:tgtEl>
                                          <p:spTgt spid="12"/>
                                        </p:tgtEl>
                                      </p:cBhvr>
                                    </p:animEffect>
                                  </p:childTnLst>
                                </p:cTn>
                              </p:par>
                            </p:childTnLst>
                          </p:cTn>
                        </p:par>
                        <p:par>
                          <p:cTn id="23" fill="hold">
                            <p:stCondLst>
                              <p:cond delay="2400"/>
                            </p:stCondLst>
                            <p:childTnLst>
                              <p:par>
                                <p:cTn id="24" presetID="10"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6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6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600"/>
                                        <p:tgtEl>
                                          <p:spTgt spid="18"/>
                                        </p:tgtEl>
                                      </p:cBhvr>
                                    </p:animEffect>
                                  </p:childTnLst>
                                </p:cTn>
                              </p:par>
                            </p:childTnLst>
                          </p:cTn>
                        </p:par>
                        <p:par>
                          <p:cTn id="37" fill="hold">
                            <p:stCondLst>
                              <p:cond delay="3600"/>
                            </p:stCondLst>
                            <p:childTnLst>
                              <p:par>
                                <p:cTn id="38" presetID="10" presetClass="entr" presetSubtype="0"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6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600"/>
                                        <p:tgtEl>
                                          <p:spTgt spid="21"/>
                                        </p:tgtEl>
                                      </p:cBhvr>
                                    </p:animEffect>
                                  </p:childTnLst>
                                </p:cTn>
                              </p:par>
                            </p:childTnLst>
                          </p:cTn>
                        </p:par>
                        <p:par>
                          <p:cTn id="44" fill="hold">
                            <p:stCondLst>
                              <p:cond delay="4200"/>
                            </p:stCondLst>
                            <p:childTnLst>
                              <p:par>
                                <p:cTn id="45" presetID="10" presetClass="entr" presetSubtype="0"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6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600"/>
                                        <p:tgtEl>
                                          <p:spTgt spid="24"/>
                                        </p:tgtEl>
                                      </p:cBhvr>
                                    </p:animEffect>
                                  </p:childTnLst>
                                </p:cTn>
                              </p:par>
                            </p:childTnLst>
                          </p:cTn>
                        </p:par>
                        <p:par>
                          <p:cTn id="51" fill="hold">
                            <p:stCondLst>
                              <p:cond delay="4800"/>
                            </p:stCondLst>
                            <p:childTnLst>
                              <p:par>
                                <p:cTn id="52" presetID="10" presetClass="entr" presetSubtype="0"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6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2" grpId="0"/>
      <p:bldP spid="13" grpId="0"/>
      <p:bldP spid="15" grpId="0"/>
      <p:bldP spid="16" grpId="0"/>
      <p:bldP spid="18" grpId="0"/>
      <p:bldP spid="19" grpId="0"/>
      <p:bldP spid="21" grpId="0"/>
      <p:bldP spid="22" grpId="0"/>
      <p:bldP spid="24" grpId="0"/>
      <p:bldP spid="25"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SECURITY &amp; PRIVACY</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Security &amp; privacy</a:t>
            </a:r>
          </a:p>
        </p:txBody>
      </p:sp>
      <p:sp>
        <p:nvSpPr>
          <p:cNvPr id="4" name="TextBox 3"/>
          <p:cNvSpPr txBox="1"/>
          <p:nvPr/>
        </p:nvSpPr>
        <p:spPr>
          <a:xfrm>
            <a:off x="521207" y="1389888"/>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Controls are applied to each action and each field of financial context.</a:t>
            </a:r>
          </a:p>
        </p:txBody>
      </p:sp>
      <p:sp>
        <p:nvSpPr>
          <p:cNvPr id="5" name="TextBox 4"/>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6" name="TextBox 5"/>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09 / 10</a:t>
            </a:r>
          </a:p>
        </p:txBody>
      </p:sp>
      <p:pic>
        <p:nvPicPr>
          <p:cNvPr id="7" name="reveal_02" descr="privacy.gif"/>
          <p:cNvPicPr>
            <a:picLocks noChangeAspect="1"/>
          </p:cNvPicPr>
          <p:nvPr/>
        </p:nvPicPr>
        <p:blipFill>
          <a:blip r:embed="rId3"/>
          <a:stretch>
            <a:fillRect/>
          </a:stretch>
        </p:blipFill>
        <p:spPr>
          <a:xfrm>
            <a:off x="502920" y="1920240"/>
            <a:ext cx="6583680" cy="3895344"/>
          </a:xfrm>
          <a:prstGeom prst="rect">
            <a:avLst/>
          </a:prstGeom>
        </p:spPr>
      </p:pic>
      <p:sp>
        <p:nvSpPr>
          <p:cNvPr id="8" name="Rounded Rectangle 7"/>
          <p:cNvSpPr/>
          <p:nvPr/>
        </p:nvSpPr>
        <p:spPr>
          <a:xfrm>
            <a:off x="7342631" y="2020824"/>
            <a:ext cx="411480" cy="292608"/>
          </a:xfrm>
          <a:prstGeom prst="roundRect">
            <a:avLst>
              <a:gd name="adj" fmla="val 1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15783" y="2061972"/>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01</a:t>
            </a:r>
          </a:p>
        </p:txBody>
      </p:sp>
      <p:sp>
        <p:nvSpPr>
          <p:cNvPr id="10" name="reveal_03"/>
          <p:cNvSpPr txBox="1"/>
          <p:nvPr/>
        </p:nvSpPr>
        <p:spPr>
          <a:xfrm>
            <a:off x="7918704" y="2020824"/>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IDENTITY</a:t>
            </a:r>
          </a:p>
        </p:txBody>
      </p:sp>
      <p:sp>
        <p:nvSpPr>
          <p:cNvPr id="11" name="reveal_03"/>
          <p:cNvSpPr txBox="1"/>
          <p:nvPr/>
        </p:nvSpPr>
        <p:spPr>
          <a:xfrm>
            <a:off x="7918704" y="2414016"/>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bcrypt hashes; signed sessions; revocation.</a:t>
            </a:r>
          </a:p>
        </p:txBody>
      </p:sp>
      <p:sp>
        <p:nvSpPr>
          <p:cNvPr id="12" name="Rounded Rectangle 11"/>
          <p:cNvSpPr/>
          <p:nvPr/>
        </p:nvSpPr>
        <p:spPr>
          <a:xfrm>
            <a:off x="7342631" y="2953512"/>
            <a:ext cx="411480" cy="292608"/>
          </a:xfrm>
          <a:prstGeom prst="roundRect">
            <a:avLst>
              <a:gd name="adj" fmla="val 1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15783" y="2994660"/>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02</a:t>
            </a:r>
          </a:p>
        </p:txBody>
      </p:sp>
      <p:sp>
        <p:nvSpPr>
          <p:cNvPr id="14" name="reveal_04"/>
          <p:cNvSpPr txBox="1"/>
          <p:nvPr/>
        </p:nvSpPr>
        <p:spPr>
          <a:xfrm>
            <a:off x="7918704" y="2953512"/>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ACCESS</a:t>
            </a:r>
          </a:p>
        </p:txBody>
      </p:sp>
      <p:sp>
        <p:nvSpPr>
          <p:cNvPr id="15" name="reveal_04"/>
          <p:cNvSpPr txBox="1"/>
          <p:nvPr/>
        </p:nvSpPr>
        <p:spPr>
          <a:xfrm>
            <a:off x="7918704" y="3346704"/>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Role + ownership checks; parent permissions.</a:t>
            </a:r>
          </a:p>
        </p:txBody>
      </p:sp>
      <p:sp>
        <p:nvSpPr>
          <p:cNvPr id="16" name="Rounded Rectangle 15"/>
          <p:cNvSpPr/>
          <p:nvPr/>
        </p:nvSpPr>
        <p:spPr>
          <a:xfrm>
            <a:off x="7342631" y="3886200"/>
            <a:ext cx="411480" cy="292608"/>
          </a:xfrm>
          <a:prstGeom prst="roundRect">
            <a:avLst>
              <a:gd name="adj" fmla="val 10000"/>
            </a:avLst>
          </a:prstGeom>
          <a:solidFill>
            <a:srgbClr val="B4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15783" y="3927348"/>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03</a:t>
            </a:r>
          </a:p>
        </p:txBody>
      </p:sp>
      <p:sp>
        <p:nvSpPr>
          <p:cNvPr id="18" name="reveal_05"/>
          <p:cNvSpPr txBox="1"/>
          <p:nvPr/>
        </p:nvSpPr>
        <p:spPr>
          <a:xfrm>
            <a:off x="7918704" y="3886200"/>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AI &amp; SECRETS</a:t>
            </a:r>
          </a:p>
        </p:txBody>
      </p:sp>
      <p:sp>
        <p:nvSpPr>
          <p:cNvPr id="19" name="reveal_05"/>
          <p:cNvSpPr txBox="1"/>
          <p:nvPr/>
        </p:nvSpPr>
        <p:spPr>
          <a:xfrm>
            <a:off x="7918704" y="4279392"/>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AES-256-GCM model keys; validated tools.</a:t>
            </a:r>
          </a:p>
        </p:txBody>
      </p:sp>
      <p:sp>
        <p:nvSpPr>
          <p:cNvPr id="20" name="Rounded Rectangle 19"/>
          <p:cNvSpPr/>
          <p:nvPr/>
        </p:nvSpPr>
        <p:spPr>
          <a:xfrm>
            <a:off x="7342631" y="4818888"/>
            <a:ext cx="411480" cy="292608"/>
          </a:xfrm>
          <a:prstGeom prst="roundRect">
            <a:avLst>
              <a:gd name="adj" fmla="val 10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783" y="4860036"/>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04</a:t>
            </a:r>
          </a:p>
        </p:txBody>
      </p:sp>
      <p:sp>
        <p:nvSpPr>
          <p:cNvPr id="22" name="reveal_06"/>
          <p:cNvSpPr txBox="1"/>
          <p:nvPr/>
        </p:nvSpPr>
        <p:spPr>
          <a:xfrm>
            <a:off x="7918704" y="4818888"/>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MONEY INTEGRITY</a:t>
            </a:r>
          </a:p>
        </p:txBody>
      </p:sp>
      <p:sp>
        <p:nvSpPr>
          <p:cNvPr id="23" name="reveal_06"/>
          <p:cNvSpPr txBox="1"/>
          <p:nvPr/>
        </p:nvSpPr>
        <p:spPr>
          <a:xfrm>
            <a:off x="7918704" y="5212079"/>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Confirmation, locks, tokens, balanced ledger.</a:t>
            </a:r>
          </a:p>
        </p:txBody>
      </p:sp>
      <p:sp>
        <p:nvSpPr>
          <p:cNvPr id="24" name="Rounded Rectangle 23"/>
          <p:cNvSpPr/>
          <p:nvPr/>
        </p:nvSpPr>
        <p:spPr>
          <a:xfrm>
            <a:off x="502920" y="6007608"/>
            <a:ext cx="11183112" cy="402336"/>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6117336"/>
            <a:ext cx="10789920" cy="210312"/>
          </a:xfrm>
          <a:prstGeom prst="rect">
            <a:avLst/>
          </a:prstGeom>
          <a:noFill/>
        </p:spPr>
        <p:txBody>
          <a:bodyPr wrap="square" lIns="0" tIns="0" rIns="0" bIns="0">
            <a:spAutoFit/>
          </a:bodyPr>
          <a:lstStyle/>
          <a:p>
            <a:pPr>
              <a:spcAft>
                <a:spcPts val="300"/>
              </a:spcAft>
              <a:defRPr sz="1100" b="0">
                <a:solidFill>
                  <a:srgbClr val="A2B4CA"/>
                </a:solidFill>
                <a:latin typeface="Aptos"/>
              </a:defRPr>
            </a:pPr>
            <a:r>
              <a:t>Data export  ·  Account closure  ·  No stored full PAN/CVV  ·  Selected AI context may reach the configured provider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6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00"/>
                                        <p:tgtEl>
                                          <p:spTgt spid="14"/>
                                        </p:tgtEl>
                                      </p:cBhvr>
                                    </p:animEffect>
                                  </p:childTnLst>
                                </p:cTn>
                              </p:par>
                            </p:childTnLst>
                          </p:cTn>
                        </p:par>
                        <p:par>
                          <p:cTn id="26" fill="hold">
                            <p:stCondLst>
                              <p:cond delay="2400"/>
                            </p:stCondLst>
                            <p:childTnLst>
                              <p:par>
                                <p:cTn id="27" presetID="10" presetClass="entr" presetSubtype="0"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6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600"/>
                                        <p:tgtEl>
                                          <p:spTgt spid="18"/>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4" grpId="0"/>
      <p:bldP spid="15" grpId="0"/>
      <p:bldP spid="18" grpId="0"/>
      <p:bldP spid="19"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DEVELOPER INTRODUCTION</a:t>
            </a:r>
          </a:p>
        </p:txBody>
      </p:sp>
      <p:sp>
        <p:nvSpPr>
          <p:cNvPr id="3" name="reveal_01"/>
          <p:cNvSpPr txBox="1"/>
          <p:nvPr/>
        </p:nvSpPr>
        <p:spPr>
          <a:xfrm>
            <a:off x="502920" y="768096"/>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team behind FinBridge AI</a:t>
            </a:r>
          </a:p>
        </p:txBody>
      </p:sp>
      <p:sp>
        <p:nvSpPr>
          <p:cNvPr id="4" name="TextBox 3"/>
          <p:cNvSpPr txBox="1"/>
          <p:nvPr/>
        </p:nvSpPr>
        <p:spPr>
          <a:xfrm>
            <a:off x="502920" y="6510528"/>
            <a:ext cx="3657600" cy="182880"/>
          </a:xfrm>
          <a:prstGeom prst="rect">
            <a:avLst/>
          </a:prstGeom>
          <a:noFill/>
        </p:spPr>
        <p:txBody>
          <a:bodyPr wrap="square" lIns="0" tIns="0" rIns="0" bIns="0">
            <a:spAutoFit/>
          </a:bodyPr>
          <a:lstStyle/>
          <a:p>
            <a:pPr>
              <a:spcAft>
                <a:spcPts val="300"/>
              </a:spcAft>
              <a:defRPr sz="900" b="0">
                <a:solidFill>
                  <a:srgbClr val="A2B4CA"/>
                </a:solidFill>
                <a:latin typeface="Aptos"/>
              </a:defRPr>
            </a:pPr>
            <a:r>
              <a:t>FINBRIDGE AI</a:t>
            </a:r>
          </a:p>
        </p:txBody>
      </p:sp>
      <p:sp>
        <p:nvSpPr>
          <p:cNvPr id="5" name="TextBox 4"/>
          <p:cNvSpPr txBox="1"/>
          <p:nvPr/>
        </p:nvSpPr>
        <p:spPr>
          <a:xfrm>
            <a:off x="10607040" y="6473952"/>
            <a:ext cx="1078992" cy="228600"/>
          </a:xfrm>
          <a:prstGeom prst="rect">
            <a:avLst/>
          </a:prstGeom>
          <a:noFill/>
        </p:spPr>
        <p:txBody>
          <a:bodyPr wrap="square" lIns="0" tIns="0" rIns="0" bIns="0">
            <a:spAutoFit/>
          </a:bodyPr>
          <a:lstStyle/>
          <a:p>
            <a:pPr algn="r">
              <a:spcAft>
                <a:spcPts val="300"/>
              </a:spcAft>
              <a:defRPr sz="1000" b="0">
                <a:solidFill>
                  <a:srgbClr val="A2B4CA"/>
                </a:solidFill>
                <a:latin typeface="Aptos"/>
              </a:defRPr>
            </a:pPr>
            <a:r>
              <a:t>10 / 10</a:t>
            </a:r>
          </a:p>
        </p:txBody>
      </p:sp>
      <p:pic>
        <p:nvPicPr>
          <p:cNvPr id="6" name="reveal_02" descr="demo-developer-1.png"/>
          <p:cNvPicPr>
            <a:picLocks noChangeAspect="1"/>
          </p:cNvPicPr>
          <p:nvPr/>
        </p:nvPicPr>
        <p:blipFill>
          <a:blip r:embed="rId3"/>
          <a:stretch>
            <a:fillRect/>
          </a:stretch>
        </p:blipFill>
        <p:spPr>
          <a:xfrm>
            <a:off x="1572768" y="1901952"/>
            <a:ext cx="2011680" cy="2011680"/>
          </a:xfrm>
          <a:prstGeom prst="rect">
            <a:avLst/>
          </a:prstGeom>
        </p:spPr>
      </p:pic>
      <p:sp>
        <p:nvSpPr>
          <p:cNvPr id="7" name="reveal_04"/>
          <p:cNvSpPr txBox="1"/>
          <p:nvPr/>
        </p:nvSpPr>
        <p:spPr>
          <a:xfrm>
            <a:off x="932688" y="4187952"/>
            <a:ext cx="3291840" cy="484632"/>
          </a:xfrm>
          <a:prstGeom prst="rect">
            <a:avLst/>
          </a:prstGeom>
          <a:noFill/>
        </p:spPr>
        <p:txBody>
          <a:bodyPr wrap="square" lIns="0" tIns="0" rIns="0" bIns="0">
            <a:spAutoFit/>
          </a:bodyPr>
          <a:lstStyle/>
          <a:p>
            <a:pPr algn="ctr">
              <a:spcAft>
                <a:spcPts val="300"/>
              </a:spcAft>
              <a:defRPr sz="2800" b="1">
                <a:solidFill>
                  <a:srgbClr val="EDF5FF"/>
                </a:solidFill>
                <a:latin typeface="Aptos"/>
              </a:defRPr>
            </a:pPr>
            <a:r>
              <a:t>Developer 1</a:t>
            </a:r>
          </a:p>
        </p:txBody>
      </p:sp>
      <p:sp>
        <p:nvSpPr>
          <p:cNvPr id="8" name="reveal_04"/>
          <p:cNvSpPr txBox="1"/>
          <p:nvPr/>
        </p:nvSpPr>
        <p:spPr>
          <a:xfrm>
            <a:off x="932688" y="4828032"/>
            <a:ext cx="3291840" cy="329184"/>
          </a:xfrm>
          <a:prstGeom prst="rect">
            <a:avLst/>
          </a:prstGeom>
          <a:noFill/>
        </p:spPr>
        <p:txBody>
          <a:bodyPr wrap="square" lIns="0" tIns="0" rIns="0" bIns="0">
            <a:spAutoFit/>
          </a:bodyPr>
          <a:lstStyle/>
          <a:p>
            <a:pPr algn="ctr">
              <a:spcAft>
                <a:spcPts val="300"/>
              </a:spcAft>
              <a:defRPr sz="1700" b="0">
                <a:solidFill>
                  <a:srgbClr val="63E6BE"/>
                </a:solidFill>
                <a:latin typeface="Aptos"/>
              </a:defRPr>
            </a:pPr>
            <a:r>
              <a:t>AI &amp; Backend</a:t>
            </a:r>
          </a:p>
        </p:txBody>
      </p:sp>
      <p:pic>
        <p:nvPicPr>
          <p:cNvPr id="9" name="reveal_03" descr="demo-developer-2.png"/>
          <p:cNvPicPr>
            <a:picLocks noChangeAspect="1"/>
          </p:cNvPicPr>
          <p:nvPr/>
        </p:nvPicPr>
        <p:blipFill>
          <a:blip r:embed="rId4"/>
          <a:stretch>
            <a:fillRect/>
          </a:stretch>
        </p:blipFill>
        <p:spPr>
          <a:xfrm>
            <a:off x="8156448" y="1901952"/>
            <a:ext cx="2011680" cy="2011680"/>
          </a:xfrm>
          <a:prstGeom prst="rect">
            <a:avLst/>
          </a:prstGeom>
        </p:spPr>
      </p:pic>
      <p:sp>
        <p:nvSpPr>
          <p:cNvPr id="10" name="reveal_05"/>
          <p:cNvSpPr txBox="1"/>
          <p:nvPr/>
        </p:nvSpPr>
        <p:spPr>
          <a:xfrm>
            <a:off x="7516368" y="4187952"/>
            <a:ext cx="3291840" cy="484632"/>
          </a:xfrm>
          <a:prstGeom prst="rect">
            <a:avLst/>
          </a:prstGeom>
          <a:noFill/>
        </p:spPr>
        <p:txBody>
          <a:bodyPr wrap="square" lIns="0" tIns="0" rIns="0" bIns="0">
            <a:spAutoFit/>
          </a:bodyPr>
          <a:lstStyle/>
          <a:p>
            <a:pPr algn="ctr">
              <a:spcAft>
                <a:spcPts val="300"/>
              </a:spcAft>
              <a:defRPr sz="2800" b="1">
                <a:solidFill>
                  <a:srgbClr val="EDF5FF"/>
                </a:solidFill>
                <a:latin typeface="Aptos"/>
              </a:defRPr>
            </a:pPr>
            <a:r>
              <a:t>Developer 2</a:t>
            </a:r>
          </a:p>
        </p:txBody>
      </p:sp>
      <p:sp>
        <p:nvSpPr>
          <p:cNvPr id="11" name="reveal_05"/>
          <p:cNvSpPr txBox="1"/>
          <p:nvPr/>
        </p:nvSpPr>
        <p:spPr>
          <a:xfrm>
            <a:off x="7516368" y="4828032"/>
            <a:ext cx="3291840" cy="329184"/>
          </a:xfrm>
          <a:prstGeom prst="rect">
            <a:avLst/>
          </a:prstGeom>
          <a:noFill/>
        </p:spPr>
        <p:txBody>
          <a:bodyPr wrap="square" lIns="0" tIns="0" rIns="0" bIns="0">
            <a:spAutoFit/>
          </a:bodyPr>
          <a:lstStyle/>
          <a:p>
            <a:pPr algn="ctr">
              <a:spcAft>
                <a:spcPts val="300"/>
              </a:spcAft>
              <a:defRPr sz="1700" b="0">
                <a:solidFill>
                  <a:srgbClr val="63E6BE"/>
                </a:solidFill>
                <a:latin typeface="Aptos"/>
              </a:defRPr>
            </a:pPr>
            <a:r>
              <a:t>Frontend &amp; UX</a:t>
            </a:r>
          </a:p>
        </p:txBody>
      </p:sp>
      <p:pic>
        <p:nvPicPr>
          <p:cNvPr id="12" name="reveal_05" descr="team.gif"/>
          <p:cNvPicPr>
            <a:picLocks noChangeAspect="1"/>
          </p:cNvPicPr>
          <p:nvPr/>
        </p:nvPicPr>
        <p:blipFill>
          <a:blip r:embed="rId5"/>
          <a:stretch>
            <a:fillRect/>
          </a:stretch>
        </p:blipFill>
        <p:spPr>
          <a:xfrm>
            <a:off x="4553712" y="2761488"/>
            <a:ext cx="3044952" cy="1801368"/>
          </a:xfrm>
          <a:prstGeom prst="rect">
            <a:avLst/>
          </a:prstGeom>
        </p:spPr>
      </p:pic>
      <p:sp>
        <p:nvSpPr>
          <p:cNvPr id="13" name="TextBox 12"/>
          <p:cNvSpPr txBox="1"/>
          <p:nvPr/>
        </p:nvSpPr>
        <p:spPr>
          <a:xfrm>
            <a:off x="658368" y="5980176"/>
            <a:ext cx="10881360" cy="274320"/>
          </a:xfrm>
          <a:prstGeom prst="rect">
            <a:avLst/>
          </a:prstGeom>
          <a:noFill/>
        </p:spPr>
        <p:txBody>
          <a:bodyPr wrap="square" lIns="0" tIns="0" rIns="0" bIns="0">
            <a:spAutoFit/>
          </a:bodyPr>
          <a:lstStyle/>
          <a:p>
            <a:pPr algn="ctr">
              <a:spcAft>
                <a:spcPts val="300"/>
              </a:spcAft>
              <a:defRPr sz="1200" b="0">
                <a:solidFill>
                  <a:srgbClr val="A2B4CA"/>
                </a:solidFill>
                <a:latin typeface="Aptos"/>
              </a:defRPr>
            </a:pPr>
            <a:r>
              <a:t>Demo portraits, names and roles — replace with your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childTnLst>
                          </p:cTn>
                        </p:par>
                        <p:par>
                          <p:cTn id="23" fill="hold">
                            <p:stCondLst>
                              <p:cond delay="2400"/>
                            </p:stCondLst>
                            <p:childTnLst>
                              <p:par>
                                <p:cTn id="24" presetID="10" presetClass="entr" presetSubtype="0"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6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3090</Words>
  <Application>Microsoft Office PowerPoint</Application>
  <PresentationFormat>Widescreen</PresentationFormat>
  <Paragraphs>247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Project Presentation</dc:title>
  <dc:subject/>
  <dc:creator>FinBridge AI Project Team</dc:creator>
  <cp:keywords/>
  <dc:description>generated using python-pptx</dc:description>
  <cp:lastModifiedBy>WALTON</cp:lastModifiedBy>
  <cp:revision>2</cp:revision>
  <dcterms:created xsi:type="dcterms:W3CDTF">2013-01-27T09:14:16Z</dcterms:created>
  <dcterms:modified xsi:type="dcterms:W3CDTF">2026-10-20T10:08:24Z</dcterms:modified>
  <cp:category/>
</cp:coreProperties>
</file>